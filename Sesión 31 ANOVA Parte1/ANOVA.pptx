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68" r:id="rId2"/>
    <p:sldId id="269" r:id="rId3"/>
    <p:sldId id="301" r:id="rId4"/>
    <p:sldId id="302" r:id="rId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09/05/2025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1326786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73E69-7979-2D1C-B9A1-25674BF1DA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DEDC3B-8131-652A-17DA-2BB258EA300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E12FAA-227D-80E7-347A-6377B9B81F8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3B5A4B9-CF8E-5ACA-41B3-4CF16D3D4DE6}"/>
              </a:ext>
            </a:extLst>
          </p:cNvPr>
          <p:cNvSpPr>
            <a:spLocks noGrp="1"/>
          </p:cNvSpPr>
          <p:nvPr>
            <p:ph type="sldNum" sz="quarter" idx="5"/>
          </p:nvPr>
        </p:nvSpPr>
        <p:spPr/>
        <p:txBody>
          <a:bodyPr/>
          <a:lstStyle/>
          <a:p>
            <a:pPr rtl="0"/>
            <a:fld id="{A89C7E07-3C67-C64C-8DA0-0404F6303970}" type="slidenum">
              <a:rPr lang="es-ES" smtClean="0"/>
              <a:t>4</a:t>
            </a:fld>
            <a:endParaRPr lang="es-ES"/>
          </a:p>
        </p:txBody>
      </p:sp>
    </p:spTree>
    <p:extLst>
      <p:ext uri="{BB962C8B-B14F-4D97-AF65-F5344CB8AC3E}">
        <p14:creationId xmlns:p14="http://schemas.microsoft.com/office/powerpoint/2010/main" val="2360841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400" dirty="0">
                <a:latin typeface="Times New Roman" panose="02020603050405020304" pitchFamily="18" charset="0"/>
                <a:cs typeface="Times New Roman" panose="02020603050405020304" pitchFamily="18" charset="0"/>
              </a:rPr>
              <a:t>Análisis de la Varianza (ANOVA)</a:t>
            </a: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ANOVA</a:t>
            </a:r>
          </a:p>
        </p:txBody>
      </p:sp>
      <p:sp>
        <p:nvSpPr>
          <p:cNvPr id="5" name="CuadroTexto 4">
            <a:extLst>
              <a:ext uri="{FF2B5EF4-FFF2-40B4-BE49-F238E27FC236}">
                <a16:creationId xmlns:a16="http://schemas.microsoft.com/office/drawing/2014/main" id="{4B77887F-BB86-8BB4-8E75-761FE414B5F2}"/>
              </a:ext>
            </a:extLst>
          </p:cNvPr>
          <p:cNvSpPr txBox="1"/>
          <p:nvPr/>
        </p:nvSpPr>
        <p:spPr>
          <a:xfrm>
            <a:off x="964022" y="2353304"/>
            <a:ext cx="9332916" cy="665118"/>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análisis de la varianza ANOVA es un método de prueba de igualdades de tres o más medias poblacionales, por medio del análisis de las varianzas muestrales.</a:t>
            </a:r>
            <a:endParaRPr lang="es-MX"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362576BF-0E09-B2A8-ED0E-8DBA61FDF682}"/>
                  </a:ext>
                </a:extLst>
              </p:cNvPr>
              <p:cNvSpPr txBox="1"/>
              <p:nvPr/>
            </p:nvSpPr>
            <p:spPr>
              <a:xfrm>
                <a:off x="3404115" y="3244334"/>
                <a:ext cx="4452730" cy="369332"/>
              </a:xfrm>
              <a:prstGeom prst="rect">
                <a:avLst/>
              </a:prstGeom>
              <a:noFill/>
            </p:spPr>
            <p:txBody>
              <a:bodyPr wrap="square">
                <a:spAutoFit/>
              </a:bodyPr>
              <a:lstStyle/>
              <a:p>
                <a:pPr algn="ctr"/>
                <a14:m>
                  <m:oMath xmlns:m="http://schemas.openxmlformats.org/officeDocument/2006/math">
                    <m:sSub>
                      <m:sSubPr>
                        <m:ctrlPr>
                          <a:rPr lang="es-MX" i="1" smtClean="0">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𝐻</m:t>
                        </m:r>
                      </m:e>
                      <m:sub>
                        <m:r>
                          <a:rPr lang="es-MX" i="0">
                            <a:solidFill>
                              <a:schemeClr val="bg1"/>
                            </a:solidFill>
                            <a:latin typeface="Cambria Math" panose="02040503050406030204" pitchFamily="18" charset="0"/>
                          </a:rPr>
                          <m:t>0</m:t>
                        </m:r>
                      </m:sub>
                    </m:sSub>
                    <m:r>
                      <a:rPr lang="es-MX" i="0">
                        <a:solidFill>
                          <a:schemeClr val="bg1"/>
                        </a:solidFill>
                        <a:latin typeface="Cambria Math" panose="02040503050406030204" pitchFamily="18" charset="0"/>
                      </a:rPr>
                      <m:t>:</m:t>
                    </m:r>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𝜇</m:t>
                        </m:r>
                      </m:e>
                      <m:sub>
                        <m:r>
                          <a:rPr lang="es-MX" i="0">
                            <a:solidFill>
                              <a:schemeClr val="bg1"/>
                            </a:solidFill>
                            <a:latin typeface="Cambria Math" panose="02040503050406030204" pitchFamily="18" charset="0"/>
                          </a:rPr>
                          <m:t>1</m:t>
                        </m:r>
                      </m:sub>
                    </m:sSub>
                    <m:r>
                      <a:rPr lang="es-MX" i="0">
                        <a:solidFill>
                          <a:schemeClr val="bg1"/>
                        </a:solidFill>
                        <a:latin typeface="Cambria Math" panose="02040503050406030204" pitchFamily="18" charset="0"/>
                      </a:rPr>
                      <m:t>=</m:t>
                    </m:r>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𝜇</m:t>
                        </m:r>
                      </m:e>
                      <m:sub>
                        <m:r>
                          <a:rPr lang="es-MX" i="0">
                            <a:solidFill>
                              <a:schemeClr val="bg1"/>
                            </a:solidFill>
                            <a:latin typeface="Cambria Math" panose="02040503050406030204" pitchFamily="18" charset="0"/>
                          </a:rPr>
                          <m:t>2</m:t>
                        </m:r>
                      </m:sub>
                    </m:sSub>
                    <m:r>
                      <a:rPr lang="es-MX" i="0">
                        <a:solidFill>
                          <a:schemeClr val="bg1"/>
                        </a:solidFill>
                        <a:latin typeface="Cambria Math" panose="02040503050406030204" pitchFamily="18" charset="0"/>
                      </a:rPr>
                      <m:t>=</m:t>
                    </m:r>
                    <m:sSub>
                      <m:sSubPr>
                        <m:ctrlPr>
                          <a:rPr lang="es-MX" i="1" smtClean="0">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𝜇</m:t>
                        </m:r>
                      </m:e>
                      <m:sub>
                        <m:r>
                          <a:rPr lang="es-MX" i="0">
                            <a:solidFill>
                              <a:schemeClr val="bg1"/>
                            </a:solidFill>
                            <a:latin typeface="Cambria Math" panose="02040503050406030204" pitchFamily="18" charset="0"/>
                          </a:rPr>
                          <m:t>3</m:t>
                        </m:r>
                      </m:sub>
                    </m:sSub>
                  </m:oMath>
                </a14:m>
                <a:r>
                  <a:rPr lang="es-MX" dirty="0">
                    <a:solidFill>
                      <a:schemeClr val="bg1"/>
                    </a:solidFill>
                  </a:rPr>
                  <a:t>      vs      </a:t>
                </a:r>
                <a14:m>
                  <m:oMath xmlns:m="http://schemas.openxmlformats.org/officeDocument/2006/math">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𝐻</m:t>
                        </m:r>
                      </m:e>
                      <m:sub>
                        <m:r>
                          <a:rPr lang="es-MX" b="0" i="0" smtClean="0">
                            <a:solidFill>
                              <a:schemeClr val="bg1"/>
                            </a:solidFill>
                            <a:latin typeface="Cambria Math" panose="02040503050406030204" pitchFamily="18" charset="0"/>
                          </a:rPr>
                          <m:t>1</m:t>
                        </m:r>
                      </m:sub>
                    </m:sSub>
                    <m:r>
                      <a:rPr lang="es-MX">
                        <a:solidFill>
                          <a:schemeClr val="bg1"/>
                        </a:solidFill>
                        <a:latin typeface="Cambria Math" panose="02040503050406030204" pitchFamily="18" charset="0"/>
                      </a:rPr>
                      <m:t>:</m:t>
                    </m:r>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𝜇</m:t>
                        </m:r>
                      </m:e>
                      <m:sub>
                        <m:r>
                          <a:rPr lang="es-MX">
                            <a:solidFill>
                              <a:schemeClr val="bg1"/>
                            </a:solidFill>
                            <a:latin typeface="Cambria Math" panose="02040503050406030204" pitchFamily="18" charset="0"/>
                          </a:rPr>
                          <m:t>1</m:t>
                        </m:r>
                      </m:sub>
                    </m:sSub>
                    <m:r>
                      <a:rPr lang="es-MX">
                        <a:solidFill>
                          <a:schemeClr val="bg1"/>
                        </a:solidFill>
                        <a:latin typeface="Cambria Math" panose="02040503050406030204" pitchFamily="18" charset="0"/>
                        <a:ea typeface="Cambria Math" panose="02040503050406030204" pitchFamily="18" charset="0"/>
                      </a:rPr>
                      <m:t>≠</m:t>
                    </m:r>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𝜇</m:t>
                        </m:r>
                      </m:e>
                      <m:sub>
                        <m:r>
                          <a:rPr lang="es-MX">
                            <a:solidFill>
                              <a:schemeClr val="bg1"/>
                            </a:solidFill>
                            <a:latin typeface="Cambria Math" panose="02040503050406030204" pitchFamily="18" charset="0"/>
                          </a:rPr>
                          <m:t>2</m:t>
                        </m:r>
                      </m:sub>
                    </m:sSub>
                    <m:r>
                      <a:rPr lang="es-MX">
                        <a:solidFill>
                          <a:schemeClr val="bg1"/>
                        </a:solidFill>
                        <a:latin typeface="Cambria Math" panose="02040503050406030204" pitchFamily="18" charset="0"/>
                        <a:ea typeface="Cambria Math" panose="02040503050406030204" pitchFamily="18" charset="0"/>
                      </a:rPr>
                      <m:t>≠</m:t>
                    </m:r>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𝜇</m:t>
                        </m:r>
                      </m:e>
                      <m:sub>
                        <m:r>
                          <a:rPr lang="es-MX">
                            <a:solidFill>
                              <a:schemeClr val="bg1"/>
                            </a:solidFill>
                            <a:latin typeface="Cambria Math" panose="02040503050406030204" pitchFamily="18" charset="0"/>
                          </a:rPr>
                          <m:t>3</m:t>
                        </m:r>
                      </m:sub>
                    </m:sSub>
                  </m:oMath>
                </a14:m>
                <a:endParaRPr lang="es-MX" dirty="0"/>
              </a:p>
            </p:txBody>
          </p:sp>
        </mc:Choice>
        <mc:Fallback xmlns="">
          <p:sp>
            <p:nvSpPr>
              <p:cNvPr id="7" name="CuadroTexto 6">
                <a:extLst>
                  <a:ext uri="{FF2B5EF4-FFF2-40B4-BE49-F238E27FC236}">
                    <a16:creationId xmlns:a16="http://schemas.microsoft.com/office/drawing/2014/main" id="{362576BF-0E09-B2A8-ED0E-8DBA61FDF682}"/>
                  </a:ext>
                </a:extLst>
              </p:cNvPr>
              <p:cNvSpPr txBox="1">
                <a:spLocks noRot="1" noChangeAspect="1" noMove="1" noResize="1" noEditPoints="1" noAdjustHandles="1" noChangeArrowheads="1" noChangeShapeType="1" noTextEdit="1"/>
              </p:cNvSpPr>
              <p:nvPr/>
            </p:nvSpPr>
            <p:spPr>
              <a:xfrm>
                <a:off x="3404115" y="3244334"/>
                <a:ext cx="4452730" cy="369332"/>
              </a:xfrm>
              <a:prstGeom prst="rect">
                <a:avLst/>
              </a:prstGeom>
              <a:blipFill>
                <a:blip r:embed="rId3"/>
                <a:stretch>
                  <a:fillRect t="-8197" b="-24590"/>
                </a:stretch>
              </a:blipFill>
            </p:spPr>
            <p:txBody>
              <a:bodyPr/>
              <a:lstStyle/>
              <a:p>
                <a:r>
                  <a:rPr lang="es-MX">
                    <a:noFill/>
                  </a:rPr>
                  <a:t> </a:t>
                </a:r>
              </a:p>
            </p:txBody>
          </p:sp>
        </mc:Fallback>
      </mc:AlternateContent>
      <p:sp>
        <p:nvSpPr>
          <p:cNvPr id="8" name="CuadroTexto 7">
            <a:extLst>
              <a:ext uri="{FF2B5EF4-FFF2-40B4-BE49-F238E27FC236}">
                <a16:creationId xmlns:a16="http://schemas.microsoft.com/office/drawing/2014/main" id="{332835A4-1150-6AB4-6BF3-B83B1AB1D558}"/>
              </a:ext>
            </a:extLst>
          </p:cNvPr>
          <p:cNvSpPr txBox="1"/>
          <p:nvPr/>
        </p:nvSpPr>
        <p:spPr>
          <a:xfrm>
            <a:off x="964022" y="3839578"/>
            <a:ext cx="9332916" cy="665118"/>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término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factor</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se utiliza porque los datos muestrales están separados en grupos según una característica o factor.</a:t>
            </a:r>
            <a:endParaRPr lang="es-MX" dirty="0">
              <a:solidFill>
                <a:schemeClr val="bg1"/>
              </a:solidFill>
              <a:latin typeface="Times New Roman" panose="02020603050405020304" pitchFamily="18" charset="0"/>
              <a:cs typeface="Times New Roman" panose="02020603050405020304" pitchFamily="18" charset="0"/>
            </a:endParaRPr>
          </a:p>
        </p:txBody>
      </p:sp>
      <p:sp>
        <p:nvSpPr>
          <p:cNvPr id="9" name="CuadroTexto 8">
            <a:extLst>
              <a:ext uri="{FF2B5EF4-FFF2-40B4-BE49-F238E27FC236}">
                <a16:creationId xmlns:a16="http://schemas.microsoft.com/office/drawing/2014/main" id="{D0E7AC28-0C2E-05D5-B554-3A7A7122D958}"/>
              </a:ext>
            </a:extLst>
          </p:cNvPr>
          <p:cNvSpPr txBox="1"/>
          <p:nvPr/>
        </p:nvSpPr>
        <p:spPr>
          <a:xfrm>
            <a:off x="964022" y="4730608"/>
            <a:ext cx="9332916" cy="665118"/>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tratamiento</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una propiedad o característica que nos permite distinguir entre sí a las distintas poblaciones.</a:t>
            </a:r>
            <a:endParaRPr lang="es-MX"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ANOVA</a:t>
            </a:r>
          </a:p>
        </p:txBody>
      </p:sp>
      <p:sp>
        <p:nvSpPr>
          <p:cNvPr id="5" name="CuadroTexto 4">
            <a:extLst>
              <a:ext uri="{FF2B5EF4-FFF2-40B4-BE49-F238E27FC236}">
                <a16:creationId xmlns:a16="http://schemas.microsoft.com/office/drawing/2014/main" id="{4B77887F-BB86-8BB4-8E75-761FE414B5F2}"/>
              </a:ext>
            </a:extLst>
          </p:cNvPr>
          <p:cNvSpPr txBox="1"/>
          <p:nvPr/>
        </p:nvSpPr>
        <p:spPr>
          <a:xfrm>
            <a:off x="964022" y="2353304"/>
            <a:ext cx="9332916" cy="1257845"/>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Por ejemplo, los pesos de los álamos se distinguen de acuerdo con el tratamiento (ninguno, fertilizante, riego, fertilizante y riego). Se utiliza el término tratamiento porque las primeras aplicaciones del ANOVA implicaron experimentos de agricultura en los que distintas porciones de tierra se trataban con diferentes fertilizantes, tipos de semillas, insecticidas, etc.</a:t>
            </a:r>
            <a:endParaRPr lang="es-MX" dirty="0">
              <a:solidFill>
                <a:schemeClr val="bg1"/>
              </a:solidFill>
              <a:latin typeface="Times New Roman" panose="02020603050405020304" pitchFamily="18" charset="0"/>
              <a:cs typeface="Times New Roman" panose="02020603050405020304" pitchFamily="18" charset="0"/>
            </a:endParaRPr>
          </a:p>
        </p:txBody>
      </p:sp>
      <p:pic>
        <p:nvPicPr>
          <p:cNvPr id="1026" name="Picture 2" descr="Tres Álamos Ilustraciones svg, vectoriales, clip art vectorizado libre de  derechos. Image 7143207">
            <a:extLst>
              <a:ext uri="{FF2B5EF4-FFF2-40B4-BE49-F238E27FC236}">
                <a16:creationId xmlns:a16="http://schemas.microsoft.com/office/drawing/2014/main" id="{1B5DA29B-6BE0-3822-0F4E-421C886A75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4022" y="4045540"/>
            <a:ext cx="1353378" cy="193339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Tres Álamos Ilustraciones svg, vectoriales, clip art vectorizado libre de  derechos. Image 7143207">
            <a:extLst>
              <a:ext uri="{FF2B5EF4-FFF2-40B4-BE49-F238E27FC236}">
                <a16:creationId xmlns:a16="http://schemas.microsoft.com/office/drawing/2014/main" id="{3530E9DF-83AF-6066-1DEF-16D842F13A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0798" y="4045540"/>
            <a:ext cx="1353378" cy="193339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res Álamos Ilustraciones svg, vectoriales, clip art vectorizado libre de  derechos. Image 7143207">
            <a:extLst>
              <a:ext uri="{FF2B5EF4-FFF2-40B4-BE49-F238E27FC236}">
                <a16:creationId xmlns:a16="http://schemas.microsoft.com/office/drawing/2014/main" id="{090EF0DD-7722-F0CF-93D5-4B1A1FF79A7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7574" y="4045540"/>
            <a:ext cx="1353378" cy="1933397"/>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9210EF59-A3B5-73A3-47A4-11B894DE3659}"/>
              </a:ext>
            </a:extLst>
          </p:cNvPr>
          <p:cNvSpPr/>
          <p:nvPr/>
        </p:nvSpPr>
        <p:spPr>
          <a:xfrm>
            <a:off x="964022" y="5978937"/>
            <a:ext cx="4166930" cy="434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t>Factor: Tipo de suelo</a:t>
            </a:r>
          </a:p>
        </p:txBody>
      </p:sp>
      <p:cxnSp>
        <p:nvCxnSpPr>
          <p:cNvPr id="11" name="Conector recto de flecha 10">
            <a:extLst>
              <a:ext uri="{FF2B5EF4-FFF2-40B4-BE49-F238E27FC236}">
                <a16:creationId xmlns:a16="http://schemas.microsoft.com/office/drawing/2014/main" id="{65150784-F053-D68A-4B74-4DE24E0626A0}"/>
              </a:ext>
            </a:extLst>
          </p:cNvPr>
          <p:cNvCxnSpPr/>
          <p:nvPr/>
        </p:nvCxnSpPr>
        <p:spPr>
          <a:xfrm flipH="1">
            <a:off x="5592417" y="4045540"/>
            <a:ext cx="163001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09F06850-697B-517B-6721-4852E78F27CA}"/>
              </a:ext>
            </a:extLst>
          </p:cNvPr>
          <p:cNvSpPr txBox="1"/>
          <p:nvPr/>
        </p:nvSpPr>
        <p:spPr>
          <a:xfrm>
            <a:off x="7222435" y="3834370"/>
            <a:ext cx="2279372" cy="369332"/>
          </a:xfrm>
          <a:prstGeom prst="rect">
            <a:avLst/>
          </a:prstGeom>
          <a:noFill/>
        </p:spPr>
        <p:txBody>
          <a:bodyPr wrap="square" rtlCol="0">
            <a:spAutoFit/>
          </a:bodyPr>
          <a:lstStyle/>
          <a:p>
            <a:r>
              <a:rPr lang="es-MX" dirty="0">
                <a:solidFill>
                  <a:schemeClr val="bg1"/>
                </a:solidFill>
              </a:rPr>
              <a:t>Ninguno</a:t>
            </a:r>
          </a:p>
        </p:txBody>
      </p:sp>
      <p:cxnSp>
        <p:nvCxnSpPr>
          <p:cNvPr id="14" name="Conector recto de flecha 13">
            <a:extLst>
              <a:ext uri="{FF2B5EF4-FFF2-40B4-BE49-F238E27FC236}">
                <a16:creationId xmlns:a16="http://schemas.microsoft.com/office/drawing/2014/main" id="{148BE922-C456-A60A-34CF-4DB203A58001}"/>
              </a:ext>
            </a:extLst>
          </p:cNvPr>
          <p:cNvCxnSpPr/>
          <p:nvPr/>
        </p:nvCxnSpPr>
        <p:spPr>
          <a:xfrm flipH="1">
            <a:off x="5592417" y="4626042"/>
            <a:ext cx="163001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5D50E278-66D5-A3B6-B3BA-81F39D817B2E}"/>
              </a:ext>
            </a:extLst>
          </p:cNvPr>
          <p:cNvSpPr txBox="1"/>
          <p:nvPr/>
        </p:nvSpPr>
        <p:spPr>
          <a:xfrm>
            <a:off x="7222435" y="4414872"/>
            <a:ext cx="2279372" cy="369332"/>
          </a:xfrm>
          <a:prstGeom prst="rect">
            <a:avLst/>
          </a:prstGeom>
          <a:noFill/>
        </p:spPr>
        <p:txBody>
          <a:bodyPr wrap="square" rtlCol="0">
            <a:spAutoFit/>
          </a:bodyPr>
          <a:lstStyle/>
          <a:p>
            <a:r>
              <a:rPr lang="es-MX" dirty="0">
                <a:solidFill>
                  <a:schemeClr val="bg1"/>
                </a:solidFill>
              </a:rPr>
              <a:t>Fertilizante</a:t>
            </a:r>
          </a:p>
        </p:txBody>
      </p:sp>
      <p:cxnSp>
        <p:nvCxnSpPr>
          <p:cNvPr id="16" name="Conector recto de flecha 15">
            <a:extLst>
              <a:ext uri="{FF2B5EF4-FFF2-40B4-BE49-F238E27FC236}">
                <a16:creationId xmlns:a16="http://schemas.microsoft.com/office/drawing/2014/main" id="{720326D5-84F3-BE6F-4E3F-62D596668826}"/>
              </a:ext>
            </a:extLst>
          </p:cNvPr>
          <p:cNvCxnSpPr/>
          <p:nvPr/>
        </p:nvCxnSpPr>
        <p:spPr>
          <a:xfrm flipH="1">
            <a:off x="5592417" y="5206544"/>
            <a:ext cx="163001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BE4F9521-0B07-6F53-EC89-7C35213CD4B3}"/>
              </a:ext>
            </a:extLst>
          </p:cNvPr>
          <p:cNvSpPr txBox="1"/>
          <p:nvPr/>
        </p:nvSpPr>
        <p:spPr>
          <a:xfrm>
            <a:off x="7222435" y="4995374"/>
            <a:ext cx="2279372" cy="369332"/>
          </a:xfrm>
          <a:prstGeom prst="rect">
            <a:avLst/>
          </a:prstGeom>
          <a:noFill/>
        </p:spPr>
        <p:txBody>
          <a:bodyPr wrap="square" rtlCol="0">
            <a:spAutoFit/>
          </a:bodyPr>
          <a:lstStyle/>
          <a:p>
            <a:r>
              <a:rPr lang="es-MX" dirty="0">
                <a:solidFill>
                  <a:schemeClr val="bg1"/>
                </a:solidFill>
              </a:rPr>
              <a:t>Riego</a:t>
            </a:r>
          </a:p>
        </p:txBody>
      </p:sp>
      <p:cxnSp>
        <p:nvCxnSpPr>
          <p:cNvPr id="18" name="Conector recto de flecha 17">
            <a:extLst>
              <a:ext uri="{FF2B5EF4-FFF2-40B4-BE49-F238E27FC236}">
                <a16:creationId xmlns:a16="http://schemas.microsoft.com/office/drawing/2014/main" id="{33AE6DCB-2A00-4CE5-5889-36F8D2BE1D03}"/>
              </a:ext>
            </a:extLst>
          </p:cNvPr>
          <p:cNvCxnSpPr/>
          <p:nvPr/>
        </p:nvCxnSpPr>
        <p:spPr>
          <a:xfrm flipH="1">
            <a:off x="5592417" y="5787046"/>
            <a:ext cx="163001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F8831E24-30FD-A20D-C70B-2342EBBAF5F2}"/>
              </a:ext>
            </a:extLst>
          </p:cNvPr>
          <p:cNvSpPr txBox="1"/>
          <p:nvPr/>
        </p:nvSpPr>
        <p:spPr>
          <a:xfrm>
            <a:off x="7222435" y="5575876"/>
            <a:ext cx="2279372" cy="369332"/>
          </a:xfrm>
          <a:prstGeom prst="rect">
            <a:avLst/>
          </a:prstGeom>
          <a:noFill/>
        </p:spPr>
        <p:txBody>
          <a:bodyPr wrap="square" rtlCol="0">
            <a:spAutoFit/>
          </a:bodyPr>
          <a:lstStyle/>
          <a:p>
            <a:r>
              <a:rPr lang="es-MX" dirty="0">
                <a:solidFill>
                  <a:schemeClr val="bg1"/>
                </a:solidFill>
              </a:rPr>
              <a:t>Fertilizante y Riego</a:t>
            </a:r>
          </a:p>
        </p:txBody>
      </p:sp>
      <p:sp>
        <p:nvSpPr>
          <p:cNvPr id="20" name="Cerrar llave 19">
            <a:extLst>
              <a:ext uri="{FF2B5EF4-FFF2-40B4-BE49-F238E27FC236}">
                <a16:creationId xmlns:a16="http://schemas.microsoft.com/office/drawing/2014/main" id="{8B454534-CC66-8651-C742-E6159F9185A2}"/>
              </a:ext>
            </a:extLst>
          </p:cNvPr>
          <p:cNvSpPr/>
          <p:nvPr/>
        </p:nvSpPr>
        <p:spPr>
          <a:xfrm>
            <a:off x="9201174" y="3834370"/>
            <a:ext cx="795057" cy="2110838"/>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1" name="CuadroTexto 20">
            <a:extLst>
              <a:ext uri="{FF2B5EF4-FFF2-40B4-BE49-F238E27FC236}">
                <a16:creationId xmlns:a16="http://schemas.microsoft.com/office/drawing/2014/main" id="{51B811E7-4ADF-F5A6-BCB2-02FD36C4BED2}"/>
              </a:ext>
            </a:extLst>
          </p:cNvPr>
          <p:cNvSpPr txBox="1"/>
          <p:nvPr/>
        </p:nvSpPr>
        <p:spPr>
          <a:xfrm>
            <a:off x="10137913" y="4626042"/>
            <a:ext cx="1736035" cy="369332"/>
          </a:xfrm>
          <a:prstGeom prst="rect">
            <a:avLst/>
          </a:prstGeom>
          <a:noFill/>
        </p:spPr>
        <p:txBody>
          <a:bodyPr wrap="square" rtlCol="0">
            <a:spAutoFit/>
          </a:bodyPr>
          <a:lstStyle/>
          <a:p>
            <a:r>
              <a:rPr lang="es-MX" dirty="0">
                <a:solidFill>
                  <a:schemeClr val="bg1"/>
                </a:solidFill>
              </a:rPr>
              <a:t>Tratamientos</a:t>
            </a:r>
          </a:p>
        </p:txBody>
      </p:sp>
    </p:spTree>
    <p:extLst>
      <p:ext uri="{BB962C8B-B14F-4D97-AF65-F5344CB8AC3E}">
        <p14:creationId xmlns:p14="http://schemas.microsoft.com/office/powerpoint/2010/main" val="1832658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32DAA-8052-2254-3496-860C262F74D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757DC0A-9916-7E69-0BA3-8DCD59080353}"/>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ANOVA</a:t>
            </a:r>
          </a:p>
        </p:txBody>
      </p:sp>
      <p:sp>
        <p:nvSpPr>
          <p:cNvPr id="5" name="CuadroTexto 4">
            <a:extLst>
              <a:ext uri="{FF2B5EF4-FFF2-40B4-BE49-F238E27FC236}">
                <a16:creationId xmlns:a16="http://schemas.microsoft.com/office/drawing/2014/main" id="{076668A3-8058-DC65-2548-D9BFE8314F28}"/>
              </a:ext>
            </a:extLst>
          </p:cNvPr>
          <p:cNvSpPr txBox="1"/>
          <p:nvPr/>
        </p:nvSpPr>
        <p:spPr>
          <a:xfrm>
            <a:off x="964022" y="2353304"/>
            <a:ext cx="9332916" cy="86498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ANOVA se basa en la premisa de que si los grupos tienen medias iguales, entonces la variabilidad observada entre los grupos debe ser similar a la variabilidad dentro de los grupos. La distribución F se utiliza para evaluar la relación entre estas dos fuentes de variabilidad.</a:t>
            </a:r>
            <a:endParaRPr lang="es-MX" sz="16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C59640A6-96CC-98E6-7E24-B304305086FA}"/>
                  </a:ext>
                </a:extLst>
              </p:cNvPr>
              <p:cNvSpPr txBox="1"/>
              <p:nvPr/>
            </p:nvSpPr>
            <p:spPr>
              <a:xfrm>
                <a:off x="964022" y="3429000"/>
                <a:ext cx="9332916" cy="285475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Los supuestos que se deben verificar para realizar un ANOVA son los siguientes:</a:t>
                </a:r>
              </a:p>
              <a:p>
                <a:pPr marL="342900" indent="-342900" algn="just">
                  <a:lnSpc>
                    <a:spcPct val="107000"/>
                  </a:lnSpc>
                  <a:spcAft>
                    <a:spcPts val="800"/>
                  </a:spcAft>
                  <a:buAutoNum type="arabicPeriod"/>
                </a:pPr>
                <a:r>
                  <a:rPr lang="es-MX" sz="1600" dirty="0">
                    <a:solidFill>
                      <a:schemeClr val="bg1"/>
                    </a:solidFill>
                    <a:latin typeface="Times New Roman" panose="02020603050405020304" pitchFamily="18" charset="0"/>
                    <a:cs typeface="Times New Roman" panose="02020603050405020304" pitchFamily="18" charset="0"/>
                  </a:rPr>
                  <a:t>Las muestras son aleatorias simples.</a:t>
                </a:r>
              </a:p>
              <a:p>
                <a:pPr marL="342900" indent="-342900" algn="just">
                  <a:lnSpc>
                    <a:spcPct val="107000"/>
                  </a:lnSpc>
                  <a:spcAft>
                    <a:spcPts val="800"/>
                  </a:spcAft>
                  <a:buAutoNum type="arabicPeriod"/>
                </a:pPr>
                <a:r>
                  <a:rPr lang="es-MX" sz="1600" dirty="0">
                    <a:solidFill>
                      <a:schemeClr val="bg1"/>
                    </a:solidFill>
                    <a:latin typeface="Times New Roman" panose="02020603050405020304" pitchFamily="18" charset="0"/>
                    <a:cs typeface="Times New Roman" panose="02020603050405020304" pitchFamily="18" charset="0"/>
                  </a:rPr>
                  <a:t>Las muestras son independientes entre sí.</a:t>
                </a:r>
              </a:p>
              <a:p>
                <a:pPr marL="342900" indent="-342900" algn="just">
                  <a:lnSpc>
                    <a:spcPct val="107000"/>
                  </a:lnSpc>
                  <a:spcAft>
                    <a:spcPts val="800"/>
                  </a:spcAft>
                  <a:buAutoNum type="arabicPeriod"/>
                </a:pPr>
                <a:r>
                  <a:rPr lang="es-MX" sz="1600" dirty="0">
                    <a:solidFill>
                      <a:schemeClr val="bg1"/>
                    </a:solidFill>
                    <a:latin typeface="Times New Roman" panose="02020603050405020304" pitchFamily="18" charset="0"/>
                    <a:cs typeface="Times New Roman" panose="02020603050405020304" pitchFamily="18" charset="0"/>
                  </a:rPr>
                  <a:t>Las poblaciones tienen distribuciones aproximadamente normales. Si una población tiene una distribución diferente a la normal, utilice la prueba de Kruskal Wallis.  </a:t>
                </a:r>
              </a:p>
              <a:p>
                <a:pPr marL="342900" indent="-342900" algn="just">
                  <a:lnSpc>
                    <a:spcPct val="107000"/>
                  </a:lnSpc>
                  <a:spcAft>
                    <a:spcPts val="800"/>
                  </a:spcAft>
                  <a:buFontTx/>
                  <a:buAutoNum type="arabicPeriod"/>
                </a:pPr>
                <a:r>
                  <a:rPr lang="es-MX" sz="1600" dirty="0">
                    <a:solidFill>
                      <a:schemeClr val="bg1"/>
                    </a:solidFill>
                    <a:latin typeface="Times New Roman" panose="02020603050405020304" pitchFamily="18" charset="0"/>
                    <a:cs typeface="Times New Roman" panose="02020603050405020304" pitchFamily="18" charset="0"/>
                  </a:rPr>
                  <a:t>Las </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poblaciones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tienen</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la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misma</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varianza</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14:m>
                  <m:oMath xmlns:m="http://schemas.openxmlformats.org/officeDocument/2006/math">
                    <m:sSup>
                      <m:sSupPr>
                        <m:ctrlPr>
                          <a:rPr lang="es-MX" sz="1600" i="1">
                            <a:solidFill>
                              <a:schemeClr val="bg1"/>
                            </a:solidFill>
                            <a:latin typeface="Cambria Math" panose="02040503050406030204" pitchFamily="18" charset="0"/>
                            <a:ea typeface="Cambria" panose="02040503050406030204" pitchFamily="18" charset="0"/>
                            <a:cs typeface="Times New Roman" panose="02020603050405020304" pitchFamily="18" charset="0"/>
                          </a:rPr>
                        </m:ctrlPr>
                      </m:sSupPr>
                      <m:e>
                        <m:r>
                          <a:rPr lang="en-US" sz="1600" i="1">
                            <a:solidFill>
                              <a:schemeClr val="bg1"/>
                            </a:solidFill>
                            <a:latin typeface="Cambria Math" panose="02040503050406030204" pitchFamily="18" charset="0"/>
                            <a:ea typeface="Cambria" panose="02040503050406030204" pitchFamily="18" charset="0"/>
                            <a:cs typeface="Times New Roman" panose="02020603050405020304" pitchFamily="18" charset="0"/>
                          </a:rPr>
                          <m:t>𝜎</m:t>
                        </m:r>
                      </m:e>
                      <m:sup>
                        <m:r>
                          <a:rPr lang="en-US" sz="1600" i="1">
                            <a:solidFill>
                              <a:schemeClr val="bg1"/>
                            </a:solidFill>
                            <a:latin typeface="Cambria Math" panose="02040503050406030204" pitchFamily="18" charset="0"/>
                            <a:ea typeface="Cambria" panose="02040503050406030204" pitchFamily="18" charset="0"/>
                            <a:cs typeface="Times New Roman" panose="02020603050405020304" pitchFamily="18" charset="0"/>
                          </a:rPr>
                          <m:t>2</m:t>
                        </m:r>
                      </m:sup>
                    </m:sSup>
                  </m:oMath>
                </a14:m>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Este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requisito</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no es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demasiado</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estricto</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menos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que las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varianzas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poblacionales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difieran</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en</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grandes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cantidades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Siempre</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y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cuando</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los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tamaños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muestrales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sean</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iguales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(o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casi</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iguales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las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varianzas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pueden</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diferir</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de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tal</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forma que la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más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grande</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sea hasta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nueve</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veces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la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más</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pequeña</a:t>
                </a:r>
                <a:r>
                  <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rPr>
                  <a:t>.</a:t>
                </a:r>
                <a:endParaRPr lang="es-MX" sz="1600"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mc:Choice>
        <mc:Fallback xmlns="">
          <p:sp>
            <p:nvSpPr>
              <p:cNvPr id="8" name="CuadroTexto 7">
                <a:extLst>
                  <a:ext uri="{FF2B5EF4-FFF2-40B4-BE49-F238E27FC236}">
                    <a16:creationId xmlns:a16="http://schemas.microsoft.com/office/drawing/2014/main" id="{C59640A6-96CC-98E6-7E24-B304305086FA}"/>
                  </a:ext>
                </a:extLst>
              </p:cNvPr>
              <p:cNvSpPr txBox="1">
                <a:spLocks noRot="1" noChangeAspect="1" noMove="1" noResize="1" noEditPoints="1" noAdjustHandles="1" noChangeArrowheads="1" noChangeShapeType="1" noTextEdit="1"/>
              </p:cNvSpPr>
              <p:nvPr/>
            </p:nvSpPr>
            <p:spPr>
              <a:xfrm>
                <a:off x="964022" y="3429000"/>
                <a:ext cx="9332916" cy="2854756"/>
              </a:xfrm>
              <a:prstGeom prst="rect">
                <a:avLst/>
              </a:prstGeom>
              <a:blipFill>
                <a:blip r:embed="rId3"/>
                <a:stretch>
                  <a:fillRect l="-261" t="-426" r="-326" b="-1277"/>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271526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1796</TotalTime>
  <Words>333</Words>
  <Application>Microsoft Office PowerPoint</Application>
  <PresentationFormat>Panorámica</PresentationFormat>
  <Paragraphs>26</Paragraphs>
  <Slides>4</Slides>
  <Notes>4</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4</vt:i4>
      </vt:variant>
    </vt:vector>
  </HeadingPairs>
  <TitlesOfParts>
    <vt:vector size="13" baseType="lpstr">
      <vt:lpstr>Arial</vt:lpstr>
      <vt:lpstr>Calibri</vt:lpstr>
      <vt:lpstr>Cambria</vt:lpstr>
      <vt:lpstr>Cambria Math</vt:lpstr>
      <vt:lpstr>Franklin Gothic Book</vt:lpstr>
      <vt:lpstr>Franklin Gothic Demi</vt:lpstr>
      <vt:lpstr>Times New Roman</vt:lpstr>
      <vt:lpstr>Wingdings</vt:lpstr>
      <vt:lpstr>Tema1</vt:lpstr>
      <vt:lpstr>Análisis de la Varianza (ANOVA)</vt:lpstr>
      <vt:lpstr>ANOVA</vt:lpstr>
      <vt:lpstr>ANOVA</vt:lpstr>
      <vt:lpstr>ANOVA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 CORTES</cp:lastModifiedBy>
  <cp:revision>66</cp:revision>
  <dcterms:created xsi:type="dcterms:W3CDTF">2023-09-16T20:42:33Z</dcterms:created>
  <dcterms:modified xsi:type="dcterms:W3CDTF">2025-05-09T18:44:57Z</dcterms:modified>
</cp:coreProperties>
</file>