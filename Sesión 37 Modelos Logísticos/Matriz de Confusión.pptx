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8" r:id="rId2"/>
    <p:sldId id="269" r:id="rId3"/>
    <p:sldId id="308" r:id="rId4"/>
    <p:sldId id="309" r:id="rId5"/>
    <p:sldId id="310" r:id="rId6"/>
    <p:sldId id="311" r:id="rId7"/>
    <p:sldId id="312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06FD9-7C5A-4B1C-968A-BB507C3E1197}" type="datetimeFigureOut">
              <a:rPr lang="es-MX" smtClean="0"/>
              <a:t>23/05/2025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6384F-A249-4C3C-8731-5338BA85F77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8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2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424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B41EF-D935-3D00-F043-D8A1E5DA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F461B4-A4DB-FFBE-554B-DA4E16EA7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8A66C12-CFFF-B086-C2D4-18A62B8E6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06ECDA-4F98-D9DD-BE96-0FBB141A5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552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895B5-D678-6A3E-C4A0-352BE0EB4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A1D195-139F-B658-5A86-9E113185D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A3C34DB-9BE2-586C-5A9C-FE43994C5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50DB98-991A-ED11-22F6-E5942651E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2385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867D7-5F3D-6CE8-A0D6-C50ACB587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E8120C9-45AA-3E55-B333-72AE5BA9B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C0BE472-D746-2A4E-634D-044586B39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4E69C6-C125-3004-B6C7-7E40CF853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7194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1286-BD29-EDC5-D1B8-F2A56359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600D1A-9B7E-46BE-4ABA-15B669892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DE509F-45B7-EC76-56FD-98629CD64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15CF3D-DB93-74C4-F5D5-7F89BA39F6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9382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F1065-CC24-B126-9BAF-49D156F1C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9B4A3F-1151-2657-80DF-5EC727B60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4EC825-A691-3CFB-1322-B84B8FCB2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A11D19-F601-DAEE-E85B-3AAA7767A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43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6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FE12A-8763-4EB7-9CEB-5B78076C5C21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95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5086BA-4771-4251-A1A0-95AEDDEBD7A7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34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27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99CD11-04C6-421F-AE19-E5D29CCF776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5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20299-DC87-4039-A7B5-9AC50CF7A216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27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61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72" name="Marcador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EA095D-F9AB-465B-A2BC-526B797F4865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81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editar </a:t>
            </a:r>
          </a:p>
        </p:txBody>
      </p:sp>
      <p:sp>
        <p:nvSpPr>
          <p:cNvPr id="96" name="Marcador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97" name="Marcador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2" name="Marcador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3" name="Marcador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6" name="Marcador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7" name="Marcador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ES" noProof="0"/>
              <a:t>Haga clic para editar </a:t>
            </a:r>
          </a:p>
        </p:txBody>
      </p:sp>
      <p:sp>
        <p:nvSpPr>
          <p:cNvPr id="108" name="Marcador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sp>
        <p:nvSpPr>
          <p:cNvPr id="109" name="Marcador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9D83C0-D2D5-496F-A305-9D3513BEF95B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604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69136C-C4B2-45F2-BCFC-515A0853BD43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94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AC6E8-C089-4970-88B6-A9DF4F2A5ECC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1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053CBC-2B39-42EE-A9ED-10AB05B9208E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 mayo de 2025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41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417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F5E43A-1348-4597-A2F5-11856AA9D9CF}" type="datetime4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 de mayo de 2025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Revisión anual</a:t>
            </a:r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s-E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2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algn="ctr" rtl="0"/>
            <a:r>
              <a:rPr lang="es-E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Confusión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algn="ctr" rtl="0"/>
            <a:r>
              <a:rPr lang="es-ES" dirty="0">
                <a:solidFill>
                  <a:schemeClr val="bg1"/>
                </a:solidFill>
                <a:latin typeface="+mj-lt"/>
              </a:rPr>
              <a:t>Mtro. David Nexticapan Cortes</a:t>
            </a:r>
            <a:endParaRPr lang="es-ES" dirty="0">
              <a:solidFill>
                <a:schemeClr val="bg1"/>
              </a:solidFill>
            </a:endParaRPr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27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8276908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una matriz de confusión?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77887F-BB86-8BB4-8E75-761FE414B5F2}"/>
              </a:ext>
            </a:extLst>
          </p:cNvPr>
          <p:cNvSpPr txBox="1"/>
          <p:nvPr/>
        </p:nvSpPr>
        <p:spPr>
          <a:xfrm>
            <a:off x="964022" y="2353304"/>
            <a:ext cx="9332916" cy="60151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matriz de confusión es una manera de interpretar gráficamente los aciertos y errores cometidos por un clasificador para cada una de las categorías de interés.</a:t>
            </a:r>
            <a:endParaRPr lang="es-MX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503FB7-4828-B29A-4724-760CD010EE9F}"/>
              </a:ext>
            </a:extLst>
          </p:cNvPr>
          <p:cNvSpPr txBox="1"/>
          <p:nvPr/>
        </p:nvSpPr>
        <p:spPr>
          <a:xfrm>
            <a:off x="-288756" y="4951418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77E0E76-F6C4-524C-7177-98A3FFBBFCEC}"/>
              </a:ext>
            </a:extLst>
          </p:cNvPr>
          <p:cNvSpPr/>
          <p:nvPr/>
        </p:nvSpPr>
        <p:spPr>
          <a:xfrm>
            <a:off x="2474918" y="4262453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1E6F900-46E8-D66B-C3FA-0390854CFDC1}"/>
              </a:ext>
            </a:extLst>
          </p:cNvPr>
          <p:cNvSpPr/>
          <p:nvPr/>
        </p:nvSpPr>
        <p:spPr>
          <a:xfrm>
            <a:off x="3429423" y="4262453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28279E1-B3AF-5A15-444E-A4088AAF91D8}"/>
              </a:ext>
            </a:extLst>
          </p:cNvPr>
          <p:cNvSpPr/>
          <p:nvPr/>
        </p:nvSpPr>
        <p:spPr>
          <a:xfrm>
            <a:off x="2474918" y="512069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496D853-CF4E-A12D-C6FA-EE461BCCA1DC}"/>
              </a:ext>
            </a:extLst>
          </p:cNvPr>
          <p:cNvSpPr/>
          <p:nvPr/>
        </p:nvSpPr>
        <p:spPr>
          <a:xfrm>
            <a:off x="3429423" y="512069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B26AF30-2BDE-9233-BDB4-098E103B0003}"/>
              </a:ext>
            </a:extLst>
          </p:cNvPr>
          <p:cNvSpPr txBox="1"/>
          <p:nvPr/>
        </p:nvSpPr>
        <p:spPr>
          <a:xfrm>
            <a:off x="2431221" y="3260245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0DB2D6F-A4D1-BA89-15B9-3BAC075DDFB5}"/>
              </a:ext>
            </a:extLst>
          </p:cNvPr>
          <p:cNvSpPr txBox="1"/>
          <p:nvPr/>
        </p:nvSpPr>
        <p:spPr>
          <a:xfrm>
            <a:off x="1731113" y="4522297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8B37749-21B9-B6FD-0885-FEA0D02494D4}"/>
              </a:ext>
            </a:extLst>
          </p:cNvPr>
          <p:cNvSpPr txBox="1"/>
          <p:nvPr/>
        </p:nvSpPr>
        <p:spPr>
          <a:xfrm>
            <a:off x="1731113" y="538053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3C62AFC-E697-B69F-B949-655F60341890}"/>
              </a:ext>
            </a:extLst>
          </p:cNvPr>
          <p:cNvSpPr txBox="1"/>
          <p:nvPr/>
        </p:nvSpPr>
        <p:spPr>
          <a:xfrm>
            <a:off x="2607982" y="381609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EB93C93-4463-66A0-541D-603B394CCCCE}"/>
              </a:ext>
            </a:extLst>
          </p:cNvPr>
          <p:cNvSpPr txBox="1"/>
          <p:nvPr/>
        </p:nvSpPr>
        <p:spPr>
          <a:xfrm>
            <a:off x="3562487" y="3804883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C940C650-5F84-09C4-31D5-49F5EF9A1A24}"/>
              </a:ext>
            </a:extLst>
          </p:cNvPr>
          <p:cNvSpPr/>
          <p:nvPr/>
        </p:nvSpPr>
        <p:spPr>
          <a:xfrm>
            <a:off x="1520412" y="4262453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7C4F99C5-CFCF-7F27-1DD9-EFEC9A5E3D5A}"/>
              </a:ext>
            </a:extLst>
          </p:cNvPr>
          <p:cNvSpPr/>
          <p:nvPr/>
        </p:nvSpPr>
        <p:spPr>
          <a:xfrm rot="5400000">
            <a:off x="3273371" y="2896609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55918E1E-A545-3401-63F6-A44D303D1B17}"/>
              </a:ext>
            </a:extLst>
          </p:cNvPr>
          <p:cNvCxnSpPr>
            <a:cxnSpLocks/>
          </p:cNvCxnSpPr>
          <p:nvPr/>
        </p:nvCxnSpPr>
        <p:spPr>
          <a:xfrm>
            <a:off x="4110492" y="4860851"/>
            <a:ext cx="1496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BC10889-343B-37A3-7938-95B83498F146}"/>
              </a:ext>
            </a:extLst>
          </p:cNvPr>
          <p:cNvCxnSpPr>
            <a:cxnSpLocks/>
          </p:cNvCxnSpPr>
          <p:nvPr/>
        </p:nvCxnSpPr>
        <p:spPr>
          <a:xfrm>
            <a:off x="3232486" y="5819261"/>
            <a:ext cx="23742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C0E2500-74EA-AE98-F078-61CE6A5FAE5C}"/>
              </a:ext>
            </a:extLst>
          </p:cNvPr>
          <p:cNvSpPr txBox="1"/>
          <p:nvPr/>
        </p:nvSpPr>
        <p:spPr>
          <a:xfrm>
            <a:off x="5630480" y="4292843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89 datos en la CAT A, y realmente pertenecen a la CAT 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EE15425-9EF3-6B02-C3CF-1F6FCF2CA2A2}"/>
              </a:ext>
            </a:extLst>
          </p:cNvPr>
          <p:cNvSpPr txBox="1"/>
          <p:nvPr/>
        </p:nvSpPr>
        <p:spPr>
          <a:xfrm>
            <a:off x="5630480" y="5681822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dato en la CAT B, y realmente pertenecen a la CAT 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8E0AA1C-E2A5-F6B0-F658-E66AFF1A8663}"/>
              </a:ext>
            </a:extLst>
          </p:cNvPr>
          <p:cNvSpPr txBox="1"/>
          <p:nvPr/>
        </p:nvSpPr>
        <p:spPr>
          <a:xfrm>
            <a:off x="5630480" y="4714881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datos en la CAT A, y realmente pertenece a la CAT B.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73AA371-74CA-BB36-970E-84677BFB15FD}"/>
              </a:ext>
            </a:extLst>
          </p:cNvPr>
          <p:cNvSpPr txBox="1"/>
          <p:nvPr/>
        </p:nvSpPr>
        <p:spPr>
          <a:xfrm>
            <a:off x="5630480" y="5219299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datos en la CAT B, y realmente pertenecen a la CAT B.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8544671-9EEA-5AF2-57E4-B1C2E9E0A92F}"/>
              </a:ext>
            </a:extLst>
          </p:cNvPr>
          <p:cNvCxnSpPr>
            <a:cxnSpLocks/>
          </p:cNvCxnSpPr>
          <p:nvPr/>
        </p:nvCxnSpPr>
        <p:spPr>
          <a:xfrm>
            <a:off x="3232486" y="4438813"/>
            <a:ext cx="237423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D1388A5D-B8F3-E688-D676-499C0324A33F}"/>
              </a:ext>
            </a:extLst>
          </p:cNvPr>
          <p:cNvCxnSpPr>
            <a:cxnSpLocks/>
          </p:cNvCxnSpPr>
          <p:nvPr/>
        </p:nvCxnSpPr>
        <p:spPr>
          <a:xfrm>
            <a:off x="4110492" y="5365269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3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04947-64A7-374D-F07F-549DD26F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055CA-5BA6-0438-1AF9-988DA3A0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1" y="303885"/>
            <a:ext cx="4941477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Confusión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3E92E7F-1414-24FC-E1A4-FDE9BAA0D41F}"/>
              </a:ext>
            </a:extLst>
          </p:cNvPr>
          <p:cNvSpPr/>
          <p:nvPr/>
        </p:nvSpPr>
        <p:spPr>
          <a:xfrm>
            <a:off x="2365048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6137A70-1141-0C76-2EBA-4B1D5A60CB66}"/>
              </a:ext>
            </a:extLst>
          </p:cNvPr>
          <p:cNvSpPr/>
          <p:nvPr/>
        </p:nvSpPr>
        <p:spPr>
          <a:xfrm>
            <a:off x="3319553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A8F616-7911-2FDE-F107-E66E72D5A083}"/>
              </a:ext>
            </a:extLst>
          </p:cNvPr>
          <p:cNvSpPr/>
          <p:nvPr/>
        </p:nvSpPr>
        <p:spPr>
          <a:xfrm>
            <a:off x="2365048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2BD71F6-FC3B-FB48-A348-A7971E801554}"/>
              </a:ext>
            </a:extLst>
          </p:cNvPr>
          <p:cNvSpPr/>
          <p:nvPr/>
        </p:nvSpPr>
        <p:spPr>
          <a:xfrm>
            <a:off x="3319553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D26F027-379A-5A99-A288-EBAD3F75E150}"/>
              </a:ext>
            </a:extLst>
          </p:cNvPr>
          <p:cNvSpPr txBox="1"/>
          <p:nvPr/>
        </p:nvSpPr>
        <p:spPr>
          <a:xfrm>
            <a:off x="2321351" y="1053947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756E5E2-A2AD-01B2-AF5D-DAE30D73698A}"/>
              </a:ext>
            </a:extLst>
          </p:cNvPr>
          <p:cNvSpPr txBox="1"/>
          <p:nvPr/>
        </p:nvSpPr>
        <p:spPr>
          <a:xfrm>
            <a:off x="1621243" y="231599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D0225DB-89B8-B768-DB7B-AB8712B3671C}"/>
              </a:ext>
            </a:extLst>
          </p:cNvPr>
          <p:cNvSpPr txBox="1"/>
          <p:nvPr/>
        </p:nvSpPr>
        <p:spPr>
          <a:xfrm>
            <a:off x="1621243" y="317424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9AC8B63-AC16-E4F9-8942-19B035E5A0C7}"/>
              </a:ext>
            </a:extLst>
          </p:cNvPr>
          <p:cNvSpPr txBox="1"/>
          <p:nvPr/>
        </p:nvSpPr>
        <p:spPr>
          <a:xfrm>
            <a:off x="2498112" y="1609797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5611E25-F69A-5CCF-4A4E-63D70D648EAA}"/>
              </a:ext>
            </a:extLst>
          </p:cNvPr>
          <p:cNvSpPr txBox="1"/>
          <p:nvPr/>
        </p:nvSpPr>
        <p:spPr>
          <a:xfrm>
            <a:off x="3452617" y="159858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216F1B0D-06EE-134A-46B7-A256006D1C2F}"/>
              </a:ext>
            </a:extLst>
          </p:cNvPr>
          <p:cNvSpPr/>
          <p:nvPr/>
        </p:nvSpPr>
        <p:spPr>
          <a:xfrm>
            <a:off x="1410542" y="205615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B2185BA7-8612-66CC-0B5E-0FE4324A7540}"/>
              </a:ext>
            </a:extLst>
          </p:cNvPr>
          <p:cNvSpPr/>
          <p:nvPr/>
        </p:nvSpPr>
        <p:spPr>
          <a:xfrm rot="5400000">
            <a:off x="3163501" y="690311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6518991-B86E-6A19-87A3-5CC511F61F52}"/>
              </a:ext>
            </a:extLst>
          </p:cNvPr>
          <p:cNvSpPr txBox="1"/>
          <p:nvPr/>
        </p:nvSpPr>
        <p:spPr>
          <a:xfrm>
            <a:off x="5520610" y="2086545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89 datos en la CAT A, y realmente pertenecen a la CAT 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94E23F2-42BF-2512-4827-D701E1F66E1C}"/>
              </a:ext>
            </a:extLst>
          </p:cNvPr>
          <p:cNvSpPr txBox="1"/>
          <p:nvPr/>
        </p:nvSpPr>
        <p:spPr>
          <a:xfrm>
            <a:off x="5520610" y="3475524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dato en la CAT B, y realmente pertenecen a la CAT 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7214089-60EB-4E2D-96A7-F8CB874B09D3}"/>
              </a:ext>
            </a:extLst>
          </p:cNvPr>
          <p:cNvSpPr txBox="1"/>
          <p:nvPr/>
        </p:nvSpPr>
        <p:spPr>
          <a:xfrm>
            <a:off x="5520610" y="2508583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datos en la CAT A, y realmente pertenece a la CAT B.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4DC6CD6-5C5E-C3C7-A5F3-766ABA795644}"/>
              </a:ext>
            </a:extLst>
          </p:cNvPr>
          <p:cNvSpPr txBox="1"/>
          <p:nvPr/>
        </p:nvSpPr>
        <p:spPr>
          <a:xfrm>
            <a:off x="5520610" y="3013001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datos en la CAT B, y realmente pertenecen a la CAT B.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46C271-396C-7E22-C0ED-61D73A67FDFC}"/>
              </a:ext>
            </a:extLst>
          </p:cNvPr>
          <p:cNvSpPr txBox="1"/>
          <p:nvPr/>
        </p:nvSpPr>
        <p:spPr>
          <a:xfrm>
            <a:off x="-401051" y="2739944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E049D2B-CC87-9D28-3526-696B9142532B}"/>
              </a:ext>
            </a:extLst>
          </p:cNvPr>
          <p:cNvSpPr/>
          <p:nvPr/>
        </p:nvSpPr>
        <p:spPr>
          <a:xfrm>
            <a:off x="2362623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B469B70-8172-3F08-7FD5-3D402E7C182F}"/>
              </a:ext>
            </a:extLst>
          </p:cNvPr>
          <p:cNvSpPr/>
          <p:nvPr/>
        </p:nvSpPr>
        <p:spPr>
          <a:xfrm>
            <a:off x="3317128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54C962A-E8BD-4C8D-3767-83AA3D048168}"/>
              </a:ext>
            </a:extLst>
          </p:cNvPr>
          <p:cNvSpPr/>
          <p:nvPr/>
        </p:nvSpPr>
        <p:spPr>
          <a:xfrm>
            <a:off x="2362623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5EC44D2-86DA-4DE7-166E-72E7811E8D88}"/>
              </a:ext>
            </a:extLst>
          </p:cNvPr>
          <p:cNvSpPr/>
          <p:nvPr/>
        </p:nvSpPr>
        <p:spPr>
          <a:xfrm>
            <a:off x="3317128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F768122-F719-BAC4-6D26-447DFF55BC80}"/>
              </a:ext>
            </a:extLst>
          </p:cNvPr>
          <p:cNvSpPr txBox="1"/>
          <p:nvPr/>
        </p:nvSpPr>
        <p:spPr>
          <a:xfrm>
            <a:off x="2318926" y="1048771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0CEC93D-350D-8D61-3F9D-69102AC4F5D6}"/>
              </a:ext>
            </a:extLst>
          </p:cNvPr>
          <p:cNvSpPr txBox="1"/>
          <p:nvPr/>
        </p:nvSpPr>
        <p:spPr>
          <a:xfrm>
            <a:off x="1618818" y="2310823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4F6BE04-7921-5C58-EB1D-542AE4E522DB}"/>
              </a:ext>
            </a:extLst>
          </p:cNvPr>
          <p:cNvSpPr txBox="1"/>
          <p:nvPr/>
        </p:nvSpPr>
        <p:spPr>
          <a:xfrm>
            <a:off x="1618818" y="316906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4830ACD-49B6-0B62-7DF0-30F61E1C93CD}"/>
              </a:ext>
            </a:extLst>
          </p:cNvPr>
          <p:cNvSpPr txBox="1"/>
          <p:nvPr/>
        </p:nvSpPr>
        <p:spPr>
          <a:xfrm>
            <a:off x="2495687" y="160462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F152B17-64A5-C84A-C88E-D3DDEE6FCED4}"/>
              </a:ext>
            </a:extLst>
          </p:cNvPr>
          <p:cNvSpPr txBox="1"/>
          <p:nvPr/>
        </p:nvSpPr>
        <p:spPr>
          <a:xfrm>
            <a:off x="3450192" y="159340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8" name="Abrir llave 27">
            <a:extLst>
              <a:ext uri="{FF2B5EF4-FFF2-40B4-BE49-F238E27FC236}">
                <a16:creationId xmlns:a16="http://schemas.microsoft.com/office/drawing/2014/main" id="{299FF1EF-F101-904E-D06B-6D9DE3683D9F}"/>
              </a:ext>
            </a:extLst>
          </p:cNvPr>
          <p:cNvSpPr/>
          <p:nvPr/>
        </p:nvSpPr>
        <p:spPr>
          <a:xfrm>
            <a:off x="1408117" y="2050979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2BA61EF7-D964-33AB-B15C-E4A61E45B84D}"/>
              </a:ext>
            </a:extLst>
          </p:cNvPr>
          <p:cNvSpPr/>
          <p:nvPr/>
        </p:nvSpPr>
        <p:spPr>
          <a:xfrm rot="5400000">
            <a:off x="3161076" y="68513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1FB8DC0-FFA4-9C45-5D0D-AC9740873517}"/>
              </a:ext>
            </a:extLst>
          </p:cNvPr>
          <p:cNvSpPr txBox="1"/>
          <p:nvPr/>
        </p:nvSpPr>
        <p:spPr>
          <a:xfrm>
            <a:off x="-401051" y="5554379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8429940-9B66-808E-E39F-3EF1ABC5F3F1}"/>
              </a:ext>
            </a:extLst>
          </p:cNvPr>
          <p:cNvSpPr/>
          <p:nvPr/>
        </p:nvSpPr>
        <p:spPr>
          <a:xfrm>
            <a:off x="2362623" y="4865414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07BC1B8B-5782-207E-952E-D41520A643C7}"/>
              </a:ext>
            </a:extLst>
          </p:cNvPr>
          <p:cNvSpPr/>
          <p:nvPr/>
        </p:nvSpPr>
        <p:spPr>
          <a:xfrm>
            <a:off x="3317128" y="4865414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FD80056B-FF3D-129D-5A66-4E321C28B5C0}"/>
              </a:ext>
            </a:extLst>
          </p:cNvPr>
          <p:cNvSpPr/>
          <p:nvPr/>
        </p:nvSpPr>
        <p:spPr>
          <a:xfrm>
            <a:off x="2362623" y="5723656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2892E4DF-7EF5-20E1-0218-1F2504289CB9}"/>
              </a:ext>
            </a:extLst>
          </p:cNvPr>
          <p:cNvSpPr/>
          <p:nvPr/>
        </p:nvSpPr>
        <p:spPr>
          <a:xfrm>
            <a:off x="3317128" y="5723656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0B22480-7506-24BD-0124-5B1E1D974E6C}"/>
              </a:ext>
            </a:extLst>
          </p:cNvPr>
          <p:cNvSpPr txBox="1"/>
          <p:nvPr/>
        </p:nvSpPr>
        <p:spPr>
          <a:xfrm>
            <a:off x="2318926" y="3863206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9DF9649-6CF5-4220-62BB-6373202FF490}"/>
              </a:ext>
            </a:extLst>
          </p:cNvPr>
          <p:cNvSpPr txBox="1"/>
          <p:nvPr/>
        </p:nvSpPr>
        <p:spPr>
          <a:xfrm>
            <a:off x="1618818" y="5125258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E2444011-F9F0-075E-E6A9-D22FBEF8C3ED}"/>
              </a:ext>
            </a:extLst>
          </p:cNvPr>
          <p:cNvSpPr txBox="1"/>
          <p:nvPr/>
        </p:nvSpPr>
        <p:spPr>
          <a:xfrm>
            <a:off x="1618818" y="5983500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B9A0898-5F2E-621C-F39E-C4247F5CFED7}"/>
              </a:ext>
            </a:extLst>
          </p:cNvPr>
          <p:cNvSpPr txBox="1"/>
          <p:nvPr/>
        </p:nvSpPr>
        <p:spPr>
          <a:xfrm>
            <a:off x="2495687" y="4419056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7CBBF8C-FCA9-6D2C-974C-9E2D4F826D22}"/>
              </a:ext>
            </a:extLst>
          </p:cNvPr>
          <p:cNvSpPr txBox="1"/>
          <p:nvPr/>
        </p:nvSpPr>
        <p:spPr>
          <a:xfrm>
            <a:off x="3450192" y="4407844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58" name="Abrir llave 57">
            <a:extLst>
              <a:ext uri="{FF2B5EF4-FFF2-40B4-BE49-F238E27FC236}">
                <a16:creationId xmlns:a16="http://schemas.microsoft.com/office/drawing/2014/main" id="{DBD527D8-77D4-F8CF-8023-D95D1156C790}"/>
              </a:ext>
            </a:extLst>
          </p:cNvPr>
          <p:cNvSpPr/>
          <p:nvPr/>
        </p:nvSpPr>
        <p:spPr>
          <a:xfrm>
            <a:off x="1408117" y="4865414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9" name="Abrir llave 58">
            <a:extLst>
              <a:ext uri="{FF2B5EF4-FFF2-40B4-BE49-F238E27FC236}">
                <a16:creationId xmlns:a16="http://schemas.microsoft.com/office/drawing/2014/main" id="{F77D7C15-A9A2-D7CA-B4AA-F0654528BB55}"/>
              </a:ext>
            </a:extLst>
          </p:cNvPr>
          <p:cNvSpPr/>
          <p:nvPr/>
        </p:nvSpPr>
        <p:spPr>
          <a:xfrm rot="5400000">
            <a:off x="3161076" y="3499570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B57C03E-9BA0-C0CD-F332-F393E3CC61A6}"/>
              </a:ext>
            </a:extLst>
          </p:cNvPr>
          <p:cNvSpPr txBox="1"/>
          <p:nvPr/>
        </p:nvSpPr>
        <p:spPr>
          <a:xfrm>
            <a:off x="4635748" y="4625485"/>
            <a:ext cx="6360693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Verdaderos Negativos (TN): 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cantidad de datos que siendo negativos fueron detectados correctamente.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22E5E03-289A-ED47-5FD1-517DD9C25BA6}"/>
              </a:ext>
            </a:extLst>
          </p:cNvPr>
          <p:cNvSpPr txBox="1"/>
          <p:nvPr/>
        </p:nvSpPr>
        <p:spPr>
          <a:xfrm>
            <a:off x="4635748" y="5125258"/>
            <a:ext cx="6360693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Verdaderos Positivos (TP): 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cantidad de datos que siendo positivos fueron detectados correctamente.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0E7CD42-DF6F-BA88-8B98-9B9E34651B25}"/>
              </a:ext>
            </a:extLst>
          </p:cNvPr>
          <p:cNvSpPr txBox="1"/>
          <p:nvPr/>
        </p:nvSpPr>
        <p:spPr>
          <a:xfrm>
            <a:off x="4635748" y="5625031"/>
            <a:ext cx="6360693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Falso Negativo (FN): 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cantidad de datos que siendo positivos fueron detectados incorrectamente como negativos.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AD649AD0-984F-8CE1-CAEB-6A68C526B584}"/>
              </a:ext>
            </a:extLst>
          </p:cNvPr>
          <p:cNvSpPr txBox="1"/>
          <p:nvPr/>
        </p:nvSpPr>
        <p:spPr>
          <a:xfrm>
            <a:off x="4635747" y="6122770"/>
            <a:ext cx="6360693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Falso Positivo (FP): 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cantidad de datos que siendo negativos fueron detectados incorrectamente como positivos.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102F6D1D-BD7C-8CA0-0F82-6CCBDFECEE5A}"/>
              </a:ext>
            </a:extLst>
          </p:cNvPr>
          <p:cNvCxnSpPr>
            <a:cxnSpLocks/>
          </p:cNvCxnSpPr>
          <p:nvPr/>
        </p:nvCxnSpPr>
        <p:spPr>
          <a:xfrm>
            <a:off x="4000622" y="2654553"/>
            <a:ext cx="1496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E3D0C5C-9C24-46BF-B385-7A9C05A23F92}"/>
              </a:ext>
            </a:extLst>
          </p:cNvPr>
          <p:cNvCxnSpPr>
            <a:cxnSpLocks/>
          </p:cNvCxnSpPr>
          <p:nvPr/>
        </p:nvCxnSpPr>
        <p:spPr>
          <a:xfrm>
            <a:off x="3122616" y="3612963"/>
            <a:ext cx="23742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C9EEB778-4D63-C805-F8D7-682358282D67}"/>
              </a:ext>
            </a:extLst>
          </p:cNvPr>
          <p:cNvCxnSpPr>
            <a:cxnSpLocks/>
          </p:cNvCxnSpPr>
          <p:nvPr/>
        </p:nvCxnSpPr>
        <p:spPr>
          <a:xfrm>
            <a:off x="3122616" y="2232515"/>
            <a:ext cx="237423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78FC737-6B1C-6486-2AFB-3F886EB7094E}"/>
              </a:ext>
            </a:extLst>
          </p:cNvPr>
          <p:cNvCxnSpPr>
            <a:cxnSpLocks/>
          </p:cNvCxnSpPr>
          <p:nvPr/>
        </p:nvCxnSpPr>
        <p:spPr>
          <a:xfrm>
            <a:off x="4000622" y="3158971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29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017D0-70B6-E3B8-A75A-C4D8DC042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8BA44-D399-FBF0-9982-00354BB8A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1" y="303885"/>
            <a:ext cx="4941477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Confusión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C959446-F3B7-313A-7E2D-DD67D560AFCE}"/>
              </a:ext>
            </a:extLst>
          </p:cNvPr>
          <p:cNvSpPr/>
          <p:nvPr/>
        </p:nvSpPr>
        <p:spPr>
          <a:xfrm>
            <a:off x="2365048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7D5F44B-B518-0CFD-78A4-CC6D87160CF2}"/>
              </a:ext>
            </a:extLst>
          </p:cNvPr>
          <p:cNvSpPr/>
          <p:nvPr/>
        </p:nvSpPr>
        <p:spPr>
          <a:xfrm>
            <a:off x="3319553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A3356CB-9F27-07B2-DB43-89A068029781}"/>
              </a:ext>
            </a:extLst>
          </p:cNvPr>
          <p:cNvSpPr/>
          <p:nvPr/>
        </p:nvSpPr>
        <p:spPr>
          <a:xfrm>
            <a:off x="2365048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1EA808B-D6E7-AE4B-896B-76677A2A5B65}"/>
              </a:ext>
            </a:extLst>
          </p:cNvPr>
          <p:cNvSpPr/>
          <p:nvPr/>
        </p:nvSpPr>
        <p:spPr>
          <a:xfrm>
            <a:off x="3319553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D2E916F-661C-0834-1357-752E6FA77F0C}"/>
              </a:ext>
            </a:extLst>
          </p:cNvPr>
          <p:cNvSpPr txBox="1"/>
          <p:nvPr/>
        </p:nvSpPr>
        <p:spPr>
          <a:xfrm>
            <a:off x="2321351" y="1053947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88A1DC9-FF2E-B521-A7CB-FF8005E195A9}"/>
              </a:ext>
            </a:extLst>
          </p:cNvPr>
          <p:cNvSpPr txBox="1"/>
          <p:nvPr/>
        </p:nvSpPr>
        <p:spPr>
          <a:xfrm>
            <a:off x="1621243" y="231599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AE1B5B9-CE9D-A14E-288E-393187E06AB2}"/>
              </a:ext>
            </a:extLst>
          </p:cNvPr>
          <p:cNvSpPr txBox="1"/>
          <p:nvPr/>
        </p:nvSpPr>
        <p:spPr>
          <a:xfrm>
            <a:off x="1621243" y="317424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7232577-D992-D79D-8A74-90A8D9E4556F}"/>
              </a:ext>
            </a:extLst>
          </p:cNvPr>
          <p:cNvSpPr txBox="1"/>
          <p:nvPr/>
        </p:nvSpPr>
        <p:spPr>
          <a:xfrm>
            <a:off x="2498112" y="1609797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CD720AE-E969-BDF9-6770-6AF7F09E3827}"/>
              </a:ext>
            </a:extLst>
          </p:cNvPr>
          <p:cNvSpPr txBox="1"/>
          <p:nvPr/>
        </p:nvSpPr>
        <p:spPr>
          <a:xfrm>
            <a:off x="3452617" y="159858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3909E012-FF22-5AEA-48D8-4808F1FF5F6A}"/>
              </a:ext>
            </a:extLst>
          </p:cNvPr>
          <p:cNvSpPr/>
          <p:nvPr/>
        </p:nvSpPr>
        <p:spPr>
          <a:xfrm>
            <a:off x="1410542" y="205615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947BCC6A-2570-246C-6B7A-38371A58D751}"/>
              </a:ext>
            </a:extLst>
          </p:cNvPr>
          <p:cNvSpPr/>
          <p:nvPr/>
        </p:nvSpPr>
        <p:spPr>
          <a:xfrm rot="5400000">
            <a:off x="3163501" y="690311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A1BB829-2C1B-BB09-6962-3F2113509007}"/>
              </a:ext>
            </a:extLst>
          </p:cNvPr>
          <p:cNvSpPr txBox="1"/>
          <p:nvPr/>
        </p:nvSpPr>
        <p:spPr>
          <a:xfrm>
            <a:off x="5520610" y="2086545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89 datos en la CAT A, y realmente pertenecen a la CAT 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0888D7A-2FF6-C3A7-79BC-EFC09ED4ED4F}"/>
              </a:ext>
            </a:extLst>
          </p:cNvPr>
          <p:cNvSpPr txBox="1"/>
          <p:nvPr/>
        </p:nvSpPr>
        <p:spPr>
          <a:xfrm>
            <a:off x="5520610" y="3475524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dato en la CAT B, y realmente pertenecen a la CAT 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1122425-60FD-DD9E-495A-305E674F19D1}"/>
              </a:ext>
            </a:extLst>
          </p:cNvPr>
          <p:cNvSpPr txBox="1"/>
          <p:nvPr/>
        </p:nvSpPr>
        <p:spPr>
          <a:xfrm>
            <a:off x="5520610" y="2508583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datos en la CAT A, y realmente pertenece a la CAT B.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4BA9DD3-4343-7742-E1F6-560FFC11901A}"/>
              </a:ext>
            </a:extLst>
          </p:cNvPr>
          <p:cNvSpPr txBox="1"/>
          <p:nvPr/>
        </p:nvSpPr>
        <p:spPr>
          <a:xfrm>
            <a:off x="5520610" y="3013001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datos en la CAT B, y realmente pertenecen a la CAT B.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7AF04B2-383A-68FD-2F76-D91D5E67C902}"/>
              </a:ext>
            </a:extLst>
          </p:cNvPr>
          <p:cNvSpPr txBox="1"/>
          <p:nvPr/>
        </p:nvSpPr>
        <p:spPr>
          <a:xfrm>
            <a:off x="-401051" y="2739944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EDA1A12-656C-5340-3F19-9897ACA6EAAE}"/>
              </a:ext>
            </a:extLst>
          </p:cNvPr>
          <p:cNvSpPr/>
          <p:nvPr/>
        </p:nvSpPr>
        <p:spPr>
          <a:xfrm>
            <a:off x="2362623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E4EAB91-2334-10AF-AEE2-B23A24C2A83E}"/>
              </a:ext>
            </a:extLst>
          </p:cNvPr>
          <p:cNvSpPr/>
          <p:nvPr/>
        </p:nvSpPr>
        <p:spPr>
          <a:xfrm>
            <a:off x="3317128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EC41A1F-1517-1D5E-C53A-EB8095D93831}"/>
              </a:ext>
            </a:extLst>
          </p:cNvPr>
          <p:cNvSpPr/>
          <p:nvPr/>
        </p:nvSpPr>
        <p:spPr>
          <a:xfrm>
            <a:off x="2362623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AE73354-80E5-27D2-B027-163A2286B251}"/>
              </a:ext>
            </a:extLst>
          </p:cNvPr>
          <p:cNvSpPr/>
          <p:nvPr/>
        </p:nvSpPr>
        <p:spPr>
          <a:xfrm>
            <a:off x="3317128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744F0F9-28B7-4677-208A-0ABD187BF86D}"/>
              </a:ext>
            </a:extLst>
          </p:cNvPr>
          <p:cNvSpPr txBox="1"/>
          <p:nvPr/>
        </p:nvSpPr>
        <p:spPr>
          <a:xfrm>
            <a:off x="2318926" y="1048771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CB062D7-5329-DC9B-05D6-111DB11AA410}"/>
              </a:ext>
            </a:extLst>
          </p:cNvPr>
          <p:cNvSpPr txBox="1"/>
          <p:nvPr/>
        </p:nvSpPr>
        <p:spPr>
          <a:xfrm>
            <a:off x="1618818" y="2310823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CE43933-48FF-2C5C-DC22-9273B9E3FD4A}"/>
              </a:ext>
            </a:extLst>
          </p:cNvPr>
          <p:cNvSpPr txBox="1"/>
          <p:nvPr/>
        </p:nvSpPr>
        <p:spPr>
          <a:xfrm>
            <a:off x="1618818" y="316906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FF3B075-7282-BE73-C694-AB2F21C590FD}"/>
              </a:ext>
            </a:extLst>
          </p:cNvPr>
          <p:cNvSpPr txBox="1"/>
          <p:nvPr/>
        </p:nvSpPr>
        <p:spPr>
          <a:xfrm>
            <a:off x="2495687" y="160462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83A8CC2-1583-9912-09E4-3462E19A6077}"/>
              </a:ext>
            </a:extLst>
          </p:cNvPr>
          <p:cNvSpPr txBox="1"/>
          <p:nvPr/>
        </p:nvSpPr>
        <p:spPr>
          <a:xfrm>
            <a:off x="3450192" y="159340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8" name="Abrir llave 27">
            <a:extLst>
              <a:ext uri="{FF2B5EF4-FFF2-40B4-BE49-F238E27FC236}">
                <a16:creationId xmlns:a16="http://schemas.microsoft.com/office/drawing/2014/main" id="{38EB5AE0-3C9D-BA50-1BBB-C7AE0EA1B096}"/>
              </a:ext>
            </a:extLst>
          </p:cNvPr>
          <p:cNvSpPr/>
          <p:nvPr/>
        </p:nvSpPr>
        <p:spPr>
          <a:xfrm>
            <a:off x="1408117" y="2050979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1FF504C4-83A5-09E1-FA63-A834E952C0FA}"/>
              </a:ext>
            </a:extLst>
          </p:cNvPr>
          <p:cNvSpPr/>
          <p:nvPr/>
        </p:nvSpPr>
        <p:spPr>
          <a:xfrm rot="5400000">
            <a:off x="3161076" y="68513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8666A9-133C-2685-BC3A-2BE98FB44D1D}"/>
              </a:ext>
            </a:extLst>
          </p:cNvPr>
          <p:cNvSpPr txBox="1"/>
          <p:nvPr/>
        </p:nvSpPr>
        <p:spPr>
          <a:xfrm>
            <a:off x="419221" y="4238179"/>
            <a:ext cx="11462082" cy="33804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exactitud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 modelo es la relación entre el número de aciertos (datos clasificados correctamente) sobre el número total de datos.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43C5716-CB09-D5F7-ED53-8209B18000CB}"/>
                  </a:ext>
                </a:extLst>
              </p:cNvPr>
              <p:cNvSpPr txBox="1"/>
              <p:nvPr/>
            </p:nvSpPr>
            <p:spPr>
              <a:xfrm>
                <a:off x="1397794" y="4862236"/>
                <a:ext cx="3580404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𝑎𝑐𝑐𝑢𝑟𝑟𝑎𝑛𝑐𝑦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43C5716-CB09-D5F7-ED53-8209B1800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794" y="4862236"/>
                <a:ext cx="3580404" cy="523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3A16954-5DCD-836A-3018-BAB0F7073B1F}"/>
                  </a:ext>
                </a:extLst>
              </p:cNvPr>
              <p:cNvSpPr txBox="1"/>
              <p:nvPr/>
            </p:nvSpPr>
            <p:spPr>
              <a:xfrm>
                <a:off x="964319" y="5588727"/>
                <a:ext cx="4439485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𝑎𝑐𝑐𝑢𝑟𝑟𝑎𝑛𝑐𝑦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89+8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89+8+2+1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97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=0.97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3A16954-5DCD-836A-3018-BAB0F7073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19" y="5588727"/>
                <a:ext cx="4439485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444B61C9-C35F-7199-41E3-F847801F33B2}"/>
              </a:ext>
            </a:extLst>
          </p:cNvPr>
          <p:cNvCxnSpPr>
            <a:cxnSpLocks/>
          </p:cNvCxnSpPr>
          <p:nvPr/>
        </p:nvCxnSpPr>
        <p:spPr>
          <a:xfrm>
            <a:off x="5496848" y="5878108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1FA14FC-1AF0-15A1-244B-756E17314946}"/>
              </a:ext>
            </a:extLst>
          </p:cNvPr>
          <p:cNvCxnSpPr>
            <a:cxnSpLocks/>
          </p:cNvCxnSpPr>
          <p:nvPr/>
        </p:nvCxnSpPr>
        <p:spPr>
          <a:xfrm>
            <a:off x="4000622" y="2654553"/>
            <a:ext cx="1496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5A494C8-F761-C03D-1B22-94E0E3545996}"/>
              </a:ext>
            </a:extLst>
          </p:cNvPr>
          <p:cNvCxnSpPr>
            <a:cxnSpLocks/>
          </p:cNvCxnSpPr>
          <p:nvPr/>
        </p:nvCxnSpPr>
        <p:spPr>
          <a:xfrm>
            <a:off x="3122616" y="3612963"/>
            <a:ext cx="23742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DFEDD299-1081-C8F4-9ECF-0A8638A08435}"/>
              </a:ext>
            </a:extLst>
          </p:cNvPr>
          <p:cNvCxnSpPr>
            <a:cxnSpLocks/>
          </p:cNvCxnSpPr>
          <p:nvPr/>
        </p:nvCxnSpPr>
        <p:spPr>
          <a:xfrm>
            <a:off x="3122616" y="2232515"/>
            <a:ext cx="237423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6BF6AE37-EB6F-5855-5C9B-B8930EF6043D}"/>
              </a:ext>
            </a:extLst>
          </p:cNvPr>
          <p:cNvCxnSpPr>
            <a:cxnSpLocks/>
          </p:cNvCxnSpPr>
          <p:nvPr/>
        </p:nvCxnSpPr>
        <p:spPr>
          <a:xfrm>
            <a:off x="4000622" y="3158971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F4BE88E-F42E-58AA-B64E-00BB317F6AE2}"/>
              </a:ext>
            </a:extLst>
          </p:cNvPr>
          <p:cNvSpPr txBox="1"/>
          <p:nvPr/>
        </p:nvSpPr>
        <p:spPr>
          <a:xfrm>
            <a:off x="7006267" y="5715027"/>
            <a:ext cx="3389377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97% de los datos se clasifican correctamente.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714AC061-DD17-2BCC-7FD4-5FE1B69B7066}"/>
              </a:ext>
            </a:extLst>
          </p:cNvPr>
          <p:cNvCxnSpPr>
            <a:cxnSpLocks/>
          </p:cNvCxnSpPr>
          <p:nvPr/>
        </p:nvCxnSpPr>
        <p:spPr>
          <a:xfrm>
            <a:off x="5155654" y="5165143"/>
            <a:ext cx="183742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235105F-F727-6DF5-7877-62639C6D77ED}"/>
              </a:ext>
            </a:extLst>
          </p:cNvPr>
          <p:cNvSpPr txBox="1"/>
          <p:nvPr/>
        </p:nvSpPr>
        <p:spPr>
          <a:xfrm>
            <a:off x="6993074" y="4911649"/>
            <a:ext cx="4439485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Dentro de sus limitaciones puede “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enmascarar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el desempeño del clasificador para alguna categoría en particular.</a:t>
            </a:r>
          </a:p>
        </p:txBody>
      </p:sp>
    </p:spTree>
    <p:extLst>
      <p:ext uri="{BB962C8B-B14F-4D97-AF65-F5344CB8AC3E}">
        <p14:creationId xmlns:p14="http://schemas.microsoft.com/office/powerpoint/2010/main" val="244871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5" grpId="0" animBg="1"/>
      <p:bldP spid="37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72DEA-5801-D476-9F80-E24FE7045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90B6E-FC00-9B59-A2B4-73C390EC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1" y="303885"/>
            <a:ext cx="4941477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Confusión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F2C1919-30A2-948A-0C77-8A1B46A6B11C}"/>
              </a:ext>
            </a:extLst>
          </p:cNvPr>
          <p:cNvSpPr/>
          <p:nvPr/>
        </p:nvSpPr>
        <p:spPr>
          <a:xfrm>
            <a:off x="2365048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D974D0D-931F-9AE0-E0CB-0E619FA3410F}"/>
              </a:ext>
            </a:extLst>
          </p:cNvPr>
          <p:cNvSpPr/>
          <p:nvPr/>
        </p:nvSpPr>
        <p:spPr>
          <a:xfrm>
            <a:off x="3319553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510B4FF-7E71-419F-BCED-9154E0E165B5}"/>
              </a:ext>
            </a:extLst>
          </p:cNvPr>
          <p:cNvSpPr/>
          <p:nvPr/>
        </p:nvSpPr>
        <p:spPr>
          <a:xfrm>
            <a:off x="2365048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6845DB2-19A1-2D72-ECC4-DE041259CC00}"/>
              </a:ext>
            </a:extLst>
          </p:cNvPr>
          <p:cNvSpPr/>
          <p:nvPr/>
        </p:nvSpPr>
        <p:spPr>
          <a:xfrm>
            <a:off x="3319553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EB228D7-C70A-36A0-B956-DC721BACEBDC}"/>
              </a:ext>
            </a:extLst>
          </p:cNvPr>
          <p:cNvSpPr txBox="1"/>
          <p:nvPr/>
        </p:nvSpPr>
        <p:spPr>
          <a:xfrm>
            <a:off x="2321351" y="1053947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D811B10-4411-5DAF-E9D3-CD7CC1032D31}"/>
              </a:ext>
            </a:extLst>
          </p:cNvPr>
          <p:cNvSpPr txBox="1"/>
          <p:nvPr/>
        </p:nvSpPr>
        <p:spPr>
          <a:xfrm>
            <a:off x="1621243" y="231599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BFAE80E-EB46-C928-8776-C4DB7B321FEE}"/>
              </a:ext>
            </a:extLst>
          </p:cNvPr>
          <p:cNvSpPr txBox="1"/>
          <p:nvPr/>
        </p:nvSpPr>
        <p:spPr>
          <a:xfrm>
            <a:off x="1621243" y="317424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8E3E1DA-268F-D3C3-C24B-28F1D02F3662}"/>
              </a:ext>
            </a:extLst>
          </p:cNvPr>
          <p:cNvSpPr txBox="1"/>
          <p:nvPr/>
        </p:nvSpPr>
        <p:spPr>
          <a:xfrm>
            <a:off x="2498112" y="1609797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4A87E26-1B3A-FCC9-EBE1-DC386A8AB309}"/>
              </a:ext>
            </a:extLst>
          </p:cNvPr>
          <p:cNvSpPr txBox="1"/>
          <p:nvPr/>
        </p:nvSpPr>
        <p:spPr>
          <a:xfrm>
            <a:off x="3452617" y="159858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06034E87-31E9-10DD-B021-8A5AA6D0E3AD}"/>
              </a:ext>
            </a:extLst>
          </p:cNvPr>
          <p:cNvSpPr/>
          <p:nvPr/>
        </p:nvSpPr>
        <p:spPr>
          <a:xfrm>
            <a:off x="1410542" y="205615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26DB03C0-E30E-21A4-D7B7-542E2DCD2B80}"/>
              </a:ext>
            </a:extLst>
          </p:cNvPr>
          <p:cNvSpPr/>
          <p:nvPr/>
        </p:nvSpPr>
        <p:spPr>
          <a:xfrm rot="5400000">
            <a:off x="3163501" y="690311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F62C8BA-999F-D649-43E1-EE6F75B3D557}"/>
              </a:ext>
            </a:extLst>
          </p:cNvPr>
          <p:cNvSpPr txBox="1"/>
          <p:nvPr/>
        </p:nvSpPr>
        <p:spPr>
          <a:xfrm>
            <a:off x="5520610" y="2086545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89 datos en la CAT A, y realmente pertenecen a la CAT 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BF4091D-7562-684B-9EDA-6BC07A892D90}"/>
              </a:ext>
            </a:extLst>
          </p:cNvPr>
          <p:cNvSpPr txBox="1"/>
          <p:nvPr/>
        </p:nvSpPr>
        <p:spPr>
          <a:xfrm>
            <a:off x="5520610" y="3475524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dato en la CAT B, y realmente pertenecen a la CAT 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18ACC36-9817-EB5A-B2AA-3262FBE883CA}"/>
              </a:ext>
            </a:extLst>
          </p:cNvPr>
          <p:cNvSpPr txBox="1"/>
          <p:nvPr/>
        </p:nvSpPr>
        <p:spPr>
          <a:xfrm>
            <a:off x="5520610" y="2508583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datos en la CAT A, y realmente pertenece a la CAT B.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45DD981-874E-5564-62AD-3B37FDCD6BF7}"/>
              </a:ext>
            </a:extLst>
          </p:cNvPr>
          <p:cNvSpPr txBox="1"/>
          <p:nvPr/>
        </p:nvSpPr>
        <p:spPr>
          <a:xfrm>
            <a:off x="5520610" y="3013001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datos en la CAT B, y realmente pertenecen a la CAT B.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E691AD-8F38-5356-5F8B-4AF0C822FE15}"/>
              </a:ext>
            </a:extLst>
          </p:cNvPr>
          <p:cNvSpPr txBox="1"/>
          <p:nvPr/>
        </p:nvSpPr>
        <p:spPr>
          <a:xfrm>
            <a:off x="-401051" y="2739944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84B22AB-8BF1-DCD6-E3D2-6C9EBD6CFAE8}"/>
              </a:ext>
            </a:extLst>
          </p:cNvPr>
          <p:cNvSpPr/>
          <p:nvPr/>
        </p:nvSpPr>
        <p:spPr>
          <a:xfrm>
            <a:off x="2362623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B14D87-5196-2CED-E135-326B11E3540A}"/>
              </a:ext>
            </a:extLst>
          </p:cNvPr>
          <p:cNvSpPr/>
          <p:nvPr/>
        </p:nvSpPr>
        <p:spPr>
          <a:xfrm>
            <a:off x="3317128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851BD63-3A3F-1B5F-4385-3215DC841597}"/>
              </a:ext>
            </a:extLst>
          </p:cNvPr>
          <p:cNvSpPr/>
          <p:nvPr/>
        </p:nvSpPr>
        <p:spPr>
          <a:xfrm>
            <a:off x="2362623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6BA2CA9-8E14-79AA-3852-A88F7C1709C0}"/>
              </a:ext>
            </a:extLst>
          </p:cNvPr>
          <p:cNvSpPr/>
          <p:nvPr/>
        </p:nvSpPr>
        <p:spPr>
          <a:xfrm>
            <a:off x="3317128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D68BEE4-DFE9-A380-1EE3-2DABD63565DA}"/>
              </a:ext>
            </a:extLst>
          </p:cNvPr>
          <p:cNvSpPr txBox="1"/>
          <p:nvPr/>
        </p:nvSpPr>
        <p:spPr>
          <a:xfrm>
            <a:off x="2318926" y="1048771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7EE8A9B-631B-32D7-7E4F-F5650928D340}"/>
              </a:ext>
            </a:extLst>
          </p:cNvPr>
          <p:cNvSpPr txBox="1"/>
          <p:nvPr/>
        </p:nvSpPr>
        <p:spPr>
          <a:xfrm>
            <a:off x="1618818" y="2310823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16B27ED-6281-A2D1-37BF-B189A2D42547}"/>
              </a:ext>
            </a:extLst>
          </p:cNvPr>
          <p:cNvSpPr txBox="1"/>
          <p:nvPr/>
        </p:nvSpPr>
        <p:spPr>
          <a:xfrm>
            <a:off x="1618818" y="316906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7809666-A3B6-68CF-F330-77B65B8F4875}"/>
              </a:ext>
            </a:extLst>
          </p:cNvPr>
          <p:cNvSpPr txBox="1"/>
          <p:nvPr/>
        </p:nvSpPr>
        <p:spPr>
          <a:xfrm>
            <a:off x="2495687" y="160462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B64AECE-A1A0-2645-778D-EBFF69F44C00}"/>
              </a:ext>
            </a:extLst>
          </p:cNvPr>
          <p:cNvSpPr txBox="1"/>
          <p:nvPr/>
        </p:nvSpPr>
        <p:spPr>
          <a:xfrm>
            <a:off x="3450192" y="159340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8" name="Abrir llave 27">
            <a:extLst>
              <a:ext uri="{FF2B5EF4-FFF2-40B4-BE49-F238E27FC236}">
                <a16:creationId xmlns:a16="http://schemas.microsoft.com/office/drawing/2014/main" id="{612006CB-B927-0949-C18C-3C3F9B13B0C3}"/>
              </a:ext>
            </a:extLst>
          </p:cNvPr>
          <p:cNvSpPr/>
          <p:nvPr/>
        </p:nvSpPr>
        <p:spPr>
          <a:xfrm>
            <a:off x="1408117" y="2050979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FB7F6A9C-840B-4384-C062-26925DE59144}"/>
              </a:ext>
            </a:extLst>
          </p:cNvPr>
          <p:cNvSpPr/>
          <p:nvPr/>
        </p:nvSpPr>
        <p:spPr>
          <a:xfrm rot="5400000">
            <a:off x="3161076" y="68513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78E926-44A2-12ED-B652-151F3348405D}"/>
              </a:ext>
            </a:extLst>
          </p:cNvPr>
          <p:cNvSpPr txBox="1"/>
          <p:nvPr/>
        </p:nvSpPr>
        <p:spPr>
          <a:xfrm>
            <a:off x="419221" y="4238179"/>
            <a:ext cx="11462082" cy="33804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precisión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 modelo es la proporción de datos clasificados como positivos y que realmente son positivos.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4EE5EDD-DF00-45EC-88C7-95EA1292E6FA}"/>
                  </a:ext>
                </a:extLst>
              </p:cNvPr>
              <p:cNvSpPr txBox="1"/>
              <p:nvPr/>
            </p:nvSpPr>
            <p:spPr>
              <a:xfrm>
                <a:off x="1397794" y="4862236"/>
                <a:ext cx="2182521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𝑝𝑟𝑒𝑐𝑖𝑠𝑖𝑜𝑛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4EE5EDD-DF00-45EC-88C7-95EA1292E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794" y="4862236"/>
                <a:ext cx="2182521" cy="523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170F891-CB52-AF9B-8AAA-3F08E9512FE3}"/>
                  </a:ext>
                </a:extLst>
              </p:cNvPr>
              <p:cNvSpPr txBox="1"/>
              <p:nvPr/>
            </p:nvSpPr>
            <p:spPr>
              <a:xfrm>
                <a:off x="964319" y="5588727"/>
                <a:ext cx="3027239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𝑝𝑟𝑒𝑐𝑖𝑠𝑖𝑜𝑛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8+1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=0.89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170F891-CB52-AF9B-8AAA-3F08E9512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19" y="5588727"/>
                <a:ext cx="3027239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626EC6C6-2058-4B0A-A003-9A5AF60548A7}"/>
              </a:ext>
            </a:extLst>
          </p:cNvPr>
          <p:cNvCxnSpPr>
            <a:cxnSpLocks/>
          </p:cNvCxnSpPr>
          <p:nvPr/>
        </p:nvCxnSpPr>
        <p:spPr>
          <a:xfrm>
            <a:off x="4138567" y="5885019"/>
            <a:ext cx="1827813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9F8A20C-0B57-1C05-302F-BB96DC8CFCDE}"/>
              </a:ext>
            </a:extLst>
          </p:cNvPr>
          <p:cNvCxnSpPr>
            <a:cxnSpLocks/>
          </p:cNvCxnSpPr>
          <p:nvPr/>
        </p:nvCxnSpPr>
        <p:spPr>
          <a:xfrm>
            <a:off x="4000622" y="2654553"/>
            <a:ext cx="1496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44B51B56-EA20-378F-A89C-AB2B9DFECA97}"/>
              </a:ext>
            </a:extLst>
          </p:cNvPr>
          <p:cNvCxnSpPr>
            <a:cxnSpLocks/>
          </p:cNvCxnSpPr>
          <p:nvPr/>
        </p:nvCxnSpPr>
        <p:spPr>
          <a:xfrm>
            <a:off x="3122616" y="3612963"/>
            <a:ext cx="23742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08561740-E465-8DE5-A190-5F38C3CBF298}"/>
              </a:ext>
            </a:extLst>
          </p:cNvPr>
          <p:cNvCxnSpPr>
            <a:cxnSpLocks/>
          </p:cNvCxnSpPr>
          <p:nvPr/>
        </p:nvCxnSpPr>
        <p:spPr>
          <a:xfrm>
            <a:off x="3122616" y="2232515"/>
            <a:ext cx="237423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38E255C-D004-AC2B-91CA-BD384B8B11B6}"/>
              </a:ext>
            </a:extLst>
          </p:cNvPr>
          <p:cNvCxnSpPr>
            <a:cxnSpLocks/>
          </p:cNvCxnSpPr>
          <p:nvPr/>
        </p:nvCxnSpPr>
        <p:spPr>
          <a:xfrm>
            <a:off x="4000622" y="3158971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969439F-BA4B-94E4-2AFF-2F029DF6A7FC}"/>
              </a:ext>
            </a:extLst>
          </p:cNvPr>
          <p:cNvSpPr txBox="1"/>
          <p:nvPr/>
        </p:nvSpPr>
        <p:spPr>
          <a:xfrm>
            <a:off x="6096000" y="5632033"/>
            <a:ext cx="4563979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89% de los datos clasificados como positivos realmente son positivos. El otro 11% son los falsos positivos.</a:t>
            </a:r>
          </a:p>
        </p:txBody>
      </p:sp>
    </p:spTree>
    <p:extLst>
      <p:ext uri="{BB962C8B-B14F-4D97-AF65-F5344CB8AC3E}">
        <p14:creationId xmlns:p14="http://schemas.microsoft.com/office/powerpoint/2010/main" val="317343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5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31C39-6ECA-7DA5-53EF-F40B7CE9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8280F-6B8F-E47D-1F70-3E30092A7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1" y="303885"/>
            <a:ext cx="4941477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Confusión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CF69A44-1173-B074-8868-68217CD8F708}"/>
              </a:ext>
            </a:extLst>
          </p:cNvPr>
          <p:cNvSpPr/>
          <p:nvPr/>
        </p:nvSpPr>
        <p:spPr>
          <a:xfrm>
            <a:off x="2365048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E2D5CAA-7C74-49AF-ABBE-9D6210616099}"/>
              </a:ext>
            </a:extLst>
          </p:cNvPr>
          <p:cNvSpPr/>
          <p:nvPr/>
        </p:nvSpPr>
        <p:spPr>
          <a:xfrm>
            <a:off x="3319553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6EB122-F951-E664-E7EF-A152618E47AB}"/>
              </a:ext>
            </a:extLst>
          </p:cNvPr>
          <p:cNvSpPr/>
          <p:nvPr/>
        </p:nvSpPr>
        <p:spPr>
          <a:xfrm>
            <a:off x="2365048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61B4E03-45E3-2842-4071-9580AE6B4EB7}"/>
              </a:ext>
            </a:extLst>
          </p:cNvPr>
          <p:cNvSpPr/>
          <p:nvPr/>
        </p:nvSpPr>
        <p:spPr>
          <a:xfrm>
            <a:off x="3319553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1EDA209-45CA-C71D-1FC4-702AF319C3EA}"/>
              </a:ext>
            </a:extLst>
          </p:cNvPr>
          <p:cNvSpPr txBox="1"/>
          <p:nvPr/>
        </p:nvSpPr>
        <p:spPr>
          <a:xfrm>
            <a:off x="2321351" y="1053947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7212AE1-FA3D-A2F4-B619-123F4C5B2433}"/>
              </a:ext>
            </a:extLst>
          </p:cNvPr>
          <p:cNvSpPr txBox="1"/>
          <p:nvPr/>
        </p:nvSpPr>
        <p:spPr>
          <a:xfrm>
            <a:off x="1621243" y="231599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33DE694-B238-E627-60DC-460907F25417}"/>
              </a:ext>
            </a:extLst>
          </p:cNvPr>
          <p:cNvSpPr txBox="1"/>
          <p:nvPr/>
        </p:nvSpPr>
        <p:spPr>
          <a:xfrm>
            <a:off x="1621243" y="317424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7CE019B-B69B-194F-5411-8961FF26DAFA}"/>
              </a:ext>
            </a:extLst>
          </p:cNvPr>
          <p:cNvSpPr txBox="1"/>
          <p:nvPr/>
        </p:nvSpPr>
        <p:spPr>
          <a:xfrm>
            <a:off x="2498112" y="1609797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21FC32F-04C2-4512-8E0F-C7EBE8F90B86}"/>
              </a:ext>
            </a:extLst>
          </p:cNvPr>
          <p:cNvSpPr txBox="1"/>
          <p:nvPr/>
        </p:nvSpPr>
        <p:spPr>
          <a:xfrm>
            <a:off x="3452617" y="159858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A4BACD9D-02A3-4846-2D56-2BF3BC10E3A5}"/>
              </a:ext>
            </a:extLst>
          </p:cNvPr>
          <p:cNvSpPr/>
          <p:nvPr/>
        </p:nvSpPr>
        <p:spPr>
          <a:xfrm>
            <a:off x="1410542" y="205615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4DE6954A-32CD-E1AE-D3F4-104BBCBFF407}"/>
              </a:ext>
            </a:extLst>
          </p:cNvPr>
          <p:cNvSpPr/>
          <p:nvPr/>
        </p:nvSpPr>
        <p:spPr>
          <a:xfrm rot="5400000">
            <a:off x="3163501" y="690311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2F9E722-5BE3-3979-7755-49A1E9945C63}"/>
              </a:ext>
            </a:extLst>
          </p:cNvPr>
          <p:cNvSpPr txBox="1"/>
          <p:nvPr/>
        </p:nvSpPr>
        <p:spPr>
          <a:xfrm>
            <a:off x="5520610" y="2086545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89 datos en la CAT A, y realmente pertenecen a la CAT 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4D99D7-62AD-B69E-E50F-3FEB311C7B47}"/>
              </a:ext>
            </a:extLst>
          </p:cNvPr>
          <p:cNvSpPr txBox="1"/>
          <p:nvPr/>
        </p:nvSpPr>
        <p:spPr>
          <a:xfrm>
            <a:off x="5520610" y="3475524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dato en la CAT B, y realmente pertenecen a la CAT 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8A39AC7-2131-E0C0-4DFC-C27B829B9A6A}"/>
              </a:ext>
            </a:extLst>
          </p:cNvPr>
          <p:cNvSpPr txBox="1"/>
          <p:nvPr/>
        </p:nvSpPr>
        <p:spPr>
          <a:xfrm>
            <a:off x="5520610" y="2508583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datos en la CAT A, y realmente pertenece a la CAT B.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0C04ABC-1BEF-46C8-5809-F93B30BDAA6E}"/>
              </a:ext>
            </a:extLst>
          </p:cNvPr>
          <p:cNvSpPr txBox="1"/>
          <p:nvPr/>
        </p:nvSpPr>
        <p:spPr>
          <a:xfrm>
            <a:off x="5520610" y="3013001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datos en la CAT B, y realmente pertenecen a la CAT B.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82C0CD-9578-BD71-4BC6-379558C2A7C5}"/>
              </a:ext>
            </a:extLst>
          </p:cNvPr>
          <p:cNvSpPr txBox="1"/>
          <p:nvPr/>
        </p:nvSpPr>
        <p:spPr>
          <a:xfrm>
            <a:off x="-401051" y="2739944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D14C6EC-EBA8-D802-7A31-347FF09F67C4}"/>
              </a:ext>
            </a:extLst>
          </p:cNvPr>
          <p:cNvSpPr/>
          <p:nvPr/>
        </p:nvSpPr>
        <p:spPr>
          <a:xfrm>
            <a:off x="2362623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9FD2EFD-F6A9-DF32-846A-58B97B93B622}"/>
              </a:ext>
            </a:extLst>
          </p:cNvPr>
          <p:cNvSpPr/>
          <p:nvPr/>
        </p:nvSpPr>
        <p:spPr>
          <a:xfrm>
            <a:off x="3317128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C460BED-1413-94B4-65BB-5E9975DBD194}"/>
              </a:ext>
            </a:extLst>
          </p:cNvPr>
          <p:cNvSpPr/>
          <p:nvPr/>
        </p:nvSpPr>
        <p:spPr>
          <a:xfrm>
            <a:off x="2362623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C89FCA4-C667-8C95-E549-A6311DEA8E41}"/>
              </a:ext>
            </a:extLst>
          </p:cNvPr>
          <p:cNvSpPr/>
          <p:nvPr/>
        </p:nvSpPr>
        <p:spPr>
          <a:xfrm>
            <a:off x="3317128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0F33587-8D7F-282C-47B4-40BFC562D95F}"/>
              </a:ext>
            </a:extLst>
          </p:cNvPr>
          <p:cNvSpPr txBox="1"/>
          <p:nvPr/>
        </p:nvSpPr>
        <p:spPr>
          <a:xfrm>
            <a:off x="2318926" y="1048771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191418A-C33D-7900-C38D-9A0B60F10E91}"/>
              </a:ext>
            </a:extLst>
          </p:cNvPr>
          <p:cNvSpPr txBox="1"/>
          <p:nvPr/>
        </p:nvSpPr>
        <p:spPr>
          <a:xfrm>
            <a:off x="1618818" y="2310823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3AA9AD9-198E-663B-33C6-0823E3197A5E}"/>
              </a:ext>
            </a:extLst>
          </p:cNvPr>
          <p:cNvSpPr txBox="1"/>
          <p:nvPr/>
        </p:nvSpPr>
        <p:spPr>
          <a:xfrm>
            <a:off x="1618818" y="316906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1D787FD-08B5-C609-719A-ED506D886D03}"/>
              </a:ext>
            </a:extLst>
          </p:cNvPr>
          <p:cNvSpPr txBox="1"/>
          <p:nvPr/>
        </p:nvSpPr>
        <p:spPr>
          <a:xfrm>
            <a:off x="2495687" y="160462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4874DDB-8556-4B4D-D6D7-A1FDE1F6CDD8}"/>
              </a:ext>
            </a:extLst>
          </p:cNvPr>
          <p:cNvSpPr txBox="1"/>
          <p:nvPr/>
        </p:nvSpPr>
        <p:spPr>
          <a:xfrm>
            <a:off x="3450192" y="159340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8" name="Abrir llave 27">
            <a:extLst>
              <a:ext uri="{FF2B5EF4-FFF2-40B4-BE49-F238E27FC236}">
                <a16:creationId xmlns:a16="http://schemas.microsoft.com/office/drawing/2014/main" id="{45D563A0-1A46-DB9D-1CD7-77A91EE62055}"/>
              </a:ext>
            </a:extLst>
          </p:cNvPr>
          <p:cNvSpPr/>
          <p:nvPr/>
        </p:nvSpPr>
        <p:spPr>
          <a:xfrm>
            <a:off x="1408117" y="2050979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DB8FBEC9-6C36-EA72-0A73-385A9DF7E1F8}"/>
              </a:ext>
            </a:extLst>
          </p:cNvPr>
          <p:cNvSpPr/>
          <p:nvPr/>
        </p:nvSpPr>
        <p:spPr>
          <a:xfrm rot="5400000">
            <a:off x="3161076" y="68513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AB86E9-42B9-DF54-A0A4-301117469D9C}"/>
              </a:ext>
            </a:extLst>
          </p:cNvPr>
          <p:cNvSpPr txBox="1"/>
          <p:nvPr/>
        </p:nvSpPr>
        <p:spPr>
          <a:xfrm>
            <a:off x="419221" y="4238179"/>
            <a:ext cx="11462082" cy="33804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La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sensibilidad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 modelo es la proporción de datos positivos que fueron detectados correctamente como positivos.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454D441-51EA-FF24-A792-D1C1E6ABE6A2}"/>
                  </a:ext>
                </a:extLst>
              </p:cNvPr>
              <p:cNvSpPr txBox="1"/>
              <p:nvPr/>
            </p:nvSpPr>
            <p:spPr>
              <a:xfrm>
                <a:off x="1397794" y="4862236"/>
                <a:ext cx="1844416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454D441-51EA-FF24-A792-D1C1E6ABE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794" y="4862236"/>
                <a:ext cx="1844416" cy="523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AC993CF4-C3C2-BAF1-15D8-514ACF4056A3}"/>
                  </a:ext>
                </a:extLst>
              </p:cNvPr>
              <p:cNvSpPr txBox="1"/>
              <p:nvPr/>
            </p:nvSpPr>
            <p:spPr>
              <a:xfrm>
                <a:off x="964319" y="5588727"/>
                <a:ext cx="2791725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8+2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=0.80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AC993CF4-C3C2-BAF1-15D8-514ACF405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19" y="5588727"/>
                <a:ext cx="2791725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513EE2A1-006D-E80D-CC6D-F75B268895FD}"/>
              </a:ext>
            </a:extLst>
          </p:cNvPr>
          <p:cNvCxnSpPr>
            <a:cxnSpLocks/>
          </p:cNvCxnSpPr>
          <p:nvPr/>
        </p:nvCxnSpPr>
        <p:spPr>
          <a:xfrm>
            <a:off x="3874168" y="5885019"/>
            <a:ext cx="209221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F8F8B65C-02C8-F902-26F3-EFC7C62D8507}"/>
              </a:ext>
            </a:extLst>
          </p:cNvPr>
          <p:cNvCxnSpPr>
            <a:cxnSpLocks/>
          </p:cNvCxnSpPr>
          <p:nvPr/>
        </p:nvCxnSpPr>
        <p:spPr>
          <a:xfrm>
            <a:off x="4000622" y="2654553"/>
            <a:ext cx="1496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226157A-CB14-A10C-70B8-6739C1D25DDA}"/>
              </a:ext>
            </a:extLst>
          </p:cNvPr>
          <p:cNvCxnSpPr>
            <a:cxnSpLocks/>
          </p:cNvCxnSpPr>
          <p:nvPr/>
        </p:nvCxnSpPr>
        <p:spPr>
          <a:xfrm>
            <a:off x="3122616" y="3612963"/>
            <a:ext cx="23742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B8BE1BB8-6C9D-66CE-C40B-7F1AFE9F1F58}"/>
              </a:ext>
            </a:extLst>
          </p:cNvPr>
          <p:cNvCxnSpPr>
            <a:cxnSpLocks/>
          </p:cNvCxnSpPr>
          <p:nvPr/>
        </p:nvCxnSpPr>
        <p:spPr>
          <a:xfrm>
            <a:off x="3122616" y="2232515"/>
            <a:ext cx="237423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A3C79157-BE59-B3EC-7069-7C087E18AB74}"/>
              </a:ext>
            </a:extLst>
          </p:cNvPr>
          <p:cNvCxnSpPr>
            <a:cxnSpLocks/>
          </p:cNvCxnSpPr>
          <p:nvPr/>
        </p:nvCxnSpPr>
        <p:spPr>
          <a:xfrm>
            <a:off x="4000622" y="3158971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1B8FBC8-D702-8AAE-8EAA-CF6D580294DE}"/>
              </a:ext>
            </a:extLst>
          </p:cNvPr>
          <p:cNvSpPr txBox="1"/>
          <p:nvPr/>
        </p:nvSpPr>
        <p:spPr>
          <a:xfrm>
            <a:off x="6096000" y="5525016"/>
            <a:ext cx="4563979" cy="72000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80% de los datos que son positivos fueron detectados correctamente como positivos. El otro 20% son los falsos negativos.</a:t>
            </a:r>
          </a:p>
        </p:txBody>
      </p:sp>
    </p:spTree>
    <p:extLst>
      <p:ext uri="{BB962C8B-B14F-4D97-AF65-F5344CB8AC3E}">
        <p14:creationId xmlns:p14="http://schemas.microsoft.com/office/powerpoint/2010/main" val="273885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5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D352D-A685-4C62-9379-6F395D98E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58742-12D0-ADC7-BA31-C45D48046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1" y="303885"/>
            <a:ext cx="4941477" cy="610863"/>
          </a:xfrm>
        </p:spPr>
        <p:txBody>
          <a:bodyPr rtlCol="0">
            <a:noAutofit/>
          </a:bodyPr>
          <a:lstStyle/>
          <a:p>
            <a:pPr algn="just" rtl="0"/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Confusión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D77A71B-DC7E-2663-9202-D4A06BF24DEB}"/>
              </a:ext>
            </a:extLst>
          </p:cNvPr>
          <p:cNvSpPr/>
          <p:nvPr/>
        </p:nvSpPr>
        <p:spPr>
          <a:xfrm>
            <a:off x="2365048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A4FF12-540C-A8BB-D19A-1F62744B9C14}"/>
              </a:ext>
            </a:extLst>
          </p:cNvPr>
          <p:cNvSpPr/>
          <p:nvPr/>
        </p:nvSpPr>
        <p:spPr>
          <a:xfrm>
            <a:off x="3319553" y="2056155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F9648A2-4AB0-EBFE-AFED-7A67795B0481}"/>
              </a:ext>
            </a:extLst>
          </p:cNvPr>
          <p:cNvSpPr/>
          <p:nvPr/>
        </p:nvSpPr>
        <p:spPr>
          <a:xfrm>
            <a:off x="2365048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BAF0891-8785-165B-588C-1842E008B70A}"/>
              </a:ext>
            </a:extLst>
          </p:cNvPr>
          <p:cNvSpPr/>
          <p:nvPr/>
        </p:nvSpPr>
        <p:spPr>
          <a:xfrm>
            <a:off x="3319553" y="2914397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DE9B022-704E-1DDF-C36B-11DA969B84E4}"/>
              </a:ext>
            </a:extLst>
          </p:cNvPr>
          <p:cNvSpPr txBox="1"/>
          <p:nvPr/>
        </p:nvSpPr>
        <p:spPr>
          <a:xfrm>
            <a:off x="2321351" y="1053947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EBC19B2-7662-C529-8867-257BFC940CB1}"/>
              </a:ext>
            </a:extLst>
          </p:cNvPr>
          <p:cNvSpPr txBox="1"/>
          <p:nvPr/>
        </p:nvSpPr>
        <p:spPr>
          <a:xfrm>
            <a:off x="1621243" y="231599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86096D3-DD5E-9154-F154-4B173770EB07}"/>
              </a:ext>
            </a:extLst>
          </p:cNvPr>
          <p:cNvSpPr txBox="1"/>
          <p:nvPr/>
        </p:nvSpPr>
        <p:spPr>
          <a:xfrm>
            <a:off x="1621243" y="317424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2420E6-CFA5-64ED-112A-B777E8F673A2}"/>
              </a:ext>
            </a:extLst>
          </p:cNvPr>
          <p:cNvSpPr txBox="1"/>
          <p:nvPr/>
        </p:nvSpPr>
        <p:spPr>
          <a:xfrm>
            <a:off x="2498112" y="1609797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9BBE560-199E-B17D-6798-81CC1045B814}"/>
              </a:ext>
            </a:extLst>
          </p:cNvPr>
          <p:cNvSpPr txBox="1"/>
          <p:nvPr/>
        </p:nvSpPr>
        <p:spPr>
          <a:xfrm>
            <a:off x="3452617" y="159858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3" name="Abrir llave 22">
            <a:extLst>
              <a:ext uri="{FF2B5EF4-FFF2-40B4-BE49-F238E27FC236}">
                <a16:creationId xmlns:a16="http://schemas.microsoft.com/office/drawing/2014/main" id="{CD731738-9DB7-EDA7-B75D-CD9796E3BD39}"/>
              </a:ext>
            </a:extLst>
          </p:cNvPr>
          <p:cNvSpPr/>
          <p:nvPr/>
        </p:nvSpPr>
        <p:spPr>
          <a:xfrm>
            <a:off x="1410542" y="205615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E5D09739-C2E6-6374-96D7-CA122BA1A460}"/>
              </a:ext>
            </a:extLst>
          </p:cNvPr>
          <p:cNvSpPr/>
          <p:nvPr/>
        </p:nvSpPr>
        <p:spPr>
          <a:xfrm rot="5400000">
            <a:off x="3163501" y="690311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6D328F3-12D1-F09F-6F11-3E0BFBCF3CFD}"/>
              </a:ext>
            </a:extLst>
          </p:cNvPr>
          <p:cNvSpPr txBox="1"/>
          <p:nvPr/>
        </p:nvSpPr>
        <p:spPr>
          <a:xfrm>
            <a:off x="5520610" y="2086545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89 datos en la CAT A, y realmente pertenecen a la CAT A.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1C3FA00-68F4-F8AE-F78A-928AD3F347D1}"/>
              </a:ext>
            </a:extLst>
          </p:cNvPr>
          <p:cNvSpPr txBox="1"/>
          <p:nvPr/>
        </p:nvSpPr>
        <p:spPr>
          <a:xfrm>
            <a:off x="5520610" y="3475524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dato en la CAT B, y realmente pertenecen a la CAT A.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4A1B7C3-D8F5-188F-6DA7-3921820B1990}"/>
              </a:ext>
            </a:extLst>
          </p:cNvPr>
          <p:cNvSpPr txBox="1"/>
          <p:nvPr/>
        </p:nvSpPr>
        <p:spPr>
          <a:xfrm>
            <a:off x="5520610" y="2508583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datos en la CAT A, y realmente pertenece a la CAT B.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ED963D0-2155-9CAC-AA27-586D161B8702}"/>
              </a:ext>
            </a:extLst>
          </p:cNvPr>
          <p:cNvSpPr txBox="1"/>
          <p:nvPr/>
        </p:nvSpPr>
        <p:spPr>
          <a:xfrm>
            <a:off x="5520610" y="3013001"/>
            <a:ext cx="6360693" cy="29193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han clasificado </a:t>
            </a:r>
            <a:r>
              <a:rPr lang="es-MX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correctamente</a:t>
            </a: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datos en la CAT B, y realmente pertenecen a la CAT B.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E36D76-DBCC-60C2-D459-1C8D41AA1110}"/>
              </a:ext>
            </a:extLst>
          </p:cNvPr>
          <p:cNvSpPr txBox="1"/>
          <p:nvPr/>
        </p:nvSpPr>
        <p:spPr>
          <a:xfrm>
            <a:off x="-401051" y="2739944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Predicciones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778D6C-DDC0-D77E-BF43-6F533DDF920B}"/>
              </a:ext>
            </a:extLst>
          </p:cNvPr>
          <p:cNvSpPr/>
          <p:nvPr/>
        </p:nvSpPr>
        <p:spPr>
          <a:xfrm>
            <a:off x="2362623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6A0088D-4E46-4B07-7A32-01B18CCA0995}"/>
              </a:ext>
            </a:extLst>
          </p:cNvPr>
          <p:cNvSpPr/>
          <p:nvPr/>
        </p:nvSpPr>
        <p:spPr>
          <a:xfrm>
            <a:off x="3317128" y="2050979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A78638A-4953-8A55-9F1E-5C375C7919A0}"/>
              </a:ext>
            </a:extLst>
          </p:cNvPr>
          <p:cNvSpPr/>
          <p:nvPr/>
        </p:nvSpPr>
        <p:spPr>
          <a:xfrm>
            <a:off x="2362623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9CB5ED3-3968-1300-E9D6-26ED619441F4}"/>
              </a:ext>
            </a:extLst>
          </p:cNvPr>
          <p:cNvSpPr/>
          <p:nvPr/>
        </p:nvSpPr>
        <p:spPr>
          <a:xfrm>
            <a:off x="3317128" y="2909221"/>
            <a:ext cx="954505" cy="858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algn="ctr"/>
            <a:r>
              <a:rPr lang="es-MX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6904F85-B9DA-2A9D-8DEB-673889E66D58}"/>
              </a:ext>
            </a:extLst>
          </p:cNvPr>
          <p:cNvSpPr txBox="1"/>
          <p:nvPr/>
        </p:nvSpPr>
        <p:spPr>
          <a:xfrm>
            <a:off x="2318926" y="1048771"/>
            <a:ext cx="2019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Reales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A32C402-061F-11EF-FD29-050750490D8C}"/>
              </a:ext>
            </a:extLst>
          </p:cNvPr>
          <p:cNvSpPr txBox="1"/>
          <p:nvPr/>
        </p:nvSpPr>
        <p:spPr>
          <a:xfrm>
            <a:off x="1618818" y="2310823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AE5F73E-B8F6-B404-8228-C83974F8DB45}"/>
              </a:ext>
            </a:extLst>
          </p:cNvPr>
          <p:cNvSpPr txBox="1"/>
          <p:nvPr/>
        </p:nvSpPr>
        <p:spPr>
          <a:xfrm>
            <a:off x="1618818" y="3169065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E19F8F6-ACA2-5BB8-9948-EA2BBA4B34ED}"/>
              </a:ext>
            </a:extLst>
          </p:cNvPr>
          <p:cNvSpPr txBox="1"/>
          <p:nvPr/>
        </p:nvSpPr>
        <p:spPr>
          <a:xfrm>
            <a:off x="2495687" y="1604621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E475A64-EF5C-99B1-8742-541266B4AF0F}"/>
              </a:ext>
            </a:extLst>
          </p:cNvPr>
          <p:cNvSpPr txBox="1"/>
          <p:nvPr/>
        </p:nvSpPr>
        <p:spPr>
          <a:xfrm>
            <a:off x="3450192" y="1593409"/>
            <a:ext cx="688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</a:rPr>
              <a:t>CAT B</a:t>
            </a:r>
          </a:p>
        </p:txBody>
      </p:sp>
      <p:sp>
        <p:nvSpPr>
          <p:cNvPr id="28" name="Abrir llave 27">
            <a:extLst>
              <a:ext uri="{FF2B5EF4-FFF2-40B4-BE49-F238E27FC236}">
                <a16:creationId xmlns:a16="http://schemas.microsoft.com/office/drawing/2014/main" id="{CD0F7570-4120-DB3C-C71C-3CEA393030D6}"/>
              </a:ext>
            </a:extLst>
          </p:cNvPr>
          <p:cNvSpPr/>
          <p:nvPr/>
        </p:nvSpPr>
        <p:spPr>
          <a:xfrm>
            <a:off x="1408117" y="2050979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Abrir llave 33">
            <a:extLst>
              <a:ext uri="{FF2B5EF4-FFF2-40B4-BE49-F238E27FC236}">
                <a16:creationId xmlns:a16="http://schemas.microsoft.com/office/drawing/2014/main" id="{C82A0A56-2EC5-1E87-847C-3E9EB94E772B}"/>
              </a:ext>
            </a:extLst>
          </p:cNvPr>
          <p:cNvSpPr/>
          <p:nvPr/>
        </p:nvSpPr>
        <p:spPr>
          <a:xfrm rot="5400000">
            <a:off x="3161076" y="685135"/>
            <a:ext cx="312103" cy="171648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415BB7-E4F2-F0E5-D6CB-0605B067A520}"/>
              </a:ext>
            </a:extLst>
          </p:cNvPr>
          <p:cNvSpPr txBox="1"/>
          <p:nvPr/>
        </p:nvSpPr>
        <p:spPr>
          <a:xfrm>
            <a:off x="419221" y="4238179"/>
            <a:ext cx="11462082" cy="338041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El </a:t>
            </a:r>
            <a:r>
              <a:rPr lang="es-MX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puntaje F1 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la media armónica del precisión y el </a:t>
            </a:r>
            <a:r>
              <a:rPr lang="es-MX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s-MX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16F5440-5BCE-01F0-6535-389CC6855353}"/>
                  </a:ext>
                </a:extLst>
              </p:cNvPr>
              <p:cNvSpPr txBox="1"/>
              <p:nvPr/>
            </p:nvSpPr>
            <p:spPr>
              <a:xfrm>
                <a:off x="1397794" y="4862236"/>
                <a:ext cx="3281668" cy="572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𝑝𝑟𝑒𝑐𝑖𝑠𝑖𝑜𝑛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16F5440-5BCE-01F0-6535-389CC6855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794" y="4862236"/>
                <a:ext cx="3281668" cy="5725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6AA0DA09-330A-1214-04A3-575973C71F89}"/>
                  </a:ext>
                </a:extLst>
              </p:cNvPr>
              <p:cNvSpPr txBox="1"/>
              <p:nvPr/>
            </p:nvSpPr>
            <p:spPr>
              <a:xfrm>
                <a:off x="964319" y="5588727"/>
                <a:ext cx="3300840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0.89</m:t>
                          </m:r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∙0.80</m:t>
                          </m:r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0.89+0.80</m:t>
                          </m:r>
                        </m:den>
                      </m:f>
                      <m:r>
                        <a:rPr lang="es-MX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=0.84</m:t>
                      </m:r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6AA0DA09-330A-1214-04A3-575973C71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19" y="5588727"/>
                <a:ext cx="3300840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07468877-423E-2E06-8195-ED2B2ADE2F8E}"/>
              </a:ext>
            </a:extLst>
          </p:cNvPr>
          <p:cNvCxnSpPr>
            <a:cxnSpLocks/>
          </p:cNvCxnSpPr>
          <p:nvPr/>
        </p:nvCxnSpPr>
        <p:spPr>
          <a:xfrm>
            <a:off x="4499811" y="5893040"/>
            <a:ext cx="1566455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1DD6943C-9C64-28B7-E6A2-B19124C97816}"/>
              </a:ext>
            </a:extLst>
          </p:cNvPr>
          <p:cNvCxnSpPr>
            <a:cxnSpLocks/>
          </p:cNvCxnSpPr>
          <p:nvPr/>
        </p:nvCxnSpPr>
        <p:spPr>
          <a:xfrm>
            <a:off x="4000622" y="2654553"/>
            <a:ext cx="14962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E940AC2-162B-BF45-C956-DD92FCBC02FE}"/>
              </a:ext>
            </a:extLst>
          </p:cNvPr>
          <p:cNvCxnSpPr>
            <a:cxnSpLocks/>
          </p:cNvCxnSpPr>
          <p:nvPr/>
        </p:nvCxnSpPr>
        <p:spPr>
          <a:xfrm>
            <a:off x="3122616" y="3612963"/>
            <a:ext cx="23742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A48C84A6-D446-CBA9-9812-FB2EC49306A6}"/>
              </a:ext>
            </a:extLst>
          </p:cNvPr>
          <p:cNvCxnSpPr>
            <a:cxnSpLocks/>
          </p:cNvCxnSpPr>
          <p:nvPr/>
        </p:nvCxnSpPr>
        <p:spPr>
          <a:xfrm>
            <a:off x="3122616" y="2232515"/>
            <a:ext cx="2374232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73B7593-77BD-7F1B-C7D0-EA6F55C43E8A}"/>
              </a:ext>
            </a:extLst>
          </p:cNvPr>
          <p:cNvCxnSpPr>
            <a:cxnSpLocks/>
          </p:cNvCxnSpPr>
          <p:nvPr/>
        </p:nvCxnSpPr>
        <p:spPr>
          <a:xfrm>
            <a:off x="4000622" y="3158971"/>
            <a:ext cx="1496226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75BEEED-BE77-DCB9-4CF7-CBF0CD7FF8B8}"/>
              </a:ext>
            </a:extLst>
          </p:cNvPr>
          <p:cNvSpPr txBox="1"/>
          <p:nvPr/>
        </p:nvSpPr>
        <p:spPr>
          <a:xfrm>
            <a:off x="6150262" y="5655427"/>
            <a:ext cx="4563979" cy="50597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84% i</a:t>
            </a:r>
            <a:r>
              <a:rPr lang="es-ES" sz="1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ndica</a:t>
            </a:r>
            <a:r>
              <a:rPr lang="es-E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el modelo tiene un buen balance al detectar las clases.</a:t>
            </a:r>
            <a:endParaRPr lang="es-MX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9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5" grpId="0" animBg="1"/>
      <p:bldP spid="37" grpId="0" animBg="1"/>
    </p:bldLst>
  </p:timing>
</p:sld>
</file>

<file path=ppt/theme/theme1.xml><?xml version="1.0" encoding="utf-8"?>
<a:theme xmlns:a="http://schemas.openxmlformats.org/drawingml/2006/main" name="Tema1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2_TF78853419_Win32.potx" id="{F85094AE-F951-45B6-B003-F9F3B4BD38C5}" vid="{E124D037-8587-41C3-AB02-2A120C8407E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1788</TotalTime>
  <Words>983</Words>
  <Application>Microsoft Office PowerPoint</Application>
  <PresentationFormat>Panorámica</PresentationFormat>
  <Paragraphs>192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Arial</vt:lpstr>
      <vt:lpstr>Calibri</vt:lpstr>
      <vt:lpstr>Cambria Math</vt:lpstr>
      <vt:lpstr>Franklin Gothic Book</vt:lpstr>
      <vt:lpstr>Franklin Gothic Demi</vt:lpstr>
      <vt:lpstr>Times New Roman</vt:lpstr>
      <vt:lpstr>Wingdings</vt:lpstr>
      <vt:lpstr>Tema1</vt:lpstr>
      <vt:lpstr>Matriz de Confusión</vt:lpstr>
      <vt:lpstr>¿Qué es una matriz de confusión?</vt:lpstr>
      <vt:lpstr>Matriz de Confusión</vt:lpstr>
      <vt:lpstr>Matriz de Confusión</vt:lpstr>
      <vt:lpstr>Matriz de Confusión</vt:lpstr>
      <vt:lpstr>Matriz de Confusión</vt:lpstr>
      <vt:lpstr>Matriz de Confusión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7: Estimaciones para la media poblacional μ</dc:title>
  <dc:creator>David Nexticapan Cortes</dc:creator>
  <cp:lastModifiedBy>DAVID NEXTICAPAN - CORTES</cp:lastModifiedBy>
  <cp:revision>79</cp:revision>
  <dcterms:created xsi:type="dcterms:W3CDTF">2023-09-16T20:42:33Z</dcterms:created>
  <dcterms:modified xsi:type="dcterms:W3CDTF">2025-05-23T19:53:19Z</dcterms:modified>
</cp:coreProperties>
</file>