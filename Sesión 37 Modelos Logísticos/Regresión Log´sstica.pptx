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8" r:id="rId2"/>
    <p:sldId id="269" r:id="rId3"/>
    <p:sldId id="309" r:id="rId4"/>
    <p:sldId id="315" r:id="rId5"/>
    <p:sldId id="317" r:id="rId6"/>
    <p:sldId id="316" r:id="rId7"/>
    <p:sldId id="318" r:id="rId8"/>
    <p:sldId id="319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28/05/2025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9248-9A3E-94AD-9649-3D45AAC5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E38296-BB05-6BAA-B9F7-5E54CC629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6D7947-718E-B49C-5C87-A1A1247F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D9DE7E-B319-4A7D-ABEE-7BCB7A9DE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470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205E-EFAB-07CF-44C6-45C5B799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72A2D-4D6F-95A8-C438-04BF35D2E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4ACBD4-7416-B80C-9FDE-964620F9E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9B908C-0AE7-0BF5-C164-802FB9CCB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396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610A-E17B-772E-E149-A5865537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6F354F-2AF0-DD5E-2720-89924A279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A678D-F634-740D-9B50-3E62A40CC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747E89-987D-0BD4-CB2E-047CC8C67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863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0321-F12A-03DF-6208-75F34F74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54204B-F041-FAE1-CFB3-9D2046C9C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EAB6E5-F94C-51F6-1FBD-1B28489AE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0C94A5-240D-0508-C808-C6049E9FB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576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3AAD-3832-1350-3AEC-69CB8E94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C1CCCA-2717-13ED-030C-CB3E3332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E17D42-C9B5-C3D3-DAD6-F9DBCA710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BE563E-438F-CFA9-5B27-FB2974002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50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45A4-2844-E1C1-3514-AB51393B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32D075-AFF6-4540-4375-3D8264805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EB323A-5A96-D590-4052-0BCE0BD8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E0FA84-4A7E-9204-0793-18EAF3BF9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415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226094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modelos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corresponde con un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lineal generalizado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predicciones computando una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 ponderada de las características de entrada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sumándole una constante, pero se aplica una función logística al resultado.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 predecir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discretos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34786A-0CE6-E91B-68CB-0ADFDD3DC928}"/>
              </a:ext>
            </a:extLst>
          </p:cNvPr>
          <p:cNvSpPr txBox="1"/>
          <p:nvPr/>
        </p:nvSpPr>
        <p:spPr>
          <a:xfrm>
            <a:off x="964022" y="4812271"/>
            <a:ext cx="9332916" cy="6651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tipo de modelo se suele emplear cuando se quiere clasificar las observaciones en un grupo u otro dado el valor que tome la variable predictora.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BF82E2-E1BC-9357-0C52-DCC86C826247}"/>
              </a:ext>
            </a:extLst>
          </p:cNvPr>
          <p:cNvSpPr txBox="1"/>
          <p:nvPr/>
        </p:nvSpPr>
        <p:spPr>
          <a:xfrm>
            <a:off x="964022" y="5675416"/>
            <a:ext cx="9332916" cy="6651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modelo de regresión logística permite calcular el logaritmo de las probabilidad de que la variable respuesta pertenezca a un grupo determinado.</a:t>
            </a:r>
          </a:p>
        </p:txBody>
      </p: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D474-F191-7ADE-80AF-90B9F4BC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B0925-FE8B-2171-B0FD-39646842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33B310-578B-D7E8-E7D2-7FFC16C174CA}"/>
              </a:ext>
            </a:extLst>
          </p:cNvPr>
          <p:cNvSpPr txBox="1"/>
          <p:nvPr/>
        </p:nvSpPr>
        <p:spPr>
          <a:xfrm>
            <a:off x="964021" y="2353304"/>
            <a:ext cx="9636983" cy="64633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 una variable de respuesta Y (cualitativa) que se codifica en dos niveles, por ejemplo 0 y 1, y considere una variable predictora.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636984" cy="67633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desea ajustar un modelo lineal de la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mediante el modelo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636984" cy="676339"/>
              </a:xfrm>
              <a:prstGeom prst="rect">
                <a:avLst/>
              </a:prstGeom>
              <a:blipFill>
                <a:blip r:embed="rId3"/>
                <a:stretch>
                  <a:fillRect l="-442" t="-4425" b="-442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0D3E4CB3-A37A-BF7D-70F1-79DE8F5DA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8" y="4141005"/>
            <a:ext cx="1962150" cy="21240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738EBC5-391B-6F45-9C67-F23C6063D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588" y="4031657"/>
            <a:ext cx="3897709" cy="23427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0A6F2E-CC91-5B60-9A94-A6D3BF1DC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297" y="4031657"/>
            <a:ext cx="3897709" cy="234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0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9B34-AA50-8C7A-6829-F85426D7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D25D4-2C1E-798E-CD2B-C0C02D2B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544F81-7F72-225E-4045-07F1FF30B1A6}"/>
                  </a:ext>
                </a:extLst>
              </p:cNvPr>
              <p:cNvSpPr txBox="1"/>
              <p:nvPr/>
            </p:nvSpPr>
            <p:spPr>
              <a:xfrm>
                <a:off x="5145207" y="2158358"/>
                <a:ext cx="5455798" cy="10772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se puede interpretar que la esperanza de una variable aleatoria binaria Y representa la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probabilidad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que ocurra el evento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544F81-7F72-225E-4045-07F1FF30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207" y="2158358"/>
                <a:ext cx="5455798" cy="1077218"/>
              </a:xfrm>
              <a:prstGeom prst="rect">
                <a:avLst/>
              </a:prstGeom>
              <a:blipFill>
                <a:blip r:embed="rId3"/>
                <a:stretch>
                  <a:fillRect l="-446" t="-1117" r="-557" b="-558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CB6B898B-54C6-A603-E47C-3BBF7B708F7E}"/>
              </a:ext>
            </a:extLst>
          </p:cNvPr>
          <p:cNvSpPr txBox="1"/>
          <p:nvPr/>
        </p:nvSpPr>
        <p:spPr>
          <a:xfrm>
            <a:off x="964020" y="4636025"/>
            <a:ext cx="5356569" cy="10772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resolver este problema, se utiliza un modelo que garantice que las salidas estén siempre acotadas entre 0 y 1. Este modelo es la regresión logística, el cual emplea la función sigmoide, definida como: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211D301-4BB8-D33C-61BF-2CC29429C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0" y="2066841"/>
            <a:ext cx="4031061" cy="2422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90544C-BCDC-9641-315F-2BEE64D2B89D}"/>
                  </a:ext>
                </a:extLst>
              </p:cNvPr>
              <p:cNvSpPr txBox="1"/>
              <p:nvPr/>
            </p:nvSpPr>
            <p:spPr>
              <a:xfrm>
                <a:off x="2643743" y="5819329"/>
                <a:ext cx="1997122" cy="63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90544C-BCDC-9641-315F-2BEE64D2B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743" y="5819329"/>
                <a:ext cx="1997122" cy="634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83DE5D-A7FF-F1A3-CE8E-F26381FE98D4}"/>
                  </a:ext>
                </a:extLst>
              </p:cNvPr>
              <p:cNvSpPr txBox="1"/>
              <p:nvPr/>
            </p:nvSpPr>
            <p:spPr>
              <a:xfrm>
                <a:off x="5145207" y="3381835"/>
                <a:ext cx="5455798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 embargo, el modelo de regresión lineal “tradicional” puede producir valores predichos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negativos o mayores que 1, lo cual contradice los axiomas de probabilidad.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83DE5D-A7FF-F1A3-CE8E-F26381FE9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207" y="3381835"/>
                <a:ext cx="5455798" cy="830997"/>
              </a:xfrm>
              <a:prstGeom prst="rect">
                <a:avLst/>
              </a:prstGeom>
              <a:blipFill>
                <a:blip r:embed="rId7"/>
                <a:stretch>
                  <a:fillRect l="-446" t="-1449" r="-557" b="-797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768CF3-D5B5-F20E-D803-9B2123AAF26D}"/>
                  </a:ext>
                </a:extLst>
              </p:cNvPr>
              <p:cNvSpPr txBox="1"/>
              <p:nvPr/>
            </p:nvSpPr>
            <p:spPr>
              <a:xfrm>
                <a:off x="6549995" y="4636025"/>
                <a:ext cx="3898609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 sz="180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768CF3-D5B5-F20E-D803-9B2123AAF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95" y="4636025"/>
                <a:ext cx="3898609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02CF2F-D84B-24C5-AE71-DE2641A7DC8F}"/>
                  </a:ext>
                </a:extLst>
              </p:cNvPr>
              <p:cNvSpPr txBox="1"/>
              <p:nvPr/>
            </p:nvSpPr>
            <p:spPr>
              <a:xfrm>
                <a:off x="6549995" y="5404569"/>
                <a:ext cx="3898609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 sz="180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MX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02CF2F-D84B-24C5-AE71-DE2641A7D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95" y="5404569"/>
                <a:ext cx="3898609" cy="6173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22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CBAB-B22B-D2AF-BC8F-1E61F9B2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689FE-2C58-2F7F-07BE-8424779A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BD33EA-1F05-E299-D2EF-DD47534D49DD}"/>
              </a:ext>
            </a:extLst>
          </p:cNvPr>
          <p:cNvSpPr txBox="1"/>
          <p:nvPr/>
        </p:nvSpPr>
        <p:spPr>
          <a:xfrm>
            <a:off x="964021" y="2744706"/>
            <a:ext cx="5322207" cy="3385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modelo de regresión logística está dado por: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4BA3BD-EA17-664A-9FDB-8CB4A9C5B45C}"/>
                  </a:ext>
                </a:extLst>
              </p:cNvPr>
              <p:cNvSpPr txBox="1"/>
              <p:nvPr/>
            </p:nvSpPr>
            <p:spPr>
              <a:xfrm>
                <a:off x="6286228" y="3208986"/>
                <a:ext cx="4611468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se entiende como la probabilidad de que la variable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tome el valor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(codificación) dado que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4BA3BD-EA17-664A-9FDB-8CB4A9C5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228" y="3208986"/>
                <a:ext cx="4611468" cy="830997"/>
              </a:xfrm>
              <a:prstGeom prst="rect">
                <a:avLst/>
              </a:prstGeom>
              <a:blipFill>
                <a:blip r:embed="rId3"/>
                <a:stretch>
                  <a:fillRect l="-527" t="-1439" r="-527" b="-7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F99783-914D-CCB1-02DA-7B2B4F7FF956}"/>
                  </a:ext>
                </a:extLst>
              </p:cNvPr>
              <p:cNvSpPr txBox="1"/>
              <p:nvPr/>
            </p:nvSpPr>
            <p:spPr>
              <a:xfrm>
                <a:off x="1732155" y="3339695"/>
                <a:ext cx="3657600" cy="569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BF99783-914D-CCB1-02DA-7B2B4F7F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155" y="3339695"/>
                <a:ext cx="3657600" cy="569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136CA6B-079C-6EF0-E2EB-E5029CD23237}"/>
                  </a:ext>
                </a:extLst>
              </p:cNvPr>
              <p:cNvSpPr txBox="1"/>
              <p:nvPr/>
            </p:nvSpPr>
            <p:spPr>
              <a:xfrm>
                <a:off x="964021" y="2079638"/>
                <a:ext cx="9933675" cy="5847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de regresión logística surge de transformar el valor que proporciona la regresión lineal de la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en un valor que retorna la función sigmoide al sustituir </a:t>
                </a:r>
                <a14:m>
                  <m:oMath xmlns:m="http://schemas.openxmlformats.org/officeDocument/2006/math">
                    <m:r>
                      <a:rPr lang="es-MX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136CA6B-079C-6EF0-E2EB-E5029CD23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2079638"/>
                <a:ext cx="9933675" cy="584775"/>
              </a:xfrm>
              <a:prstGeom prst="rect">
                <a:avLst/>
              </a:prstGeom>
              <a:blipFill>
                <a:blip r:embed="rId5"/>
                <a:stretch>
                  <a:fillRect l="-245" t="-2041" b="-1122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7A6A05D-8353-D77C-C83A-3128169FAABC}"/>
                  </a:ext>
                </a:extLst>
              </p:cNvPr>
              <p:cNvSpPr txBox="1"/>
              <p:nvPr/>
            </p:nvSpPr>
            <p:spPr>
              <a:xfrm>
                <a:off x="1796324" y="4003926"/>
                <a:ext cx="3657600" cy="805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7A6A05D-8353-D77C-C83A-3128169FA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4003926"/>
                <a:ext cx="3657600" cy="805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C644F89-1B45-E7D6-1C30-A6ABECE9F991}"/>
                  </a:ext>
                </a:extLst>
              </p:cNvPr>
              <p:cNvSpPr txBox="1"/>
              <p:nvPr/>
            </p:nvSpPr>
            <p:spPr>
              <a:xfrm>
                <a:off x="1796324" y="4903669"/>
                <a:ext cx="3657600" cy="810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MX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C644F89-1B45-E7D6-1C30-A6ABECE9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4903669"/>
                <a:ext cx="3657600" cy="8106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646F87-0EEA-EA55-E623-298D30A71B8C}"/>
                  </a:ext>
                </a:extLst>
              </p:cNvPr>
              <p:cNvSpPr txBox="1"/>
              <p:nvPr/>
            </p:nvSpPr>
            <p:spPr>
              <a:xfrm>
                <a:off x="1796324" y="5802693"/>
                <a:ext cx="3657600" cy="608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646F87-0EEA-EA55-E623-298D30A7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24" y="5802693"/>
                <a:ext cx="3657600" cy="6083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F7D6D1A-BAC9-44AC-EECC-DCE30DCA6F75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5389755" y="3624485"/>
            <a:ext cx="8964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EB27-D6D0-5C68-3749-6FD5661C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26A67-E436-8E0B-5012-D10A80D0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706B89-DFB4-E7DD-5D56-49C0395DB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14" y="2305491"/>
            <a:ext cx="5952343" cy="36734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D696362-5E12-CF55-DEDB-DC1401F4E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957" y="2407929"/>
            <a:ext cx="5718861" cy="357100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35BE241E-5D26-624F-55A6-547C5C521A2E}"/>
              </a:ext>
            </a:extLst>
          </p:cNvPr>
          <p:cNvSpPr/>
          <p:nvPr/>
        </p:nvSpPr>
        <p:spPr>
          <a:xfrm>
            <a:off x="3804824" y="3970157"/>
            <a:ext cx="1784384" cy="9023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conseguir esta clasificación, establecemos un </a:t>
            </a:r>
            <a:r>
              <a:rPr lang="es-MX" sz="16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1CB1589-77AF-1A7F-E603-1FA29BD83DDF}"/>
              </a:ext>
            </a:extLst>
          </p:cNvPr>
          <p:cNvCxnSpPr>
            <a:cxnSpLocks/>
          </p:cNvCxnSpPr>
          <p:nvPr/>
        </p:nvCxnSpPr>
        <p:spPr>
          <a:xfrm>
            <a:off x="6654790" y="4158585"/>
            <a:ext cx="50489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93339C3-BFC8-F738-9FBA-1320873B8D79}"/>
                  </a:ext>
                </a:extLst>
              </p:cNvPr>
              <p:cNvSpPr/>
              <p:nvPr/>
            </p:nvSpPr>
            <p:spPr>
              <a:xfrm>
                <a:off x="9466600" y="4261024"/>
                <a:ext cx="2461786" cy="90056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puede asignar una observación al grupo 1 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s-MX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=1|</m:t>
                        </m:r>
                        <m:r>
                          <a:rPr lang="es-MX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s-MX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&gt;0.5</m:t>
                    </m:r>
                  </m:oMath>
                </a14:m>
                <a:r>
                  <a:rPr lang="es-MX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al grupo 0 en caso contrario.</a:t>
                </a: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93339C3-BFC8-F738-9FBA-1320873B8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600" y="4261024"/>
                <a:ext cx="2461786" cy="900563"/>
              </a:xfrm>
              <a:prstGeom prst="rect">
                <a:avLst/>
              </a:prstGeom>
              <a:blipFill>
                <a:blip r:embed="rId5"/>
                <a:stretch>
                  <a:fillRect t="-4027" r="-988" b="-87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44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E726-303E-FAEC-0D2C-2FA43E99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47CAA-F845-FE7E-1271-9D2DA949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y LOG of ODDs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0F86E7-8581-63E9-F7B9-991275B0541D}"/>
              </a:ext>
            </a:extLst>
          </p:cNvPr>
          <p:cNvSpPr txBox="1"/>
          <p:nvPr/>
        </p:nvSpPr>
        <p:spPr>
          <a:xfrm>
            <a:off x="964021" y="2235595"/>
            <a:ext cx="9832316" cy="58477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E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 "razón de probabilidades") comparan la probabilidad de que algo ocurra con la probabilidad de que no ocurra.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495977B-4420-135A-52D6-4A1E6509827B}"/>
                  </a:ext>
                </a:extLst>
              </p:cNvPr>
              <p:cNvSpPr txBox="1"/>
              <p:nvPr/>
            </p:nvSpPr>
            <p:spPr>
              <a:xfrm>
                <a:off x="4267200" y="3034895"/>
                <a:ext cx="3657600" cy="612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MX" sz="1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495977B-4420-135A-52D6-4A1E65098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034895"/>
                <a:ext cx="3657600" cy="612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1CA9235E-3AFA-5540-A2A4-E5D8BBB19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9" y="4297610"/>
            <a:ext cx="7216765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8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AFD8-C23A-9039-CC8F-7BD2DDCA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CF4A7-F24B-D2C6-BD6D-2FE4545E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y LOG of ODDs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10F683-1727-1A87-0BEC-2628E2B7EB1C}"/>
              </a:ext>
            </a:extLst>
          </p:cNvPr>
          <p:cNvSpPr txBox="1"/>
          <p:nvPr/>
        </p:nvSpPr>
        <p:spPr>
          <a:xfrm>
            <a:off x="964021" y="2235595"/>
            <a:ext cx="9832316" cy="3385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s-E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log-</a:t>
            </a:r>
            <a:r>
              <a:rPr lang="es-E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 simplemente el logaritmo natural de los </a:t>
            </a:r>
            <a:r>
              <a:rPr lang="es-E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odds</a:t>
            </a:r>
            <a:r>
              <a:rPr lang="es-E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Es decir: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EAD663-DE5C-1D93-8017-7C296B982A99}"/>
                  </a:ext>
                </a:extLst>
              </p:cNvPr>
              <p:cNvSpPr txBox="1"/>
              <p:nvPr/>
            </p:nvSpPr>
            <p:spPr>
              <a:xfrm>
                <a:off x="3273134" y="2890606"/>
                <a:ext cx="5228634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EAD663-DE5C-1D93-8017-7C296B98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134" y="2890606"/>
                <a:ext cx="5228634" cy="645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2069BA3-F8A9-BA15-12CD-7A02F4435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737" y="3852624"/>
            <a:ext cx="5395428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471</Words>
  <Application>Microsoft Office PowerPoint</Application>
  <PresentationFormat>Panorámica</PresentationFormat>
  <Paragraphs>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Regresión Logística</vt:lpstr>
      <vt:lpstr>Regresión Lineal</vt:lpstr>
      <vt:lpstr>Regresión Logística</vt:lpstr>
      <vt:lpstr>Regresión Logística</vt:lpstr>
      <vt:lpstr>Regresión Logística</vt:lpstr>
      <vt:lpstr>Regresión Logística</vt:lpstr>
      <vt:lpstr>ODDs y LOG of ODDs</vt:lpstr>
      <vt:lpstr>ODDs y LOG of ODDs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88</cp:revision>
  <dcterms:created xsi:type="dcterms:W3CDTF">2023-09-16T20:42:33Z</dcterms:created>
  <dcterms:modified xsi:type="dcterms:W3CDTF">2025-05-28T21:03:44Z</dcterms:modified>
</cp:coreProperties>
</file>