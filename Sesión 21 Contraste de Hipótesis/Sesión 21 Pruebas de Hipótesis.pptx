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68" r:id="rId2"/>
    <p:sldId id="269" r:id="rId3"/>
    <p:sldId id="281" r:id="rId4"/>
    <p:sldId id="280" r:id="rId5"/>
    <p:sldId id="282" r:id="rId6"/>
    <p:sldId id="283" r:id="rId7"/>
    <p:sldId id="293" r:id="rId8"/>
    <p:sldId id="284" r:id="rId9"/>
    <p:sldId id="285" r:id="rId10"/>
    <p:sldId id="294" r:id="rId11"/>
    <p:sldId id="286" r:id="rId12"/>
    <p:sldId id="287" r:id="rId13"/>
    <p:sldId id="296" r:id="rId14"/>
    <p:sldId id="288" r:id="rId15"/>
    <p:sldId id="295" r:id="rId16"/>
    <p:sldId id="292" r:id="rId17"/>
    <p:sldId id="291" r:id="rId18"/>
    <p:sldId id="289" r:id="rId19"/>
    <p:sldId id="290"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18/03/2025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898210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5</a:t>
            </a:fld>
            <a:endParaRPr lang="es-ES"/>
          </a:p>
        </p:txBody>
      </p:sp>
    </p:spTree>
    <p:extLst>
      <p:ext uri="{BB962C8B-B14F-4D97-AF65-F5344CB8AC3E}">
        <p14:creationId xmlns:p14="http://schemas.microsoft.com/office/powerpoint/2010/main" val="1963507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2608753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1240326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368085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4068148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10</a:t>
            </a:fld>
            <a:endParaRPr lang="es-ES"/>
          </a:p>
        </p:txBody>
      </p:sp>
    </p:spTree>
    <p:extLst>
      <p:ext uri="{BB962C8B-B14F-4D97-AF65-F5344CB8AC3E}">
        <p14:creationId xmlns:p14="http://schemas.microsoft.com/office/powerpoint/2010/main" val="3057841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11</a:t>
            </a:fld>
            <a:endParaRPr lang="es-ES"/>
          </a:p>
        </p:txBody>
      </p:sp>
    </p:spTree>
    <p:extLst>
      <p:ext uri="{BB962C8B-B14F-4D97-AF65-F5344CB8AC3E}">
        <p14:creationId xmlns:p14="http://schemas.microsoft.com/office/powerpoint/2010/main" val="1666071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12</a:t>
            </a:fld>
            <a:endParaRPr lang="es-ES"/>
          </a:p>
        </p:txBody>
      </p:sp>
    </p:spTree>
    <p:extLst>
      <p:ext uri="{BB962C8B-B14F-4D97-AF65-F5344CB8AC3E}">
        <p14:creationId xmlns:p14="http://schemas.microsoft.com/office/powerpoint/2010/main" val="1328965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82B2F-93B1-98EB-417C-1BB34CB87B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E65FFF-A4BA-5ACE-7B46-A77B903C2E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ADD84F-F001-9D3D-39F6-C144A4DFEF7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A66AF70-C68C-A882-05A7-CCF109731443}"/>
              </a:ext>
            </a:extLst>
          </p:cNvPr>
          <p:cNvSpPr>
            <a:spLocks noGrp="1"/>
          </p:cNvSpPr>
          <p:nvPr>
            <p:ph type="sldNum" sz="quarter" idx="5"/>
          </p:nvPr>
        </p:nvSpPr>
        <p:spPr/>
        <p:txBody>
          <a:bodyPr/>
          <a:lstStyle/>
          <a:p>
            <a:pPr rtl="0"/>
            <a:fld id="{A89C7E07-3C67-C64C-8DA0-0404F6303970}" type="slidenum">
              <a:rPr lang="es-ES" smtClean="0"/>
              <a:t>13</a:t>
            </a:fld>
            <a:endParaRPr lang="es-ES"/>
          </a:p>
        </p:txBody>
      </p:sp>
    </p:spTree>
    <p:extLst>
      <p:ext uri="{BB962C8B-B14F-4D97-AF65-F5344CB8AC3E}">
        <p14:creationId xmlns:p14="http://schemas.microsoft.com/office/powerpoint/2010/main" val="3784673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14</a:t>
            </a:fld>
            <a:endParaRPr lang="es-ES"/>
          </a:p>
        </p:txBody>
      </p:sp>
    </p:spTree>
    <p:extLst>
      <p:ext uri="{BB962C8B-B14F-4D97-AF65-F5344CB8AC3E}">
        <p14:creationId xmlns:p14="http://schemas.microsoft.com/office/powerpoint/2010/main" val="3661938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15</a:t>
            </a:fld>
            <a:endParaRPr lang="es-ES"/>
          </a:p>
        </p:txBody>
      </p:sp>
    </p:spTree>
    <p:extLst>
      <p:ext uri="{BB962C8B-B14F-4D97-AF65-F5344CB8AC3E}">
        <p14:creationId xmlns:p14="http://schemas.microsoft.com/office/powerpoint/2010/main" val="3072888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16</a:t>
            </a:fld>
            <a:endParaRPr lang="es-ES"/>
          </a:p>
        </p:txBody>
      </p:sp>
    </p:spTree>
    <p:extLst>
      <p:ext uri="{BB962C8B-B14F-4D97-AF65-F5344CB8AC3E}">
        <p14:creationId xmlns:p14="http://schemas.microsoft.com/office/powerpoint/2010/main" val="1816176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17</a:t>
            </a:fld>
            <a:endParaRPr lang="es-ES"/>
          </a:p>
        </p:txBody>
      </p:sp>
    </p:spTree>
    <p:extLst>
      <p:ext uri="{BB962C8B-B14F-4D97-AF65-F5344CB8AC3E}">
        <p14:creationId xmlns:p14="http://schemas.microsoft.com/office/powerpoint/2010/main" val="4042405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18</a:t>
            </a:fld>
            <a:endParaRPr lang="es-ES"/>
          </a:p>
        </p:txBody>
      </p:sp>
    </p:spTree>
    <p:extLst>
      <p:ext uri="{BB962C8B-B14F-4D97-AF65-F5344CB8AC3E}">
        <p14:creationId xmlns:p14="http://schemas.microsoft.com/office/powerpoint/2010/main" val="949017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19</a:t>
            </a:fld>
            <a:endParaRPr lang="es-ES"/>
          </a:p>
        </p:txBody>
      </p:sp>
    </p:spTree>
    <p:extLst>
      <p:ext uri="{BB962C8B-B14F-4D97-AF65-F5344CB8AC3E}">
        <p14:creationId xmlns:p14="http://schemas.microsoft.com/office/powerpoint/2010/main" val="361122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0.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210.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21: Hipótesis Estadísticas</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Componentes de una prueba de hipótesis</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En estadística una </a:t>
            </a:r>
            <a:r>
              <a:rPr lang="es-MX" b="1" i="1" dirty="0">
                <a:solidFill>
                  <a:schemeClr val="bg1"/>
                </a:solidFill>
                <a:latin typeface="Times New Roman" panose="02020603050405020304" pitchFamily="18" charset="0"/>
                <a:cs typeface="Times New Roman" panose="02020603050405020304" pitchFamily="18" charset="0"/>
              </a:rPr>
              <a:t>hipótesis</a:t>
            </a:r>
            <a:r>
              <a:rPr lang="es-MX" dirty="0">
                <a:solidFill>
                  <a:schemeClr val="bg1"/>
                </a:solidFill>
                <a:latin typeface="Times New Roman" panose="02020603050405020304" pitchFamily="18" charset="0"/>
                <a:cs typeface="Times New Roman" panose="02020603050405020304" pitchFamily="18" charset="0"/>
              </a:rPr>
              <a:t> es una aseveración o afirmación acerca de una propiedad de una población.</a:t>
            </a:r>
          </a:p>
        </p:txBody>
      </p:sp>
      <p:sp>
        <p:nvSpPr>
          <p:cNvPr id="4" name="CuadroTexto 3">
            <a:extLst>
              <a:ext uri="{FF2B5EF4-FFF2-40B4-BE49-F238E27FC236}">
                <a16:creationId xmlns:a16="http://schemas.microsoft.com/office/drawing/2014/main" id="{4B77887F-BB86-8BB4-8E75-761FE414B5F2}"/>
              </a:ext>
            </a:extLst>
          </p:cNvPr>
          <p:cNvSpPr txBox="1"/>
          <p:nvPr/>
        </p:nvSpPr>
        <p:spPr>
          <a:xfrm>
            <a:off x="964022" y="305267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Una </a:t>
            </a:r>
            <a:r>
              <a:rPr lang="es-MX" b="1" i="1" dirty="0">
                <a:solidFill>
                  <a:schemeClr val="bg1"/>
                </a:solidFill>
                <a:latin typeface="Times New Roman" panose="02020603050405020304" pitchFamily="18" charset="0"/>
                <a:cs typeface="Times New Roman" panose="02020603050405020304" pitchFamily="18" charset="0"/>
              </a:rPr>
              <a:t>prueba de hipótesis</a:t>
            </a:r>
            <a:r>
              <a:rPr lang="es-MX" dirty="0">
                <a:solidFill>
                  <a:schemeClr val="bg1"/>
                </a:solidFill>
                <a:latin typeface="Times New Roman" panose="02020603050405020304" pitchFamily="18" charset="0"/>
                <a:cs typeface="Times New Roman" panose="02020603050405020304" pitchFamily="18" charset="0"/>
              </a:rPr>
              <a:t> es un procedimiento estándar para probar una aseveración acerca de una propiedad de una población. </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B77887F-BB86-8BB4-8E75-761FE414B5F2}"/>
                  </a:ext>
                </a:extLst>
              </p:cNvPr>
              <p:cNvSpPr txBox="1"/>
              <p:nvPr/>
            </p:nvSpPr>
            <p:spPr>
              <a:xfrm>
                <a:off x="958921" y="3918749"/>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a:t>
                </a:r>
                <a:r>
                  <a:rPr lang="es-MX" b="1" dirty="0">
                    <a:solidFill>
                      <a:schemeClr val="bg1"/>
                    </a:solidFill>
                    <a:latin typeface="Times New Roman" panose="02020603050405020304" pitchFamily="18" charset="0"/>
                    <a:cs typeface="Times New Roman" panose="02020603050405020304" pitchFamily="18" charset="0"/>
                  </a:rPr>
                  <a:t>hipótesis nula</a:t>
                </a:r>
                <a:r>
                  <a:rPr lang="es-MX" dirty="0">
                    <a:solidFill>
                      <a:schemeClr val="bg1"/>
                    </a:solidFill>
                    <a:latin typeface="Times New Roman" panose="02020603050405020304" pitchFamily="18" charset="0"/>
                    <a:cs typeface="Times New Roman" panose="02020603050405020304" pitchFamily="18" charset="0"/>
                  </a:rPr>
                  <a:t> (denotada por </a:t>
                </a:r>
                <a14:m>
                  <m:oMath xmlns:m="http://schemas.openxmlformats.org/officeDocument/2006/math">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𝐻</m:t>
                        </m:r>
                      </m:e>
                      <m:sub>
                        <m:r>
                          <a:rPr lang="es-MX" i="1">
                            <a:solidFill>
                              <a:schemeClr val="bg1"/>
                            </a:solidFill>
                            <a:latin typeface="Cambria Math" panose="02040503050406030204" pitchFamily="18" charset="0"/>
                          </a:rPr>
                          <m:t>0</m:t>
                        </m:r>
                      </m:sub>
                    </m:sSub>
                  </m:oMath>
                </a14:m>
                <a:r>
                  <a:rPr lang="es-MX" dirty="0">
                    <a:solidFill>
                      <a:schemeClr val="bg1"/>
                    </a:solidFill>
                    <a:latin typeface="Times New Roman" panose="02020603050405020304" pitchFamily="18" charset="0"/>
                    <a:cs typeface="Times New Roman" panose="02020603050405020304" pitchFamily="18" charset="0"/>
                  </a:rPr>
                  <a:t>) es la afirmación de que el valor de un parámetro de la población (como una proporción, media o desviación estándar) es igual a un valor aseverado. </a:t>
                </a:r>
              </a:p>
            </p:txBody>
          </p:sp>
        </mc:Choice>
        <mc:Fallback xmlns="">
          <p:sp>
            <p:nvSpPr>
              <p:cNvPr id="5" name="CuadroTexto 4">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58921" y="3918749"/>
                <a:ext cx="9332916" cy="646331"/>
              </a:xfrm>
              <a:prstGeom prst="rect">
                <a:avLst/>
              </a:prstGeom>
              <a:blipFill>
                <a:blip r:embed="rId3"/>
                <a:stretch>
                  <a:fillRect l="-326" t="-4630" r="-522" b="-12963"/>
                </a:stretch>
              </a:blipFill>
              <a:ln>
                <a:solidFill>
                  <a:schemeClr val="tx1">
                    <a:lumMod val="85000"/>
                  </a:schemeClr>
                </a:solidFill>
              </a:ln>
            </p:spPr>
            <p:txBody>
              <a:bodyPr/>
              <a:lstStyle/>
              <a:p>
                <a:r>
                  <a:rPr lang="es-MX">
                    <a:noFill/>
                  </a:rPr>
                  <a:t> </a:t>
                </a:r>
              </a:p>
            </p:txBody>
          </p:sp>
        </mc:Fallback>
      </mc:AlternateContent>
      <p:pic>
        <p:nvPicPr>
          <p:cNvPr id="7" name="Imagen 6"/>
          <p:cNvPicPr>
            <a:picLocks noChangeAspect="1"/>
          </p:cNvPicPr>
          <p:nvPr/>
        </p:nvPicPr>
        <p:blipFill>
          <a:blip r:embed="rId4"/>
          <a:stretch>
            <a:fillRect/>
          </a:stretch>
        </p:blipFill>
        <p:spPr>
          <a:xfrm>
            <a:off x="1339129" y="5371480"/>
            <a:ext cx="8572500" cy="476250"/>
          </a:xfrm>
          <a:prstGeom prst="rect">
            <a:avLst/>
          </a:prstGeom>
        </p:spPr>
      </p:pic>
      <p:sp>
        <p:nvSpPr>
          <p:cNvPr id="3" name="CuadroTexto 2">
            <a:extLst>
              <a:ext uri="{FF2B5EF4-FFF2-40B4-BE49-F238E27FC236}">
                <a16:creationId xmlns:a16="http://schemas.microsoft.com/office/drawing/2014/main" id="{AE5025B5-716F-74C9-086C-D168724E6C9C}"/>
              </a:ext>
            </a:extLst>
          </p:cNvPr>
          <p:cNvSpPr txBox="1"/>
          <p:nvPr/>
        </p:nvSpPr>
        <p:spPr>
          <a:xfrm>
            <a:off x="958921" y="4783614"/>
            <a:ext cx="9332916" cy="369332"/>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Por ejemplo, las siguientes son hipótesis nulas:</a:t>
            </a:r>
          </a:p>
        </p:txBody>
      </p:sp>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circle(in)">
                                      <p:cBhvr>
                                        <p:cTn id="3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P spid="5" grpId="0" animBg="1"/>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Componentes de una prueba de hipótesis</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670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hipótesis alternativa (Denotada por </a:t>
                </a:r>
                <a14:m>
                  <m:oMath xmlns:m="http://schemas.openxmlformats.org/officeDocument/2006/math">
                    <m:sSub>
                      <m:sSubPr>
                        <m:ctrlP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𝐻</m:t>
                        </m:r>
                      </m:e>
                      <m: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1</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𝐻</m:t>
                        </m:r>
                      </m:e>
                      <m: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𝑎</m:t>
                        </m:r>
                      </m:sub>
                    </m:s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𝐻</m:t>
                        </m:r>
                      </m:e>
                      <m:sub>
                        <m:r>
                          <a:rPr lang="es-MX" i="1">
                            <a:solidFill>
                              <a:schemeClr val="bg1"/>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afirmación de que el parámetro tiene un valor que, de alguna manera, difiere de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670440"/>
              </a:xfrm>
              <a:prstGeom prst="rect">
                <a:avLst/>
              </a:prstGeom>
              <a:blipFill>
                <a:blip r:embed="rId3"/>
                <a:stretch>
                  <a:fillRect l="-326" t="-4464" r="-522" b="-11607"/>
                </a:stretch>
              </a:blipFill>
              <a:ln>
                <a:solidFill>
                  <a:schemeClr val="tx1">
                    <a:lumMod val="85000"/>
                  </a:schemeClr>
                </a:solidFill>
              </a:ln>
            </p:spPr>
            <p:txBody>
              <a:bodyPr/>
              <a:lstStyle/>
              <a:p>
                <a:r>
                  <a:rPr lang="es-MX">
                    <a:noFill/>
                  </a:rPr>
                  <a:t> </a:t>
                </a:r>
              </a:p>
            </p:txBody>
          </p:sp>
        </mc:Fallback>
      </mc:AlternateContent>
      <p:pic>
        <p:nvPicPr>
          <p:cNvPr id="3" name="Imagen 2"/>
          <p:cNvPicPr>
            <a:picLocks noChangeAspect="1"/>
          </p:cNvPicPr>
          <p:nvPr/>
        </p:nvPicPr>
        <p:blipFill>
          <a:blip r:embed="rId4"/>
          <a:stretch>
            <a:fillRect/>
          </a:stretch>
        </p:blipFill>
        <p:spPr>
          <a:xfrm>
            <a:off x="2096705" y="3222375"/>
            <a:ext cx="7067550" cy="1095375"/>
          </a:xfrm>
          <a:prstGeom prst="rect">
            <a:avLst/>
          </a:prstGeom>
        </p:spPr>
      </p:pic>
      <p:sp>
        <p:nvSpPr>
          <p:cNvPr id="9" name="CuadroTexto 8">
            <a:extLst>
              <a:ext uri="{FF2B5EF4-FFF2-40B4-BE49-F238E27FC236}">
                <a16:creationId xmlns:a16="http://schemas.microsoft.com/office/drawing/2014/main" id="{F494AF8A-D47C-6E15-F0A8-B546B382BBB9}"/>
              </a:ext>
            </a:extLst>
          </p:cNvPr>
          <p:cNvSpPr txBox="1"/>
          <p:nvPr/>
        </p:nvSpPr>
        <p:spPr>
          <a:xfrm>
            <a:off x="964022" y="4683076"/>
            <a:ext cx="9332916" cy="670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Nota: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Algunos libros de texto utilizan los símbolos ≤ y ≥ en la hipótesis nula, pero la mayoría de las revistas científicas sólo emplean el símbolo de igual para expresar igualdad.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¿Cómo plantear un juego de hipótesis?</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55952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un estudio para plantear el juego de hipótesis y así sustentar la aseveración (la del investigador), ésta debe redactarse de tal manera que se convierta en la hipótesis alternativa. Esto quiere decir que su aseveración debe expresar utilizando sólo los símbolos de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&lt;, &gt;</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Muy rara vez se puede utilizar una prueba de hipótesis para sustentar la aseveración de que algún parámetro es igual a algún valor específico.</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1559529"/>
              </a:xfrm>
              <a:prstGeom prst="rect">
                <a:avLst/>
              </a:prstGeom>
              <a:blipFill>
                <a:blip r:embed="rId3"/>
                <a:stretch>
                  <a:fillRect l="-457" t="-1946" r="-522" b="-5058"/>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494AF8A-D47C-6E15-F0A8-B546B382BBB9}"/>
                  </a:ext>
                </a:extLst>
              </p:cNvPr>
              <p:cNvSpPr txBox="1"/>
              <p:nvPr/>
            </p:nvSpPr>
            <p:spPr>
              <a:xfrm>
                <a:off x="964022" y="4023640"/>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Por ejemplo: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Si se ha creado un método de selección de género, que aumenta la probabilidad de concebir una niña, se debe redactar la aseveración como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(el método es efectivo), para que ésta pueda ser sustentada. Para el propósito de la prueba, usted supondrá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pero se esperaría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sea rechazada para que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 sustente.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 name="CuadroTexto 11">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4023640"/>
                <a:ext cx="9332916" cy="1263166"/>
              </a:xfrm>
              <a:prstGeom prst="rect">
                <a:avLst/>
              </a:prstGeom>
              <a:blipFill>
                <a:blip r:embed="rId4"/>
                <a:stretch>
                  <a:fillRect l="-457" t="-1914" r="-522" b="-6220"/>
                </a:stretch>
              </a:blipFill>
              <a:ln>
                <a:solidFill>
                  <a:schemeClr val="tx1">
                    <a:lumMod val="85000"/>
                  </a:schemeClr>
                </a:solidFill>
              </a:ln>
            </p:spPr>
            <p:txBody>
              <a:bodyPr/>
              <a:lstStyle/>
              <a:p>
                <a:r>
                  <a:rPr lang="es-MX">
                    <a:noFill/>
                  </a:rPr>
                  <a:t> </a:t>
                </a:r>
              </a:p>
            </p:txBody>
          </p:sp>
        </mc:Fallback>
      </mc:AlternateContent>
      <p:cxnSp>
        <p:nvCxnSpPr>
          <p:cNvPr id="4" name="Conector recto de flecha 3">
            <a:extLst>
              <a:ext uri="{FF2B5EF4-FFF2-40B4-BE49-F238E27FC236}">
                <a16:creationId xmlns:a16="http://schemas.microsoft.com/office/drawing/2014/main" id="{BDA60001-75C6-7B58-7300-0A5CB0A5BF93}"/>
              </a:ext>
            </a:extLst>
          </p:cNvPr>
          <p:cNvCxnSpPr>
            <a:cxnSpLocks/>
          </p:cNvCxnSpPr>
          <p:nvPr/>
        </p:nvCxnSpPr>
        <p:spPr>
          <a:xfrm>
            <a:off x="8871044" y="4963101"/>
            <a:ext cx="0" cy="8938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387348F-FCA0-62CB-DF47-99B7055F7AEE}"/>
                  </a:ext>
                </a:extLst>
              </p:cNvPr>
              <p:cNvSpPr txBox="1"/>
              <p:nvPr/>
            </p:nvSpPr>
            <p:spPr>
              <a:xfrm>
                <a:off x="8191499" y="5856935"/>
                <a:ext cx="13590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0.5</m:t>
                      </m:r>
                    </m:oMath>
                  </m:oMathPara>
                </a14:m>
                <a:endParaRPr lang="es-MX" dirty="0"/>
              </a:p>
            </p:txBody>
          </p:sp>
        </mc:Choice>
        <mc:Fallback xmlns="">
          <p:sp>
            <p:nvSpPr>
              <p:cNvPr id="6" name="CuadroTexto 5">
                <a:extLst>
                  <a:ext uri="{FF2B5EF4-FFF2-40B4-BE49-F238E27FC236}">
                    <a16:creationId xmlns:a16="http://schemas.microsoft.com/office/drawing/2014/main" id="{D387348F-FCA0-62CB-DF47-99B7055F7AEE}"/>
                  </a:ext>
                </a:extLst>
              </p:cNvPr>
              <p:cNvSpPr txBox="1">
                <a:spLocks noRot="1" noChangeAspect="1" noMove="1" noResize="1" noEditPoints="1" noAdjustHandles="1" noChangeArrowheads="1" noChangeShapeType="1" noTextEdit="1"/>
              </p:cNvSpPr>
              <p:nvPr/>
            </p:nvSpPr>
            <p:spPr>
              <a:xfrm>
                <a:off x="8191499" y="5856935"/>
                <a:ext cx="1359090" cy="369332"/>
              </a:xfrm>
              <a:prstGeom prst="rect">
                <a:avLst/>
              </a:prstGeom>
              <a:blipFill>
                <a:blip r:embed="rId5"/>
                <a:stretch>
                  <a:fillRect b="-8333"/>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id="{7C10A65E-35CB-3522-183C-418A34BEA3F3}"/>
              </a:ext>
            </a:extLst>
          </p:cNvPr>
          <p:cNvSpPr txBox="1"/>
          <p:nvPr/>
        </p:nvSpPr>
        <p:spPr>
          <a:xfrm>
            <a:off x="5472754" y="5387204"/>
            <a:ext cx="3261813"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MX" dirty="0">
                <a:solidFill>
                  <a:schemeClr val="bg1"/>
                </a:solidFill>
                <a:latin typeface="Times New Roman" panose="02020603050405020304" pitchFamily="18" charset="0"/>
                <a:cs typeface="Times New Roman" panose="02020603050405020304" pitchFamily="18" charset="0"/>
              </a:rPr>
              <a:t>También se puede redactar como:</a:t>
            </a:r>
          </a:p>
        </p:txBody>
      </p:sp>
    </p:spTree>
    <p:extLst>
      <p:ext uri="{BB962C8B-B14F-4D97-AF65-F5344CB8AC3E}">
        <p14:creationId xmlns:p14="http://schemas.microsoft.com/office/powerpoint/2010/main" val="12815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6" grpId="0"/>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nSpc>
                    <a:spcPct val="107000"/>
                  </a:lnSpc>
                  <a:spcAft>
                    <a:spcPts val="800"/>
                  </a:spcAft>
                </a:pPr>
                <a:r>
                  <a:rPr lang="es-MX" sz="28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8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8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8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8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8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577" b="-31000"/>
                </a:stretch>
              </a:blipFill>
            </p:spPr>
            <p:txBody>
              <a:bodyPr/>
              <a:lstStyle/>
              <a:p>
                <a:r>
                  <a:rPr lang="es-MX">
                    <a:noFill/>
                  </a:rPr>
                  <a:t> </a:t>
                </a:r>
              </a:p>
            </p:txBody>
          </p:sp>
        </mc:Fallback>
      </mc:AlternateContent>
      <p:pic>
        <p:nvPicPr>
          <p:cNvPr id="5" name="Imagen 4"/>
          <p:cNvPicPr>
            <a:picLocks noChangeAspect="1"/>
          </p:cNvPicPr>
          <p:nvPr/>
        </p:nvPicPr>
        <p:blipFill>
          <a:blip r:embed="rId4"/>
          <a:srcRect r="49412"/>
          <a:stretch/>
        </p:blipFill>
        <p:spPr>
          <a:xfrm>
            <a:off x="2201163" y="1795331"/>
            <a:ext cx="3806606" cy="4533900"/>
          </a:xfrm>
          <a:prstGeom prst="rect">
            <a:avLst/>
          </a:prstGeom>
        </p:spPr>
      </p:pic>
      <p:sp>
        <p:nvSpPr>
          <p:cNvPr id="3" name="CuadroTexto 2">
            <a:extLst>
              <a:ext uri="{FF2B5EF4-FFF2-40B4-BE49-F238E27FC236}">
                <a16:creationId xmlns:a16="http://schemas.microsoft.com/office/drawing/2014/main" id="{77A24E07-E186-03AB-D44A-C234FCCE6CF7}"/>
              </a:ext>
            </a:extLst>
          </p:cNvPr>
          <p:cNvSpPr txBox="1"/>
          <p:nvPr/>
        </p:nvSpPr>
        <p:spPr>
          <a:xfrm>
            <a:off x="6517721" y="2630905"/>
            <a:ext cx="3473116" cy="830997"/>
          </a:xfrm>
          <a:prstGeom prst="rect">
            <a:avLst/>
          </a:prstGeom>
          <a:noFill/>
          <a:ln w="12700">
            <a:solidFill>
              <a:srgbClr val="0070C0"/>
            </a:solidFill>
          </a:ln>
        </p:spPr>
        <p:txBody>
          <a:bodyPr wrap="square" rtlCol="0">
            <a:spAutoFit/>
          </a:bodyPr>
          <a:lstStyle/>
          <a:p>
            <a:pPr algn="just"/>
            <a:r>
              <a:rPr lang="es-MX" sz="1600" dirty="0">
                <a:solidFill>
                  <a:schemeClr val="bg1"/>
                </a:solidFill>
                <a:latin typeface="Times New Roman" panose="02020603050405020304" pitchFamily="18" charset="0"/>
                <a:cs typeface="Times New Roman" panose="02020603050405020304" pitchFamily="18" charset="0"/>
              </a:rPr>
              <a:t>La compañía Coca-Cola afirma que “la cantidad media de Coca Cola en las latas es mayor que 354.882 ml”</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7989137-6A9D-2A8C-A5F8-D4142AA18E76}"/>
                  </a:ext>
                </a:extLst>
              </p:cNvPr>
              <p:cNvSpPr txBox="1"/>
              <p:nvPr/>
            </p:nvSpPr>
            <p:spPr>
              <a:xfrm>
                <a:off x="6517721" y="3545305"/>
                <a:ext cx="3473116" cy="584775"/>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1: </a:t>
                </a:r>
                <a:r>
                  <a:rPr lang="es-MX" sz="1600" dirty="0">
                    <a:solidFill>
                      <a:schemeClr val="bg1"/>
                    </a:solidFill>
                    <a:latin typeface="Times New Roman" panose="02020603050405020304" pitchFamily="18" charset="0"/>
                    <a:cs typeface="Times New Roman" panose="02020603050405020304" pitchFamily="18" charset="0"/>
                  </a:rPr>
                  <a:t>Esta afirmación puede expresarse como </a:t>
                </a:r>
                <a14:m>
                  <m:oMath xmlns:m="http://schemas.openxmlformats.org/officeDocument/2006/math">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&gt;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882</m:t>
                    </m:r>
                  </m:oMath>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97989137-6A9D-2A8C-A5F8-D4142AA18E76}"/>
                  </a:ext>
                </a:extLst>
              </p:cNvPr>
              <p:cNvSpPr txBox="1">
                <a:spLocks noRot="1" noChangeAspect="1" noMove="1" noResize="1" noEditPoints="1" noAdjustHandles="1" noChangeArrowheads="1" noChangeShapeType="1" noTextEdit="1"/>
              </p:cNvSpPr>
              <p:nvPr/>
            </p:nvSpPr>
            <p:spPr>
              <a:xfrm>
                <a:off x="6517721" y="3545305"/>
                <a:ext cx="3473116" cy="584775"/>
              </a:xfrm>
              <a:prstGeom prst="rect">
                <a:avLst/>
              </a:prstGeom>
              <a:blipFill>
                <a:blip r:embed="rId5"/>
                <a:stretch>
                  <a:fillRect l="-699" t="-2041" r="-874" b="-11224"/>
                </a:stretch>
              </a:blipFill>
              <a:ln w="12700">
                <a:solidFill>
                  <a:srgbClr val="0070C0"/>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5F34522-8B95-6DB7-D20B-B0428091448D}"/>
                  </a:ext>
                </a:extLst>
              </p:cNvPr>
              <p:cNvSpPr txBox="1"/>
              <p:nvPr/>
            </p:nvSpPr>
            <p:spPr>
              <a:xfrm>
                <a:off x="6517721" y="4213483"/>
                <a:ext cx="3473116" cy="830997"/>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2: </a:t>
                </a:r>
                <a:r>
                  <a:rPr lang="es-MX" sz="1600" dirty="0">
                    <a:solidFill>
                      <a:schemeClr val="bg1"/>
                    </a:solidFill>
                    <a:latin typeface="Times New Roman" panose="02020603050405020304" pitchFamily="18" charset="0"/>
                    <a:cs typeface="Times New Roman" panose="02020603050405020304" pitchFamily="18" charset="0"/>
                  </a:rPr>
                  <a:t>Si la aseveración original es falsa, entonces </a:t>
                </a:r>
                <a14:m>
                  <m:oMath xmlns:m="http://schemas.openxmlformats.org/officeDocument/2006/math">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 es verdadera.</a:t>
                </a:r>
              </a:p>
            </p:txBody>
          </p:sp>
        </mc:Choice>
        <mc:Fallback xmlns="">
          <p:sp>
            <p:nvSpPr>
              <p:cNvPr id="6" name="CuadroTexto 5">
                <a:extLst>
                  <a:ext uri="{FF2B5EF4-FFF2-40B4-BE49-F238E27FC236}">
                    <a16:creationId xmlns:a16="http://schemas.microsoft.com/office/drawing/2014/main" id="{55F34522-8B95-6DB7-D20B-B0428091448D}"/>
                  </a:ext>
                </a:extLst>
              </p:cNvPr>
              <p:cNvSpPr txBox="1">
                <a:spLocks noRot="1" noChangeAspect="1" noMove="1" noResize="1" noEditPoints="1" noAdjustHandles="1" noChangeArrowheads="1" noChangeShapeType="1" noTextEdit="1"/>
              </p:cNvSpPr>
              <p:nvPr/>
            </p:nvSpPr>
            <p:spPr>
              <a:xfrm>
                <a:off x="6517721" y="4213483"/>
                <a:ext cx="3473116" cy="830997"/>
              </a:xfrm>
              <a:prstGeom prst="rect">
                <a:avLst/>
              </a:prstGeom>
              <a:blipFill>
                <a:blip r:embed="rId6"/>
                <a:stretch>
                  <a:fillRect l="-699" t="-1439" r="-874" b="-7194"/>
                </a:stretch>
              </a:blipFill>
              <a:ln w="12700">
                <a:solidFill>
                  <a:srgbClr val="0070C0"/>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C9611FC-04FD-80E8-6D16-59C27F271C16}"/>
                  </a:ext>
                </a:extLst>
              </p:cNvPr>
              <p:cNvSpPr txBox="1"/>
              <p:nvPr/>
            </p:nvSpPr>
            <p:spPr>
              <a:xfrm>
                <a:off x="6517721" y="5127883"/>
                <a:ext cx="3473116" cy="1077218"/>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Paso 3: </a:t>
                </a:r>
                <a:r>
                  <a:rPr lang="es-MX" sz="1600" dirty="0">
                    <a:solidFill>
                      <a:schemeClr val="bg1"/>
                    </a:solidFill>
                    <a:latin typeface="Times New Roman" panose="02020603050405020304" pitchFamily="18" charset="0"/>
                    <a:cs typeface="Times New Roman" panose="02020603050405020304" pitchFamily="18" charset="0"/>
                  </a:rPr>
                  <a:t>La hipótesis alternativa será </a:t>
                </a:r>
                <a14:m>
                  <m:oMath xmlns:m="http://schemas.openxmlformats.org/officeDocument/2006/math">
                    <m:sSub>
                      <m:sSubPr>
                        <m:ctrlP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sub>
                    </m:s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&gt;</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 al no llevar la igualdad y la hipótesis nula será </a:t>
                </a:r>
                <a14:m>
                  <m:oMath xmlns:m="http://schemas.openxmlformats.org/officeDocument/2006/math">
                    <m:sSub>
                      <m:sSubPr>
                        <m:ctrlP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 </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60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354.882</m:t>
                    </m:r>
                  </m:oMath>
                </a14:m>
                <a:r>
                  <a:rPr lang="es-MX" sz="1600" dirty="0">
                    <a:solidFill>
                      <a:schemeClr val="bg1"/>
                    </a:solidFill>
                    <a:latin typeface="Times New Roman" panose="02020603050405020304" pitchFamily="18" charset="0"/>
                    <a:cs typeface="Times New Roman" panose="02020603050405020304" pitchFamily="18" charset="0"/>
                  </a:rPr>
                  <a:t>.</a:t>
                </a:r>
              </a:p>
            </p:txBody>
          </p:sp>
        </mc:Choice>
        <mc:Fallback xmlns="">
          <p:sp>
            <p:nvSpPr>
              <p:cNvPr id="7" name="CuadroTexto 6">
                <a:extLst>
                  <a:ext uri="{FF2B5EF4-FFF2-40B4-BE49-F238E27FC236}">
                    <a16:creationId xmlns:a16="http://schemas.microsoft.com/office/drawing/2014/main" id="{6C9611FC-04FD-80E8-6D16-59C27F271C16}"/>
                  </a:ext>
                </a:extLst>
              </p:cNvPr>
              <p:cNvSpPr txBox="1">
                <a:spLocks noRot="1" noChangeAspect="1" noMove="1" noResize="1" noEditPoints="1" noAdjustHandles="1" noChangeArrowheads="1" noChangeShapeType="1" noTextEdit="1"/>
              </p:cNvSpPr>
              <p:nvPr/>
            </p:nvSpPr>
            <p:spPr>
              <a:xfrm>
                <a:off x="6517721" y="5127883"/>
                <a:ext cx="3473116" cy="1077218"/>
              </a:xfrm>
              <a:prstGeom prst="rect">
                <a:avLst/>
              </a:prstGeom>
              <a:blipFill>
                <a:blip r:embed="rId7"/>
                <a:stretch>
                  <a:fillRect l="-699" t="-1117" r="-874" b="-5587"/>
                </a:stretch>
              </a:blipFill>
              <a:ln w="12700">
                <a:solidFill>
                  <a:srgbClr val="0070C0"/>
                </a:solidFill>
              </a:ln>
            </p:spPr>
            <p:txBody>
              <a:bodyPr/>
              <a:lstStyle/>
              <a:p>
                <a:r>
                  <a:rPr lang="es-MX">
                    <a:noFill/>
                  </a:rPr>
                  <a:t> </a:t>
                </a:r>
              </a:p>
            </p:txBody>
          </p:sp>
        </mc:Fallback>
      </mc:AlternateContent>
    </p:spTree>
    <p:extLst>
      <p:ext uri="{BB962C8B-B14F-4D97-AF65-F5344CB8AC3E}">
        <p14:creationId xmlns:p14="http://schemas.microsoft.com/office/powerpoint/2010/main" val="265347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209" b="-31000"/>
                </a:stretch>
              </a:blipFill>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8505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Ejemplos: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p:cNvPicPr>
            <a:picLocks noChangeAspect="1"/>
          </p:cNvPicPr>
          <p:nvPr/>
        </p:nvPicPr>
        <p:blipFill>
          <a:blip r:embed="rId4"/>
          <a:stretch>
            <a:fillRect/>
          </a:stretch>
        </p:blipFill>
        <p:spPr>
          <a:xfrm>
            <a:off x="1653792" y="3083787"/>
            <a:ext cx="7953375" cy="3381375"/>
          </a:xfrm>
          <a:prstGeom prst="rect">
            <a:avLst/>
          </a:prstGeom>
        </p:spPr>
      </p:pic>
      <p:pic>
        <p:nvPicPr>
          <p:cNvPr id="5" name="Imagen 4"/>
          <p:cNvPicPr>
            <a:picLocks noChangeAspect="1"/>
          </p:cNvPicPr>
          <p:nvPr/>
        </p:nvPicPr>
        <p:blipFill>
          <a:blip r:embed="rId5"/>
          <a:stretch>
            <a:fillRect/>
          </a:stretch>
        </p:blipFill>
        <p:spPr>
          <a:xfrm>
            <a:off x="5253854" y="3474176"/>
            <a:ext cx="3800475" cy="876300"/>
          </a:xfrm>
          <a:prstGeom prst="rect">
            <a:avLst/>
          </a:prstGeom>
        </p:spPr>
      </p:pic>
      <p:pic>
        <p:nvPicPr>
          <p:cNvPr id="6" name="Imagen 5"/>
          <p:cNvPicPr>
            <a:picLocks noChangeAspect="1"/>
          </p:cNvPicPr>
          <p:nvPr/>
        </p:nvPicPr>
        <p:blipFill>
          <a:blip r:embed="rId6"/>
          <a:stretch>
            <a:fillRect/>
          </a:stretch>
        </p:blipFill>
        <p:spPr>
          <a:xfrm>
            <a:off x="5253854" y="4447062"/>
            <a:ext cx="3857625" cy="904875"/>
          </a:xfrm>
          <a:prstGeom prst="rect">
            <a:avLst/>
          </a:prstGeom>
        </p:spPr>
      </p:pic>
      <p:pic>
        <p:nvPicPr>
          <p:cNvPr id="7" name="Imagen 6"/>
          <p:cNvPicPr>
            <a:picLocks noChangeAspect="1"/>
          </p:cNvPicPr>
          <p:nvPr/>
        </p:nvPicPr>
        <p:blipFill>
          <a:blip r:embed="rId7"/>
          <a:stretch>
            <a:fillRect/>
          </a:stretch>
        </p:blipFill>
        <p:spPr>
          <a:xfrm>
            <a:off x="5358629" y="5487712"/>
            <a:ext cx="3752850" cy="876300"/>
          </a:xfrm>
          <a:prstGeom prst="rect">
            <a:avLst/>
          </a:prstGeom>
        </p:spPr>
      </p:pic>
      <p:pic>
        <p:nvPicPr>
          <p:cNvPr id="4" name="Imagen 3">
            <a:extLst>
              <a:ext uri="{FF2B5EF4-FFF2-40B4-BE49-F238E27FC236}">
                <a16:creationId xmlns:a16="http://schemas.microsoft.com/office/drawing/2014/main" id="{FCF40710-6E23-B41F-F344-D1E3CD4479A6}"/>
              </a:ext>
            </a:extLst>
          </p:cNvPr>
          <p:cNvPicPr>
            <a:picLocks noChangeAspect="1"/>
          </p:cNvPicPr>
          <p:nvPr/>
        </p:nvPicPr>
        <p:blipFill>
          <a:blip r:embed="rId8"/>
          <a:stretch>
            <a:fillRect/>
          </a:stretch>
        </p:blipFill>
        <p:spPr>
          <a:xfrm>
            <a:off x="9607167" y="3297839"/>
            <a:ext cx="885655" cy="904876"/>
          </a:xfrm>
          <a:prstGeom prst="rect">
            <a:avLst/>
          </a:prstGeom>
        </p:spPr>
      </p:pic>
      <p:pic>
        <p:nvPicPr>
          <p:cNvPr id="8" name="Imagen 7">
            <a:extLst>
              <a:ext uri="{FF2B5EF4-FFF2-40B4-BE49-F238E27FC236}">
                <a16:creationId xmlns:a16="http://schemas.microsoft.com/office/drawing/2014/main" id="{C712A062-D81C-EB60-43B2-AEF593013EED}"/>
              </a:ext>
            </a:extLst>
          </p:cNvPr>
          <p:cNvPicPr>
            <a:picLocks noChangeAspect="1"/>
          </p:cNvPicPr>
          <p:nvPr/>
        </p:nvPicPr>
        <p:blipFill>
          <a:blip r:embed="rId8"/>
          <a:stretch>
            <a:fillRect/>
          </a:stretch>
        </p:blipFill>
        <p:spPr>
          <a:xfrm>
            <a:off x="9607166" y="4350476"/>
            <a:ext cx="885655" cy="904876"/>
          </a:xfrm>
          <a:prstGeom prst="rect">
            <a:avLst/>
          </a:prstGeom>
        </p:spPr>
      </p:pic>
      <p:pic>
        <p:nvPicPr>
          <p:cNvPr id="9" name="Imagen 8">
            <a:extLst>
              <a:ext uri="{FF2B5EF4-FFF2-40B4-BE49-F238E27FC236}">
                <a16:creationId xmlns:a16="http://schemas.microsoft.com/office/drawing/2014/main" id="{BA65BD73-40AE-005A-600F-150057459046}"/>
              </a:ext>
            </a:extLst>
          </p:cNvPr>
          <p:cNvPicPr>
            <a:picLocks noChangeAspect="1"/>
          </p:cNvPicPr>
          <p:nvPr/>
        </p:nvPicPr>
        <p:blipFill>
          <a:blip r:embed="rId8"/>
          <a:stretch>
            <a:fillRect/>
          </a:stretch>
        </p:blipFill>
        <p:spPr>
          <a:xfrm>
            <a:off x="9652553" y="5403113"/>
            <a:ext cx="885655" cy="904876"/>
          </a:xfrm>
          <a:prstGeom prst="rect">
            <a:avLst/>
          </a:prstGeom>
        </p:spPr>
      </p:pic>
    </p:spTree>
    <p:extLst>
      <p:ext uri="{BB962C8B-B14F-4D97-AF65-F5344CB8AC3E}">
        <p14:creationId xmlns:p14="http://schemas.microsoft.com/office/powerpoint/2010/main" val="385159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ircle(in)">
                                      <p:cBhvr>
                                        <p:cTn id="2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¿Cómo identificar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𝟎</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MX"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s-MX" sz="2400" i="1">
                            <a:latin typeface="Cambria Math" panose="02040503050406030204" pitchFamily="18" charset="0"/>
                            <a:ea typeface="Times New Roman" panose="02020603050405020304" pitchFamily="18" charset="0"/>
                            <a:cs typeface="Times New Roman" panose="02020603050405020304" pitchFamily="18" charset="0"/>
                          </a:rPr>
                          <m:t>𝑯</m:t>
                        </m:r>
                      </m:e>
                      <m:sub>
                        <m:r>
                          <a:rPr lang="es-MX" sz="2400" i="1">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s-MX"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209" b="-31000"/>
                </a:stretch>
              </a:blipFill>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8505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uadroTexto 2">
            <a:extLst>
              <a:ext uri="{FF2B5EF4-FFF2-40B4-BE49-F238E27FC236}">
                <a16:creationId xmlns:a16="http://schemas.microsoft.com/office/drawing/2014/main" id="{E4DC231C-8615-1F66-5611-7242489FD8D6}"/>
              </a:ext>
            </a:extLst>
          </p:cNvPr>
          <p:cNvSpPr txBox="1"/>
          <p:nvPr/>
        </p:nvSpPr>
        <p:spPr>
          <a:xfrm>
            <a:off x="2151379" y="3749880"/>
            <a:ext cx="6760611" cy="368755"/>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s-MX" sz="1800" b="0" baseline="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Más del 25% de los usuarios en Internet pagan sus facturas en línea.</a:t>
            </a:r>
          </a:p>
        </p:txBody>
      </p:sp>
      <p:sp>
        <p:nvSpPr>
          <p:cNvPr id="4" name="CuadroTexto 3">
            <a:extLst>
              <a:ext uri="{FF2B5EF4-FFF2-40B4-BE49-F238E27FC236}">
                <a16:creationId xmlns:a16="http://schemas.microsoft.com/office/drawing/2014/main" id="{1FF47733-9779-0BB6-8797-1ECADD20F42C}"/>
              </a:ext>
            </a:extLst>
          </p:cNvPr>
          <p:cNvSpPr txBox="1"/>
          <p:nvPr/>
        </p:nvSpPr>
        <p:spPr>
          <a:xfrm>
            <a:off x="2151378" y="4333876"/>
            <a:ext cx="6760611" cy="368755"/>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 Los dulces M&amp;M tienen un peso medio de al menos 0.8535 g.</a:t>
            </a:r>
          </a:p>
        </p:txBody>
      </p:sp>
      <p:sp>
        <p:nvSpPr>
          <p:cNvPr id="7" name="CuadroTexto 6">
            <a:extLst>
              <a:ext uri="{FF2B5EF4-FFF2-40B4-BE49-F238E27FC236}">
                <a16:creationId xmlns:a16="http://schemas.microsoft.com/office/drawing/2014/main" id="{9FB63714-1FDC-65AD-F749-3A42C8E78555}"/>
              </a:ext>
            </a:extLst>
          </p:cNvPr>
          <p:cNvSpPr txBox="1"/>
          <p:nvPr/>
        </p:nvSpPr>
        <p:spPr>
          <a:xfrm>
            <a:off x="2151377" y="4906281"/>
            <a:ext cx="6760611" cy="961482"/>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marL="0" lvl="0" indent="0" algn="just">
              <a:lnSpc>
                <a:spcPct val="107000"/>
              </a:lnSpc>
              <a:spcAft>
                <a:spcPts val="800"/>
              </a:spcAft>
              <a:buFont typeface="+mj-lt"/>
              <a:buNone/>
            </a:pPr>
            <a:r>
              <a:rPr lang="es-MX"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3. Las puntuaciones de CI de profesores universitarios tienen una desviación estándar menor que 15, que es la desviación estándar de la población general.</a:t>
            </a:r>
          </a:p>
        </p:txBody>
      </p:sp>
      <p:pic>
        <p:nvPicPr>
          <p:cNvPr id="9" name="Imagen 8">
            <a:extLst>
              <a:ext uri="{FF2B5EF4-FFF2-40B4-BE49-F238E27FC236}">
                <a16:creationId xmlns:a16="http://schemas.microsoft.com/office/drawing/2014/main" id="{709623F0-CCFC-15B2-D22B-4791CD823AAF}"/>
              </a:ext>
            </a:extLst>
          </p:cNvPr>
          <p:cNvPicPr>
            <a:picLocks noChangeAspect="1"/>
          </p:cNvPicPr>
          <p:nvPr/>
        </p:nvPicPr>
        <p:blipFill>
          <a:blip r:embed="rId4"/>
          <a:stretch>
            <a:fillRect/>
          </a:stretch>
        </p:blipFill>
        <p:spPr>
          <a:xfrm>
            <a:off x="8911988" y="3429000"/>
            <a:ext cx="885655" cy="904876"/>
          </a:xfrm>
          <a:prstGeom prst="rect">
            <a:avLst/>
          </a:prstGeom>
        </p:spPr>
      </p:pic>
      <p:pic>
        <p:nvPicPr>
          <p:cNvPr id="10" name="Imagen 9">
            <a:extLst>
              <a:ext uri="{FF2B5EF4-FFF2-40B4-BE49-F238E27FC236}">
                <a16:creationId xmlns:a16="http://schemas.microsoft.com/office/drawing/2014/main" id="{4FB8A93E-D5B8-92D7-7A63-DC9E1F5B4D1A}"/>
              </a:ext>
            </a:extLst>
          </p:cNvPr>
          <p:cNvPicPr>
            <a:picLocks noChangeAspect="1"/>
          </p:cNvPicPr>
          <p:nvPr/>
        </p:nvPicPr>
        <p:blipFill>
          <a:blip r:embed="rId4"/>
          <a:stretch>
            <a:fillRect/>
          </a:stretch>
        </p:blipFill>
        <p:spPr>
          <a:xfrm>
            <a:off x="1187355" y="4065815"/>
            <a:ext cx="885655" cy="904876"/>
          </a:xfrm>
          <a:prstGeom prst="rect">
            <a:avLst/>
          </a:prstGeom>
        </p:spPr>
      </p:pic>
      <p:pic>
        <p:nvPicPr>
          <p:cNvPr id="12" name="Imagen 11">
            <a:extLst>
              <a:ext uri="{FF2B5EF4-FFF2-40B4-BE49-F238E27FC236}">
                <a16:creationId xmlns:a16="http://schemas.microsoft.com/office/drawing/2014/main" id="{1EFEF292-C962-6651-F9A4-A9CA70929DCB}"/>
              </a:ext>
            </a:extLst>
          </p:cNvPr>
          <p:cNvPicPr>
            <a:picLocks noChangeAspect="1"/>
          </p:cNvPicPr>
          <p:nvPr/>
        </p:nvPicPr>
        <p:blipFill>
          <a:blip r:embed="rId4"/>
          <a:stretch>
            <a:fillRect/>
          </a:stretch>
        </p:blipFill>
        <p:spPr>
          <a:xfrm>
            <a:off x="8911987" y="4890571"/>
            <a:ext cx="885655" cy="904876"/>
          </a:xfrm>
          <a:prstGeom prst="rect">
            <a:avLst/>
          </a:prstGeom>
        </p:spPr>
      </p:pic>
    </p:spTree>
    <p:extLst>
      <p:ext uri="{BB962C8B-B14F-4D97-AF65-F5344CB8AC3E}">
        <p14:creationId xmlns:p14="http://schemas.microsoft.com/office/powerpoint/2010/main" val="6307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t>
                </a: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estadístico de prueba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 un valor que se utiliza para tomar la decisión sobre la hipótesis nula, y se calcula convirtiendo al estadístico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(como la proporción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e>
                    </m:acc>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la media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𝑥</m:t>
                        </m:r>
                      </m:e>
                    </m:acc>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o la desviación estándar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𝑠</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en una puntuación (como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𝑧</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𝑡</m:t>
                    </m:r>
                    <m:r>
                      <a:rPr lang="es-MX" b="0" i="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𝜒</m:t>
                        </m:r>
                      </m:e>
                      <m:sup>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bajo el supuesto de que la hipótesis nula es verdadera.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277572"/>
                <a:ext cx="9332916" cy="1263166"/>
              </a:xfrm>
              <a:prstGeom prst="rect">
                <a:avLst/>
              </a:prstGeom>
              <a:blipFill>
                <a:blip r:embed="rId3"/>
                <a:stretch>
                  <a:fillRect l="-457" t="-2392" r="-2153" b="-6220"/>
                </a:stretch>
              </a:blipFill>
              <a:ln>
                <a:solidFill>
                  <a:schemeClr val="tx1">
                    <a:lumMod val="85000"/>
                  </a:schemeClr>
                </a:solidFill>
              </a:ln>
            </p:spPr>
            <p:txBody>
              <a:bodyPr/>
              <a:lstStyle/>
              <a:p>
                <a:r>
                  <a:rPr lang="es-MX">
                    <a:noFill/>
                  </a:rPr>
                  <a:t> </a:t>
                </a:r>
              </a:p>
            </p:txBody>
          </p:sp>
        </mc:Fallback>
      </mc:AlternateContent>
      <p:pic>
        <p:nvPicPr>
          <p:cNvPr id="4" name="Imagen 3"/>
          <p:cNvPicPr>
            <a:picLocks noChangeAspect="1"/>
          </p:cNvPicPr>
          <p:nvPr/>
        </p:nvPicPr>
        <p:blipFill>
          <a:blip r:embed="rId4"/>
          <a:stretch>
            <a:fillRect/>
          </a:stretch>
        </p:blipFill>
        <p:spPr>
          <a:xfrm>
            <a:off x="2187192" y="3724547"/>
            <a:ext cx="6886575" cy="1943100"/>
          </a:xfrm>
          <a:prstGeom prst="rect">
            <a:avLst/>
          </a:prstGeom>
        </p:spPr>
      </p:pic>
    </p:spTree>
    <p:extLst>
      <p:ext uri="{BB962C8B-B14F-4D97-AF65-F5344CB8AC3E}">
        <p14:creationId xmlns:p14="http://schemas.microsoft.com/office/powerpoint/2010/main" val="287864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encuesta de 703 empleados seleccionados al azar, reveló que el 61% de ellos consiguió trabajo por medio de una red de contactos. Calcule el valor del estadístico de prueba para la aseveración de que la mayoría de los empleados (más del 50%) consiguen trabajo por medio de una red de contactos.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p:cNvPicPr>
            <a:picLocks noChangeAspect="1"/>
          </p:cNvPicPr>
          <p:nvPr/>
        </p:nvPicPr>
        <p:blipFill>
          <a:blip r:embed="rId3"/>
          <a:stretch>
            <a:fillRect/>
          </a:stretch>
        </p:blipFill>
        <p:spPr>
          <a:xfrm>
            <a:off x="2182430" y="3764960"/>
            <a:ext cx="6896100" cy="1914525"/>
          </a:xfrm>
          <a:prstGeom prst="rect">
            <a:avLst/>
          </a:prstGeom>
        </p:spPr>
      </p:pic>
    </p:spTree>
    <p:extLst>
      <p:ext uri="{BB962C8B-B14F-4D97-AF65-F5344CB8AC3E}">
        <p14:creationId xmlns:p14="http://schemas.microsoft.com/office/powerpoint/2010/main" val="192691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Estadísticos de Prueba</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7044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Utilice aseveraciones para expresar la hipótesis nula y alternativa en cada uno de los siguientes casos. Luego,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calcula el valor del estadístico de prueba.</a:t>
            </a:r>
            <a:endParaRPr lang="es-MX"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28" name="Picture 4" descr="Personas con un icono de computadora: vector de stock (libre de regalías)  2008763171 | Shutterstock">
            <a:extLst>
              <a:ext uri="{FF2B5EF4-FFF2-40B4-BE49-F238E27FC236}">
                <a16:creationId xmlns:a16="http://schemas.microsoft.com/office/drawing/2014/main" id="{7598E9CD-D5C9-1B28-0D24-0E7A5F5CB16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7260"/>
          <a:stretch/>
        </p:blipFill>
        <p:spPr bwMode="auto">
          <a:xfrm>
            <a:off x="10296938" y="3245408"/>
            <a:ext cx="1033608" cy="9209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E10E74B-D706-73E3-B461-B9393357E687}"/>
                  </a:ext>
                </a:extLst>
              </p:cNvPr>
              <p:cNvSpPr txBox="1"/>
              <p:nvPr/>
            </p:nvSpPr>
            <p:spPr>
              <a:xfrm>
                <a:off x="964022" y="3279795"/>
                <a:ext cx="9332916" cy="961482"/>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lvl="0" algn="just">
                  <a:lnSpc>
                    <a:spcPct val="107000"/>
                  </a:lnSpc>
                  <a:spcAft>
                    <a:spcPts val="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1. La aseveración es que la proporción de adultos que fumaron un cigarrillo la semana pasada es menor que 0.25, y los estadísticos de muestra incluyen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m:t>
                    </m:r>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=1018</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sujetos, de los cuales 224 dicen que fumaron un cigarrillo la semana pasada. </a:t>
                </a:r>
              </a:p>
            </p:txBody>
          </p:sp>
        </mc:Choice>
        <mc:Fallback xmlns="">
          <p:sp>
            <p:nvSpPr>
              <p:cNvPr id="3" name="CuadroTexto 2">
                <a:extLst>
                  <a:ext uri="{FF2B5EF4-FFF2-40B4-BE49-F238E27FC236}">
                    <a16:creationId xmlns:a16="http://schemas.microsoft.com/office/drawing/2014/main" id="{BE10E74B-D706-73E3-B461-B9393357E687}"/>
                  </a:ext>
                </a:extLst>
              </p:cNvPr>
              <p:cNvSpPr txBox="1">
                <a:spLocks noRot="1" noChangeAspect="1" noMove="1" noResize="1" noEditPoints="1" noAdjustHandles="1" noChangeArrowheads="1" noChangeShapeType="1" noTextEdit="1"/>
              </p:cNvSpPr>
              <p:nvPr/>
            </p:nvSpPr>
            <p:spPr>
              <a:xfrm>
                <a:off x="964022" y="3279795"/>
                <a:ext cx="9332916" cy="961482"/>
              </a:xfrm>
              <a:prstGeom prst="rect">
                <a:avLst/>
              </a:prstGeom>
              <a:blipFill>
                <a:blip r:embed="rId4"/>
                <a:stretch>
                  <a:fillRect l="-391" t="-1840" r="-391" b="-6748"/>
                </a:stretch>
              </a:blipFill>
              <a:ln w="28575"/>
            </p:spPr>
            <p:txBody>
              <a:bodyPr/>
              <a:lstStyle/>
              <a:p>
                <a:r>
                  <a:rPr lang="es-MX">
                    <a:noFill/>
                  </a:rPr>
                  <a:t> </a:t>
                </a:r>
              </a:p>
            </p:txBody>
          </p:sp>
        </mc:Fallback>
      </mc:AlternateContent>
      <p:sp>
        <p:nvSpPr>
          <p:cNvPr id="4" name="CuadroTexto 3">
            <a:extLst>
              <a:ext uri="{FF2B5EF4-FFF2-40B4-BE49-F238E27FC236}">
                <a16:creationId xmlns:a16="http://schemas.microsoft.com/office/drawing/2014/main" id="{2F384325-9A7A-42FF-B36D-008DE010ACE6}"/>
              </a:ext>
            </a:extLst>
          </p:cNvPr>
          <p:cNvSpPr txBox="1"/>
          <p:nvPr/>
        </p:nvSpPr>
        <p:spPr>
          <a:xfrm>
            <a:off x="964022" y="4573060"/>
            <a:ext cx="9332916" cy="670440"/>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lvl="0"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2. La aseveración es que la mayoría de las demandas por negligencia se retiran o se rechazan, y una muestra aleatoria de 500 demandas incluye 349 que fueron retiradas o rechazadas.</a:t>
            </a:r>
            <a:endParaRPr lang="es-MX"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Personas con un icono de computadora: vector de stock (libre de regalías)  2008763171 | Shutterstock">
            <a:extLst>
              <a:ext uri="{FF2B5EF4-FFF2-40B4-BE49-F238E27FC236}">
                <a16:creationId xmlns:a16="http://schemas.microsoft.com/office/drawing/2014/main" id="{39055C67-4E91-BB25-3D72-F6CBB9E32CA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7260"/>
          <a:stretch/>
        </p:blipFill>
        <p:spPr bwMode="auto">
          <a:xfrm>
            <a:off x="10296938" y="4322507"/>
            <a:ext cx="1033608" cy="920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57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8"/>
                                        </p:tgtEl>
                                        <p:attrNameLst>
                                          <p:attrName>style.visibility</p:attrName>
                                        </p:attrNameLst>
                                      </p:cBhvr>
                                      <p:to>
                                        <p:strVal val="visible"/>
                                      </p:to>
                                    </p:set>
                                    <p:animEffect transition="in" filter="fade">
                                      <p:cBhvr>
                                        <p:cTn id="19" dur="1000"/>
                                        <p:tgtEl>
                                          <p:spTgt spid="1028"/>
                                        </p:tgtEl>
                                      </p:cBhvr>
                                    </p:animEffect>
                                    <p:anim calcmode="lin" valueType="num">
                                      <p:cBhvr>
                                        <p:cTn id="20" dur="1000" fill="hold"/>
                                        <p:tgtEl>
                                          <p:spTgt spid="1028"/>
                                        </p:tgtEl>
                                        <p:attrNameLst>
                                          <p:attrName>ppt_x</p:attrName>
                                        </p:attrNameLst>
                                      </p:cBhvr>
                                      <p:tavLst>
                                        <p:tav tm="0">
                                          <p:val>
                                            <p:strVal val="#ppt_x"/>
                                          </p:val>
                                        </p:tav>
                                        <p:tav tm="100000">
                                          <p:val>
                                            <p:strVal val="#ppt_x"/>
                                          </p:val>
                                        </p:tav>
                                      </p:tavLst>
                                    </p:anim>
                                    <p:anim calcmode="lin" valueType="num">
                                      <p:cBhvr>
                                        <p:cTn id="21"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Región Crítica, nivel de significancia, valor crítico y valor </a:t>
                </a:r>
                <a14:m>
                  <m:oMath xmlns:m="http://schemas.openxmlformats.org/officeDocument/2006/math">
                    <m:r>
                      <a:rPr lang="es-MX" sz="2400" i="1" dirty="0" smtClean="0">
                        <a:latin typeface="Cambria Math" panose="02040503050406030204" pitchFamily="18" charset="0"/>
                        <a:ea typeface="Times New Roman" panose="02020603050405020304" pitchFamily="18" charset="0"/>
                        <a:cs typeface="Times New Roman" panose="02020603050405020304" pitchFamily="18" charset="0"/>
                      </a:rPr>
                      <m:t>𝑃</m:t>
                    </m:r>
                  </m:oMath>
                </a14:m>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1" y="879063"/>
                <a:ext cx="8558801" cy="610863"/>
              </a:xfrm>
              <a:blipFill>
                <a:blip r:embed="rId3"/>
                <a:stretch>
                  <a:fillRect l="-2137" r="-926" b="-31000"/>
                </a:stretch>
              </a:blipFill>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67044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región crítica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(o región de rechazo) es el conjunto de todos los valores del estadístico de prueba que pueden provocar que rechacemos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494AF8A-D47C-6E15-F0A8-B546B382BBB9}"/>
                  </a:ext>
                </a:extLst>
              </p:cNvPr>
              <p:cNvSpPr txBox="1"/>
              <p:nvPr/>
            </p:nvSpPr>
            <p:spPr>
              <a:xfrm>
                <a:off x="964021" y="3161492"/>
                <a:ext cx="9332916" cy="126316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nivel de significancia</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(denotado por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probabilidad de que el estadístico de prueba caiga en la región crítica, cuando la hipótesis nula es verdadera. Si el estadístico de prueba cae en la región crítica, rechazamos la hipótesis nula, de manera que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probabilidad de cometer el error de rechazar la hipótesis nula cuando es verdadera.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CuadroTexto 5">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1" y="3161492"/>
                <a:ext cx="9332916" cy="1263166"/>
              </a:xfrm>
              <a:prstGeom prst="rect">
                <a:avLst/>
              </a:prstGeom>
              <a:blipFill>
                <a:blip r:embed="rId4"/>
                <a:stretch>
                  <a:fillRect l="-457" t="-2392" r="-522" b="-6220"/>
                </a:stretch>
              </a:blipFill>
              <a:ln>
                <a:solidFill>
                  <a:schemeClr val="tx1">
                    <a:lumMod val="85000"/>
                  </a:schemeClr>
                </a:solidFill>
              </a:ln>
            </p:spPr>
            <p:txBody>
              <a:bodyPr/>
              <a:lstStyle/>
              <a:p>
                <a:r>
                  <a:rPr lang="es-MX">
                    <a:noFill/>
                  </a:rPr>
                  <a:t> </a:t>
                </a:r>
              </a:p>
            </p:txBody>
          </p:sp>
        </mc:Fallback>
      </mc:AlternateContent>
      <p:sp>
        <p:nvSpPr>
          <p:cNvPr id="7" name="CuadroTexto 6">
            <a:extLst>
              <a:ext uri="{FF2B5EF4-FFF2-40B4-BE49-F238E27FC236}">
                <a16:creationId xmlns:a16="http://schemas.microsoft.com/office/drawing/2014/main" id="{F494AF8A-D47C-6E15-F0A8-B546B382BBB9}"/>
              </a:ext>
            </a:extLst>
          </p:cNvPr>
          <p:cNvSpPr txBox="1"/>
          <p:nvPr/>
        </p:nvSpPr>
        <p:spPr>
          <a:xfrm>
            <a:off x="964021" y="4619578"/>
            <a:ext cx="9332916" cy="67044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a:t>
            </a: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valor crítico</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cualquier valor que separa a la región crítica (donde rechazamos la hipótesis nula) de los valores del estadístico de prueba que no conducen al rechazo de la hipótesis nula.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953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Región Crítica, nivel de significancia, valor crítico y valor </a:t>
                </a:r>
                <a14:m>
                  <m:oMath xmlns:m="http://schemas.openxmlformats.org/officeDocument/2006/math">
                    <m:r>
                      <a:rPr lang="es-MX" sz="2400" i="1" dirty="0" smtClean="0">
                        <a:latin typeface="Cambria Math" panose="02040503050406030204" pitchFamily="18" charset="0"/>
                        <a:ea typeface="Times New Roman" panose="02020603050405020304" pitchFamily="18" charset="0"/>
                        <a:cs typeface="Times New Roman" panose="02020603050405020304" pitchFamily="18" charset="0"/>
                      </a:rPr>
                      <m:t>𝑃</m:t>
                    </m:r>
                  </m:oMath>
                </a14:m>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1" y="879063"/>
                <a:ext cx="8558801" cy="610863"/>
              </a:xfrm>
              <a:blipFill>
                <a:blip r:embed="rId3"/>
                <a:stretch>
                  <a:fillRect l="-2137" r="-926" b="-31000"/>
                </a:stretch>
              </a:blipFill>
            </p:spPr>
            <p:txBody>
              <a:bodyPr/>
              <a:lstStyle/>
              <a:p>
                <a:r>
                  <a:rPr lang="es-MX">
                    <a:noFill/>
                  </a:rPr>
                  <a:t> </a:t>
                </a:r>
              </a:p>
            </p:txBody>
          </p:sp>
        </mc:Fallback>
      </mc:AlternateContent>
      <p:pic>
        <p:nvPicPr>
          <p:cNvPr id="8" name="Imagen 7"/>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612573" y="2051411"/>
            <a:ext cx="6523400" cy="3892187"/>
          </a:xfrm>
          <a:prstGeom prst="rect">
            <a:avLst/>
          </a:prstGeom>
        </p:spPr>
      </p:pic>
    </p:spTree>
    <p:extLst>
      <p:ext uri="{BB962C8B-B14F-4D97-AF65-F5344CB8AC3E}">
        <p14:creationId xmlns:p14="http://schemas.microsoft.com/office/powerpoint/2010/main" val="5790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2979-A11F-25D3-8D6D-F81CF7DD6E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CB32A7-706F-9C22-D42A-3777A0420F8C}"/>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Tipos de Errores</a:t>
            </a:r>
            <a:endParaRPr lang="es-ES" sz="2600" dirty="0">
              <a:latin typeface="Times New Roman" panose="02020603050405020304" pitchFamily="18" charset="0"/>
              <a:cs typeface="Times New Roman" panose="02020603050405020304" pitchFamily="18" charset="0"/>
            </a:endParaRPr>
          </a:p>
        </p:txBody>
      </p:sp>
      <p:pic>
        <p:nvPicPr>
          <p:cNvPr id="4" name="Imagen 3" descr="Tabla&#10;&#10;El contenido generado por IA puede ser incorrecto.">
            <a:extLst>
              <a:ext uri="{FF2B5EF4-FFF2-40B4-BE49-F238E27FC236}">
                <a16:creationId xmlns:a16="http://schemas.microsoft.com/office/drawing/2014/main" id="{7209599B-23EB-E4BF-0211-18BB3C1C7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926" y="2124558"/>
            <a:ext cx="6514952" cy="1890033"/>
          </a:xfrm>
          <a:prstGeom prst="rect">
            <a:avLst/>
          </a:prstGeom>
        </p:spPr>
      </p:pic>
      <p:sp>
        <p:nvSpPr>
          <p:cNvPr id="5" name="CuadroTexto 4">
            <a:extLst>
              <a:ext uri="{FF2B5EF4-FFF2-40B4-BE49-F238E27FC236}">
                <a16:creationId xmlns:a16="http://schemas.microsoft.com/office/drawing/2014/main" id="{08619493-D1A5-207F-3172-482381AB7EA2}"/>
              </a:ext>
            </a:extLst>
          </p:cNvPr>
          <p:cNvSpPr txBox="1"/>
          <p:nvPr/>
        </p:nvSpPr>
        <p:spPr>
          <a:xfrm>
            <a:off x="6847877" y="2181298"/>
            <a:ext cx="4193161" cy="1855893"/>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Ejemplo: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determinado fármaco experimental afirma tener una tasa de curación de al menos el 75% para los hombres con cáncer de próstata. Describa los errores tipo I y tipo II en este contexto. ¿Cuál es el error más grave?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A2571F2E-D6FF-15B5-642E-BFF8ADBB378B}"/>
                  </a:ext>
                </a:extLst>
              </p:cNvPr>
              <p:cNvSpPr txBox="1"/>
              <p:nvPr/>
            </p:nvSpPr>
            <p:spPr>
              <a:xfrm>
                <a:off x="7346013" y="4093931"/>
                <a:ext cx="3196888" cy="369332"/>
              </a:xfrm>
              <a:prstGeom prst="rect">
                <a:avLst/>
              </a:prstGeom>
              <a:noFill/>
            </p:spPr>
            <p:txBody>
              <a:bodyPr wrap="square">
                <a:spAutoFit/>
              </a:bodyPr>
              <a:lstStyle/>
              <a:p>
                <a14:m>
                  <m:oMath xmlns:m="http://schemas.openxmlformats.org/officeDocument/2006/math">
                    <m:sSub>
                      <m:sSubPr>
                        <m:ctrlPr>
                          <a:rPr lang="es-MX"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0.75</m:t>
                    </m:r>
                  </m:oMath>
                </a14:m>
                <a:r>
                  <a:rPr lang="es-MX" dirty="0">
                    <a:solidFill>
                      <a:schemeClr val="bg1"/>
                    </a:solidFill>
                  </a:rPr>
                  <a:t>   vs </a:t>
                </a:r>
                <a14:m>
                  <m:oMath xmlns:m="http://schemas.openxmlformats.org/officeDocument/2006/math">
                    <m:sSub>
                      <m:sSubPr>
                        <m:ctrlP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&lt;</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7</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5</m:t>
                    </m:r>
                  </m:oMath>
                </a14:m>
                <a:endParaRPr lang="es-MX" dirty="0">
                  <a:solidFill>
                    <a:schemeClr val="bg1"/>
                  </a:solidFill>
                </a:endParaRPr>
              </a:p>
            </p:txBody>
          </p:sp>
        </mc:Choice>
        <mc:Fallback xmlns="">
          <p:sp>
            <p:nvSpPr>
              <p:cNvPr id="6" name="CuadroTexto 5">
                <a:extLst>
                  <a:ext uri="{FF2B5EF4-FFF2-40B4-BE49-F238E27FC236}">
                    <a16:creationId xmlns:a16="http://schemas.microsoft.com/office/drawing/2014/main" id="{A2571F2E-D6FF-15B5-642E-BFF8ADBB378B}"/>
                  </a:ext>
                </a:extLst>
              </p:cNvPr>
              <p:cNvSpPr txBox="1">
                <a:spLocks noRot="1" noChangeAspect="1" noMove="1" noResize="1" noEditPoints="1" noAdjustHandles="1" noChangeArrowheads="1" noChangeShapeType="1" noTextEdit="1"/>
              </p:cNvSpPr>
              <p:nvPr/>
            </p:nvSpPr>
            <p:spPr>
              <a:xfrm>
                <a:off x="7346013" y="4093931"/>
                <a:ext cx="3196888" cy="369332"/>
              </a:xfrm>
              <a:prstGeom prst="rect">
                <a:avLst/>
              </a:prstGeom>
              <a:blipFill>
                <a:blip r:embed="rId4"/>
                <a:stretch>
                  <a:fillRect t="-10000" b="-26667"/>
                </a:stretch>
              </a:blipFill>
            </p:spPr>
            <p:txBody>
              <a:bodyPr/>
              <a:lstStyle/>
              <a:p>
                <a:r>
                  <a:rPr lang="es-MX">
                    <a:noFill/>
                  </a:rPr>
                  <a:t> </a:t>
                </a:r>
              </a:p>
            </p:txBody>
          </p:sp>
        </mc:Fallback>
      </mc:AlternateContent>
      <p:sp>
        <p:nvSpPr>
          <p:cNvPr id="7" name="CuadroTexto 6">
            <a:extLst>
              <a:ext uri="{FF2B5EF4-FFF2-40B4-BE49-F238E27FC236}">
                <a16:creationId xmlns:a16="http://schemas.microsoft.com/office/drawing/2014/main" id="{DD319FA7-8CCE-F0E1-365F-4A1CD24B905D}"/>
              </a:ext>
            </a:extLst>
          </p:cNvPr>
          <p:cNvSpPr txBox="1"/>
          <p:nvPr/>
        </p:nvSpPr>
        <p:spPr>
          <a:xfrm>
            <a:off x="332926" y="4093931"/>
            <a:ext cx="6514951" cy="966803"/>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Error Tipo I: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paciente con cáncer cree que la tasa de curación del fármaco es inferior al 75%, cuando en realidad es de al menos el 75%.</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D3D0D44C-FD75-CB58-8518-30D65E08C387}"/>
              </a:ext>
            </a:extLst>
          </p:cNvPr>
          <p:cNvSpPr txBox="1"/>
          <p:nvPr/>
        </p:nvSpPr>
        <p:spPr>
          <a:xfrm>
            <a:off x="332926" y="5117474"/>
            <a:ext cx="6514951" cy="966803"/>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Error Tipo II: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paciente con cáncer de próstata cree que el fármaco experimental tiene un índice de curación de al menos el 75% cuando es inferior al 75%.</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CuadroTexto 9">
            <a:extLst>
              <a:ext uri="{FF2B5EF4-FFF2-40B4-BE49-F238E27FC236}">
                <a16:creationId xmlns:a16="http://schemas.microsoft.com/office/drawing/2014/main" id="{7EC1AD6E-2103-CE48-B654-506DD4A970AD}"/>
              </a:ext>
            </a:extLst>
          </p:cNvPr>
          <p:cNvSpPr txBox="1"/>
          <p:nvPr/>
        </p:nvSpPr>
        <p:spPr>
          <a:xfrm>
            <a:off x="6925604" y="4672928"/>
            <a:ext cx="4959107" cy="1855893"/>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error Tipo II es la consecuencia más grave. Si un paciente cree que el fármaco funciona, al menos en un 75% de las veces, lo más probable es que esto influya en la elección del paciente (y el médico) sobre la conveniencia de utilizar el fármaco como opción de tratamiento.</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733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22" presetClass="entr" presetSubtype="4"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Cálculo del valor crítico</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4684867" y="545601"/>
                <a:ext cx="4235679" cy="1277786"/>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 un nivel de significancia de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𝛼</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calcule los valores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𝑧</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críticos para cada una de las siguientes hipótesis alternativas.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4684867" y="545601"/>
                <a:ext cx="4235679" cy="1277786"/>
              </a:xfrm>
              <a:prstGeom prst="rect">
                <a:avLst/>
              </a:prstGeom>
              <a:blipFill>
                <a:blip r:embed="rId3"/>
                <a:stretch>
                  <a:fillRect l="-1149" t="-2370" r="-1149" b="-521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17" name="Tabla 16"/>
              <p:cNvGraphicFramePr>
                <a:graphicFrameLocks noGrp="1"/>
              </p:cNvGraphicFramePr>
              <p:nvPr>
                <p:extLst>
                  <p:ext uri="{D42A27DB-BD31-4B8C-83A1-F6EECF244321}">
                    <p14:modId xmlns:p14="http://schemas.microsoft.com/office/powerpoint/2010/main" val="394164248"/>
                  </p:ext>
                </p:extLst>
              </p:nvPr>
            </p:nvGraphicFramePr>
            <p:xfrm>
              <a:off x="964022" y="2130454"/>
              <a:ext cx="3555727" cy="438912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ambas colas de la distribución normal)</a:t>
                          </a:r>
                        </a:p>
                        <a:p>
                          <a:pPr algn="just"/>
                          <a:endParaRPr lang="es-MX" b="0" dirty="0">
                            <a:solidFill>
                              <a:schemeClr val="bg1"/>
                            </a:solidFill>
                          </a:endParaRPr>
                        </a:p>
                      </a:txBody>
                      <a:tcPr/>
                    </a:tc>
                    <a:extLst>
                      <a:ext uri="{0D108BD9-81ED-4DB2-BD59-A6C34878D82A}">
                        <a16:rowId xmlns:a16="http://schemas.microsoft.com/office/drawing/2014/main" val="3341491101"/>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&lt;0.5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la cola izquierda de la distribución normal)</a:t>
                          </a:r>
                        </a:p>
                        <a:p>
                          <a:pPr algn="just"/>
                          <a:endParaRPr lang="es-MX" b="0" dirty="0">
                            <a:solidFill>
                              <a:schemeClr val="bg1"/>
                            </a:solidFill>
                          </a:endParaRPr>
                        </a:p>
                      </a:txBody>
                      <a:tcPr/>
                    </a:tc>
                    <a:extLst>
                      <a:ext uri="{0D108BD9-81ED-4DB2-BD59-A6C34878D82A}">
                        <a16:rowId xmlns:a16="http://schemas.microsoft.com/office/drawing/2014/main" val="3302177774"/>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14:m>
                            <m:oMath xmlns:m="http://schemas.openxmlformats.org/officeDocument/2006/math">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&gt;0.5</m:t>
                              </m:r>
                            </m:oMath>
                          </a14:m>
                          <a:r>
                            <a:rPr lang="es-MX" sz="1800" b="0" dirty="0">
                              <a:solidFill>
                                <a:schemeClr val="bg1"/>
                              </a:solidFill>
                              <a:effectLst/>
                              <a:latin typeface="Times New Roman" panose="02020603050405020304" pitchFamily="18" charset="0"/>
                              <a:ea typeface="Times New Roman" panose="02020603050405020304" pitchFamily="18" charset="0"/>
                            </a:rPr>
                            <a:t> (de manera que la región crítica está en la cola derecha de la distribución normal)</a:t>
                          </a:r>
                        </a:p>
                        <a:p>
                          <a:pPr algn="just"/>
                          <a:endParaRPr lang="es-MX" b="0" dirty="0">
                            <a:solidFill>
                              <a:schemeClr val="bg1"/>
                            </a:solidFill>
                          </a:endParaRPr>
                        </a:p>
                      </a:txBody>
                      <a:tcPr/>
                    </a:tc>
                    <a:extLst>
                      <a:ext uri="{0D108BD9-81ED-4DB2-BD59-A6C34878D82A}">
                        <a16:rowId xmlns:a16="http://schemas.microsoft.com/office/drawing/2014/main" val="2390943885"/>
                      </a:ext>
                    </a:extLst>
                  </a:tr>
                </a:tbl>
              </a:graphicData>
            </a:graphic>
          </p:graphicFrame>
        </mc:Choice>
        <mc:Fallback xmlns="">
          <p:graphicFrame>
            <p:nvGraphicFramePr>
              <p:cNvPr id="17" name="Tabla 16"/>
              <p:cNvGraphicFramePr>
                <a:graphicFrameLocks noGrp="1"/>
              </p:cNvGraphicFramePr>
              <p:nvPr>
                <p:extLst>
                  <p:ext uri="{D42A27DB-BD31-4B8C-83A1-F6EECF244321}">
                    <p14:modId xmlns:p14="http://schemas.microsoft.com/office/powerpoint/2010/main" val="394164248"/>
                  </p:ext>
                </p:extLst>
              </p:nvPr>
            </p:nvGraphicFramePr>
            <p:xfrm>
              <a:off x="964022" y="2130454"/>
              <a:ext cx="3555727" cy="438912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1463040">
                    <a:tc>
                      <a:txBody>
                        <a:bodyPr/>
                        <a:lstStyle/>
                        <a:p>
                          <a:endParaRPr lang="es-MX"/>
                        </a:p>
                      </a:txBody>
                      <a:tcPr>
                        <a:blipFill>
                          <a:blip r:embed="rId4"/>
                          <a:stretch>
                            <a:fillRect t="-417" r="-171" b="-200833"/>
                          </a:stretch>
                        </a:blipFill>
                      </a:tcPr>
                    </a:tc>
                    <a:extLst>
                      <a:ext uri="{0D108BD9-81ED-4DB2-BD59-A6C34878D82A}">
                        <a16:rowId xmlns:a16="http://schemas.microsoft.com/office/drawing/2014/main" val="3341491101"/>
                      </a:ext>
                    </a:extLst>
                  </a:tr>
                  <a:tr h="1463040">
                    <a:tc>
                      <a:txBody>
                        <a:bodyPr/>
                        <a:lstStyle/>
                        <a:p>
                          <a:endParaRPr lang="es-MX"/>
                        </a:p>
                      </a:txBody>
                      <a:tcPr>
                        <a:blipFill>
                          <a:blip r:embed="rId4"/>
                          <a:stretch>
                            <a:fillRect t="-100000" r="-171" b="-100000"/>
                          </a:stretch>
                        </a:blipFill>
                      </a:tcPr>
                    </a:tc>
                    <a:extLst>
                      <a:ext uri="{0D108BD9-81ED-4DB2-BD59-A6C34878D82A}">
                        <a16:rowId xmlns:a16="http://schemas.microsoft.com/office/drawing/2014/main" val="3302177774"/>
                      </a:ext>
                    </a:extLst>
                  </a:tr>
                  <a:tr h="1463040">
                    <a:tc>
                      <a:txBody>
                        <a:bodyPr/>
                        <a:lstStyle/>
                        <a:p>
                          <a:endParaRPr lang="es-MX"/>
                        </a:p>
                      </a:txBody>
                      <a:tcPr>
                        <a:blipFill>
                          <a:blip r:embed="rId4"/>
                          <a:stretch>
                            <a:fillRect t="-200833" r="-171" b="-417"/>
                          </a:stretch>
                        </a:blipFill>
                      </a:tcPr>
                    </a:tc>
                    <a:extLst>
                      <a:ext uri="{0D108BD9-81ED-4DB2-BD59-A6C34878D82A}">
                        <a16:rowId xmlns:a16="http://schemas.microsoft.com/office/drawing/2014/main" val="2390943885"/>
                      </a:ext>
                    </a:extLst>
                  </a:tr>
                </a:tbl>
              </a:graphicData>
            </a:graphic>
          </p:graphicFrame>
        </mc:Fallback>
      </mc:AlternateContent>
      <p:pic>
        <p:nvPicPr>
          <p:cNvPr id="18" name="Imagen 17"/>
          <p:cNvPicPr>
            <a:picLocks noChangeAspect="1"/>
          </p:cNvPicPr>
          <p:nvPr/>
        </p:nvPicPr>
        <p:blipFill>
          <a:blip r:embed="rId5"/>
          <a:stretch>
            <a:fillRect/>
          </a:stretch>
        </p:blipFill>
        <p:spPr>
          <a:xfrm>
            <a:off x="5026295" y="1971568"/>
            <a:ext cx="3552825" cy="1838325"/>
          </a:xfrm>
          <a:prstGeom prst="rect">
            <a:avLst/>
          </a:prstGeom>
        </p:spPr>
      </p:pic>
      <p:pic>
        <p:nvPicPr>
          <p:cNvPr id="19" name="Imagen 18"/>
          <p:cNvPicPr>
            <a:picLocks noChangeAspect="1"/>
          </p:cNvPicPr>
          <p:nvPr/>
        </p:nvPicPr>
        <p:blipFill>
          <a:blip r:embed="rId6"/>
          <a:stretch>
            <a:fillRect/>
          </a:stretch>
        </p:blipFill>
        <p:spPr>
          <a:xfrm>
            <a:off x="7125083" y="3809893"/>
            <a:ext cx="3590925" cy="1314450"/>
          </a:xfrm>
          <a:prstGeom prst="rect">
            <a:avLst/>
          </a:prstGeom>
        </p:spPr>
      </p:pic>
      <p:pic>
        <p:nvPicPr>
          <p:cNvPr id="20" name="Imagen 19"/>
          <p:cNvPicPr>
            <a:picLocks noChangeAspect="1"/>
          </p:cNvPicPr>
          <p:nvPr/>
        </p:nvPicPr>
        <p:blipFill>
          <a:blip r:embed="rId7"/>
          <a:stretch>
            <a:fillRect/>
          </a:stretch>
        </p:blipFill>
        <p:spPr>
          <a:xfrm>
            <a:off x="8350023" y="5268563"/>
            <a:ext cx="3590925" cy="1333500"/>
          </a:xfrm>
          <a:prstGeom prst="rect">
            <a:avLst/>
          </a:prstGeom>
        </p:spPr>
      </p:pic>
      <p:cxnSp>
        <p:nvCxnSpPr>
          <p:cNvPr id="22" name="Conector recto de flecha 21"/>
          <p:cNvCxnSpPr>
            <a:endCxn id="18" idx="1"/>
          </p:cNvCxnSpPr>
          <p:nvPr/>
        </p:nvCxnSpPr>
        <p:spPr>
          <a:xfrm>
            <a:off x="4519749" y="2890730"/>
            <a:ext cx="506546"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a:endCxn id="20" idx="1"/>
          </p:cNvCxnSpPr>
          <p:nvPr/>
        </p:nvCxnSpPr>
        <p:spPr>
          <a:xfrm flipV="1">
            <a:off x="4591784" y="5935313"/>
            <a:ext cx="3758239" cy="197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p:cNvCxnSpPr/>
          <p:nvPr/>
        </p:nvCxnSpPr>
        <p:spPr>
          <a:xfrm>
            <a:off x="4591784" y="4325014"/>
            <a:ext cx="253329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 name="Picture 4" descr="Personas con un icono de computadora: vector de stock (libre de regalías)  2008763171 | Shutterstock">
            <a:extLst>
              <a:ext uri="{FF2B5EF4-FFF2-40B4-BE49-F238E27FC236}">
                <a16:creationId xmlns:a16="http://schemas.microsoft.com/office/drawing/2014/main" id="{778FE607-7D45-7F92-18FF-8F62DF02EB4B}"/>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b="17260"/>
          <a:stretch/>
        </p:blipFill>
        <p:spPr bwMode="auto">
          <a:xfrm>
            <a:off x="0" y="2430233"/>
            <a:ext cx="1033608" cy="9209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Personas con un icono de computadora: vector de stock (libre de regalías)  2008763171 | Shutterstock">
            <a:extLst>
              <a:ext uri="{FF2B5EF4-FFF2-40B4-BE49-F238E27FC236}">
                <a16:creationId xmlns:a16="http://schemas.microsoft.com/office/drawing/2014/main" id="{47AC4813-983A-6D89-AE66-E1E4473FCB6A}"/>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b="17260"/>
          <a:stretch/>
        </p:blipFill>
        <p:spPr bwMode="auto">
          <a:xfrm>
            <a:off x="0" y="3809893"/>
            <a:ext cx="1033608" cy="92099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ersonas con un icono de computadora: vector de stock (libre de regalías)  2008763171 | Shutterstock">
            <a:extLst>
              <a:ext uri="{FF2B5EF4-FFF2-40B4-BE49-F238E27FC236}">
                <a16:creationId xmlns:a16="http://schemas.microsoft.com/office/drawing/2014/main" id="{457429FA-C582-3A6F-0FCB-B33236956125}"/>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b="17260"/>
          <a:stretch/>
        </p:blipFill>
        <p:spPr bwMode="auto">
          <a:xfrm>
            <a:off x="0" y="5268563"/>
            <a:ext cx="1033608" cy="920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67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arn(inVertic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ircle(in)">
                                      <p:cBhvr>
                                        <p:cTn id="25" dur="20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arn(inVertical)">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circle(in)">
                                      <p:cBhvr>
                                        <p:cTn id="35" dur="20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barn(inVertical)">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circle(in)">
                                      <p:cBhvr>
                                        <p:cTn id="45" dur="2000"/>
                                        <p:tgtEl>
                                          <p:spTgt spid="20"/>
                                        </p:tgtEl>
                                      </p:cBhvr>
                                    </p:animEffect>
                                  </p:childTnLst>
                                </p:cTn>
                              </p:par>
                              <p:par>
                                <p:cTn id="46" presetID="42" presetClass="entr" presetSubtype="0" fill="hold" nodeType="with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1000"/>
                                        <p:tgtEl>
                                          <p:spTgt spid="3"/>
                                        </p:tgtEl>
                                      </p:cBhvr>
                                    </p:animEffect>
                                    <p:anim calcmode="lin" valueType="num">
                                      <p:cBhvr>
                                        <p:cTn id="49" dur="1000" fill="hold"/>
                                        <p:tgtEl>
                                          <p:spTgt spid="3"/>
                                        </p:tgtEl>
                                        <p:attrNameLst>
                                          <p:attrName>ppt_x</p:attrName>
                                        </p:attrNameLst>
                                      </p:cBhvr>
                                      <p:tavLst>
                                        <p:tav tm="0">
                                          <p:val>
                                            <p:strVal val="#ppt_x"/>
                                          </p:val>
                                        </p:tav>
                                        <p:tav tm="100000">
                                          <p:val>
                                            <p:strVal val="#ppt_x"/>
                                          </p:val>
                                        </p:tav>
                                      </p:tavLst>
                                    </p:anim>
                                    <p:anim calcmode="lin" valueType="num">
                                      <p:cBhvr>
                                        <p:cTn id="50" dur="1000" fill="hold"/>
                                        <p:tgtEl>
                                          <p:spTgt spid="3"/>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1000"/>
                                        <p:tgtEl>
                                          <p:spTgt spid="4"/>
                                        </p:tgtEl>
                                      </p:cBhvr>
                                    </p:animEffect>
                                    <p:anim calcmode="lin" valueType="num">
                                      <p:cBhvr>
                                        <p:cTn id="54" dur="1000" fill="hold"/>
                                        <p:tgtEl>
                                          <p:spTgt spid="4"/>
                                        </p:tgtEl>
                                        <p:attrNameLst>
                                          <p:attrName>ppt_x</p:attrName>
                                        </p:attrNameLst>
                                      </p:cBhvr>
                                      <p:tavLst>
                                        <p:tav tm="0">
                                          <p:val>
                                            <p:strVal val="#ppt_x"/>
                                          </p:val>
                                        </p:tav>
                                        <p:tav tm="100000">
                                          <p:val>
                                            <p:strVal val="#ppt_x"/>
                                          </p:val>
                                        </p:tav>
                                      </p:tavLst>
                                    </p:anim>
                                    <p:anim calcmode="lin" valueType="num">
                                      <p:cBhvr>
                                        <p:cTn id="55" dur="1000" fill="hold"/>
                                        <p:tgtEl>
                                          <p:spTgt spid="4"/>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1000"/>
                                        <p:tgtEl>
                                          <p:spTgt spid="5"/>
                                        </p:tgtEl>
                                      </p:cBhvr>
                                    </p:animEffect>
                                    <p:anim calcmode="lin" valueType="num">
                                      <p:cBhvr>
                                        <p:cTn id="59" dur="1000" fill="hold"/>
                                        <p:tgtEl>
                                          <p:spTgt spid="5"/>
                                        </p:tgtEl>
                                        <p:attrNameLst>
                                          <p:attrName>ppt_x</p:attrName>
                                        </p:attrNameLst>
                                      </p:cBhvr>
                                      <p:tavLst>
                                        <p:tav tm="0">
                                          <p:val>
                                            <p:strVal val="#ppt_x"/>
                                          </p:val>
                                        </p:tav>
                                        <p:tav tm="100000">
                                          <p:val>
                                            <p:strVal val="#ppt_x"/>
                                          </p:val>
                                        </p:tav>
                                      </p:tavLst>
                                    </p:anim>
                                    <p:anim calcmode="lin" valueType="num">
                                      <p:cBhvr>
                                        <p:cTn id="6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ea typeface="Times New Roman" panose="02020603050405020304" pitchFamily="18" charset="0"/>
                <a:cs typeface="Times New Roman" panose="02020603050405020304" pitchFamily="18" charset="0"/>
              </a:rPr>
              <a:t>Cálculo del valor crítico</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368755"/>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Calcula los valores críticos en cada caso, suponga que se aplica la distribución normal.</a:t>
            </a:r>
          </a:p>
        </p:txBody>
      </p:sp>
      <p:pic>
        <p:nvPicPr>
          <p:cNvPr id="2050" name="Picture 2" descr="icono de medalla de oro de recompensa, estilo de dibujos animados 14364083  Vector en Vecteezy">
            <a:extLst>
              <a:ext uri="{FF2B5EF4-FFF2-40B4-BE49-F238E27FC236}">
                <a16:creationId xmlns:a16="http://schemas.microsoft.com/office/drawing/2014/main" id="{33BBA9B6-886E-55F9-4552-BF6D4EA53B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3778" y="2725894"/>
            <a:ext cx="876659" cy="8766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BA73AF2-52E7-CF3A-3CF8-ABCE10620397}"/>
                  </a:ext>
                </a:extLst>
              </p:cNvPr>
              <p:cNvSpPr txBox="1"/>
              <p:nvPr/>
            </p:nvSpPr>
            <p:spPr>
              <a:xfrm>
                <a:off x="3512592" y="2994947"/>
                <a:ext cx="4235775" cy="338554"/>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Problema 1: </a:t>
                </a:r>
                <a:r>
                  <a:rPr lang="es-MX" sz="1600" dirty="0">
                    <a:solidFill>
                      <a:schemeClr val="bg1"/>
                    </a:solidFill>
                    <a:latin typeface="Times New Roman" panose="02020603050405020304" pitchFamily="18" charset="0"/>
                    <a:cs typeface="Times New Roman" panose="02020603050405020304" pitchFamily="18" charset="0"/>
                  </a:rPr>
                  <a:t>Prueba de cola derecha y </a:t>
                </a:r>
                <a14:m>
                  <m:oMath xmlns:m="http://schemas.openxmlformats.org/officeDocument/2006/math">
                    <m:r>
                      <a:rPr lang="es-MX" sz="1600" i="1">
                        <a:solidFill>
                          <a:schemeClr val="bg1"/>
                        </a:solidFill>
                        <a:latin typeface="Cambria Math" panose="02040503050406030204" pitchFamily="18" charset="0"/>
                      </a:rPr>
                      <m:t>𝛼</m:t>
                    </m:r>
                    <m:r>
                      <a:rPr lang="es-MX" sz="1600" i="1">
                        <a:solidFill>
                          <a:schemeClr val="bg1"/>
                        </a:solidFill>
                        <a:latin typeface="Cambria Math" panose="02040503050406030204" pitchFamily="18" charset="0"/>
                      </a:rPr>
                      <m:t>=0.01</m:t>
                    </m:r>
                  </m:oMath>
                </a14:m>
                <a:r>
                  <a:rPr lang="es-MX" sz="1600" dirty="0">
                    <a:solidFill>
                      <a:schemeClr val="bg1"/>
                    </a:solidFill>
                    <a:latin typeface="Times New Roman" panose="02020603050405020304" pitchFamily="18" charset="0"/>
                    <a:cs typeface="Times New Roman" panose="02020603050405020304" pitchFamily="18" charset="0"/>
                  </a:rPr>
                  <a:t> </a:t>
                </a:r>
              </a:p>
            </p:txBody>
          </p:sp>
        </mc:Choice>
        <mc:Fallback xmlns="">
          <p:sp>
            <p:nvSpPr>
              <p:cNvPr id="3" name="CuadroTexto 2">
                <a:extLst>
                  <a:ext uri="{FF2B5EF4-FFF2-40B4-BE49-F238E27FC236}">
                    <a16:creationId xmlns:a16="http://schemas.microsoft.com/office/drawing/2014/main" id="{6BA73AF2-52E7-CF3A-3CF8-ABCE10620397}"/>
                  </a:ext>
                </a:extLst>
              </p:cNvPr>
              <p:cNvSpPr txBox="1">
                <a:spLocks noRot="1" noChangeAspect="1" noMove="1" noResize="1" noEditPoints="1" noAdjustHandles="1" noChangeArrowheads="1" noChangeShapeType="1" noTextEdit="1"/>
              </p:cNvSpPr>
              <p:nvPr/>
            </p:nvSpPr>
            <p:spPr>
              <a:xfrm>
                <a:off x="3512592" y="2994947"/>
                <a:ext cx="4235775" cy="338554"/>
              </a:xfrm>
              <a:prstGeom prst="rect">
                <a:avLst/>
              </a:prstGeom>
              <a:blipFill>
                <a:blip r:embed="rId4"/>
                <a:stretch>
                  <a:fillRect l="-574" t="-3448" b="-18966"/>
                </a:stretch>
              </a:blipFill>
              <a:ln w="12700">
                <a:solidFill>
                  <a:srgbClr val="0070C0"/>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808AE68-3FDC-29F5-A2CA-39064A3A6DD1}"/>
                  </a:ext>
                </a:extLst>
              </p:cNvPr>
              <p:cNvSpPr txBox="1"/>
              <p:nvPr/>
            </p:nvSpPr>
            <p:spPr>
              <a:xfrm>
                <a:off x="3512592" y="3993835"/>
                <a:ext cx="4235775" cy="338554"/>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Problema 2: </a:t>
                </a:r>
                <a14:m>
                  <m:oMath xmlns:m="http://schemas.openxmlformats.org/officeDocument/2006/math">
                    <m:r>
                      <a:rPr lang="es-MX" sz="1600" i="1">
                        <a:solidFill>
                          <a:schemeClr val="bg1"/>
                        </a:solidFill>
                        <a:latin typeface="Cambria Math" panose="02040503050406030204" pitchFamily="18" charset="0"/>
                      </a:rPr>
                      <m:t>𝛼</m:t>
                    </m:r>
                    <m:r>
                      <a:rPr lang="es-MX" sz="1600" i="1">
                        <a:solidFill>
                          <a:schemeClr val="bg1"/>
                        </a:solidFill>
                        <a:latin typeface="Cambria Math" panose="02040503050406030204" pitchFamily="18" charset="0"/>
                      </a:rPr>
                      <m:t>=0.10</m:t>
                    </m:r>
                  </m:oMath>
                </a14:m>
                <a:r>
                  <a:rPr lang="es-MX" sz="16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𝐻</m:t>
                        </m:r>
                      </m:e>
                      <m:sub>
                        <m:r>
                          <a:rPr lang="es-MX" sz="1600" i="1">
                            <a:solidFill>
                              <a:schemeClr val="bg1"/>
                            </a:solidFill>
                            <a:latin typeface="Cambria Math" panose="02040503050406030204" pitchFamily="18" charset="0"/>
                          </a:rPr>
                          <m:t>1</m:t>
                        </m:r>
                      </m:sub>
                    </m:sSub>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≠0.17</m:t>
                    </m:r>
                  </m:oMath>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F808AE68-3FDC-29F5-A2CA-39064A3A6DD1}"/>
                  </a:ext>
                </a:extLst>
              </p:cNvPr>
              <p:cNvSpPr txBox="1">
                <a:spLocks noRot="1" noChangeAspect="1" noMove="1" noResize="1" noEditPoints="1" noAdjustHandles="1" noChangeArrowheads="1" noChangeShapeType="1" noTextEdit="1"/>
              </p:cNvSpPr>
              <p:nvPr/>
            </p:nvSpPr>
            <p:spPr>
              <a:xfrm>
                <a:off x="3512592" y="3993835"/>
                <a:ext cx="4235775" cy="338554"/>
              </a:xfrm>
              <a:prstGeom prst="rect">
                <a:avLst/>
              </a:prstGeom>
              <a:blipFill>
                <a:blip r:embed="rId5"/>
                <a:stretch>
                  <a:fillRect l="-574" t="-3448" b="-18966"/>
                </a:stretch>
              </a:blipFill>
              <a:ln w="12700">
                <a:solidFill>
                  <a:srgbClr val="0070C0"/>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7DEE139-5CD1-645B-487C-74F30759579B}"/>
                  </a:ext>
                </a:extLst>
              </p:cNvPr>
              <p:cNvSpPr txBox="1"/>
              <p:nvPr/>
            </p:nvSpPr>
            <p:spPr>
              <a:xfrm>
                <a:off x="3512591" y="4992723"/>
                <a:ext cx="4235775" cy="338554"/>
              </a:xfrm>
              <a:prstGeom prst="rect">
                <a:avLst/>
              </a:prstGeom>
              <a:noFill/>
              <a:ln w="12700">
                <a:solidFill>
                  <a:srgbClr val="0070C0"/>
                </a:solidFill>
              </a:ln>
            </p:spPr>
            <p:txBody>
              <a:bodyPr wrap="square" rtlCol="0">
                <a:spAutoFit/>
              </a:bodyPr>
              <a:lstStyle/>
              <a:p>
                <a:pPr algn="just"/>
                <a:r>
                  <a:rPr lang="es-MX" sz="1600" b="1" dirty="0">
                    <a:solidFill>
                      <a:schemeClr val="bg1"/>
                    </a:solidFill>
                    <a:latin typeface="Times New Roman" panose="02020603050405020304" pitchFamily="18" charset="0"/>
                    <a:cs typeface="Times New Roman" panose="02020603050405020304" pitchFamily="18" charset="0"/>
                  </a:rPr>
                  <a:t>Problema 1: </a:t>
                </a:r>
                <a14:m>
                  <m:oMath xmlns:m="http://schemas.openxmlformats.org/officeDocument/2006/math">
                    <m:r>
                      <a:rPr lang="es-MX" sz="1600" i="1">
                        <a:solidFill>
                          <a:schemeClr val="bg1"/>
                        </a:solidFill>
                        <a:latin typeface="Cambria Math" panose="02040503050406030204" pitchFamily="18" charset="0"/>
                      </a:rPr>
                      <m:t>𝛼</m:t>
                    </m:r>
                    <m:r>
                      <a:rPr lang="es-MX" sz="1600" i="1">
                        <a:solidFill>
                          <a:schemeClr val="bg1"/>
                        </a:solidFill>
                        <a:latin typeface="Cambria Math" panose="02040503050406030204" pitchFamily="18" charset="0"/>
                      </a:rPr>
                      <m:t>=0.02</m:t>
                    </m:r>
                  </m:oMath>
                </a14:m>
                <a:r>
                  <a:rPr lang="es-MX" sz="16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1600" i="1">
                            <a:solidFill>
                              <a:schemeClr val="bg1"/>
                            </a:solidFill>
                            <a:latin typeface="Cambria Math" panose="02040503050406030204" pitchFamily="18" charset="0"/>
                          </a:rPr>
                        </m:ctrlPr>
                      </m:sSubPr>
                      <m:e>
                        <m:r>
                          <a:rPr lang="es-MX" sz="1600" i="1">
                            <a:solidFill>
                              <a:schemeClr val="bg1"/>
                            </a:solidFill>
                            <a:latin typeface="Cambria Math" panose="02040503050406030204" pitchFamily="18" charset="0"/>
                          </a:rPr>
                          <m:t>𝐻</m:t>
                        </m:r>
                      </m:e>
                      <m:sub>
                        <m:r>
                          <a:rPr lang="es-MX" sz="1600" i="1">
                            <a:solidFill>
                              <a:schemeClr val="bg1"/>
                            </a:solidFill>
                            <a:latin typeface="Cambria Math" panose="02040503050406030204" pitchFamily="18" charset="0"/>
                          </a:rPr>
                          <m:t>1</m:t>
                        </m:r>
                      </m:sub>
                    </m:sSub>
                    <m:r>
                      <a:rPr lang="es-MX" sz="1600" i="1">
                        <a:solidFill>
                          <a:schemeClr val="bg1"/>
                        </a:solidFill>
                        <a:latin typeface="Cambria Math" panose="02040503050406030204" pitchFamily="18" charset="0"/>
                      </a:rPr>
                      <m:t>:</m:t>
                    </m:r>
                    <m:r>
                      <a:rPr lang="es-MX" sz="1600" i="1">
                        <a:solidFill>
                          <a:schemeClr val="bg1"/>
                        </a:solidFill>
                        <a:latin typeface="Cambria Math" panose="02040503050406030204" pitchFamily="18" charset="0"/>
                      </a:rPr>
                      <m:t>𝑝</m:t>
                    </m:r>
                    <m:r>
                      <a:rPr lang="es-MX" sz="1600" i="1">
                        <a:solidFill>
                          <a:schemeClr val="bg1"/>
                        </a:solidFill>
                        <a:latin typeface="Cambria Math" panose="02040503050406030204" pitchFamily="18" charset="0"/>
                      </a:rPr>
                      <m:t>&lt;0.19</m:t>
                    </m:r>
                  </m:oMath>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5" name="CuadroTexto 4">
                <a:extLst>
                  <a:ext uri="{FF2B5EF4-FFF2-40B4-BE49-F238E27FC236}">
                    <a16:creationId xmlns:a16="http://schemas.microsoft.com/office/drawing/2014/main" id="{77DEE139-5CD1-645B-487C-74F30759579B}"/>
                  </a:ext>
                </a:extLst>
              </p:cNvPr>
              <p:cNvSpPr txBox="1">
                <a:spLocks noRot="1" noChangeAspect="1" noMove="1" noResize="1" noEditPoints="1" noAdjustHandles="1" noChangeArrowheads="1" noChangeShapeType="1" noTextEdit="1"/>
              </p:cNvSpPr>
              <p:nvPr/>
            </p:nvSpPr>
            <p:spPr>
              <a:xfrm>
                <a:off x="3512591" y="4992723"/>
                <a:ext cx="4235775" cy="338554"/>
              </a:xfrm>
              <a:prstGeom prst="rect">
                <a:avLst/>
              </a:prstGeom>
              <a:blipFill>
                <a:blip r:embed="rId6"/>
                <a:stretch>
                  <a:fillRect l="-574" t="-3448" b="-18966"/>
                </a:stretch>
              </a:blipFill>
              <a:ln w="12700">
                <a:solidFill>
                  <a:srgbClr val="0070C0"/>
                </a:solidFill>
              </a:ln>
            </p:spPr>
            <p:txBody>
              <a:bodyPr/>
              <a:lstStyle/>
              <a:p>
                <a:r>
                  <a:rPr lang="es-MX">
                    <a:noFill/>
                  </a:rPr>
                  <a:t> </a:t>
                </a:r>
              </a:p>
            </p:txBody>
          </p:sp>
        </mc:Fallback>
      </mc:AlternateContent>
      <p:pic>
        <p:nvPicPr>
          <p:cNvPr id="6" name="Picture 2" descr="icono de medalla de oro de recompensa, estilo de dibujos animados 14364083  Vector en Vecteezy">
            <a:extLst>
              <a:ext uri="{FF2B5EF4-FFF2-40B4-BE49-F238E27FC236}">
                <a16:creationId xmlns:a16="http://schemas.microsoft.com/office/drawing/2014/main" id="{B78DDC2F-BE34-8F5C-F95F-226EEE8AD5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3779" y="3724782"/>
            <a:ext cx="876659" cy="8766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cono de medalla de oro de recompensa, estilo de dibujos animados 14364083  Vector en Vecteezy">
            <a:extLst>
              <a:ext uri="{FF2B5EF4-FFF2-40B4-BE49-F238E27FC236}">
                <a16:creationId xmlns:a16="http://schemas.microsoft.com/office/drawing/2014/main" id="{811DB295-BC1E-E808-D096-2C759D3F6F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3779" y="4723670"/>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46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1000"/>
                                        <p:tgtEl>
                                          <p:spTgt spid="2050"/>
                                        </p:tgtEl>
                                      </p:cBhvr>
                                    </p:animEffect>
                                    <p:anim calcmode="lin" valueType="num">
                                      <p:cBhvr>
                                        <p:cTn id="18" dur="1000" fill="hold"/>
                                        <p:tgtEl>
                                          <p:spTgt spid="2050"/>
                                        </p:tgtEl>
                                        <p:attrNameLst>
                                          <p:attrName>ppt_x</p:attrName>
                                        </p:attrNameLst>
                                      </p:cBhvr>
                                      <p:tavLst>
                                        <p:tav tm="0">
                                          <p:val>
                                            <p:strVal val="#ppt_x"/>
                                          </p:val>
                                        </p:tav>
                                        <p:tav tm="100000">
                                          <p:val>
                                            <p:strVal val="#ppt_x"/>
                                          </p:val>
                                        </p:tav>
                                      </p:tavLst>
                                    </p:anim>
                                    <p:anim calcmode="lin" valueType="num">
                                      <p:cBhvr>
                                        <p:cTn id="19"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1000"/>
                                        <p:tgtEl>
                                          <p:spTgt spid="5"/>
                                        </p:tgtEl>
                                      </p:cBhvr>
                                    </p:animEffect>
                                    <p:anim calcmode="lin" valueType="num">
                                      <p:cBhvr>
                                        <p:cTn id="37" dur="1000" fill="hold"/>
                                        <p:tgtEl>
                                          <p:spTgt spid="5"/>
                                        </p:tgtEl>
                                        <p:attrNameLst>
                                          <p:attrName>ppt_x</p:attrName>
                                        </p:attrNameLst>
                                      </p:cBhvr>
                                      <p:tavLst>
                                        <p:tav tm="0">
                                          <p:val>
                                            <p:strVal val="#ppt_x"/>
                                          </p:val>
                                        </p:tav>
                                        <p:tav tm="100000">
                                          <p:val>
                                            <p:strVal val="#ppt_x"/>
                                          </p:val>
                                        </p:tav>
                                      </p:tavLst>
                                    </p:anim>
                                    <p:anim calcmode="lin" valueType="num">
                                      <p:cBhvr>
                                        <p:cTn id="38" dur="1000" fill="hold"/>
                                        <p:tgtEl>
                                          <p:spTgt spid="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Valor P</a:t>
            </a:r>
            <a:endParaRPr lang="es-ES" sz="2600" dirty="0">
              <a:latin typeface="Times New Roman" panose="02020603050405020304" pitchFamily="18" charset="0"/>
              <a:cs typeface="Times New Roman" panose="02020603050405020304" pitchFamily="18" charset="0"/>
            </a:endParaRPr>
          </a:p>
        </p:txBody>
      </p:sp>
      <p:pic>
        <p:nvPicPr>
          <p:cNvPr id="9" name="Imagen 8"/>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325187" y="879063"/>
            <a:ext cx="7119257" cy="5262246"/>
          </a:xfrm>
          <a:prstGeom prst="rect">
            <a:avLst/>
          </a:prstGeom>
        </p:spPr>
      </p:pic>
    </p:spTree>
    <p:extLst>
      <p:ext uri="{BB962C8B-B14F-4D97-AF65-F5344CB8AC3E}">
        <p14:creationId xmlns:p14="http://schemas.microsoft.com/office/powerpoint/2010/main" val="343115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Valor P</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4684867" y="545601"/>
            <a:ext cx="4694264" cy="187051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Actividad: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Determine si las condiciones planteadas dan por resultado una prueba de cola derecha, de cola izquierda o de dos colas; después utilice la imagen adjunta para calcular el valor P, luego saque una conclusión acerca de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7" name="Tabla 16"/>
              <p:cNvGraphicFramePr>
                <a:graphicFrameLocks noGrp="1"/>
              </p:cNvGraphicFramePr>
              <p:nvPr>
                <p:extLst>
                  <p:ext uri="{D42A27DB-BD31-4B8C-83A1-F6EECF244321}">
                    <p14:modId xmlns:p14="http://schemas.microsoft.com/office/powerpoint/2010/main" val="4067556204"/>
                  </p:ext>
                </p:extLst>
              </p:nvPr>
            </p:nvGraphicFramePr>
            <p:xfrm>
              <a:off x="964022" y="2030063"/>
              <a:ext cx="3555727" cy="429768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r>
                            <a:rPr lang="es-MX" sz="1800" b="0" dirty="0">
                              <a:solidFill>
                                <a:schemeClr val="bg1"/>
                              </a:solidFill>
                              <a:effectLst/>
                              <a:latin typeface="Times New Roman" panose="02020603050405020304" pitchFamily="18" charset="0"/>
                              <a:ea typeface="Times New Roman" panose="02020603050405020304" pitchFamily="18" charset="0"/>
                            </a:rPr>
                            <a:t>Se utiliza un nivel de significancia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sz="1800" b="0" dirty="0">
                              <a:solidFill>
                                <a:schemeClr val="bg1"/>
                              </a:solidFill>
                              <a:effectLst/>
                              <a:latin typeface="Times New Roman" panose="02020603050405020304" pitchFamily="18" charset="0"/>
                              <a:ea typeface="Times New Roman" panose="02020603050405020304" pitchFamily="18" charset="0"/>
                            </a:rPr>
                            <a:t> para probar la aseveración de que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&gt;0.25</m:t>
                              </m:r>
                              <m:r>
                                <a:rPr lang="es-MX" sz="1800" b="0" i="0" smtClean="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s-MX" sz="1800" b="0" dirty="0">
                              <a:solidFill>
                                <a:schemeClr val="bg1"/>
                              </a:solidFill>
                              <a:effectLst/>
                              <a:latin typeface="Times New Roman" panose="02020603050405020304" pitchFamily="18" charset="0"/>
                              <a:ea typeface="Times New Roman" panose="02020603050405020304" pitchFamily="18" charset="0"/>
                            </a:rPr>
                            <a:t> Considera que los datos muestrales dan por resultado un estadístico de prueba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=1.18</m:t>
                              </m:r>
                            </m:oMath>
                          </a14:m>
                          <a:r>
                            <a:rPr lang="es-MX" sz="1800" b="0" dirty="0">
                              <a:solidFill>
                                <a:schemeClr val="bg1"/>
                              </a:solidFill>
                              <a:effectLst/>
                              <a:latin typeface="Times New Roman" panose="02020603050405020304" pitchFamily="18" charset="0"/>
                              <a:ea typeface="Times New Roman" panose="02020603050405020304" pitchFamily="18" charset="0"/>
                            </a:rPr>
                            <a:t>.</a:t>
                          </a:r>
                        </a:p>
                      </a:txBody>
                      <a:tcPr/>
                    </a:tc>
                    <a:extLst>
                      <a:ext uri="{0D108BD9-81ED-4DB2-BD59-A6C34878D82A}">
                        <a16:rowId xmlns:a16="http://schemas.microsoft.com/office/drawing/2014/main" val="3341491101"/>
                      </a:ext>
                    </a:extLst>
                  </a:tr>
                  <a:tr h="370840">
                    <a:tc>
                      <a:txBody>
                        <a:bodyPr/>
                        <a:lstStyle/>
                        <a:p>
                          <a:pPr algn="just"/>
                          <a:endParaRPr lang="es-MX" sz="1800" b="0" i="1" dirty="0">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r>
                            <a:rPr lang="es-MX" sz="1800" b="0" dirty="0">
                              <a:solidFill>
                                <a:schemeClr val="bg1"/>
                              </a:solidFill>
                              <a:effectLst/>
                              <a:latin typeface="Times New Roman" panose="02020603050405020304" pitchFamily="18" charset="0"/>
                              <a:ea typeface="Times New Roman" panose="02020603050405020304" pitchFamily="18" charset="0"/>
                            </a:rPr>
                            <a:t>Se utiliza un nivel de significancia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𝛼</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=0.05</m:t>
                              </m:r>
                            </m:oMath>
                          </a14:m>
                          <a:r>
                            <a:rPr lang="es-MX" sz="1800" b="0" dirty="0">
                              <a:solidFill>
                                <a:schemeClr val="bg1"/>
                              </a:solidFill>
                              <a:effectLst/>
                              <a:latin typeface="Times New Roman" panose="02020603050405020304" pitchFamily="18" charset="0"/>
                              <a:ea typeface="Times New Roman" panose="02020603050405020304" pitchFamily="18" charset="0"/>
                            </a:rPr>
                            <a:t> para probar la aseveración de que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𝑝</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≠0.25</m:t>
                              </m:r>
                            </m:oMath>
                          </a14:m>
                          <a:r>
                            <a:rPr lang="es-MX" sz="1800" b="0" dirty="0">
                              <a:solidFill>
                                <a:schemeClr val="bg1"/>
                              </a:solidFill>
                              <a:effectLst/>
                              <a:latin typeface="Times New Roman" panose="02020603050405020304" pitchFamily="18" charset="0"/>
                              <a:ea typeface="Times New Roman" panose="02020603050405020304" pitchFamily="18" charset="0"/>
                            </a:rPr>
                            <a:t>, y los datos </a:t>
                          </a:r>
                          <a:r>
                            <a:rPr lang="es-MX" sz="1800" b="0" dirty="0" err="1">
                              <a:solidFill>
                                <a:schemeClr val="bg1"/>
                              </a:solidFill>
                              <a:effectLst/>
                              <a:latin typeface="Times New Roman" panose="02020603050405020304" pitchFamily="18" charset="0"/>
                              <a:ea typeface="Times New Roman" panose="02020603050405020304" pitchFamily="18" charset="0"/>
                            </a:rPr>
                            <a:t>muestrales</a:t>
                          </a:r>
                          <a:r>
                            <a:rPr lang="es-MX" sz="1800" b="0" dirty="0">
                              <a:solidFill>
                                <a:schemeClr val="bg1"/>
                              </a:solidFill>
                              <a:effectLst/>
                              <a:latin typeface="Times New Roman" panose="02020603050405020304" pitchFamily="18" charset="0"/>
                              <a:ea typeface="Times New Roman" panose="02020603050405020304" pitchFamily="18" charset="0"/>
                            </a:rPr>
                            <a:t> dan por resultado un estadístico de prueba de </a:t>
                          </a:r>
                          <a14:m>
                            <m:oMath xmlns:m="http://schemas.openxmlformats.org/officeDocument/2006/math">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es-MX" sz="1800" b="0"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=2.34</m:t>
                              </m:r>
                            </m:oMath>
                          </a14:m>
                          <a:r>
                            <a:rPr lang="es-MX" sz="1800" b="0" dirty="0">
                              <a:solidFill>
                                <a:schemeClr val="bg1"/>
                              </a:solidFill>
                              <a:effectLst/>
                              <a:latin typeface="Times New Roman" panose="02020603050405020304" pitchFamily="18" charset="0"/>
                              <a:ea typeface="Times New Roman" panose="02020603050405020304" pitchFamily="18" charset="0"/>
                            </a:rPr>
                            <a:t>.</a:t>
                          </a:r>
                        </a:p>
                        <a:p>
                          <a:pPr algn="just"/>
                          <a:endParaRPr lang="es-MX" b="0" dirty="0">
                            <a:solidFill>
                              <a:schemeClr val="bg1"/>
                            </a:solidFill>
                          </a:endParaRPr>
                        </a:p>
                      </a:txBody>
                      <a:tcPr/>
                    </a:tc>
                    <a:extLst>
                      <a:ext uri="{0D108BD9-81ED-4DB2-BD59-A6C34878D82A}">
                        <a16:rowId xmlns:a16="http://schemas.microsoft.com/office/drawing/2014/main" val="3302177774"/>
                      </a:ext>
                    </a:extLst>
                  </a:tr>
                </a:tbl>
              </a:graphicData>
            </a:graphic>
          </p:graphicFrame>
        </mc:Choice>
        <mc:Fallback xmlns="">
          <p:graphicFrame>
            <p:nvGraphicFramePr>
              <p:cNvPr id="17" name="Tabla 16"/>
              <p:cNvGraphicFramePr>
                <a:graphicFrameLocks noGrp="1"/>
              </p:cNvGraphicFramePr>
              <p:nvPr>
                <p:extLst>
                  <p:ext uri="{D42A27DB-BD31-4B8C-83A1-F6EECF244321}">
                    <p14:modId xmlns:p14="http://schemas.microsoft.com/office/powerpoint/2010/main" val="4067556204"/>
                  </p:ext>
                </p:extLst>
              </p:nvPr>
            </p:nvGraphicFramePr>
            <p:xfrm>
              <a:off x="964022" y="2030063"/>
              <a:ext cx="3555727" cy="4297680"/>
            </p:xfrm>
            <a:graphic>
              <a:graphicData uri="http://schemas.openxmlformats.org/drawingml/2006/table">
                <a:tbl>
                  <a:tblPr firstRow="1" bandRow="1">
                    <a:tableStyleId>{C083E6E3-FA7D-4D7B-A595-EF9225AFEA82}</a:tableStyleId>
                  </a:tblPr>
                  <a:tblGrid>
                    <a:gridCol w="3555727">
                      <a:extLst>
                        <a:ext uri="{9D8B030D-6E8A-4147-A177-3AD203B41FA5}">
                          <a16:colId xmlns:a16="http://schemas.microsoft.com/office/drawing/2014/main" val="566748248"/>
                        </a:ext>
                      </a:extLst>
                    </a:gridCol>
                  </a:tblGrid>
                  <a:tr h="2011680">
                    <a:tc>
                      <a:txBody>
                        <a:bodyPr/>
                        <a:lstStyle/>
                        <a:p>
                          <a:endParaRPr lang="es-MX"/>
                        </a:p>
                      </a:txBody>
                      <a:tcPr>
                        <a:blipFill>
                          <a:blip r:embed="rId3"/>
                          <a:stretch>
                            <a:fillRect t="-606" r="-171" b="-114242"/>
                          </a:stretch>
                        </a:blipFill>
                      </a:tcPr>
                    </a:tc>
                    <a:extLst>
                      <a:ext uri="{0D108BD9-81ED-4DB2-BD59-A6C34878D82A}">
                        <a16:rowId xmlns:a16="http://schemas.microsoft.com/office/drawing/2014/main" val="3341491101"/>
                      </a:ext>
                    </a:extLst>
                  </a:tr>
                  <a:tr h="2286000">
                    <a:tc>
                      <a:txBody>
                        <a:bodyPr/>
                        <a:lstStyle/>
                        <a:p>
                          <a:endParaRPr lang="es-MX"/>
                        </a:p>
                      </a:txBody>
                      <a:tcPr>
                        <a:blipFill>
                          <a:blip r:embed="rId3"/>
                          <a:stretch>
                            <a:fillRect t="-88298" r="-171" b="-266"/>
                          </a:stretch>
                        </a:blipFill>
                      </a:tcPr>
                    </a:tc>
                    <a:extLst>
                      <a:ext uri="{0D108BD9-81ED-4DB2-BD59-A6C34878D82A}">
                        <a16:rowId xmlns:a16="http://schemas.microsoft.com/office/drawing/2014/main" val="3302177774"/>
                      </a:ext>
                    </a:extLst>
                  </a:tr>
                </a:tbl>
              </a:graphicData>
            </a:graphic>
          </p:graphicFrame>
        </mc:Fallback>
      </mc:AlternateContent>
      <p:pic>
        <p:nvPicPr>
          <p:cNvPr id="3" name="Imagen 2"/>
          <p:cNvPicPr>
            <a:picLocks noChangeAspect="1"/>
          </p:cNvPicPr>
          <p:nvPr/>
        </p:nvPicPr>
        <p:blipFill>
          <a:blip r:embed="rId4"/>
          <a:stretch>
            <a:fillRect/>
          </a:stretch>
        </p:blipFill>
        <p:spPr>
          <a:xfrm>
            <a:off x="5526180" y="2668238"/>
            <a:ext cx="3714750" cy="1647825"/>
          </a:xfrm>
          <a:prstGeom prst="rect">
            <a:avLst/>
          </a:prstGeom>
        </p:spPr>
      </p:pic>
      <p:pic>
        <p:nvPicPr>
          <p:cNvPr id="4" name="Imagen 3"/>
          <p:cNvPicPr>
            <a:picLocks noChangeAspect="1"/>
          </p:cNvPicPr>
          <p:nvPr/>
        </p:nvPicPr>
        <p:blipFill>
          <a:blip r:embed="rId5"/>
          <a:stretch>
            <a:fillRect/>
          </a:stretch>
        </p:blipFill>
        <p:spPr>
          <a:xfrm>
            <a:off x="6863034" y="4568188"/>
            <a:ext cx="3743325" cy="1647825"/>
          </a:xfrm>
          <a:prstGeom prst="rect">
            <a:avLst/>
          </a:prstGeom>
        </p:spPr>
      </p:pic>
      <p:cxnSp>
        <p:nvCxnSpPr>
          <p:cNvPr id="6" name="Conector recto de flecha 5"/>
          <p:cNvCxnSpPr/>
          <p:nvPr/>
        </p:nvCxnSpPr>
        <p:spPr>
          <a:xfrm>
            <a:off x="4519749" y="3291840"/>
            <a:ext cx="888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a:off x="4519749" y="5392100"/>
            <a:ext cx="216843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367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circle(in)">
                                      <p:cBhvr>
                                        <p:cTn id="26" dur="2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arn(inVertic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Decisiones y Conclusiones</a:t>
            </a:r>
            <a:endParaRPr lang="es-ES" sz="2600" dirty="0">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F494AF8A-D47C-6E15-F0A8-B546B382BBB9}"/>
              </a:ext>
            </a:extLst>
          </p:cNvPr>
          <p:cNvSpPr txBox="1"/>
          <p:nvPr/>
        </p:nvSpPr>
        <p:spPr>
          <a:xfrm>
            <a:off x="964022" y="2277572"/>
            <a:ext cx="9332916" cy="1365758"/>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El procedimiento convencional de prueba de hipótesis requiere siempre probemos la hipótesis nula, de manera que nuestra conclusión inicial siempre será una de las siguientes:</a:t>
            </a:r>
            <a:endParaRPr lang="es-MX" sz="16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Rechazo la hipótesis nula</a:t>
            </a:r>
            <a:endParaRPr lang="es-MX" sz="16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mj-lt"/>
              <a:buAutoNum type="arabicPeriod"/>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 rechazo la hipótesis nula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F494AF8A-D47C-6E15-F0A8-B546B382BBB9}"/>
              </a:ext>
            </a:extLst>
          </p:cNvPr>
          <p:cNvSpPr txBox="1"/>
          <p:nvPr/>
        </p:nvSpPr>
        <p:spPr>
          <a:xfrm>
            <a:off x="964021" y="3947574"/>
            <a:ext cx="9332916" cy="966803"/>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decisión de rechazar o no rechazar la hipótesis nula suele realizarse por medio del método tradicional de prueba de hipótesis, el método del valor P, o bien, la decisión puede basarse en intervalos de confianza.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116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8558801" cy="610863"/>
          </a:xfrm>
        </p:spPr>
        <p:txBody>
          <a:bodyPr rtlCol="0">
            <a:noAutofit/>
          </a:bodyPr>
          <a:lstStyle/>
          <a:p>
            <a:pPr algn="just"/>
            <a:r>
              <a:rPr lang="es-MX" sz="2400" dirty="0">
                <a:latin typeface="Times New Roman" panose="02020603050405020304" pitchFamily="18" charset="0"/>
                <a:cs typeface="Times New Roman" panose="02020603050405020304" pitchFamily="18" charset="0"/>
              </a:rPr>
              <a:t>Decisiones y Conclusiones</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a 2"/>
              <p:cNvGraphicFramePr>
                <a:graphicFrameLocks noGrp="1"/>
              </p:cNvGraphicFramePr>
              <p:nvPr>
                <p:extLst>
                  <p:ext uri="{D42A27DB-BD31-4B8C-83A1-F6EECF244321}">
                    <p14:modId xmlns:p14="http://schemas.microsoft.com/office/powerpoint/2010/main" val="2453073979"/>
                  </p:ext>
                </p:extLst>
              </p:nvPr>
            </p:nvGraphicFramePr>
            <p:xfrm>
              <a:off x="964021" y="2352525"/>
              <a:ext cx="9407888" cy="3571748"/>
            </p:xfrm>
            <a:graphic>
              <a:graphicData uri="http://schemas.openxmlformats.org/drawingml/2006/table">
                <a:tbl>
                  <a:tblPr firstRow="1" bandRow="1">
                    <a:tableStyleId>{0505E3EF-67EA-436B-97B2-0124C06EBD24}</a:tableStyleId>
                  </a:tblPr>
                  <a:tblGrid>
                    <a:gridCol w="3197002">
                      <a:extLst>
                        <a:ext uri="{9D8B030D-6E8A-4147-A177-3AD203B41FA5}">
                          <a16:colId xmlns:a16="http://schemas.microsoft.com/office/drawing/2014/main" val="2380006463"/>
                        </a:ext>
                      </a:extLst>
                    </a:gridCol>
                    <a:gridCol w="6210886">
                      <a:extLst>
                        <a:ext uri="{9D8B030D-6E8A-4147-A177-3AD203B41FA5}">
                          <a16:colId xmlns:a16="http://schemas.microsoft.com/office/drawing/2014/main" val="3610993370"/>
                        </a:ext>
                      </a:extLst>
                    </a:gridCol>
                  </a:tblGrid>
                  <a:tr h="382774">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Tradicional</a:t>
                          </a:r>
                        </a:p>
                      </a:txBody>
                      <a:tcPr/>
                    </a:tc>
                    <a:tc>
                      <a:txBody>
                        <a:bodyPr/>
                        <a:lstStyle/>
                        <a:p>
                          <a:pPr algn="just">
                            <a:lnSpc>
                              <a:spcPct val="107000"/>
                            </a:lnSpc>
                            <a:spcAft>
                              <a:spcPts val="800"/>
                            </a:spcAft>
                          </a:pPr>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si el estadístico de prueba cae dentro de la región crítica.</a:t>
                          </a:r>
                          <a:endParaRPr lang="es-MX" sz="1600" b="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sz="1800" b="0" dirty="0">
                              <a:effectLst/>
                              <a:latin typeface="Times New Roman" panose="02020603050405020304" pitchFamily="18" charset="0"/>
                              <a:ea typeface="Times New Roman" panose="02020603050405020304" pitchFamily="18" charset="0"/>
                            </a:rPr>
                            <a:t>No 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rPr>
                            <a:t> si el estadístico de prueba no cae dentro de la región crítica. </a:t>
                          </a:r>
                          <a:endParaRPr lang="es-MX" b="0" dirty="0"/>
                        </a:p>
                      </a:txBody>
                      <a:tcPr/>
                    </a:tc>
                    <a:extLst>
                      <a:ext uri="{0D108BD9-81ED-4DB2-BD59-A6C34878D82A}">
                        <a16:rowId xmlns:a16="http://schemas.microsoft.com/office/drawing/2014/main" val="1830143981"/>
                      </a:ext>
                    </a:extLst>
                  </a:tr>
                  <a:tr h="382774">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Método del valor P</a:t>
                          </a:r>
                        </a:p>
                      </a:txBody>
                      <a:tcPr/>
                    </a:tc>
                    <a:tc>
                      <a:txBody>
                        <a:bodyPr/>
                        <a:lstStyle/>
                        <a:p>
                          <a:pPr algn="just">
                            <a:lnSpc>
                              <a:spcPct val="107000"/>
                            </a:lnSpc>
                            <a:spcAft>
                              <a:spcPts val="800"/>
                            </a:spcAft>
                          </a:pPr>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si el valor de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𝑃</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(donde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r>
                            <a:rPr lang="es-MX" sz="1800" b="0" dirty="0">
                              <a:effectLst/>
                              <a:latin typeface="Times New Roman" panose="02020603050405020304" pitchFamily="18" charset="0"/>
                              <a:ea typeface="Times New Roman" panose="02020603050405020304" pitchFamily="18" charset="0"/>
                              <a:cs typeface="Times New Roman" panose="02020603050405020304" pitchFamily="18" charset="0"/>
                            </a:rPr>
                            <a:t> es el nivel de significancia)</a:t>
                          </a:r>
                          <a:endParaRPr lang="es-MX" sz="1600" b="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sz="1800" b="0" dirty="0">
                              <a:effectLst/>
                              <a:latin typeface="Times New Roman" panose="02020603050405020304" pitchFamily="18" charset="0"/>
                              <a:ea typeface="Times New Roman" panose="02020603050405020304" pitchFamily="18" charset="0"/>
                            </a:rPr>
                            <a:t>No rechace </a:t>
                          </a:r>
                          <a14:m>
                            <m:oMath xmlns:m="http://schemas.openxmlformats.org/officeDocument/2006/math">
                              <m:sSub>
                                <m:sSubPr>
                                  <m:ctrlP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lang="es-MX" sz="1800" b="0" dirty="0">
                              <a:effectLst/>
                              <a:latin typeface="Times New Roman" panose="02020603050405020304" pitchFamily="18" charset="0"/>
                              <a:ea typeface="Times New Roman" panose="02020603050405020304" pitchFamily="18" charset="0"/>
                            </a:rPr>
                            <a:t> si el valor </a:t>
                          </a:r>
                          <a14:m>
                            <m:oMath xmlns:m="http://schemas.openxmlformats.org/officeDocument/2006/math">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𝑃</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&gt;</m:t>
                              </m:r>
                              <m:r>
                                <a:rPr lang="es-MX" sz="1800" b="0" i="1">
                                  <a:effectLst/>
                                  <a:latin typeface="Cambria Math" panose="02040503050406030204" pitchFamily="18" charset="0"/>
                                  <a:ea typeface="Times New Roman" panose="02020603050405020304" pitchFamily="18" charset="0"/>
                                  <a:cs typeface="Times New Roman" panose="02020603050405020304" pitchFamily="18" charset="0"/>
                                </a:rPr>
                                <m:t>𝛼</m:t>
                              </m:r>
                            </m:oMath>
                          </a14:m>
                          <a:endParaRPr lang="es-MX" b="0" dirty="0"/>
                        </a:p>
                      </a:txBody>
                      <a:tcPr/>
                    </a:tc>
                    <a:extLst>
                      <a:ext uri="{0D108BD9-81ED-4DB2-BD59-A6C34878D82A}">
                        <a16:rowId xmlns:a16="http://schemas.microsoft.com/office/drawing/2014/main" val="4184345011"/>
                      </a:ext>
                    </a:extLst>
                  </a:tr>
                  <a:tr h="382774">
                    <a:tc>
                      <a:txBody>
                        <a:bodyPr/>
                        <a:lstStyle/>
                        <a:p>
                          <a:pPr algn="ctr"/>
                          <a:endParaRPr lang="es-MX" b="1" dirty="0">
                            <a:latin typeface="Times New Roman" panose="02020603050405020304" pitchFamily="18" charset="0"/>
                            <a:cs typeface="Times New Roman" panose="02020603050405020304" pitchFamily="18" charset="0"/>
                          </a:endParaRPr>
                        </a:p>
                        <a:p>
                          <a:pPr algn="ctr"/>
                          <a:r>
                            <a:rPr lang="es-MX" b="1" dirty="0">
                              <a:latin typeface="Times New Roman" panose="02020603050405020304" pitchFamily="18" charset="0"/>
                              <a:cs typeface="Times New Roman" panose="02020603050405020304" pitchFamily="18" charset="0"/>
                            </a:rPr>
                            <a:t>Intervalos de confianza</a:t>
                          </a:r>
                        </a:p>
                      </a:txBody>
                      <a:tcPr/>
                    </a:tc>
                    <a:tc>
                      <a:txBody>
                        <a:bodyPr/>
                        <a:lstStyle/>
                        <a:p>
                          <a:pPr algn="just"/>
                          <a:r>
                            <a:rPr lang="es-MX" sz="1800" b="0" dirty="0">
                              <a:effectLst/>
                              <a:latin typeface="Times New Roman" panose="02020603050405020304" pitchFamily="18" charset="0"/>
                              <a:ea typeface="Times New Roman" panose="02020603050405020304" pitchFamily="18" charset="0"/>
                            </a:rPr>
                            <a:t>Como un estimado del intervalo de confianza de un parámetro de población contiene los valores posibles de tal parámetro, rechace la aseveración de que el parámetro de población tiene un valor que no está incluido en el intervalo de confianza.</a:t>
                          </a:r>
                          <a:endParaRPr lang="es-MX" b="0" dirty="0"/>
                        </a:p>
                      </a:txBody>
                      <a:tcPr/>
                    </a:tc>
                    <a:extLst>
                      <a:ext uri="{0D108BD9-81ED-4DB2-BD59-A6C34878D82A}">
                        <a16:rowId xmlns:a16="http://schemas.microsoft.com/office/drawing/2014/main" val="1973401492"/>
                      </a:ext>
                    </a:extLst>
                  </a:tr>
                </a:tbl>
              </a:graphicData>
            </a:graphic>
          </p:graphicFrame>
        </mc:Choice>
        <mc:Fallback xmlns="">
          <p:graphicFrame>
            <p:nvGraphicFramePr>
              <p:cNvPr id="3" name="Tabla 2"/>
              <p:cNvGraphicFramePr>
                <a:graphicFrameLocks noGrp="1"/>
              </p:cNvGraphicFramePr>
              <p:nvPr>
                <p:extLst>
                  <p:ext uri="{D42A27DB-BD31-4B8C-83A1-F6EECF244321}">
                    <p14:modId xmlns:p14="http://schemas.microsoft.com/office/powerpoint/2010/main" val="2453073979"/>
                  </p:ext>
                </p:extLst>
              </p:nvPr>
            </p:nvGraphicFramePr>
            <p:xfrm>
              <a:off x="964021" y="2352525"/>
              <a:ext cx="9407888" cy="3571748"/>
            </p:xfrm>
            <a:graphic>
              <a:graphicData uri="http://schemas.openxmlformats.org/drawingml/2006/table">
                <a:tbl>
                  <a:tblPr firstRow="1" bandRow="1">
                    <a:tableStyleId>{0505E3EF-67EA-436B-97B2-0124C06EBD24}</a:tableStyleId>
                  </a:tblPr>
                  <a:tblGrid>
                    <a:gridCol w="3197002">
                      <a:extLst>
                        <a:ext uri="{9D8B030D-6E8A-4147-A177-3AD203B41FA5}">
                          <a16:colId xmlns:a16="http://schemas.microsoft.com/office/drawing/2014/main" val="2380006463"/>
                        </a:ext>
                      </a:extLst>
                    </a:gridCol>
                    <a:gridCol w="6210886">
                      <a:extLst>
                        <a:ext uri="{9D8B030D-6E8A-4147-A177-3AD203B41FA5}">
                          <a16:colId xmlns:a16="http://schemas.microsoft.com/office/drawing/2014/main" val="3610993370"/>
                        </a:ext>
                      </a:extLst>
                    </a:gridCol>
                  </a:tblGrid>
                  <a:tr h="1328674">
                    <a:tc>
                      <a:txBody>
                        <a:bodyPr/>
                        <a:lstStyle/>
                        <a:p>
                          <a:pPr algn="ctr"/>
                          <a:endParaRPr lang="es-MX" b="1" dirty="0" smtClean="0">
                            <a:latin typeface="Times New Roman" panose="02020603050405020304" pitchFamily="18" charset="0"/>
                            <a:cs typeface="Times New Roman" panose="02020603050405020304" pitchFamily="18" charset="0"/>
                          </a:endParaRPr>
                        </a:p>
                        <a:p>
                          <a:pPr algn="ctr"/>
                          <a:r>
                            <a:rPr lang="es-MX" b="1" dirty="0" smtClean="0">
                              <a:latin typeface="Times New Roman" panose="02020603050405020304" pitchFamily="18" charset="0"/>
                              <a:cs typeface="Times New Roman" panose="02020603050405020304" pitchFamily="18" charset="0"/>
                            </a:rPr>
                            <a:t>Método Tradicional</a:t>
                          </a:r>
                          <a:endParaRPr lang="es-MX" b="1" dirty="0">
                            <a:latin typeface="Times New Roman" panose="02020603050405020304" pitchFamily="18" charset="0"/>
                            <a:cs typeface="Times New Roman" panose="02020603050405020304" pitchFamily="18" charset="0"/>
                          </a:endParaRPr>
                        </a:p>
                      </a:txBody>
                      <a:tcPr/>
                    </a:tc>
                    <a:tc>
                      <a:txBody>
                        <a:bodyPr/>
                        <a:lstStyle/>
                        <a:p>
                          <a:endParaRPr lang="es-MX"/>
                        </a:p>
                      </a:txBody>
                      <a:tcPr>
                        <a:blipFill>
                          <a:blip r:embed="rId3"/>
                          <a:stretch>
                            <a:fillRect l="-51619" t="-2294" r="-196" b="-176606"/>
                          </a:stretch>
                        </a:blipFill>
                      </a:tcPr>
                    </a:tc>
                    <a:extLst>
                      <a:ext uri="{0D108BD9-81ED-4DB2-BD59-A6C34878D82A}">
                        <a16:rowId xmlns:a16="http://schemas.microsoft.com/office/drawing/2014/main" val="1830143981"/>
                      </a:ext>
                    </a:extLst>
                  </a:tr>
                  <a:tr h="1054354">
                    <a:tc>
                      <a:txBody>
                        <a:bodyPr/>
                        <a:lstStyle/>
                        <a:p>
                          <a:pPr algn="ctr"/>
                          <a:endParaRPr lang="es-MX" b="1" dirty="0" smtClean="0">
                            <a:latin typeface="Times New Roman" panose="02020603050405020304" pitchFamily="18" charset="0"/>
                            <a:cs typeface="Times New Roman" panose="02020603050405020304" pitchFamily="18" charset="0"/>
                          </a:endParaRPr>
                        </a:p>
                        <a:p>
                          <a:pPr algn="ctr"/>
                          <a:r>
                            <a:rPr lang="es-MX" b="1" dirty="0" smtClean="0">
                              <a:latin typeface="Times New Roman" panose="02020603050405020304" pitchFamily="18" charset="0"/>
                              <a:cs typeface="Times New Roman" panose="02020603050405020304" pitchFamily="18" charset="0"/>
                            </a:rPr>
                            <a:t>Método del valor P</a:t>
                          </a:r>
                          <a:endParaRPr lang="es-MX" b="1" dirty="0">
                            <a:latin typeface="Times New Roman" panose="02020603050405020304" pitchFamily="18" charset="0"/>
                            <a:cs typeface="Times New Roman" panose="02020603050405020304" pitchFamily="18" charset="0"/>
                          </a:endParaRPr>
                        </a:p>
                      </a:txBody>
                      <a:tcPr/>
                    </a:tc>
                    <a:tc>
                      <a:txBody>
                        <a:bodyPr/>
                        <a:lstStyle/>
                        <a:p>
                          <a:endParaRPr lang="es-MX"/>
                        </a:p>
                      </a:txBody>
                      <a:tcPr>
                        <a:blipFill>
                          <a:blip r:embed="rId3"/>
                          <a:stretch>
                            <a:fillRect l="-51619" t="-128161" r="-196" b="-121264"/>
                          </a:stretch>
                        </a:blipFill>
                      </a:tcPr>
                    </a:tc>
                    <a:extLst>
                      <a:ext uri="{0D108BD9-81ED-4DB2-BD59-A6C34878D82A}">
                        <a16:rowId xmlns:a16="http://schemas.microsoft.com/office/drawing/2014/main" val="4184345011"/>
                      </a:ext>
                    </a:extLst>
                  </a:tr>
                  <a:tr h="1188720">
                    <a:tc>
                      <a:txBody>
                        <a:bodyPr/>
                        <a:lstStyle/>
                        <a:p>
                          <a:pPr algn="ctr"/>
                          <a:endParaRPr lang="es-MX" b="1" dirty="0" smtClean="0">
                            <a:latin typeface="Times New Roman" panose="02020603050405020304" pitchFamily="18" charset="0"/>
                            <a:cs typeface="Times New Roman" panose="02020603050405020304" pitchFamily="18" charset="0"/>
                          </a:endParaRPr>
                        </a:p>
                        <a:p>
                          <a:pPr algn="ctr"/>
                          <a:r>
                            <a:rPr lang="es-MX" b="1" dirty="0" smtClean="0">
                              <a:latin typeface="Times New Roman" panose="02020603050405020304" pitchFamily="18" charset="0"/>
                              <a:cs typeface="Times New Roman" panose="02020603050405020304" pitchFamily="18" charset="0"/>
                            </a:rPr>
                            <a:t>Intervalos de confianza</a:t>
                          </a:r>
                          <a:endParaRPr lang="es-MX" b="1" dirty="0">
                            <a:latin typeface="Times New Roman" panose="02020603050405020304" pitchFamily="18" charset="0"/>
                            <a:cs typeface="Times New Roman" panose="02020603050405020304" pitchFamily="18" charset="0"/>
                          </a:endParaRPr>
                        </a:p>
                      </a:txBody>
                      <a:tcPr/>
                    </a:tc>
                    <a:tc>
                      <a:txBody>
                        <a:bodyPr/>
                        <a:lstStyle/>
                        <a:p>
                          <a:pPr algn="just"/>
                          <a:r>
                            <a:rPr lang="es-MX" sz="1800" b="0" dirty="0" smtClean="0">
                              <a:effectLst/>
                              <a:latin typeface="Times New Roman" panose="02020603050405020304" pitchFamily="18" charset="0"/>
                              <a:ea typeface="Times New Roman" panose="02020603050405020304" pitchFamily="18" charset="0"/>
                            </a:rPr>
                            <a:t>Como un estimado del intervalo de confianza de un parámetro de población contiene los valores posibles de tal parámetro, rechace la aseveración de que el parámetro de población tiene un valor que no está incluido en el intervalo de confianza.</a:t>
                          </a:r>
                          <a:endParaRPr lang="es-MX" b="0" dirty="0"/>
                        </a:p>
                      </a:txBody>
                      <a:tcPr/>
                    </a:tc>
                    <a:extLst>
                      <a:ext uri="{0D108BD9-81ED-4DB2-BD59-A6C34878D82A}">
                        <a16:rowId xmlns:a16="http://schemas.microsoft.com/office/drawing/2014/main" val="1973401492"/>
                      </a:ext>
                    </a:extLst>
                  </a:tr>
                </a:tbl>
              </a:graphicData>
            </a:graphic>
          </p:graphicFrame>
        </mc:Fallback>
      </mc:AlternateContent>
    </p:spTree>
    <p:extLst>
      <p:ext uri="{BB962C8B-B14F-4D97-AF65-F5344CB8AC3E}">
        <p14:creationId xmlns:p14="http://schemas.microsoft.com/office/powerpoint/2010/main" val="164944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1832</TotalTime>
  <Words>1603</Words>
  <Application>Microsoft Office PowerPoint</Application>
  <PresentationFormat>Panorámica</PresentationFormat>
  <Paragraphs>102</Paragraphs>
  <Slides>19</Slides>
  <Notes>19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19</vt:i4>
      </vt:variant>
    </vt:vector>
  </HeadingPairs>
  <TitlesOfParts>
    <vt:vector size="27" baseType="lpstr">
      <vt:lpstr>Arial</vt:lpstr>
      <vt:lpstr>Calibri</vt:lpstr>
      <vt:lpstr>Cambria Math</vt:lpstr>
      <vt:lpstr>Franklin Gothic Book</vt:lpstr>
      <vt:lpstr>Franklin Gothic Demi</vt:lpstr>
      <vt:lpstr>Times New Roman</vt:lpstr>
      <vt:lpstr>Wingdings</vt:lpstr>
      <vt:lpstr>Tema1</vt:lpstr>
      <vt:lpstr>Sesión 21: Hipótesis Estadísticas</vt:lpstr>
      <vt:lpstr>Componentes de una prueba de hipótesis</vt:lpstr>
      <vt:lpstr>Componentes de una prueba de hipótesis</vt:lpstr>
      <vt:lpstr>¿Cómo plantear un juego de hipótesis?</vt:lpstr>
      <vt:lpstr>¿Cómo identificar H_0 y H_1?</vt:lpstr>
      <vt:lpstr>¿Cómo identificar H_0 y H_1?</vt:lpstr>
      <vt:lpstr>¿Cómo identificar H_0 y H_1?</vt:lpstr>
      <vt:lpstr>Estadísticos de Prueba</vt:lpstr>
      <vt:lpstr>Estadísticos de Prueba</vt:lpstr>
      <vt:lpstr>Estadísticos de Prueba</vt:lpstr>
      <vt:lpstr>Región Crítica, nivel de significancia, valor crítico y valor P</vt:lpstr>
      <vt:lpstr>Región Crítica, nivel de significancia, valor crítico y valor P</vt:lpstr>
      <vt:lpstr>Tipos de Errores</vt:lpstr>
      <vt:lpstr>Cálculo del valor crítico</vt:lpstr>
      <vt:lpstr>Cálculo del valor crítico</vt:lpstr>
      <vt:lpstr>Valor P</vt:lpstr>
      <vt:lpstr>Valor P</vt:lpstr>
      <vt:lpstr>Decisiones y Conclusiones</vt:lpstr>
      <vt:lpstr>Decisiones y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66</cp:revision>
  <dcterms:created xsi:type="dcterms:W3CDTF">2023-09-16T20:42:33Z</dcterms:created>
  <dcterms:modified xsi:type="dcterms:W3CDTF">2025-03-18T19:52:22Z</dcterms:modified>
</cp:coreProperties>
</file>