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68" r:id="rId2"/>
    <p:sldId id="269" r:id="rId3"/>
    <p:sldId id="281" r:id="rId4"/>
    <p:sldId id="280" r:id="rId5"/>
    <p:sldId id="282" r:id="rId6"/>
    <p:sldId id="283" r:id="rId7"/>
    <p:sldId id="293" r:id="rId8"/>
    <p:sldId id="284" r:id="rId9"/>
    <p:sldId id="285" r:id="rId10"/>
    <p:sldId id="294" r:id="rId11"/>
    <p:sldId id="286" r:id="rId12"/>
    <p:sldId id="287" r:id="rId13"/>
    <p:sldId id="288" r:id="rId14"/>
    <p:sldId id="295" r:id="rId15"/>
    <p:sldId id="292" r:id="rId16"/>
    <p:sldId id="291" r:id="rId17"/>
    <p:sldId id="289" r:id="rId18"/>
    <p:sldId id="290" r:id="rId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16/02/2025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898210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1963507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2608753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1240326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368085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4068148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10</a:t>
            </a:fld>
            <a:endParaRPr lang="es-ES"/>
          </a:p>
        </p:txBody>
      </p:sp>
    </p:spTree>
    <p:extLst>
      <p:ext uri="{BB962C8B-B14F-4D97-AF65-F5344CB8AC3E}">
        <p14:creationId xmlns:p14="http://schemas.microsoft.com/office/powerpoint/2010/main" val="3057841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11</a:t>
            </a:fld>
            <a:endParaRPr lang="es-ES"/>
          </a:p>
        </p:txBody>
      </p:sp>
    </p:spTree>
    <p:extLst>
      <p:ext uri="{BB962C8B-B14F-4D97-AF65-F5344CB8AC3E}">
        <p14:creationId xmlns:p14="http://schemas.microsoft.com/office/powerpoint/2010/main" val="1666071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12</a:t>
            </a:fld>
            <a:endParaRPr lang="es-ES"/>
          </a:p>
        </p:txBody>
      </p:sp>
    </p:spTree>
    <p:extLst>
      <p:ext uri="{BB962C8B-B14F-4D97-AF65-F5344CB8AC3E}">
        <p14:creationId xmlns:p14="http://schemas.microsoft.com/office/powerpoint/2010/main" val="1328965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13</a:t>
            </a:fld>
            <a:endParaRPr lang="es-ES"/>
          </a:p>
        </p:txBody>
      </p:sp>
    </p:spTree>
    <p:extLst>
      <p:ext uri="{BB962C8B-B14F-4D97-AF65-F5344CB8AC3E}">
        <p14:creationId xmlns:p14="http://schemas.microsoft.com/office/powerpoint/2010/main" val="3661938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14</a:t>
            </a:fld>
            <a:endParaRPr lang="es-ES"/>
          </a:p>
        </p:txBody>
      </p:sp>
    </p:spTree>
    <p:extLst>
      <p:ext uri="{BB962C8B-B14F-4D97-AF65-F5344CB8AC3E}">
        <p14:creationId xmlns:p14="http://schemas.microsoft.com/office/powerpoint/2010/main" val="3072888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15</a:t>
            </a:fld>
            <a:endParaRPr lang="es-ES"/>
          </a:p>
        </p:txBody>
      </p:sp>
    </p:spTree>
    <p:extLst>
      <p:ext uri="{BB962C8B-B14F-4D97-AF65-F5344CB8AC3E}">
        <p14:creationId xmlns:p14="http://schemas.microsoft.com/office/powerpoint/2010/main" val="1816176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16</a:t>
            </a:fld>
            <a:endParaRPr lang="es-ES"/>
          </a:p>
        </p:txBody>
      </p:sp>
    </p:spTree>
    <p:extLst>
      <p:ext uri="{BB962C8B-B14F-4D97-AF65-F5344CB8AC3E}">
        <p14:creationId xmlns:p14="http://schemas.microsoft.com/office/powerpoint/2010/main" val="4042405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17</a:t>
            </a:fld>
            <a:endParaRPr lang="es-ES"/>
          </a:p>
        </p:txBody>
      </p:sp>
    </p:spTree>
    <p:extLst>
      <p:ext uri="{BB962C8B-B14F-4D97-AF65-F5344CB8AC3E}">
        <p14:creationId xmlns:p14="http://schemas.microsoft.com/office/powerpoint/2010/main" val="949017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18</a:t>
            </a:fld>
            <a:endParaRPr lang="es-ES"/>
          </a:p>
        </p:txBody>
      </p:sp>
    </p:spTree>
    <p:extLst>
      <p:ext uri="{BB962C8B-B14F-4D97-AF65-F5344CB8AC3E}">
        <p14:creationId xmlns:p14="http://schemas.microsoft.com/office/powerpoint/2010/main" val="361122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de febrero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22: Hipótesis Estadísticas</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En estadística una </a:t>
            </a:r>
            <a:r>
              <a:rPr lang="es-MX" b="1" i="1" dirty="0">
                <a:solidFill>
                  <a:schemeClr val="bg1"/>
                </a:solidFill>
                <a:latin typeface="Times New Roman" panose="02020603050405020304" pitchFamily="18" charset="0"/>
                <a:cs typeface="Times New Roman" panose="02020603050405020304" pitchFamily="18" charset="0"/>
              </a:rPr>
              <a:t>hipótesis</a:t>
            </a:r>
            <a:r>
              <a:rPr lang="es-MX" dirty="0">
                <a:solidFill>
                  <a:schemeClr val="bg1"/>
                </a:solidFill>
                <a:latin typeface="Times New Roman" panose="02020603050405020304" pitchFamily="18" charset="0"/>
                <a:cs typeface="Times New Roman" panose="02020603050405020304" pitchFamily="18" charset="0"/>
              </a:rPr>
              <a:t> es una aseveración o afirmación acerca de una propiedad de una población.</a:t>
            </a:r>
          </a:p>
        </p:txBody>
      </p:sp>
      <p:sp>
        <p:nvSpPr>
          <p:cNvPr id="4" name="CuadroTexto 3">
            <a:extLst>
              <a:ext uri="{FF2B5EF4-FFF2-40B4-BE49-F238E27FC236}">
                <a16:creationId xmlns:a16="http://schemas.microsoft.com/office/drawing/2014/main" id="{4B77887F-BB86-8BB4-8E75-761FE414B5F2}"/>
              </a:ext>
            </a:extLst>
          </p:cNvPr>
          <p:cNvSpPr txBox="1"/>
          <p:nvPr/>
        </p:nvSpPr>
        <p:spPr>
          <a:xfrm>
            <a:off x="964022" y="305267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Una </a:t>
            </a:r>
            <a:r>
              <a:rPr lang="es-MX" b="1" i="1" dirty="0">
                <a:solidFill>
                  <a:schemeClr val="bg1"/>
                </a:solidFill>
                <a:latin typeface="Times New Roman" panose="02020603050405020304" pitchFamily="18" charset="0"/>
                <a:cs typeface="Times New Roman" panose="02020603050405020304" pitchFamily="18" charset="0"/>
              </a:rPr>
              <a:t>prueba de hipótesis</a:t>
            </a:r>
            <a:r>
              <a:rPr lang="es-MX" dirty="0">
                <a:solidFill>
                  <a:schemeClr val="bg1"/>
                </a:solidFill>
                <a:latin typeface="Times New Roman" panose="02020603050405020304" pitchFamily="18" charset="0"/>
                <a:cs typeface="Times New Roman" panose="02020603050405020304" pitchFamily="18" charset="0"/>
              </a:rPr>
              <a:t> es un procedimiento estándar para probar una aseveración acerca de una propiedad de una población. </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B77887F-BB86-8BB4-8E75-761FE414B5F2}"/>
                  </a:ext>
                </a:extLst>
              </p:cNvPr>
              <p:cNvSpPr txBox="1"/>
              <p:nvPr/>
            </p:nvSpPr>
            <p:spPr>
              <a:xfrm>
                <a:off x="958921" y="3918749"/>
                <a:ext cx="9332916" cy="923330"/>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a:t>
                </a:r>
                <a:r>
                  <a:rPr lang="es-MX" b="1" dirty="0">
                    <a:solidFill>
                      <a:schemeClr val="bg1"/>
                    </a:solidFill>
                    <a:latin typeface="Times New Roman" panose="02020603050405020304" pitchFamily="18" charset="0"/>
                    <a:cs typeface="Times New Roman" panose="02020603050405020304" pitchFamily="18" charset="0"/>
                  </a:rPr>
                  <a:t>hipótesis nula</a:t>
                </a:r>
                <a:r>
                  <a:rPr lang="es-MX" dirty="0">
                    <a:solidFill>
                      <a:schemeClr val="bg1"/>
                    </a:solidFill>
                    <a:latin typeface="Times New Roman" panose="02020603050405020304" pitchFamily="18" charset="0"/>
                    <a:cs typeface="Times New Roman" panose="02020603050405020304" pitchFamily="18" charset="0"/>
                  </a:rPr>
                  <a:t> (denotada por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𝐻</m:t>
                        </m:r>
                      </m:e>
                      <m:sub>
                        <m:r>
                          <a:rPr lang="es-MX" i="1">
                            <a:solidFill>
                              <a:schemeClr val="bg1"/>
                            </a:solidFill>
                            <a:latin typeface="Cambria Math" panose="02040503050406030204" pitchFamily="18" charset="0"/>
                          </a:rPr>
                          <m:t>0</m:t>
                        </m:r>
                      </m:sub>
                    </m:sSub>
                  </m:oMath>
                </a14:m>
                <a:r>
                  <a:rPr lang="es-MX" dirty="0">
                    <a:solidFill>
                      <a:schemeClr val="bg1"/>
                    </a:solidFill>
                    <a:latin typeface="Times New Roman" panose="02020603050405020304" pitchFamily="18" charset="0"/>
                    <a:cs typeface="Times New Roman" panose="02020603050405020304" pitchFamily="18" charset="0"/>
                  </a:rPr>
                  <a:t>) es la afirmación de que el valor de un parámetro de la población (como una proporción, media o desviación estándar) es igual a un valor aseverado. Por ejemplo, las siguientes son hipótesis nulas:</a:t>
                </a:r>
              </a:p>
            </p:txBody>
          </p:sp>
        </mc:Choice>
        <mc:Fallback xmlns="">
          <p:sp>
            <p:nvSpPr>
              <p:cNvPr id="5" name="CuadroTexto 4">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58921" y="3918749"/>
                <a:ext cx="9332916" cy="923330"/>
              </a:xfrm>
              <a:prstGeom prst="rect">
                <a:avLst/>
              </a:prstGeom>
              <a:blipFill>
                <a:blip r:embed="rId3"/>
                <a:stretch>
                  <a:fillRect l="-326" t="-3268" r="-522" b="-9150"/>
                </a:stretch>
              </a:blipFill>
              <a:ln>
                <a:solidFill>
                  <a:schemeClr val="tx1">
                    <a:lumMod val="85000"/>
                  </a:schemeClr>
                </a:solidFill>
              </a:ln>
            </p:spPr>
            <p:txBody>
              <a:bodyPr/>
              <a:lstStyle/>
              <a:p>
                <a:r>
                  <a:rPr lang="es-MX">
                    <a:noFill/>
                  </a:rPr>
                  <a:t> </a:t>
                </a:r>
              </a:p>
            </p:txBody>
          </p:sp>
        </mc:Fallback>
      </mc:AlternateContent>
      <p:pic>
        <p:nvPicPr>
          <p:cNvPr id="7" name="Imagen 6"/>
          <p:cNvPicPr>
            <a:picLocks noChangeAspect="1"/>
          </p:cNvPicPr>
          <p:nvPr/>
        </p:nvPicPr>
        <p:blipFill>
          <a:blip r:embed="rId4"/>
          <a:stretch>
            <a:fillRect/>
          </a:stretch>
        </p:blipFill>
        <p:spPr>
          <a:xfrm>
            <a:off x="1339129" y="5061818"/>
            <a:ext cx="8572500" cy="476250"/>
          </a:xfrm>
          <a:prstGeom prst="rect">
            <a:avLst/>
          </a:prstGeom>
        </p:spPr>
      </p:pic>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circle(in)">
                                      <p:cBhvr>
                                        <p:cTn id="2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70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hipótesis alternativa (Denotada por </a:t>
                </a:r>
                <a14:m>
                  <m:oMath xmlns:m="http://schemas.openxmlformats.org/officeDocument/2006/math">
                    <m:sSub>
                      <m:sSubPr>
                        <m:ctrlP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𝐻</m:t>
                        </m:r>
                      </m:e>
                      <m: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𝐻</m:t>
                        </m:r>
                      </m:e>
                      <m: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𝑎</m:t>
                        </m:r>
                      </m:sub>
                    </m:s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𝐻</m:t>
                        </m:r>
                      </m:e>
                      <m: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afirmación de que el parámetro tiene un valor que, de alguna manera, difiere de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670440"/>
              </a:xfrm>
              <a:prstGeom prst="rect">
                <a:avLst/>
              </a:prstGeom>
              <a:blipFill>
                <a:blip r:embed="rId3"/>
                <a:stretch>
                  <a:fillRect l="-326" t="-4464" r="-522" b="-11607"/>
                </a:stretch>
              </a:blipFill>
              <a:ln>
                <a:solidFill>
                  <a:schemeClr val="tx1">
                    <a:lumMod val="85000"/>
                  </a:schemeClr>
                </a:solidFill>
              </a:ln>
            </p:spPr>
            <p:txBody>
              <a:bodyPr/>
              <a:lstStyle/>
              <a:p>
                <a:r>
                  <a:rPr lang="es-MX">
                    <a:noFill/>
                  </a:rPr>
                  <a:t> </a:t>
                </a:r>
              </a:p>
            </p:txBody>
          </p:sp>
        </mc:Fallback>
      </mc:AlternateContent>
      <p:pic>
        <p:nvPicPr>
          <p:cNvPr id="3" name="Imagen 2"/>
          <p:cNvPicPr>
            <a:picLocks noChangeAspect="1"/>
          </p:cNvPicPr>
          <p:nvPr/>
        </p:nvPicPr>
        <p:blipFill>
          <a:blip r:embed="rId4"/>
          <a:stretch>
            <a:fillRect/>
          </a:stretch>
        </p:blipFill>
        <p:spPr>
          <a:xfrm>
            <a:off x="2096705" y="3222375"/>
            <a:ext cx="7067550" cy="1095375"/>
          </a:xfrm>
          <a:prstGeom prst="rect">
            <a:avLst/>
          </a:prstGeom>
        </p:spPr>
      </p:pic>
      <p:sp>
        <p:nvSpPr>
          <p:cNvPr id="9" name="CuadroTexto 8">
            <a:extLst>
              <a:ext uri="{FF2B5EF4-FFF2-40B4-BE49-F238E27FC236}">
                <a16:creationId xmlns:a16="http://schemas.microsoft.com/office/drawing/2014/main" id="{F494AF8A-D47C-6E15-F0A8-B546B382BBB9}"/>
              </a:ext>
            </a:extLst>
          </p:cNvPr>
          <p:cNvSpPr txBox="1"/>
          <p:nvPr/>
        </p:nvSpPr>
        <p:spPr>
          <a:xfrm>
            <a:off x="964022" y="4683076"/>
            <a:ext cx="9332916" cy="670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Nota: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Algunos libros de texto utilizan los símbolos ≤ y ≥ en la hipótesis nula, pero la mayoría de las revistas científicas sólo emplean el símbolo de igual para expresar igualdad.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55952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Nota sobre la formulación de sus propias aseveraciones (hipótesis):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un estudio para emplear una prueba de hipótesis para sustentar su aseveración, ésta debe redactarse de tal manera que se convierta en la hipótesis alternativa. Esto quiere decir que su aseveración debe expresar utilizando sólo los símbolos de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&lt;, &gt;</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No puede utilizar una prueba de hipótesis para sustentar la aseveración de que algún parámetro es igual a algún valor específico.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559529"/>
              </a:xfrm>
              <a:prstGeom prst="rect">
                <a:avLst/>
              </a:prstGeom>
              <a:blipFill>
                <a:blip r:embed="rId3"/>
                <a:stretch>
                  <a:fillRect l="-457" t="-1946" r="-522" b="-505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494AF8A-D47C-6E15-F0A8-B546B382BBB9}"/>
                  </a:ext>
                </a:extLst>
              </p:cNvPr>
              <p:cNvSpPr txBox="1"/>
              <p:nvPr/>
            </p:nvSpPr>
            <p:spPr>
              <a:xfrm>
                <a:off x="964022" y="4023640"/>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Por 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Si se ha creado un método de selección de género, que aumenta la probabilidad de concebir una niña, se debe redactar la aseveración como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que ésta pueda ser sustentada. Para el propósito de la prueba, usted supondrá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se esperaría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sea rechazada para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sustente.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CuadroTexto 11">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4023640"/>
                <a:ext cx="9332916" cy="1263166"/>
              </a:xfrm>
              <a:prstGeom prst="rect">
                <a:avLst/>
              </a:prstGeom>
              <a:blipFill>
                <a:blip r:embed="rId4"/>
                <a:stretch>
                  <a:fillRect l="-457" t="-1914" r="-522" b="-6220"/>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2815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nSpc>
                    <a:spcPct val="107000"/>
                  </a:lnSpc>
                  <a:spcAft>
                    <a:spcPts val="800"/>
                  </a:spcAft>
                </a:pPr>
                <a:r>
                  <a:rPr lang="es-MX" sz="28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8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8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8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8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8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577" b="-31000"/>
                </a:stretch>
              </a:blipFill>
            </p:spPr>
            <p:txBody>
              <a:bodyPr/>
              <a:lstStyle/>
              <a:p>
                <a:r>
                  <a:rPr lang="es-MX">
                    <a:noFill/>
                  </a:rPr>
                  <a:t> </a:t>
                </a:r>
              </a:p>
            </p:txBody>
          </p:sp>
        </mc:Fallback>
      </mc:AlternateContent>
      <p:pic>
        <p:nvPicPr>
          <p:cNvPr id="5" name="Imagen 4"/>
          <p:cNvPicPr>
            <a:picLocks noChangeAspect="1"/>
          </p:cNvPicPr>
          <p:nvPr/>
        </p:nvPicPr>
        <p:blipFill>
          <a:blip r:embed="rId4"/>
          <a:srcRect r="49412"/>
          <a:stretch/>
        </p:blipFill>
        <p:spPr>
          <a:xfrm>
            <a:off x="2201163" y="1795331"/>
            <a:ext cx="3806606" cy="4533900"/>
          </a:xfrm>
          <a:prstGeom prst="rect">
            <a:avLst/>
          </a:prstGeom>
        </p:spPr>
      </p:pic>
      <p:sp>
        <p:nvSpPr>
          <p:cNvPr id="3" name="CuadroTexto 2">
            <a:extLst>
              <a:ext uri="{FF2B5EF4-FFF2-40B4-BE49-F238E27FC236}">
                <a16:creationId xmlns:a16="http://schemas.microsoft.com/office/drawing/2014/main" id="{77A24E07-E186-03AB-D44A-C234FCCE6CF7}"/>
              </a:ext>
            </a:extLst>
          </p:cNvPr>
          <p:cNvSpPr txBox="1"/>
          <p:nvPr/>
        </p:nvSpPr>
        <p:spPr>
          <a:xfrm>
            <a:off x="6517721" y="2630905"/>
            <a:ext cx="3473116" cy="830997"/>
          </a:xfrm>
          <a:prstGeom prst="rect">
            <a:avLst/>
          </a:prstGeom>
          <a:noFill/>
          <a:ln w="12700">
            <a:solidFill>
              <a:srgbClr val="0070C0"/>
            </a:solidFill>
          </a:ln>
        </p:spPr>
        <p:txBody>
          <a:bodyPr wrap="square" rtlCol="0">
            <a:spAutoFit/>
          </a:bodyPr>
          <a:lstStyle/>
          <a:p>
            <a:pPr algn="just"/>
            <a:r>
              <a:rPr lang="es-MX" sz="1600" dirty="0">
                <a:solidFill>
                  <a:schemeClr val="bg1"/>
                </a:solidFill>
                <a:latin typeface="Times New Roman" panose="02020603050405020304" pitchFamily="18" charset="0"/>
                <a:cs typeface="Times New Roman" panose="02020603050405020304" pitchFamily="18" charset="0"/>
              </a:rPr>
              <a:t>La compañía Coca-Cola afirma que “la cantidad media de Coca Cola en las latas es de al menos 354.882 ml”</a:t>
            </a:r>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97989137-6A9D-2A8C-A5F8-D4142AA18E76}"/>
                  </a:ext>
                </a:extLst>
              </p:cNvPr>
              <p:cNvSpPr txBox="1"/>
              <p:nvPr/>
            </p:nvSpPr>
            <p:spPr>
              <a:xfrm>
                <a:off x="6517721" y="3545305"/>
                <a:ext cx="3473116" cy="584775"/>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1: </a:t>
                </a:r>
                <a:r>
                  <a:rPr lang="es-MX" sz="1600" dirty="0">
                    <a:solidFill>
                      <a:schemeClr val="bg1"/>
                    </a:solidFill>
                    <a:latin typeface="Times New Roman" panose="02020603050405020304" pitchFamily="18" charset="0"/>
                    <a:cs typeface="Times New Roman" panose="02020603050405020304" pitchFamily="18" charset="0"/>
                  </a:rPr>
                  <a:t>Esta afirmación puede expresarse como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882</m:t>
                    </m:r>
                  </m:oMath>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p:sp>
            <p:nvSpPr>
              <p:cNvPr id="4" name="CuadroTexto 3">
                <a:extLst>
                  <a:ext uri="{FF2B5EF4-FFF2-40B4-BE49-F238E27FC236}">
                    <a16:creationId xmlns:a16="http://schemas.microsoft.com/office/drawing/2014/main" id="{97989137-6A9D-2A8C-A5F8-D4142AA18E76}"/>
                  </a:ext>
                </a:extLst>
              </p:cNvPr>
              <p:cNvSpPr txBox="1">
                <a:spLocks noRot="1" noChangeAspect="1" noMove="1" noResize="1" noEditPoints="1" noAdjustHandles="1" noChangeArrowheads="1" noChangeShapeType="1" noTextEdit="1"/>
              </p:cNvSpPr>
              <p:nvPr/>
            </p:nvSpPr>
            <p:spPr>
              <a:xfrm>
                <a:off x="6517721" y="3545305"/>
                <a:ext cx="3473116" cy="584775"/>
              </a:xfrm>
              <a:prstGeom prst="rect">
                <a:avLst/>
              </a:prstGeom>
              <a:blipFill>
                <a:blip r:embed="rId5"/>
                <a:stretch>
                  <a:fillRect l="-699" t="-2041" r="-874" b="-11224"/>
                </a:stretch>
              </a:blipFill>
              <a:ln w="12700">
                <a:solidFill>
                  <a:srgbClr val="0070C0"/>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55F34522-8B95-6DB7-D20B-B0428091448D}"/>
                  </a:ext>
                </a:extLst>
              </p:cNvPr>
              <p:cNvSpPr txBox="1"/>
              <p:nvPr/>
            </p:nvSpPr>
            <p:spPr>
              <a:xfrm>
                <a:off x="6517721" y="4213483"/>
                <a:ext cx="3473116" cy="830997"/>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2: </a:t>
                </a:r>
                <a:r>
                  <a:rPr lang="es-MX" sz="1600" dirty="0">
                    <a:solidFill>
                      <a:schemeClr val="bg1"/>
                    </a:solidFill>
                    <a:latin typeface="Times New Roman" panose="02020603050405020304" pitchFamily="18" charset="0"/>
                    <a:cs typeface="Times New Roman" panose="02020603050405020304" pitchFamily="18" charset="0"/>
                  </a:rPr>
                  <a:t>Si la aseveración original es falsa, entonces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&lt;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 es verdadera.</a:t>
                </a:r>
              </a:p>
            </p:txBody>
          </p:sp>
        </mc:Choice>
        <mc:Fallback>
          <p:sp>
            <p:nvSpPr>
              <p:cNvPr id="6" name="CuadroTexto 5">
                <a:extLst>
                  <a:ext uri="{FF2B5EF4-FFF2-40B4-BE49-F238E27FC236}">
                    <a16:creationId xmlns:a16="http://schemas.microsoft.com/office/drawing/2014/main" id="{55F34522-8B95-6DB7-D20B-B0428091448D}"/>
                  </a:ext>
                </a:extLst>
              </p:cNvPr>
              <p:cNvSpPr txBox="1">
                <a:spLocks noRot="1" noChangeAspect="1" noMove="1" noResize="1" noEditPoints="1" noAdjustHandles="1" noChangeArrowheads="1" noChangeShapeType="1" noTextEdit="1"/>
              </p:cNvSpPr>
              <p:nvPr/>
            </p:nvSpPr>
            <p:spPr>
              <a:xfrm>
                <a:off x="6517721" y="4213483"/>
                <a:ext cx="3473116" cy="830997"/>
              </a:xfrm>
              <a:prstGeom prst="rect">
                <a:avLst/>
              </a:prstGeom>
              <a:blipFill>
                <a:blip r:embed="rId6"/>
                <a:stretch>
                  <a:fillRect l="-699" t="-1439" r="-874" b="-7194"/>
                </a:stretch>
              </a:blipFill>
              <a:ln w="12700">
                <a:solidFill>
                  <a:srgbClr val="0070C0"/>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C9611FC-04FD-80E8-6D16-59C27F271C16}"/>
                  </a:ext>
                </a:extLst>
              </p:cNvPr>
              <p:cNvSpPr txBox="1"/>
              <p:nvPr/>
            </p:nvSpPr>
            <p:spPr>
              <a:xfrm>
                <a:off x="6517721" y="5127883"/>
                <a:ext cx="3473116" cy="1077218"/>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3: </a:t>
                </a:r>
                <a:r>
                  <a:rPr lang="es-MX" sz="1600" dirty="0">
                    <a:solidFill>
                      <a:schemeClr val="bg1"/>
                    </a:solidFill>
                    <a:latin typeface="Times New Roman" panose="02020603050405020304" pitchFamily="18" charset="0"/>
                    <a:cs typeface="Times New Roman" panose="02020603050405020304" pitchFamily="18" charset="0"/>
                  </a:rPr>
                  <a:t>La hipótesis alternativa se vuelve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&lt;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 al no llevar la igualdad y la hipótesis nula es </a:t>
                </a:r>
                <a14:m>
                  <m:oMath xmlns:m="http://schemas.openxmlformats.org/officeDocument/2006/math">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a:t>
                </a:r>
              </a:p>
            </p:txBody>
          </p:sp>
        </mc:Choice>
        <mc:Fallback>
          <p:sp>
            <p:nvSpPr>
              <p:cNvPr id="7" name="CuadroTexto 6">
                <a:extLst>
                  <a:ext uri="{FF2B5EF4-FFF2-40B4-BE49-F238E27FC236}">
                    <a16:creationId xmlns:a16="http://schemas.microsoft.com/office/drawing/2014/main" id="{6C9611FC-04FD-80E8-6D16-59C27F271C16}"/>
                  </a:ext>
                </a:extLst>
              </p:cNvPr>
              <p:cNvSpPr txBox="1">
                <a:spLocks noRot="1" noChangeAspect="1" noMove="1" noResize="1" noEditPoints="1" noAdjustHandles="1" noChangeArrowheads="1" noChangeShapeType="1" noTextEdit="1"/>
              </p:cNvSpPr>
              <p:nvPr/>
            </p:nvSpPr>
            <p:spPr>
              <a:xfrm>
                <a:off x="6517721" y="5127883"/>
                <a:ext cx="3473116" cy="1077218"/>
              </a:xfrm>
              <a:prstGeom prst="rect">
                <a:avLst/>
              </a:prstGeom>
              <a:blipFill>
                <a:blip r:embed="rId7"/>
                <a:stretch>
                  <a:fillRect l="-699" t="-1117" r="-874" b="-5587"/>
                </a:stretch>
              </a:blipFill>
              <a:ln w="12700">
                <a:solidFill>
                  <a:srgbClr val="0070C0"/>
                </a:solidFill>
              </a:ln>
            </p:spPr>
            <p:txBody>
              <a:bodyPr/>
              <a:lstStyle/>
              <a:p>
                <a:r>
                  <a:rPr lang="es-MX">
                    <a:noFill/>
                  </a:rPr>
                  <a:t> </a:t>
                </a:r>
              </a:p>
            </p:txBody>
          </p:sp>
        </mc:Fallback>
      </mc:AlternateContent>
    </p:spTree>
    <p:extLst>
      <p:ext uri="{BB962C8B-B14F-4D97-AF65-F5344CB8AC3E}">
        <p14:creationId xmlns:p14="http://schemas.microsoft.com/office/powerpoint/2010/main" val="26534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209" b="-31000"/>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8505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Ejemplos: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p:cNvPicPr>
            <a:picLocks noChangeAspect="1"/>
          </p:cNvPicPr>
          <p:nvPr/>
        </p:nvPicPr>
        <p:blipFill>
          <a:blip r:embed="rId4"/>
          <a:stretch>
            <a:fillRect/>
          </a:stretch>
        </p:blipFill>
        <p:spPr>
          <a:xfrm>
            <a:off x="1653792" y="3083787"/>
            <a:ext cx="7953375" cy="3381375"/>
          </a:xfrm>
          <a:prstGeom prst="rect">
            <a:avLst/>
          </a:prstGeom>
        </p:spPr>
      </p:pic>
      <p:pic>
        <p:nvPicPr>
          <p:cNvPr id="5" name="Imagen 4"/>
          <p:cNvPicPr>
            <a:picLocks noChangeAspect="1"/>
          </p:cNvPicPr>
          <p:nvPr/>
        </p:nvPicPr>
        <p:blipFill>
          <a:blip r:embed="rId5"/>
          <a:stretch>
            <a:fillRect/>
          </a:stretch>
        </p:blipFill>
        <p:spPr>
          <a:xfrm>
            <a:off x="5253854" y="3474176"/>
            <a:ext cx="3800475" cy="876300"/>
          </a:xfrm>
          <a:prstGeom prst="rect">
            <a:avLst/>
          </a:prstGeom>
        </p:spPr>
      </p:pic>
      <p:pic>
        <p:nvPicPr>
          <p:cNvPr id="6" name="Imagen 5"/>
          <p:cNvPicPr>
            <a:picLocks noChangeAspect="1"/>
          </p:cNvPicPr>
          <p:nvPr/>
        </p:nvPicPr>
        <p:blipFill>
          <a:blip r:embed="rId6"/>
          <a:stretch>
            <a:fillRect/>
          </a:stretch>
        </p:blipFill>
        <p:spPr>
          <a:xfrm>
            <a:off x="5253854" y="4447062"/>
            <a:ext cx="3857625" cy="904875"/>
          </a:xfrm>
          <a:prstGeom prst="rect">
            <a:avLst/>
          </a:prstGeom>
        </p:spPr>
      </p:pic>
      <p:pic>
        <p:nvPicPr>
          <p:cNvPr id="7" name="Imagen 6"/>
          <p:cNvPicPr>
            <a:picLocks noChangeAspect="1"/>
          </p:cNvPicPr>
          <p:nvPr/>
        </p:nvPicPr>
        <p:blipFill>
          <a:blip r:embed="rId7"/>
          <a:stretch>
            <a:fillRect/>
          </a:stretch>
        </p:blipFill>
        <p:spPr>
          <a:xfrm>
            <a:off x="5358629" y="5487712"/>
            <a:ext cx="3752850" cy="876300"/>
          </a:xfrm>
          <a:prstGeom prst="rect">
            <a:avLst/>
          </a:prstGeom>
        </p:spPr>
      </p:pic>
    </p:spTree>
    <p:extLst>
      <p:ext uri="{BB962C8B-B14F-4D97-AF65-F5344CB8AC3E}">
        <p14:creationId xmlns:p14="http://schemas.microsoft.com/office/powerpoint/2010/main" val="385159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ircle(in)">
                                      <p:cBhvr>
                                        <p:cTn id="2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209" b="-31000"/>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8505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Tabla 7"/>
          <p:cNvGraphicFramePr>
            <a:graphicFrameLocks noGrp="1"/>
          </p:cNvGraphicFramePr>
          <p:nvPr>
            <p:extLst>
              <p:ext uri="{D42A27DB-BD31-4B8C-83A1-F6EECF244321}">
                <p14:modId xmlns:p14="http://schemas.microsoft.com/office/powerpoint/2010/main" val="2238211178"/>
              </p:ext>
            </p:extLst>
          </p:nvPr>
        </p:nvGraphicFramePr>
        <p:xfrm>
          <a:off x="1349491" y="3511271"/>
          <a:ext cx="8561978" cy="1792249"/>
        </p:xfrm>
        <a:graphic>
          <a:graphicData uri="http://schemas.openxmlformats.org/drawingml/2006/table">
            <a:tbl>
              <a:tblPr firstRow="1" bandRow="1">
                <a:tableStyleId>{0E3FDE45-AF77-4B5C-9715-49D594BDF05E}</a:tableStyleId>
              </a:tblPr>
              <a:tblGrid>
                <a:gridCol w="8561978">
                  <a:extLst>
                    <a:ext uri="{9D8B030D-6E8A-4147-A177-3AD203B41FA5}">
                      <a16:colId xmlns:a16="http://schemas.microsoft.com/office/drawing/2014/main" val="1481335635"/>
                    </a:ext>
                  </a:extLst>
                </a:gridCol>
              </a:tblGrid>
              <a:tr h="489740">
                <a:tc>
                  <a:txBody>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s-MX" sz="1800" b="0" baseline="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Más del 25% de los usuarios en Internet pagan sus facturas en línea.</a:t>
                      </a:r>
                    </a:p>
                  </a:txBody>
                  <a:tcPr/>
                </a:tc>
                <a:extLst>
                  <a:ext uri="{0D108BD9-81ED-4DB2-BD59-A6C34878D82A}">
                    <a16:rowId xmlns:a16="http://schemas.microsoft.com/office/drawing/2014/main" val="3270924874"/>
                  </a:ext>
                </a:extLst>
              </a:tr>
              <a:tr h="577129">
                <a:tc>
                  <a:txBody>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 Los dulces M&amp;M tienen un peso medio de al menos 0.8535 g.</a:t>
                      </a:r>
                    </a:p>
                  </a:txBody>
                  <a:tcPr/>
                </a:tc>
                <a:extLst>
                  <a:ext uri="{0D108BD9-81ED-4DB2-BD59-A6C34878D82A}">
                    <a16:rowId xmlns:a16="http://schemas.microsoft.com/office/drawing/2014/main" val="2471390775"/>
                  </a:ext>
                </a:extLst>
              </a:tr>
              <a:tr h="725380">
                <a:tc>
                  <a:txBody>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3. Las puntuaciones de CI de profesores universitarios tienen una desviación estándar menor que 15, que es la desviación estándar de la población general.</a:t>
                      </a:r>
                    </a:p>
                  </a:txBody>
                  <a:tcPr/>
                </a:tc>
                <a:extLst>
                  <a:ext uri="{0D108BD9-81ED-4DB2-BD59-A6C34878D82A}">
                    <a16:rowId xmlns:a16="http://schemas.microsoft.com/office/drawing/2014/main" val="708412861"/>
                  </a:ext>
                </a:extLst>
              </a:tr>
            </a:tbl>
          </a:graphicData>
        </a:graphic>
      </p:graphicFrame>
    </p:spTree>
    <p:extLst>
      <p:ext uri="{BB962C8B-B14F-4D97-AF65-F5344CB8AC3E}">
        <p14:creationId xmlns:p14="http://schemas.microsoft.com/office/powerpoint/2010/main" val="6307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circle(in)">
                                      <p:cBhvr>
                                        <p:cTn id="14"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t>
                </a: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estadístico de prueba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 un valor que se utiliza para tomar la decisión sobre la hipótesis nula, y se calcula convirtiendo al estadístico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(como la proporción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e>
                    </m:acc>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la media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o la desviación estándar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𝑠</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en una puntuación (como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𝑧</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𝑡</m:t>
                    </m:r>
                    <m:r>
                      <a:rPr lang="es-MX" b="0" i="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𝜒</m:t>
                        </m:r>
                      </m:e>
                      <m:sup>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bajo el supuesto de que la hipótesis nula es verdadera.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263166"/>
              </a:xfrm>
              <a:prstGeom prst="rect">
                <a:avLst/>
              </a:prstGeom>
              <a:blipFill>
                <a:blip r:embed="rId3"/>
                <a:stretch>
                  <a:fillRect l="-457" t="-2392" r="-2153" b="-6220"/>
                </a:stretch>
              </a:blipFill>
              <a:ln>
                <a:solidFill>
                  <a:schemeClr val="tx1">
                    <a:lumMod val="85000"/>
                  </a:schemeClr>
                </a:solidFill>
              </a:ln>
            </p:spPr>
            <p:txBody>
              <a:bodyPr/>
              <a:lstStyle/>
              <a:p>
                <a:r>
                  <a:rPr lang="es-MX">
                    <a:noFill/>
                  </a:rPr>
                  <a:t> </a:t>
                </a:r>
              </a:p>
            </p:txBody>
          </p:sp>
        </mc:Fallback>
      </mc:AlternateContent>
      <p:pic>
        <p:nvPicPr>
          <p:cNvPr id="4" name="Imagen 3"/>
          <p:cNvPicPr>
            <a:picLocks noChangeAspect="1"/>
          </p:cNvPicPr>
          <p:nvPr/>
        </p:nvPicPr>
        <p:blipFill>
          <a:blip r:embed="rId4"/>
          <a:stretch>
            <a:fillRect/>
          </a:stretch>
        </p:blipFill>
        <p:spPr>
          <a:xfrm>
            <a:off x="2187192" y="3724547"/>
            <a:ext cx="6886575" cy="1943100"/>
          </a:xfrm>
          <a:prstGeom prst="rect">
            <a:avLst/>
          </a:prstGeom>
        </p:spPr>
      </p:pic>
    </p:spTree>
    <p:extLst>
      <p:ext uri="{BB962C8B-B14F-4D97-AF65-F5344CB8AC3E}">
        <p14:creationId xmlns:p14="http://schemas.microsoft.com/office/powerpoint/2010/main" val="287864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encuesta de 703 empleados seleccionados al azar, reveló que el 61% de ellos consiguió trabajo por medio de una red de contactos. Calcule el valor del estadístico de prueba para la aseveración de que la mayoría de los empleados (más del 50%) consiguen trabajo por medio de una red de contactos.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p:cNvPicPr>
            <a:picLocks noChangeAspect="1"/>
          </p:cNvPicPr>
          <p:nvPr/>
        </p:nvPicPr>
        <p:blipFill>
          <a:blip r:embed="rId3"/>
          <a:stretch>
            <a:fillRect/>
          </a:stretch>
        </p:blipFill>
        <p:spPr>
          <a:xfrm>
            <a:off x="2182430" y="3764960"/>
            <a:ext cx="6896100" cy="1914525"/>
          </a:xfrm>
          <a:prstGeom prst="rect">
            <a:avLst/>
          </a:prstGeom>
        </p:spPr>
      </p:pic>
    </p:spTree>
    <p:extLst>
      <p:ext uri="{BB962C8B-B14F-4D97-AF65-F5344CB8AC3E}">
        <p14:creationId xmlns:p14="http://schemas.microsoft.com/office/powerpoint/2010/main" val="192691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296478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 Luego,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calcula el valor del estadístico de prueba.</a:t>
                </a:r>
              </a:p>
              <a:p>
                <a:pPr algn="just">
                  <a:lnSpc>
                    <a:spcPct val="107000"/>
                  </a:lnSpc>
                  <a:spcAft>
                    <a:spcPts val="800"/>
                  </a:spcAft>
                </a:pPr>
                <a:endPar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aseveración es que la proporción de adultos que fumaron un cigarrillo la semana pasada es menor que 0.25, y los estadísticos de muestra incluyen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=1018</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sujetos, de los cuales 224 dicen que fumaron un cigarrillo la semana pasada. </a:t>
                </a:r>
              </a:p>
              <a:p>
                <a:pPr marL="342900" lvl="0" indent="-342900" algn="just">
                  <a:lnSpc>
                    <a:spcPct val="107000"/>
                  </a:lnSpc>
                  <a:spcAft>
                    <a:spcPts val="0"/>
                  </a:spcAft>
                  <a:buFont typeface="+mj-lt"/>
                  <a:buAutoNum type="arabicPeriod"/>
                </a:pPr>
                <a:endParaRPr lang="es-MX"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aseveración es que la mayoría de las demandas por negligencia se retiran o se rechazan, y una muestra aleatoria de 500 demandas incluye 349 que fueron retiradas o rechazadas.</a:t>
                </a:r>
                <a:endParaRPr lang="es-MX"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2964786"/>
              </a:xfrm>
              <a:prstGeom prst="rect">
                <a:avLst/>
              </a:prstGeom>
              <a:blipFill>
                <a:blip r:embed="rId3"/>
                <a:stretch>
                  <a:fillRect l="-457" t="-1025" r="-522" b="-1639"/>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49557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Región Crítica, nivel de significancia, valor crítico y valor </a:t>
                </a:r>
                <a14:m>
                  <m:oMath xmlns:m="http://schemas.openxmlformats.org/officeDocument/2006/math">
                    <m:r>
                      <a:rPr lang="es-MX" sz="2400" i="1" dirty="0" smtClean="0">
                        <a:latin typeface="Cambria Math" panose="02040503050406030204" pitchFamily="18" charset="0"/>
                        <a:ea typeface="Times New Roman" panose="02020603050405020304" pitchFamily="18" charset="0"/>
                        <a:cs typeface="Times New Roman" panose="02020603050405020304" pitchFamily="18" charset="0"/>
                      </a:rPr>
                      <m:t>𝑃</m:t>
                    </m:r>
                  </m:oMath>
                </a14:m>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1" y="879063"/>
                <a:ext cx="8558801" cy="610863"/>
              </a:xfrm>
              <a:blipFill>
                <a:blip r:embed="rId3"/>
                <a:stretch>
                  <a:fillRect l="-2137" r="-926" b="-31000"/>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región crítica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 región de rechazo) es el conjunto de todos los valores del estadístico de prueba que pueden provocar que rechacemos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494AF8A-D47C-6E15-F0A8-B546B382BBB9}"/>
                  </a:ext>
                </a:extLst>
              </p:cNvPr>
              <p:cNvSpPr txBox="1"/>
              <p:nvPr/>
            </p:nvSpPr>
            <p:spPr>
              <a:xfrm>
                <a:off x="964021" y="316149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nivel de significancia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(denotado por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probabilidad de que el estadístico de prueba caiga en la región crítica, cuando la hipótesis nula es verdadera. Si el estadístico de prueba cae en la región crítica, rechazamos la hipótesis nula, de manera que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probabilidad de cometer el error de rechazar la hipótesis nula cuando es verdadera.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CuadroTexto 5">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1" y="3161492"/>
                <a:ext cx="9332916" cy="1263166"/>
              </a:xfrm>
              <a:prstGeom prst="rect">
                <a:avLst/>
              </a:prstGeom>
              <a:blipFill>
                <a:blip r:embed="rId4"/>
                <a:stretch>
                  <a:fillRect l="-457" t="-2392" r="-522" b="-6220"/>
                </a:stretch>
              </a:blipFill>
              <a:ln>
                <a:solidFill>
                  <a:schemeClr val="tx1">
                    <a:lumMod val="85000"/>
                  </a:schemeClr>
                </a:solidFill>
              </a:ln>
            </p:spPr>
            <p:txBody>
              <a:bodyPr/>
              <a:lstStyle/>
              <a:p>
                <a:r>
                  <a:rPr lang="es-MX">
                    <a:noFill/>
                  </a:rPr>
                  <a:t> </a:t>
                </a:r>
              </a:p>
            </p:txBody>
          </p:sp>
        </mc:Fallback>
      </mc:AlternateContent>
      <p:sp>
        <p:nvSpPr>
          <p:cNvPr id="7" name="CuadroTexto 6">
            <a:extLst>
              <a:ext uri="{FF2B5EF4-FFF2-40B4-BE49-F238E27FC236}">
                <a16:creationId xmlns:a16="http://schemas.microsoft.com/office/drawing/2014/main" id="{F494AF8A-D47C-6E15-F0A8-B546B382BBB9}"/>
              </a:ext>
            </a:extLst>
          </p:cNvPr>
          <p:cNvSpPr txBox="1"/>
          <p:nvPr/>
        </p:nvSpPr>
        <p:spPr>
          <a:xfrm>
            <a:off x="964021" y="4619578"/>
            <a:ext cx="9332916"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valor crítico</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cualquier valor que separa a la región crítica (donde rechazamos la hipótesis nula) de los valores del estadístico de prueba que no conducen al rechazo de la hipótesis nula.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53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Región Crítica, nivel de significancia, valor crítico y valor </a:t>
                </a:r>
                <a14:m>
                  <m:oMath xmlns:m="http://schemas.openxmlformats.org/officeDocument/2006/math">
                    <m:r>
                      <a:rPr lang="es-MX" sz="2400" i="1" dirty="0" smtClean="0">
                        <a:latin typeface="Cambria Math" panose="02040503050406030204" pitchFamily="18" charset="0"/>
                        <a:ea typeface="Times New Roman" panose="02020603050405020304" pitchFamily="18" charset="0"/>
                        <a:cs typeface="Times New Roman" panose="02020603050405020304" pitchFamily="18" charset="0"/>
                      </a:rPr>
                      <m:t>𝑃</m:t>
                    </m:r>
                  </m:oMath>
                </a14:m>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1" y="879063"/>
                <a:ext cx="8558801" cy="610863"/>
              </a:xfrm>
              <a:blipFill>
                <a:blip r:embed="rId3"/>
                <a:stretch>
                  <a:fillRect l="-2137" r="-926" b="-31000"/>
                </a:stretch>
              </a:blipFill>
            </p:spPr>
            <p:txBody>
              <a:bodyPr/>
              <a:lstStyle/>
              <a:p>
                <a:r>
                  <a:rPr lang="es-MX">
                    <a:noFill/>
                  </a:rPr>
                  <a:t> </a:t>
                </a:r>
              </a:p>
            </p:txBody>
          </p:sp>
        </mc:Fallback>
      </mc:AlternateContent>
      <p:pic>
        <p:nvPicPr>
          <p:cNvPr id="8" name="Imagen 7"/>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612573" y="2051411"/>
            <a:ext cx="6523400" cy="3892187"/>
          </a:xfrm>
          <a:prstGeom prst="rect">
            <a:avLst/>
          </a:prstGeom>
        </p:spPr>
      </p:pic>
    </p:spTree>
    <p:extLst>
      <p:ext uri="{BB962C8B-B14F-4D97-AF65-F5344CB8AC3E}">
        <p14:creationId xmlns:p14="http://schemas.microsoft.com/office/powerpoint/2010/main" val="5790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Cálculo del valor crítico</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4684867" y="545601"/>
                <a:ext cx="4235679" cy="127778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 un nivel de significancia de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calcule los valores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𝑧</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críticos para cada una de las siguientes hipótesis alternativas.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4684867" y="545601"/>
                <a:ext cx="4235679" cy="1277786"/>
              </a:xfrm>
              <a:prstGeom prst="rect">
                <a:avLst/>
              </a:prstGeom>
              <a:blipFill>
                <a:blip r:embed="rId3"/>
                <a:stretch>
                  <a:fillRect l="-1149" t="-2370" r="-1149" b="-521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17" name="Tabla 16"/>
              <p:cNvGraphicFramePr>
                <a:graphicFrameLocks noGrp="1"/>
              </p:cNvGraphicFramePr>
              <p:nvPr>
                <p:extLst>
                  <p:ext uri="{D42A27DB-BD31-4B8C-83A1-F6EECF244321}">
                    <p14:modId xmlns:p14="http://schemas.microsoft.com/office/powerpoint/2010/main" val="394164248"/>
                  </p:ext>
                </p:extLst>
              </p:nvPr>
            </p:nvGraphicFramePr>
            <p:xfrm>
              <a:off x="964022" y="2130454"/>
              <a:ext cx="3555727" cy="438912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ambas colas de la distribución normal)</a:t>
                          </a:r>
                        </a:p>
                        <a:p>
                          <a:pPr algn="just"/>
                          <a:endParaRPr lang="es-MX" b="0" dirty="0">
                            <a:solidFill>
                              <a:schemeClr val="bg1"/>
                            </a:solidFill>
                          </a:endParaRPr>
                        </a:p>
                      </a:txBody>
                      <a:tcPr/>
                    </a:tc>
                    <a:extLst>
                      <a:ext uri="{0D108BD9-81ED-4DB2-BD59-A6C34878D82A}">
                        <a16:rowId xmlns:a16="http://schemas.microsoft.com/office/drawing/2014/main" val="3341491101"/>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&lt;0.5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la cola izquierda de la distribución normal)</a:t>
                          </a:r>
                        </a:p>
                        <a:p>
                          <a:pPr algn="just"/>
                          <a:endParaRPr lang="es-MX" b="0" dirty="0">
                            <a:solidFill>
                              <a:schemeClr val="bg1"/>
                            </a:solidFill>
                          </a:endParaRPr>
                        </a:p>
                      </a:txBody>
                      <a:tcPr/>
                    </a:tc>
                    <a:extLst>
                      <a:ext uri="{0D108BD9-81ED-4DB2-BD59-A6C34878D82A}">
                        <a16:rowId xmlns:a16="http://schemas.microsoft.com/office/drawing/2014/main" val="3302177774"/>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la cola derecha de la distribución normal)</a:t>
                          </a:r>
                        </a:p>
                        <a:p>
                          <a:pPr algn="just"/>
                          <a:endParaRPr lang="es-MX" b="0" dirty="0">
                            <a:solidFill>
                              <a:schemeClr val="bg1"/>
                            </a:solidFill>
                          </a:endParaRPr>
                        </a:p>
                      </a:txBody>
                      <a:tcPr/>
                    </a:tc>
                    <a:extLst>
                      <a:ext uri="{0D108BD9-81ED-4DB2-BD59-A6C34878D82A}">
                        <a16:rowId xmlns:a16="http://schemas.microsoft.com/office/drawing/2014/main" val="2390943885"/>
                      </a:ext>
                    </a:extLst>
                  </a:tr>
                </a:tbl>
              </a:graphicData>
            </a:graphic>
          </p:graphicFrame>
        </mc:Choice>
        <mc:Fallback xmlns="">
          <p:graphicFrame>
            <p:nvGraphicFramePr>
              <p:cNvPr id="17" name="Tabla 16"/>
              <p:cNvGraphicFramePr>
                <a:graphicFrameLocks noGrp="1"/>
              </p:cNvGraphicFramePr>
              <p:nvPr>
                <p:extLst>
                  <p:ext uri="{D42A27DB-BD31-4B8C-83A1-F6EECF244321}">
                    <p14:modId xmlns:p14="http://schemas.microsoft.com/office/powerpoint/2010/main" val="394164248"/>
                  </p:ext>
                </p:extLst>
              </p:nvPr>
            </p:nvGraphicFramePr>
            <p:xfrm>
              <a:off x="964022" y="2130454"/>
              <a:ext cx="3555727" cy="438912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1463040">
                    <a:tc>
                      <a:txBody>
                        <a:bodyPr/>
                        <a:lstStyle/>
                        <a:p>
                          <a:endParaRPr lang="es-MX"/>
                        </a:p>
                      </a:txBody>
                      <a:tcPr>
                        <a:blipFill>
                          <a:blip r:embed="rId4"/>
                          <a:stretch>
                            <a:fillRect t="-417" r="-171" b="-200833"/>
                          </a:stretch>
                        </a:blipFill>
                      </a:tcPr>
                    </a:tc>
                    <a:extLst>
                      <a:ext uri="{0D108BD9-81ED-4DB2-BD59-A6C34878D82A}">
                        <a16:rowId xmlns:a16="http://schemas.microsoft.com/office/drawing/2014/main" val="3341491101"/>
                      </a:ext>
                    </a:extLst>
                  </a:tr>
                  <a:tr h="1463040">
                    <a:tc>
                      <a:txBody>
                        <a:bodyPr/>
                        <a:lstStyle/>
                        <a:p>
                          <a:endParaRPr lang="es-MX"/>
                        </a:p>
                      </a:txBody>
                      <a:tcPr>
                        <a:blipFill>
                          <a:blip r:embed="rId4"/>
                          <a:stretch>
                            <a:fillRect t="-100000" r="-171" b="-100000"/>
                          </a:stretch>
                        </a:blipFill>
                      </a:tcPr>
                    </a:tc>
                    <a:extLst>
                      <a:ext uri="{0D108BD9-81ED-4DB2-BD59-A6C34878D82A}">
                        <a16:rowId xmlns:a16="http://schemas.microsoft.com/office/drawing/2014/main" val="3302177774"/>
                      </a:ext>
                    </a:extLst>
                  </a:tr>
                  <a:tr h="1463040">
                    <a:tc>
                      <a:txBody>
                        <a:bodyPr/>
                        <a:lstStyle/>
                        <a:p>
                          <a:endParaRPr lang="es-MX"/>
                        </a:p>
                      </a:txBody>
                      <a:tcPr>
                        <a:blipFill>
                          <a:blip r:embed="rId4"/>
                          <a:stretch>
                            <a:fillRect t="-200833" r="-171" b="-417"/>
                          </a:stretch>
                        </a:blipFill>
                      </a:tcPr>
                    </a:tc>
                    <a:extLst>
                      <a:ext uri="{0D108BD9-81ED-4DB2-BD59-A6C34878D82A}">
                        <a16:rowId xmlns:a16="http://schemas.microsoft.com/office/drawing/2014/main" val="2390943885"/>
                      </a:ext>
                    </a:extLst>
                  </a:tr>
                </a:tbl>
              </a:graphicData>
            </a:graphic>
          </p:graphicFrame>
        </mc:Fallback>
      </mc:AlternateContent>
      <p:pic>
        <p:nvPicPr>
          <p:cNvPr id="18" name="Imagen 17"/>
          <p:cNvPicPr>
            <a:picLocks noChangeAspect="1"/>
          </p:cNvPicPr>
          <p:nvPr/>
        </p:nvPicPr>
        <p:blipFill>
          <a:blip r:embed="rId5"/>
          <a:stretch>
            <a:fillRect/>
          </a:stretch>
        </p:blipFill>
        <p:spPr>
          <a:xfrm>
            <a:off x="5026295" y="1971568"/>
            <a:ext cx="3552825" cy="1838325"/>
          </a:xfrm>
          <a:prstGeom prst="rect">
            <a:avLst/>
          </a:prstGeom>
        </p:spPr>
      </p:pic>
      <p:pic>
        <p:nvPicPr>
          <p:cNvPr id="19" name="Imagen 18"/>
          <p:cNvPicPr>
            <a:picLocks noChangeAspect="1"/>
          </p:cNvPicPr>
          <p:nvPr/>
        </p:nvPicPr>
        <p:blipFill>
          <a:blip r:embed="rId6"/>
          <a:stretch>
            <a:fillRect/>
          </a:stretch>
        </p:blipFill>
        <p:spPr>
          <a:xfrm>
            <a:off x="7125083" y="3809893"/>
            <a:ext cx="3590925" cy="1314450"/>
          </a:xfrm>
          <a:prstGeom prst="rect">
            <a:avLst/>
          </a:prstGeom>
        </p:spPr>
      </p:pic>
      <p:pic>
        <p:nvPicPr>
          <p:cNvPr id="20" name="Imagen 19"/>
          <p:cNvPicPr>
            <a:picLocks noChangeAspect="1"/>
          </p:cNvPicPr>
          <p:nvPr/>
        </p:nvPicPr>
        <p:blipFill>
          <a:blip r:embed="rId7"/>
          <a:stretch>
            <a:fillRect/>
          </a:stretch>
        </p:blipFill>
        <p:spPr>
          <a:xfrm>
            <a:off x="8350023" y="5268563"/>
            <a:ext cx="3590925" cy="1333500"/>
          </a:xfrm>
          <a:prstGeom prst="rect">
            <a:avLst/>
          </a:prstGeom>
        </p:spPr>
      </p:pic>
      <p:cxnSp>
        <p:nvCxnSpPr>
          <p:cNvPr id="22" name="Conector recto de flecha 21"/>
          <p:cNvCxnSpPr>
            <a:endCxn id="18" idx="1"/>
          </p:cNvCxnSpPr>
          <p:nvPr/>
        </p:nvCxnSpPr>
        <p:spPr>
          <a:xfrm>
            <a:off x="4519749" y="2890730"/>
            <a:ext cx="506546"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a:endCxn id="20" idx="1"/>
          </p:cNvCxnSpPr>
          <p:nvPr/>
        </p:nvCxnSpPr>
        <p:spPr>
          <a:xfrm flipV="1">
            <a:off x="4591784" y="5935313"/>
            <a:ext cx="3758239" cy="197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p:cNvCxnSpPr/>
          <p:nvPr/>
        </p:nvCxnSpPr>
        <p:spPr>
          <a:xfrm>
            <a:off x="4591784" y="4325014"/>
            <a:ext cx="253329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467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arn(inVertic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arn(inVertical)">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circle(in)">
                                      <p:cBhvr>
                                        <p:cTn id="35" dur="20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barn(inVertical)">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circle(in)">
                                      <p:cBhvr>
                                        <p:cTn id="4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Cálculo del valor crítico</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32228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Calcula los valores críticos en cada caso, suponga que se aplica la distribución normal.</a:t>
                </a:r>
              </a:p>
              <a:p>
                <a:pPr marL="800100" lvl="1" indent="-342900">
                  <a:buFont typeface="+mj-lt"/>
                  <a:buAutoNum type="arabicPeriod"/>
                </a:pPr>
                <a:r>
                  <a:rPr lang="es-MX" dirty="0">
                    <a:solidFill>
                      <a:schemeClr val="bg1"/>
                    </a:solidFill>
                    <a:latin typeface="Times New Roman" panose="02020603050405020304" pitchFamily="18" charset="0"/>
                    <a:cs typeface="Times New Roman" panose="02020603050405020304" pitchFamily="18" charset="0"/>
                  </a:rPr>
                  <a:t>Prueba de cola derecha; </a:t>
                </a:r>
                <a14:m>
                  <m:oMath xmlns:m="http://schemas.openxmlformats.org/officeDocument/2006/math">
                    <m:r>
                      <a:rPr lang="es-MX" i="1">
                        <a:solidFill>
                          <a:schemeClr val="bg1"/>
                        </a:solidFill>
                        <a:latin typeface="Cambria Math" panose="02040503050406030204" pitchFamily="18" charset="0"/>
                      </a:rPr>
                      <m:t>𝛼</m:t>
                    </m:r>
                    <m:r>
                      <a:rPr lang="es-MX" i="1">
                        <a:solidFill>
                          <a:schemeClr val="bg1"/>
                        </a:solidFill>
                        <a:latin typeface="Cambria Math" panose="02040503050406030204" pitchFamily="18" charset="0"/>
                      </a:rPr>
                      <m:t>=0.01</m:t>
                    </m:r>
                  </m:oMath>
                </a14:m>
                <a:endParaRPr lang="es-MX" dirty="0">
                  <a:solidFill>
                    <a:schemeClr val="bg1"/>
                  </a:solidFill>
                  <a:latin typeface="Times New Roman" panose="02020603050405020304" pitchFamily="18" charset="0"/>
                  <a:cs typeface="Times New Roman" panose="02020603050405020304" pitchFamily="18" charset="0"/>
                </a:endParaRPr>
              </a:p>
              <a:p>
                <a:pPr marL="800100" lvl="1" indent="-342900">
                  <a:buFont typeface="+mj-lt"/>
                  <a:buAutoNum type="arabicPeriod"/>
                </a:pPr>
                <a14:m>
                  <m:oMath xmlns:m="http://schemas.openxmlformats.org/officeDocument/2006/math">
                    <m:r>
                      <a:rPr lang="es-MX" i="1">
                        <a:solidFill>
                          <a:schemeClr val="bg1"/>
                        </a:solidFill>
                        <a:latin typeface="Cambria Math" panose="02040503050406030204" pitchFamily="18" charset="0"/>
                      </a:rPr>
                      <m:t>𝛼</m:t>
                    </m:r>
                    <m:r>
                      <a:rPr lang="es-MX" i="1">
                        <a:solidFill>
                          <a:schemeClr val="bg1"/>
                        </a:solidFill>
                        <a:latin typeface="Cambria Math" panose="02040503050406030204" pitchFamily="18" charset="0"/>
                      </a:rPr>
                      <m:t>=0.10</m:t>
                    </m:r>
                  </m:oMath>
                </a14:m>
                <a:r>
                  <a:rPr lang="es-MX"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𝐻</m:t>
                        </m:r>
                      </m:e>
                      <m:sub>
                        <m:r>
                          <a:rPr lang="es-MX" i="1">
                            <a:solidFill>
                              <a:schemeClr val="bg1"/>
                            </a:solidFill>
                            <a:latin typeface="Cambria Math" panose="02040503050406030204" pitchFamily="18" charset="0"/>
                          </a:rPr>
                          <m:t>1</m:t>
                        </m:r>
                      </m:sub>
                    </m:sSub>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rPr>
                      <m:t>𝑝</m:t>
                    </m:r>
                    <m:r>
                      <a:rPr lang="es-MX" i="1">
                        <a:solidFill>
                          <a:schemeClr val="bg1"/>
                        </a:solidFill>
                        <a:latin typeface="Cambria Math" panose="02040503050406030204" pitchFamily="18" charset="0"/>
                      </a:rPr>
                      <m:t>≠0.17</m:t>
                    </m:r>
                  </m:oMath>
                </a14:m>
                <a:endParaRPr lang="es-MX" dirty="0">
                  <a:solidFill>
                    <a:schemeClr val="bg1"/>
                  </a:solidFill>
                  <a:latin typeface="Times New Roman" panose="02020603050405020304" pitchFamily="18" charset="0"/>
                  <a:cs typeface="Times New Roman" panose="02020603050405020304" pitchFamily="18" charset="0"/>
                </a:endParaRPr>
              </a:p>
              <a:p>
                <a:pPr marL="800100" lvl="1" indent="-342900">
                  <a:buFont typeface="+mj-lt"/>
                  <a:buAutoNum type="arabicPeriod"/>
                </a:pPr>
                <a14:m>
                  <m:oMath xmlns:m="http://schemas.openxmlformats.org/officeDocument/2006/math">
                    <m:r>
                      <a:rPr lang="es-MX" i="1">
                        <a:solidFill>
                          <a:schemeClr val="bg1"/>
                        </a:solidFill>
                        <a:latin typeface="Cambria Math" panose="02040503050406030204" pitchFamily="18" charset="0"/>
                      </a:rPr>
                      <m:t>𝛼</m:t>
                    </m:r>
                    <m:r>
                      <a:rPr lang="es-MX" i="1">
                        <a:solidFill>
                          <a:schemeClr val="bg1"/>
                        </a:solidFill>
                        <a:latin typeface="Cambria Math" panose="02040503050406030204" pitchFamily="18" charset="0"/>
                      </a:rPr>
                      <m:t>=0.02</m:t>
                    </m:r>
                  </m:oMath>
                </a14:m>
                <a:r>
                  <a:rPr lang="es-MX"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𝐻</m:t>
                        </m:r>
                      </m:e>
                      <m:sub>
                        <m:r>
                          <a:rPr lang="es-MX" i="1">
                            <a:solidFill>
                              <a:schemeClr val="bg1"/>
                            </a:solidFill>
                            <a:latin typeface="Cambria Math" panose="02040503050406030204" pitchFamily="18" charset="0"/>
                          </a:rPr>
                          <m:t>1</m:t>
                        </m:r>
                      </m:sub>
                    </m:sSub>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rPr>
                      <m:t>𝑝</m:t>
                    </m:r>
                    <m:r>
                      <a:rPr lang="es-MX" i="1">
                        <a:solidFill>
                          <a:schemeClr val="bg1"/>
                        </a:solidFill>
                        <a:latin typeface="Cambria Math" panose="02040503050406030204" pitchFamily="18" charset="0"/>
                      </a:rPr>
                      <m:t>&lt;0.19</m:t>
                    </m:r>
                  </m:oMath>
                </a14:m>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322285"/>
              </a:xfrm>
              <a:prstGeom prst="rect">
                <a:avLst/>
              </a:prstGeom>
              <a:blipFill>
                <a:blip r:embed="rId3"/>
                <a:stretch>
                  <a:fillRect l="-457" t="-2283" r="-391" b="-5936"/>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200246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Valor P</a:t>
            </a:r>
            <a:endParaRPr lang="es-ES" sz="2600" dirty="0">
              <a:latin typeface="Times New Roman" panose="02020603050405020304" pitchFamily="18" charset="0"/>
              <a:cs typeface="Times New Roman" panose="02020603050405020304" pitchFamily="18" charset="0"/>
            </a:endParaRPr>
          </a:p>
        </p:txBody>
      </p:sp>
      <p:pic>
        <p:nvPicPr>
          <p:cNvPr id="9" name="Imagen 8"/>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325187" y="879063"/>
            <a:ext cx="7119257" cy="5262246"/>
          </a:xfrm>
          <a:prstGeom prst="rect">
            <a:avLst/>
          </a:prstGeom>
        </p:spPr>
      </p:pic>
    </p:spTree>
    <p:extLst>
      <p:ext uri="{BB962C8B-B14F-4D97-AF65-F5344CB8AC3E}">
        <p14:creationId xmlns:p14="http://schemas.microsoft.com/office/powerpoint/2010/main" val="343115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Valor P</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4684867" y="545601"/>
            <a:ext cx="4694264" cy="187051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Determine si las condiciones planteadas dan por resultado una prueba de cola derecha, de cola izquierda o de dos colas; después utilice la imagen adjunta para calcular el valor P, luego saque una conclusión acerca de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7" name="Tabla 16"/>
              <p:cNvGraphicFramePr>
                <a:graphicFrameLocks noGrp="1"/>
              </p:cNvGraphicFramePr>
              <p:nvPr>
                <p:extLst>
                  <p:ext uri="{D42A27DB-BD31-4B8C-83A1-F6EECF244321}">
                    <p14:modId xmlns:p14="http://schemas.microsoft.com/office/powerpoint/2010/main" val="4067556204"/>
                  </p:ext>
                </p:extLst>
              </p:nvPr>
            </p:nvGraphicFramePr>
            <p:xfrm>
              <a:off x="964022" y="2030063"/>
              <a:ext cx="3555727" cy="429768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r>
                            <a:rPr lang="es-MX" sz="1800" b="0" dirty="0">
                              <a:solidFill>
                                <a:schemeClr val="bg1"/>
                              </a:solidFill>
                              <a:effectLst/>
                              <a:latin typeface="Times New Roman" panose="02020603050405020304" pitchFamily="18" charset="0"/>
                              <a:ea typeface="Times New Roman" panose="02020603050405020304" pitchFamily="18" charset="0"/>
                            </a:rPr>
                            <a:t>Se utiliza un nivel de significancia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800" b="0" dirty="0">
                              <a:solidFill>
                                <a:schemeClr val="bg1"/>
                              </a:solidFill>
                              <a:effectLst/>
                              <a:latin typeface="Times New Roman" panose="02020603050405020304" pitchFamily="18" charset="0"/>
                              <a:ea typeface="Times New Roman" panose="02020603050405020304" pitchFamily="18" charset="0"/>
                            </a:rPr>
                            <a:t> para probar la aseveración de que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&gt;0.25</m:t>
                              </m:r>
                              <m:r>
                                <a:rPr lang="es-MX" sz="1800" b="0" i="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s-MX" sz="1800" b="0" dirty="0">
                              <a:solidFill>
                                <a:schemeClr val="bg1"/>
                              </a:solidFill>
                              <a:effectLst/>
                              <a:latin typeface="Times New Roman" panose="02020603050405020304" pitchFamily="18" charset="0"/>
                              <a:ea typeface="Times New Roman" panose="02020603050405020304" pitchFamily="18" charset="0"/>
                            </a:rPr>
                            <a:t> Considera que los datos muestrales dan por resultado un estadístico de prueba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=1.18</m:t>
                              </m:r>
                            </m:oMath>
                          </a14:m>
                          <a:r>
                            <a:rPr lang="es-MX" sz="1800" b="0" dirty="0">
                              <a:solidFill>
                                <a:schemeClr val="bg1"/>
                              </a:solidFill>
                              <a:effectLst/>
                              <a:latin typeface="Times New Roman" panose="02020603050405020304" pitchFamily="18" charset="0"/>
                              <a:ea typeface="Times New Roman" panose="02020603050405020304" pitchFamily="18" charset="0"/>
                            </a:rPr>
                            <a:t>.</a:t>
                          </a:r>
                        </a:p>
                      </a:txBody>
                      <a:tcPr/>
                    </a:tc>
                    <a:extLst>
                      <a:ext uri="{0D108BD9-81ED-4DB2-BD59-A6C34878D82A}">
                        <a16:rowId xmlns:a16="http://schemas.microsoft.com/office/drawing/2014/main" val="3341491101"/>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r>
                            <a:rPr lang="es-MX" sz="1800" b="0" dirty="0">
                              <a:solidFill>
                                <a:schemeClr val="bg1"/>
                              </a:solidFill>
                              <a:effectLst/>
                              <a:latin typeface="Times New Roman" panose="02020603050405020304" pitchFamily="18" charset="0"/>
                              <a:ea typeface="Times New Roman" panose="02020603050405020304" pitchFamily="18" charset="0"/>
                            </a:rPr>
                            <a:t>Se utiliza un nivel de significancia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800" b="0" dirty="0">
                              <a:solidFill>
                                <a:schemeClr val="bg1"/>
                              </a:solidFill>
                              <a:effectLst/>
                              <a:latin typeface="Times New Roman" panose="02020603050405020304" pitchFamily="18" charset="0"/>
                              <a:ea typeface="Times New Roman" panose="02020603050405020304" pitchFamily="18" charset="0"/>
                            </a:rPr>
                            <a:t> para probar la aseveración de que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≠0.25</m:t>
                              </m:r>
                            </m:oMath>
                          </a14:m>
                          <a:r>
                            <a:rPr lang="es-MX" sz="1800" b="0" dirty="0">
                              <a:solidFill>
                                <a:schemeClr val="bg1"/>
                              </a:solidFill>
                              <a:effectLst/>
                              <a:latin typeface="Times New Roman" panose="02020603050405020304" pitchFamily="18" charset="0"/>
                              <a:ea typeface="Times New Roman" panose="02020603050405020304" pitchFamily="18" charset="0"/>
                            </a:rPr>
                            <a:t>, y los datos </a:t>
                          </a:r>
                          <a:r>
                            <a:rPr lang="es-MX" sz="1800" b="0" dirty="0" err="1">
                              <a:solidFill>
                                <a:schemeClr val="bg1"/>
                              </a:solidFill>
                              <a:effectLst/>
                              <a:latin typeface="Times New Roman" panose="02020603050405020304" pitchFamily="18" charset="0"/>
                              <a:ea typeface="Times New Roman" panose="02020603050405020304" pitchFamily="18" charset="0"/>
                            </a:rPr>
                            <a:t>muestrales</a:t>
                          </a:r>
                          <a:r>
                            <a:rPr lang="es-MX" sz="1800" b="0" dirty="0">
                              <a:solidFill>
                                <a:schemeClr val="bg1"/>
                              </a:solidFill>
                              <a:effectLst/>
                              <a:latin typeface="Times New Roman" panose="02020603050405020304" pitchFamily="18" charset="0"/>
                              <a:ea typeface="Times New Roman" panose="02020603050405020304" pitchFamily="18" charset="0"/>
                            </a:rPr>
                            <a:t> dan por resultado un estadístico de prueba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=2.34</m:t>
                              </m:r>
                            </m:oMath>
                          </a14:m>
                          <a:r>
                            <a:rPr lang="es-MX" sz="1800" b="0" dirty="0">
                              <a:solidFill>
                                <a:schemeClr val="bg1"/>
                              </a:solidFill>
                              <a:effectLst/>
                              <a:latin typeface="Times New Roman" panose="02020603050405020304" pitchFamily="18" charset="0"/>
                              <a:ea typeface="Times New Roman" panose="02020603050405020304" pitchFamily="18" charset="0"/>
                            </a:rPr>
                            <a:t>.</a:t>
                          </a:r>
                        </a:p>
                        <a:p>
                          <a:pPr algn="just"/>
                          <a:endParaRPr lang="es-MX" b="0" dirty="0">
                            <a:solidFill>
                              <a:schemeClr val="bg1"/>
                            </a:solidFill>
                          </a:endParaRPr>
                        </a:p>
                      </a:txBody>
                      <a:tcPr/>
                    </a:tc>
                    <a:extLst>
                      <a:ext uri="{0D108BD9-81ED-4DB2-BD59-A6C34878D82A}">
                        <a16:rowId xmlns:a16="http://schemas.microsoft.com/office/drawing/2014/main" val="3302177774"/>
                      </a:ext>
                    </a:extLst>
                  </a:tr>
                </a:tbl>
              </a:graphicData>
            </a:graphic>
          </p:graphicFrame>
        </mc:Choice>
        <mc:Fallback xmlns="">
          <p:graphicFrame>
            <p:nvGraphicFramePr>
              <p:cNvPr id="17" name="Tabla 16"/>
              <p:cNvGraphicFramePr>
                <a:graphicFrameLocks noGrp="1"/>
              </p:cNvGraphicFramePr>
              <p:nvPr>
                <p:extLst>
                  <p:ext uri="{D42A27DB-BD31-4B8C-83A1-F6EECF244321}">
                    <p14:modId xmlns:p14="http://schemas.microsoft.com/office/powerpoint/2010/main" val="4067556204"/>
                  </p:ext>
                </p:extLst>
              </p:nvPr>
            </p:nvGraphicFramePr>
            <p:xfrm>
              <a:off x="964022" y="2030063"/>
              <a:ext cx="3555727" cy="429768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2011680">
                    <a:tc>
                      <a:txBody>
                        <a:bodyPr/>
                        <a:lstStyle/>
                        <a:p>
                          <a:endParaRPr lang="es-MX"/>
                        </a:p>
                      </a:txBody>
                      <a:tcPr>
                        <a:blipFill>
                          <a:blip r:embed="rId3"/>
                          <a:stretch>
                            <a:fillRect t="-606" r="-171" b="-114242"/>
                          </a:stretch>
                        </a:blipFill>
                      </a:tcPr>
                    </a:tc>
                    <a:extLst>
                      <a:ext uri="{0D108BD9-81ED-4DB2-BD59-A6C34878D82A}">
                        <a16:rowId xmlns:a16="http://schemas.microsoft.com/office/drawing/2014/main" val="3341491101"/>
                      </a:ext>
                    </a:extLst>
                  </a:tr>
                  <a:tr h="2286000">
                    <a:tc>
                      <a:txBody>
                        <a:bodyPr/>
                        <a:lstStyle/>
                        <a:p>
                          <a:endParaRPr lang="es-MX"/>
                        </a:p>
                      </a:txBody>
                      <a:tcPr>
                        <a:blipFill>
                          <a:blip r:embed="rId3"/>
                          <a:stretch>
                            <a:fillRect t="-88298" r="-171" b="-266"/>
                          </a:stretch>
                        </a:blipFill>
                      </a:tcPr>
                    </a:tc>
                    <a:extLst>
                      <a:ext uri="{0D108BD9-81ED-4DB2-BD59-A6C34878D82A}">
                        <a16:rowId xmlns:a16="http://schemas.microsoft.com/office/drawing/2014/main" val="3302177774"/>
                      </a:ext>
                    </a:extLst>
                  </a:tr>
                </a:tbl>
              </a:graphicData>
            </a:graphic>
          </p:graphicFrame>
        </mc:Fallback>
      </mc:AlternateContent>
      <p:pic>
        <p:nvPicPr>
          <p:cNvPr id="3" name="Imagen 2"/>
          <p:cNvPicPr>
            <a:picLocks noChangeAspect="1"/>
          </p:cNvPicPr>
          <p:nvPr/>
        </p:nvPicPr>
        <p:blipFill>
          <a:blip r:embed="rId4"/>
          <a:stretch>
            <a:fillRect/>
          </a:stretch>
        </p:blipFill>
        <p:spPr>
          <a:xfrm>
            <a:off x="5526180" y="2668238"/>
            <a:ext cx="3714750" cy="1647825"/>
          </a:xfrm>
          <a:prstGeom prst="rect">
            <a:avLst/>
          </a:prstGeom>
        </p:spPr>
      </p:pic>
      <p:pic>
        <p:nvPicPr>
          <p:cNvPr id="4" name="Imagen 3"/>
          <p:cNvPicPr>
            <a:picLocks noChangeAspect="1"/>
          </p:cNvPicPr>
          <p:nvPr/>
        </p:nvPicPr>
        <p:blipFill>
          <a:blip r:embed="rId5"/>
          <a:stretch>
            <a:fillRect/>
          </a:stretch>
        </p:blipFill>
        <p:spPr>
          <a:xfrm>
            <a:off x="6863034" y="4568188"/>
            <a:ext cx="3743325" cy="1647825"/>
          </a:xfrm>
          <a:prstGeom prst="rect">
            <a:avLst/>
          </a:prstGeom>
        </p:spPr>
      </p:pic>
      <p:cxnSp>
        <p:nvCxnSpPr>
          <p:cNvPr id="6" name="Conector recto de flecha 5"/>
          <p:cNvCxnSpPr/>
          <p:nvPr/>
        </p:nvCxnSpPr>
        <p:spPr>
          <a:xfrm>
            <a:off x="4519749" y="3291840"/>
            <a:ext cx="888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a:off x="4519749" y="5392100"/>
            <a:ext cx="216843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367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circle(in)">
                                      <p:cBhvr>
                                        <p:cTn id="26" dur="2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arn(inVertic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Decisiones y Conclusiones</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365758"/>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procedimiento convencional de prueba de hipótesis requiere siempre probemos la hipótesis nula, de manera que nuestra conclusión inicial siempre será una de las siguientes:</a:t>
            </a:r>
            <a:endParaRPr lang="es-MX"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Rechazo la hipótesis nula</a:t>
            </a:r>
            <a:endParaRPr lang="es-MX"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 rechazo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F494AF8A-D47C-6E15-F0A8-B546B382BBB9}"/>
              </a:ext>
            </a:extLst>
          </p:cNvPr>
          <p:cNvSpPr txBox="1"/>
          <p:nvPr/>
        </p:nvSpPr>
        <p:spPr>
          <a:xfrm>
            <a:off x="964021" y="3947574"/>
            <a:ext cx="9332916" cy="96680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decisión de rechazar o no rechazar la hipótesis nula suele realizarse por medio del método tradicional de prueba de hipótesis, el método del valor P, o bien, la decisión puede basarse en intervalos de confianza.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116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Decisiones y Conclusiones</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a 2"/>
              <p:cNvGraphicFramePr>
                <a:graphicFrameLocks noGrp="1"/>
              </p:cNvGraphicFramePr>
              <p:nvPr>
                <p:extLst>
                  <p:ext uri="{D42A27DB-BD31-4B8C-83A1-F6EECF244321}">
                    <p14:modId xmlns:p14="http://schemas.microsoft.com/office/powerpoint/2010/main" val="2453073979"/>
                  </p:ext>
                </p:extLst>
              </p:nvPr>
            </p:nvGraphicFramePr>
            <p:xfrm>
              <a:off x="964021" y="2352525"/>
              <a:ext cx="9407888" cy="3571748"/>
            </p:xfrm>
            <a:graphic>
              <a:graphicData uri="http://schemas.openxmlformats.org/drawingml/2006/table">
                <a:tbl>
                  <a:tblPr firstRow="1" bandRow="1">
                    <a:tableStyleId>{0505E3EF-67EA-436B-97B2-0124C06EBD24}</a:tableStyleId>
                  </a:tblPr>
                  <a:tblGrid>
                    <a:gridCol w="3197002">
                      <a:extLst>
                        <a:ext uri="{9D8B030D-6E8A-4147-A177-3AD203B41FA5}">
                          <a16:colId xmlns:a16="http://schemas.microsoft.com/office/drawing/2014/main" val="2380006463"/>
                        </a:ext>
                      </a:extLst>
                    </a:gridCol>
                    <a:gridCol w="6210886">
                      <a:extLst>
                        <a:ext uri="{9D8B030D-6E8A-4147-A177-3AD203B41FA5}">
                          <a16:colId xmlns:a16="http://schemas.microsoft.com/office/drawing/2014/main" val="3610993370"/>
                        </a:ext>
                      </a:extLst>
                    </a:gridCol>
                  </a:tblGrid>
                  <a:tr h="382774">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Tradicional</a:t>
                          </a:r>
                        </a:p>
                      </a:txBody>
                      <a:tcPr/>
                    </a:tc>
                    <a:tc>
                      <a:txBody>
                        <a:bodyPr/>
                        <a:lstStyle/>
                        <a:p>
                          <a:pPr algn="just">
                            <a:lnSpc>
                              <a:spcPct val="107000"/>
                            </a:lnSpc>
                            <a:spcAft>
                              <a:spcPts val="800"/>
                            </a:spcAft>
                          </a:pPr>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si el estadístico de prueba cae dentro de la región crítica.</a:t>
                          </a:r>
                          <a:endParaRPr lang="es-MX" sz="1600" b="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b="0" dirty="0">
                              <a:effectLst/>
                              <a:latin typeface="Times New Roman" panose="02020603050405020304" pitchFamily="18" charset="0"/>
                              <a:ea typeface="Times New Roman" panose="02020603050405020304" pitchFamily="18" charset="0"/>
                            </a:rPr>
                            <a:t>No 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rPr>
                            <a:t> si el estadístico de prueba no cae dentro de la región crítica. </a:t>
                          </a:r>
                          <a:endParaRPr lang="es-MX" b="0" dirty="0"/>
                        </a:p>
                      </a:txBody>
                      <a:tcPr/>
                    </a:tc>
                    <a:extLst>
                      <a:ext uri="{0D108BD9-81ED-4DB2-BD59-A6C34878D82A}">
                        <a16:rowId xmlns:a16="http://schemas.microsoft.com/office/drawing/2014/main" val="1830143981"/>
                      </a:ext>
                    </a:extLst>
                  </a:tr>
                  <a:tr h="382774">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del valor P</a:t>
                          </a:r>
                        </a:p>
                      </a:txBody>
                      <a:tcPr/>
                    </a:tc>
                    <a:tc>
                      <a:txBody>
                        <a:bodyPr/>
                        <a:lstStyle/>
                        <a:p>
                          <a:pPr algn="just">
                            <a:lnSpc>
                              <a:spcPct val="107000"/>
                            </a:lnSpc>
                            <a:spcAft>
                              <a:spcPts val="800"/>
                            </a:spcAft>
                          </a:pPr>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si el valor de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(donde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es el nivel de significancia)</a:t>
                          </a:r>
                          <a:endParaRPr lang="es-MX" sz="1600" b="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b="0" dirty="0">
                              <a:effectLst/>
                              <a:latin typeface="Times New Roman" panose="02020603050405020304" pitchFamily="18" charset="0"/>
                              <a:ea typeface="Times New Roman" panose="02020603050405020304" pitchFamily="18" charset="0"/>
                            </a:rPr>
                            <a:t>No 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rPr>
                            <a:t> si el valor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&gt;</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endParaRPr lang="es-MX" b="0" dirty="0"/>
                        </a:p>
                      </a:txBody>
                      <a:tcPr/>
                    </a:tc>
                    <a:extLst>
                      <a:ext uri="{0D108BD9-81ED-4DB2-BD59-A6C34878D82A}">
                        <a16:rowId xmlns:a16="http://schemas.microsoft.com/office/drawing/2014/main" val="4184345011"/>
                      </a:ext>
                    </a:extLst>
                  </a:tr>
                  <a:tr h="382774">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Intervalos de confianza</a:t>
                          </a:r>
                        </a:p>
                      </a:txBody>
                      <a:tcPr/>
                    </a:tc>
                    <a:tc>
                      <a:txBody>
                        <a:bodyPr/>
                        <a:lstStyle/>
                        <a:p>
                          <a:pPr algn="just"/>
                          <a:r>
                            <a:rPr lang="es-MX" sz="1800" b="0" dirty="0">
                              <a:effectLst/>
                              <a:latin typeface="Times New Roman" panose="02020603050405020304" pitchFamily="18" charset="0"/>
                              <a:ea typeface="Times New Roman" panose="02020603050405020304" pitchFamily="18" charset="0"/>
                            </a:rPr>
                            <a:t>Como un estimado del intervalo de confianza de un parámetro de población contiene los valores posibles de tal parámetro, rechace la aseveración de que el parámetro de población tiene un valor que no está incluido en el intervalo de confianza.</a:t>
                          </a:r>
                          <a:endParaRPr lang="es-MX" b="0" dirty="0"/>
                        </a:p>
                      </a:txBody>
                      <a:tcPr/>
                    </a:tc>
                    <a:extLst>
                      <a:ext uri="{0D108BD9-81ED-4DB2-BD59-A6C34878D82A}">
                        <a16:rowId xmlns:a16="http://schemas.microsoft.com/office/drawing/2014/main" val="1973401492"/>
                      </a:ext>
                    </a:extLst>
                  </a:tr>
                </a:tbl>
              </a:graphicData>
            </a:graphic>
          </p:graphicFrame>
        </mc:Choice>
        <mc:Fallback xmlns="">
          <p:graphicFrame>
            <p:nvGraphicFramePr>
              <p:cNvPr id="3" name="Tabla 2"/>
              <p:cNvGraphicFramePr>
                <a:graphicFrameLocks noGrp="1"/>
              </p:cNvGraphicFramePr>
              <p:nvPr>
                <p:extLst>
                  <p:ext uri="{D42A27DB-BD31-4B8C-83A1-F6EECF244321}">
                    <p14:modId xmlns:p14="http://schemas.microsoft.com/office/powerpoint/2010/main" val="2453073979"/>
                  </p:ext>
                </p:extLst>
              </p:nvPr>
            </p:nvGraphicFramePr>
            <p:xfrm>
              <a:off x="964021" y="2352525"/>
              <a:ext cx="9407888" cy="3571748"/>
            </p:xfrm>
            <a:graphic>
              <a:graphicData uri="http://schemas.openxmlformats.org/drawingml/2006/table">
                <a:tbl>
                  <a:tblPr firstRow="1" bandRow="1">
                    <a:tableStyleId>{0505E3EF-67EA-436B-97B2-0124C06EBD24}</a:tableStyleId>
                  </a:tblPr>
                  <a:tblGrid>
                    <a:gridCol w="3197002">
                      <a:extLst>
                        <a:ext uri="{9D8B030D-6E8A-4147-A177-3AD203B41FA5}">
                          <a16:colId xmlns:a16="http://schemas.microsoft.com/office/drawing/2014/main" val="2380006463"/>
                        </a:ext>
                      </a:extLst>
                    </a:gridCol>
                    <a:gridCol w="6210886">
                      <a:extLst>
                        <a:ext uri="{9D8B030D-6E8A-4147-A177-3AD203B41FA5}">
                          <a16:colId xmlns:a16="http://schemas.microsoft.com/office/drawing/2014/main" val="3610993370"/>
                        </a:ext>
                      </a:extLst>
                    </a:gridCol>
                  </a:tblGrid>
                  <a:tr h="1328674">
                    <a:tc>
                      <a:txBody>
                        <a:bodyPr/>
                        <a:lstStyle/>
                        <a:p>
                          <a:pPr algn="ctr"/>
                          <a:endParaRPr lang="es-MX" b="1" dirty="0" smtClean="0">
                            <a:latin typeface="Times New Roman" panose="02020603050405020304" pitchFamily="18" charset="0"/>
                            <a:cs typeface="Times New Roman" panose="02020603050405020304" pitchFamily="18" charset="0"/>
                          </a:endParaRPr>
                        </a:p>
                        <a:p>
                          <a:pPr algn="ctr"/>
                          <a:r>
                            <a:rPr lang="es-MX" b="1" dirty="0" smtClean="0">
                              <a:latin typeface="Times New Roman" panose="02020603050405020304" pitchFamily="18" charset="0"/>
                              <a:cs typeface="Times New Roman" panose="02020603050405020304" pitchFamily="18" charset="0"/>
                            </a:rPr>
                            <a:t>Método Tradicional</a:t>
                          </a:r>
                          <a:endParaRPr lang="es-MX" b="1" dirty="0">
                            <a:latin typeface="Times New Roman" panose="02020603050405020304" pitchFamily="18" charset="0"/>
                            <a:cs typeface="Times New Roman" panose="02020603050405020304" pitchFamily="18" charset="0"/>
                          </a:endParaRPr>
                        </a:p>
                      </a:txBody>
                      <a:tcPr/>
                    </a:tc>
                    <a:tc>
                      <a:txBody>
                        <a:bodyPr/>
                        <a:lstStyle/>
                        <a:p>
                          <a:endParaRPr lang="es-MX"/>
                        </a:p>
                      </a:txBody>
                      <a:tcPr>
                        <a:blipFill>
                          <a:blip r:embed="rId3"/>
                          <a:stretch>
                            <a:fillRect l="-51619" t="-2294" r="-196" b="-176606"/>
                          </a:stretch>
                        </a:blipFill>
                      </a:tcPr>
                    </a:tc>
                    <a:extLst>
                      <a:ext uri="{0D108BD9-81ED-4DB2-BD59-A6C34878D82A}">
                        <a16:rowId xmlns:a16="http://schemas.microsoft.com/office/drawing/2014/main" val="1830143981"/>
                      </a:ext>
                    </a:extLst>
                  </a:tr>
                  <a:tr h="1054354">
                    <a:tc>
                      <a:txBody>
                        <a:bodyPr/>
                        <a:lstStyle/>
                        <a:p>
                          <a:pPr algn="ctr"/>
                          <a:endParaRPr lang="es-MX" b="1" dirty="0" smtClean="0">
                            <a:latin typeface="Times New Roman" panose="02020603050405020304" pitchFamily="18" charset="0"/>
                            <a:cs typeface="Times New Roman" panose="02020603050405020304" pitchFamily="18" charset="0"/>
                          </a:endParaRPr>
                        </a:p>
                        <a:p>
                          <a:pPr algn="ctr"/>
                          <a:r>
                            <a:rPr lang="es-MX" b="1" dirty="0" smtClean="0">
                              <a:latin typeface="Times New Roman" panose="02020603050405020304" pitchFamily="18" charset="0"/>
                              <a:cs typeface="Times New Roman" panose="02020603050405020304" pitchFamily="18" charset="0"/>
                            </a:rPr>
                            <a:t>Método del valor P</a:t>
                          </a:r>
                          <a:endParaRPr lang="es-MX" b="1" dirty="0">
                            <a:latin typeface="Times New Roman" panose="02020603050405020304" pitchFamily="18" charset="0"/>
                            <a:cs typeface="Times New Roman" panose="02020603050405020304" pitchFamily="18" charset="0"/>
                          </a:endParaRPr>
                        </a:p>
                      </a:txBody>
                      <a:tcPr/>
                    </a:tc>
                    <a:tc>
                      <a:txBody>
                        <a:bodyPr/>
                        <a:lstStyle/>
                        <a:p>
                          <a:endParaRPr lang="es-MX"/>
                        </a:p>
                      </a:txBody>
                      <a:tcPr>
                        <a:blipFill>
                          <a:blip r:embed="rId3"/>
                          <a:stretch>
                            <a:fillRect l="-51619" t="-128161" r="-196" b="-121264"/>
                          </a:stretch>
                        </a:blipFill>
                      </a:tcPr>
                    </a:tc>
                    <a:extLst>
                      <a:ext uri="{0D108BD9-81ED-4DB2-BD59-A6C34878D82A}">
                        <a16:rowId xmlns:a16="http://schemas.microsoft.com/office/drawing/2014/main" val="4184345011"/>
                      </a:ext>
                    </a:extLst>
                  </a:tr>
                  <a:tr h="1188720">
                    <a:tc>
                      <a:txBody>
                        <a:bodyPr/>
                        <a:lstStyle/>
                        <a:p>
                          <a:pPr algn="ctr"/>
                          <a:endParaRPr lang="es-MX" b="1" dirty="0" smtClean="0">
                            <a:latin typeface="Times New Roman" panose="02020603050405020304" pitchFamily="18" charset="0"/>
                            <a:cs typeface="Times New Roman" panose="02020603050405020304" pitchFamily="18" charset="0"/>
                          </a:endParaRPr>
                        </a:p>
                        <a:p>
                          <a:pPr algn="ctr"/>
                          <a:r>
                            <a:rPr lang="es-MX" b="1" dirty="0" smtClean="0">
                              <a:latin typeface="Times New Roman" panose="02020603050405020304" pitchFamily="18" charset="0"/>
                              <a:cs typeface="Times New Roman" panose="02020603050405020304" pitchFamily="18" charset="0"/>
                            </a:rPr>
                            <a:t>Intervalos de confianza</a:t>
                          </a:r>
                          <a:endParaRPr lang="es-MX" b="1" dirty="0">
                            <a:latin typeface="Times New Roman" panose="02020603050405020304" pitchFamily="18" charset="0"/>
                            <a:cs typeface="Times New Roman" panose="02020603050405020304" pitchFamily="18" charset="0"/>
                          </a:endParaRPr>
                        </a:p>
                      </a:txBody>
                      <a:tcPr/>
                    </a:tc>
                    <a:tc>
                      <a:txBody>
                        <a:bodyPr/>
                        <a:lstStyle/>
                        <a:p>
                          <a:pPr algn="just"/>
                          <a:r>
                            <a:rPr lang="es-MX" sz="1800" b="0" dirty="0" smtClean="0">
                              <a:effectLst/>
                              <a:latin typeface="Times New Roman" panose="02020603050405020304" pitchFamily="18" charset="0"/>
                              <a:ea typeface="Times New Roman" panose="02020603050405020304" pitchFamily="18" charset="0"/>
                            </a:rPr>
                            <a:t>Como un estimado del intervalo de confianza de un parámetro de población contiene los valores posibles de tal parámetro, rechace la aseveración de que el parámetro de población tiene un valor que no está incluido en el intervalo de confianza.</a:t>
                          </a:r>
                          <a:endParaRPr lang="es-MX" b="0" dirty="0"/>
                        </a:p>
                      </a:txBody>
                      <a:tcPr/>
                    </a:tc>
                    <a:extLst>
                      <a:ext uri="{0D108BD9-81ED-4DB2-BD59-A6C34878D82A}">
                        <a16:rowId xmlns:a16="http://schemas.microsoft.com/office/drawing/2014/main" val="1973401492"/>
                      </a:ext>
                    </a:extLst>
                  </a:tr>
                </a:tbl>
              </a:graphicData>
            </a:graphic>
          </p:graphicFrame>
        </mc:Fallback>
      </mc:AlternateContent>
    </p:spTree>
    <p:extLst>
      <p:ext uri="{BB962C8B-B14F-4D97-AF65-F5344CB8AC3E}">
        <p14:creationId xmlns:p14="http://schemas.microsoft.com/office/powerpoint/2010/main" val="164944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1243</TotalTime>
  <Words>1391</Words>
  <Application>Microsoft Office PowerPoint</Application>
  <PresentationFormat>Panorámica</PresentationFormat>
  <Paragraphs>94</Paragraphs>
  <Slides>18</Slides>
  <Notes>18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Arial</vt:lpstr>
      <vt:lpstr>Calibri</vt:lpstr>
      <vt:lpstr>Cambria Math</vt:lpstr>
      <vt:lpstr>Franklin Gothic Book</vt:lpstr>
      <vt:lpstr>Franklin Gothic Demi</vt:lpstr>
      <vt:lpstr>Times New Roman</vt:lpstr>
      <vt:lpstr>Wingdings</vt:lpstr>
      <vt:lpstr>Tema1</vt:lpstr>
      <vt:lpstr>Sesión 22: Hipótesis Estadísticas</vt:lpstr>
      <vt:lpstr>Componentes de una prueba de hipótesis</vt:lpstr>
      <vt:lpstr>Componentes de una prueba de hipótesis</vt:lpstr>
      <vt:lpstr>Componentes de una prueba de hipótesis</vt:lpstr>
      <vt:lpstr>¿Cómo identificar H_0 y H_1?</vt:lpstr>
      <vt:lpstr>¿Cómo identificar H_0 y H_1?</vt:lpstr>
      <vt:lpstr>¿Cómo identificar H_0 y H_1?</vt:lpstr>
      <vt:lpstr>Estadísticos de Prueba</vt:lpstr>
      <vt:lpstr>Estadísticos de Prueba</vt:lpstr>
      <vt:lpstr>Estadísticos de Prueba</vt:lpstr>
      <vt:lpstr>Región Crítica, nivel de significancia, valor crítico y valor P</vt:lpstr>
      <vt:lpstr>Región Crítica, nivel de significancia, valor crítico y valor P</vt:lpstr>
      <vt:lpstr>Cálculo del valor crítico</vt:lpstr>
      <vt:lpstr>Cálculo del valor crítico</vt:lpstr>
      <vt:lpstr>Valor P</vt:lpstr>
      <vt:lpstr>Valor P</vt:lpstr>
      <vt:lpstr>Decisiones y Conclusiones</vt:lpstr>
      <vt:lpstr>Decisiones y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51</cp:revision>
  <dcterms:created xsi:type="dcterms:W3CDTF">2023-09-16T20:42:33Z</dcterms:created>
  <dcterms:modified xsi:type="dcterms:W3CDTF">2025-02-16T14:47:59Z</dcterms:modified>
</cp:coreProperties>
</file>