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8" r:id="rId2"/>
    <p:sldId id="269" r:id="rId3"/>
    <p:sldId id="262" r:id="rId4"/>
    <p:sldId id="279" r:id="rId5"/>
    <p:sldId id="280" r:id="rId6"/>
    <p:sldId id="274" r:id="rId7"/>
    <p:sldId id="270" r:id="rId8"/>
    <p:sldId id="259" r:id="rId9"/>
    <p:sldId id="271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04/02/2025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35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932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372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642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13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970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136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de febrero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0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Sesión 13 : Estimación de la varianza poblacional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Estimación de la varianza poblacional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494AF8A-D47C-6E15-F0A8-B546B382BBB9}"/>
              </a:ext>
            </a:extLst>
          </p:cNvPr>
          <p:cNvSpPr txBox="1"/>
          <p:nvPr/>
        </p:nvSpPr>
        <p:spPr>
          <a:xfrm>
            <a:off x="964023" y="2186609"/>
            <a:ext cx="9332916" cy="92333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muestra es aleatoria simple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población debe tener valores distribuidos normalmente (aún si la muestra es grande)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/>
              <p:nvPr/>
            </p:nvSpPr>
            <p:spPr>
              <a:xfrm>
                <a:off x="964022" y="3366188"/>
                <a:ext cx="9332916" cy="11182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una población distribuida normalmente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suponga que seleccionamos al azar una muestra independiente de tamaño n y, para cada muestra, calculamos la varianza </a:t>
                </a:r>
                <a:r>
                  <a:rPr lang="es-MX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muestral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El estadístico </a:t>
                </a:r>
                <a:r>
                  <a:rPr lang="es-MX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muestral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tiene una distribución chi-cuadrada </a:t>
                </a:r>
                <a:r>
                  <a:rPr lang="es-MX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¡demostrarlo!.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77887F-BB86-8BB4-8E75-761FE414B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366188"/>
                <a:ext cx="9332916" cy="1118255"/>
              </a:xfrm>
              <a:prstGeom prst="rect">
                <a:avLst/>
              </a:prstGeom>
              <a:blipFill>
                <a:blip r:embed="rId3"/>
                <a:stretch>
                  <a:fillRect l="-326" t="-2151" r="-5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548640"/>
            <a:ext cx="8276908" cy="941286"/>
          </a:xfrm>
        </p:spPr>
        <p:txBody>
          <a:bodyPr rtlCol="0">
            <a:noAutofit/>
          </a:bodyPr>
          <a:lstStyle/>
          <a:p>
            <a:pPr algn="just"/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Insesgadez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C2646BB-B81C-B147-F8E9-B3A599D79A33}"/>
                  </a:ext>
                </a:extLst>
              </p:cNvPr>
              <p:cNvSpPr txBox="1"/>
              <p:nvPr/>
            </p:nvSpPr>
            <p:spPr>
              <a:xfrm>
                <a:off x="964022" y="3077012"/>
                <a:ext cx="9954187" cy="70397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lvl="0" indent="-285750" algn="just">
                  <a:buFont typeface="Arial" panose="020B0604020202020204" pitchFamily="34" charset="0"/>
                  <a:buChar char="•"/>
                  <a:defRPr/>
                </a:pPr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Recordar que:</a:t>
                </a:r>
                <a:r>
                  <a:rPr kumimoji="0" lang="es-MX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 estimador</a:t>
                </a:r>
                <a:r>
                  <a:rPr kumimoji="0" lang="es-MX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puntual del parámetro </a:t>
                </a:r>
                <a14:m>
                  <m:oMath xmlns:m="http://schemas.openxmlformats.org/officeDocument/2006/math">
                    <m:r>
                      <a:rPr kumimoji="0" lang="es-MX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Diremos 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un estimador insesgado</a:t>
                </a:r>
                <a:r>
                  <a:rPr kumimoji="0" lang="es-MX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kumimoji="0" lang="es-MX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 se verifica que:</a:t>
                </a:r>
                <a:r>
                  <a:rPr kumimoji="0" lang="es-MX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MX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0" lang="es-MX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kumimoji="0" lang="es-MX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kumimoji="0" lang="es-MX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Queda por demostrar que </a:t>
                </a: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MX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s-MX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C2646BB-B81C-B147-F8E9-B3A599D79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077012"/>
                <a:ext cx="9954187" cy="703975"/>
              </a:xfrm>
              <a:prstGeom prst="rect">
                <a:avLst/>
              </a:prstGeom>
              <a:blipFill>
                <a:blip r:embed="rId3"/>
                <a:stretch>
                  <a:fillRect l="-306" t="-2564" r="-489" b="-854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A1328645-FE11-EF45-5F91-07FDA7EE1887}"/>
              </a:ext>
            </a:extLst>
          </p:cNvPr>
          <p:cNvGrpSpPr/>
          <p:nvPr/>
        </p:nvGrpSpPr>
        <p:grpSpPr>
          <a:xfrm>
            <a:off x="2540338" y="129874"/>
            <a:ext cx="1101584" cy="901425"/>
            <a:chOff x="4557" y="292098"/>
            <a:chExt cx="1412697" cy="1802850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6BA9BD95-001D-A415-58FA-42CFC475ECC9}"/>
                </a:ext>
              </a:extLst>
            </p:cNvPr>
            <p:cNvSpPr/>
            <p:nvPr/>
          </p:nvSpPr>
          <p:spPr>
            <a:xfrm>
              <a:off x="4557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1" name="Rectángulo: esquinas redondeadas 4">
              <a:extLst>
                <a:ext uri="{FF2B5EF4-FFF2-40B4-BE49-F238E27FC236}">
                  <a16:creationId xmlns:a16="http://schemas.microsoft.com/office/drawing/2014/main" id="{6C013AF8-05CC-AE62-B6FD-23D113B9F5D8}"/>
                </a:ext>
              </a:extLst>
            </p:cNvPr>
            <p:cNvSpPr txBox="1"/>
            <p:nvPr/>
          </p:nvSpPr>
          <p:spPr>
            <a:xfrm>
              <a:off x="45933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1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Definición de la población objetivo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91D5D6D-2D83-F1F9-5D6A-865C5238634F}"/>
              </a:ext>
            </a:extLst>
          </p:cNvPr>
          <p:cNvGrpSpPr/>
          <p:nvPr/>
        </p:nvGrpSpPr>
        <p:grpSpPr>
          <a:xfrm>
            <a:off x="4518114" y="129874"/>
            <a:ext cx="1101584" cy="901425"/>
            <a:chOff x="1982333" y="292098"/>
            <a:chExt cx="1412697" cy="1802850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924457B7-648A-1BBA-F702-9ED741F21721}"/>
                </a:ext>
              </a:extLst>
            </p:cNvPr>
            <p:cNvSpPr/>
            <p:nvPr/>
          </p:nvSpPr>
          <p:spPr>
            <a:xfrm>
              <a:off x="1982333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4" name="Rectángulo: esquinas redondeadas 6">
              <a:extLst>
                <a:ext uri="{FF2B5EF4-FFF2-40B4-BE49-F238E27FC236}">
                  <a16:creationId xmlns:a16="http://schemas.microsoft.com/office/drawing/2014/main" id="{696B3BB8-460D-42A7-D16D-E77522128AD8}"/>
                </a:ext>
              </a:extLst>
            </p:cNvPr>
            <p:cNvSpPr txBox="1"/>
            <p:nvPr/>
          </p:nvSpPr>
          <p:spPr>
            <a:xfrm>
              <a:off x="2023709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2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Delimitar a la población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F09D641-2A17-F511-6C42-3EF008F68236}"/>
              </a:ext>
            </a:extLst>
          </p:cNvPr>
          <p:cNvGrpSpPr/>
          <p:nvPr/>
        </p:nvGrpSpPr>
        <p:grpSpPr>
          <a:xfrm>
            <a:off x="6495890" y="129874"/>
            <a:ext cx="1101584" cy="901425"/>
            <a:chOff x="3960109" y="292098"/>
            <a:chExt cx="1412697" cy="1802850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C27B2382-EF14-9EC2-6D63-C6B619B07FC8}"/>
                </a:ext>
              </a:extLst>
            </p:cNvPr>
            <p:cNvSpPr/>
            <p:nvPr/>
          </p:nvSpPr>
          <p:spPr>
            <a:xfrm>
              <a:off x="3960109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7" name="Rectángulo: esquinas redondeadas 8">
              <a:extLst>
                <a:ext uri="{FF2B5EF4-FFF2-40B4-BE49-F238E27FC236}">
                  <a16:creationId xmlns:a16="http://schemas.microsoft.com/office/drawing/2014/main" id="{606CB045-A098-C8AA-36DE-E710C9A9985F}"/>
                </a:ext>
              </a:extLst>
            </p:cNvPr>
            <p:cNvSpPr txBox="1"/>
            <p:nvPr/>
          </p:nvSpPr>
          <p:spPr>
            <a:xfrm>
              <a:off x="4001485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3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Selección de las técnicas de muestreo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D7407D-7E72-B742-4945-AA12D3A1F8A9}"/>
              </a:ext>
            </a:extLst>
          </p:cNvPr>
          <p:cNvGrpSpPr/>
          <p:nvPr/>
        </p:nvGrpSpPr>
        <p:grpSpPr>
          <a:xfrm>
            <a:off x="8473666" y="129874"/>
            <a:ext cx="1101584" cy="901425"/>
            <a:chOff x="5937885" y="292098"/>
            <a:chExt cx="1412697" cy="1802850"/>
          </a:xfrm>
          <a:solidFill>
            <a:srgbClr val="FFC000"/>
          </a:solidFill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B7746C3E-CEA7-D3A3-042A-C38B9A8A97FD}"/>
                </a:ext>
              </a:extLst>
            </p:cNvPr>
            <p:cNvSpPr/>
            <p:nvPr/>
          </p:nvSpPr>
          <p:spPr>
            <a:xfrm>
              <a:off x="5937885" y="292098"/>
              <a:ext cx="1412697" cy="180285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0" name="Rectángulo: esquinas redondeadas 10">
              <a:extLst>
                <a:ext uri="{FF2B5EF4-FFF2-40B4-BE49-F238E27FC236}">
                  <a16:creationId xmlns:a16="http://schemas.microsoft.com/office/drawing/2014/main" id="{BDCB95E1-01E0-9135-1EA8-A6BB4EA3E3D6}"/>
                </a:ext>
              </a:extLst>
            </p:cNvPr>
            <p:cNvSpPr txBox="1"/>
            <p:nvPr/>
          </p:nvSpPr>
          <p:spPr>
            <a:xfrm>
              <a:off x="5979261" y="333474"/>
              <a:ext cx="1329945" cy="172009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4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Determinación del tamaño de la muestra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B65D08-61A9-D8AA-A5E0-B0221A86D070}"/>
                  </a:ext>
                </a:extLst>
              </p:cNvPr>
              <p:cNvSpPr txBox="1"/>
              <p:nvPr/>
            </p:nvSpPr>
            <p:spPr>
              <a:xfrm>
                <a:off x="964023" y="2186609"/>
                <a:ext cx="9954186" cy="66999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 varianzas </a:t>
                </a:r>
                <a:r>
                  <a:rPr lang="es-MX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muestrales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tienden a coincidir con el valor de la varianza poblacional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por lo que decimos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un estimador insesgado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 ∑i=1n​(Xi​−μ)=n(Xˉ−μ)</a:t>
                </a:r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B65D08-61A9-D8AA-A5E0-B0221A86D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3" y="2186609"/>
                <a:ext cx="9954186" cy="669992"/>
              </a:xfrm>
              <a:prstGeom prst="rect">
                <a:avLst/>
              </a:prstGeom>
              <a:blipFill>
                <a:blip r:embed="rId4"/>
                <a:stretch>
                  <a:fillRect l="-306" t="-4464" r="-489" b="-8929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5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BF6A2F-577E-391F-9DD4-5D8619A8D7F8}"/>
                  </a:ext>
                </a:extLst>
              </p:cNvPr>
              <p:cNvSpPr txBox="1"/>
              <p:nvPr/>
            </p:nvSpPr>
            <p:spPr>
              <a:xfrm>
                <a:off x="704711" y="2130471"/>
                <a:ext cx="2739601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BF6A2F-577E-391F-9DD4-5D8619A8D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11" y="2130471"/>
                <a:ext cx="2739601" cy="672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6E5E62F-7ED8-9BA9-17FE-20606417F49A}"/>
                  </a:ext>
                </a:extLst>
              </p:cNvPr>
              <p:cNvSpPr txBox="1"/>
              <p:nvPr/>
            </p:nvSpPr>
            <p:spPr>
              <a:xfrm>
                <a:off x="1233375" y="2906052"/>
                <a:ext cx="2942838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MX" sz="16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6E5E62F-7ED8-9BA9-17FE-20606417F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375" y="2906052"/>
                <a:ext cx="2942838" cy="672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1124323-9569-41DA-0C7F-C4FDD90B15EA}"/>
                  </a:ext>
                </a:extLst>
              </p:cNvPr>
              <p:cNvSpPr txBox="1"/>
              <p:nvPr/>
            </p:nvSpPr>
            <p:spPr>
              <a:xfrm>
                <a:off x="1233375" y="3702007"/>
                <a:ext cx="5123094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d>
                                    <m:d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1124323-9569-41DA-0C7F-C4FDD90B1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375" y="3702007"/>
                <a:ext cx="5123094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E590416-CFA3-40A1-6A31-9D5F0C43D42C}"/>
                  </a:ext>
                </a:extLst>
              </p:cNvPr>
              <p:cNvSpPr txBox="1"/>
              <p:nvPr/>
            </p:nvSpPr>
            <p:spPr>
              <a:xfrm>
                <a:off x="1155442" y="4455399"/>
                <a:ext cx="5859615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d>
                            <m:d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nary>
                                    <m:naryPr>
                                      <m:chr m:val="∑"/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e>
                                  </m:nary>
                                  <m:nary>
                                    <m:naryPr>
                                      <m:chr m:val="∑"/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s-MX" sz="1600" i="1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s-MX" sz="1600" i="1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E590416-CFA3-40A1-6A31-9D5F0C43D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442" y="4455399"/>
                <a:ext cx="5859615" cy="672172"/>
              </a:xfrm>
              <a:prstGeom prst="rect">
                <a:avLst/>
              </a:prstGeom>
              <a:blipFill>
                <a:blip r:embed="rId6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1C071D1-F97E-DA27-15DA-8A763210E283}"/>
                  </a:ext>
                </a:extLst>
              </p:cNvPr>
              <p:cNvSpPr txBox="1"/>
              <p:nvPr/>
            </p:nvSpPr>
            <p:spPr>
              <a:xfrm>
                <a:off x="1233375" y="5208791"/>
                <a:ext cx="5494971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d>
                            <m:d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s-MX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1C071D1-F97E-DA27-15DA-8A763210E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375" y="5208791"/>
                <a:ext cx="5494971" cy="6721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9CFCA71-64F2-CB83-8CFC-A7E33497A195}"/>
                  </a:ext>
                </a:extLst>
              </p:cNvPr>
              <p:cNvSpPr txBox="1"/>
              <p:nvPr/>
            </p:nvSpPr>
            <p:spPr>
              <a:xfrm>
                <a:off x="1233375" y="5903904"/>
                <a:ext cx="4803406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d>
                            <m:d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9CFCA71-64F2-CB83-8CFC-A7E33497A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375" y="5903904"/>
                <a:ext cx="4803406" cy="6721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CAA0657-C75F-D7F2-9B67-6BE68F39EC83}"/>
                  </a:ext>
                </a:extLst>
              </p:cNvPr>
              <p:cNvSpPr txBox="1"/>
              <p:nvPr/>
            </p:nvSpPr>
            <p:spPr>
              <a:xfrm>
                <a:off x="7213842" y="2130471"/>
                <a:ext cx="3621232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d>
                            <m:dPr>
                              <m:ctrlPr>
                                <a:rPr lang="es-MX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  <m:r>
                                            <a:rPr lang="es-MX" sz="16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CAA0657-C75F-D7F2-9B67-6BE68F39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842" y="2130471"/>
                <a:ext cx="3621232" cy="6721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6ED93D7-2D56-68D2-0DA0-9EC2B58B2AF6}"/>
                  </a:ext>
                </a:extLst>
              </p:cNvPr>
              <p:cNvSpPr txBox="1"/>
              <p:nvPr/>
            </p:nvSpPr>
            <p:spPr>
              <a:xfrm>
                <a:off x="7213841" y="2877835"/>
                <a:ext cx="4072857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6ED93D7-2D56-68D2-0DA0-9EC2B58B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841" y="2877835"/>
                <a:ext cx="4072857" cy="672172"/>
              </a:xfrm>
              <a:prstGeom prst="rect">
                <a:avLst/>
              </a:prstGeom>
              <a:blipFill>
                <a:blip r:embed="rId10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F39BAFB-3DC6-D4C0-61D5-EE86859F86AA}"/>
                  </a:ext>
                </a:extLst>
              </p:cNvPr>
              <p:cNvSpPr txBox="1"/>
              <p:nvPr/>
            </p:nvSpPr>
            <p:spPr>
              <a:xfrm>
                <a:off x="7204501" y="3625199"/>
                <a:ext cx="4072857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F39BAFB-3DC6-D4C0-61D5-EE86859F8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501" y="3625199"/>
                <a:ext cx="4072857" cy="6721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45793AE-B22E-3240-CDC9-8FD8DF3279E7}"/>
                  </a:ext>
                </a:extLst>
              </p:cNvPr>
              <p:cNvSpPr txBox="1"/>
              <p:nvPr/>
            </p:nvSpPr>
            <p:spPr>
              <a:xfrm>
                <a:off x="7336670" y="4381274"/>
                <a:ext cx="3172105" cy="67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16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>
                                <m:fPr>
                                  <m:ctrlP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MX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MX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45793AE-B22E-3240-CDC9-8FD8DF327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70" y="4381274"/>
                <a:ext cx="3172105" cy="67217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D8AAF23-20ED-2CA1-DD8F-CBB4C9A80EF6}"/>
                  </a:ext>
                </a:extLst>
              </p:cNvPr>
              <p:cNvSpPr txBox="1"/>
              <p:nvPr/>
            </p:nvSpPr>
            <p:spPr>
              <a:xfrm>
                <a:off x="7336669" y="5132695"/>
                <a:ext cx="1780035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D8AAF23-20ED-2CA1-DD8F-CBB4C9A80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69" y="5132695"/>
                <a:ext cx="1780035" cy="46262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79233A0-1CCE-38EB-90E1-9BA2E83C9224}"/>
                  </a:ext>
                </a:extLst>
              </p:cNvPr>
              <p:cNvSpPr txBox="1"/>
              <p:nvPr/>
            </p:nvSpPr>
            <p:spPr>
              <a:xfrm>
                <a:off x="7336669" y="5685280"/>
                <a:ext cx="1904261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79233A0-1CCE-38EB-90E1-9BA2E83C9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69" y="5685280"/>
                <a:ext cx="1904261" cy="4626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FA4B23B-CFC6-B8B0-9DBC-29CAC689B427}"/>
                  </a:ext>
                </a:extLst>
              </p:cNvPr>
              <p:cNvSpPr txBox="1"/>
              <p:nvPr/>
            </p:nvSpPr>
            <p:spPr>
              <a:xfrm>
                <a:off x="7336669" y="6237865"/>
                <a:ext cx="683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MX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FA4B23B-CFC6-B8B0-9DBC-29CAC689B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69" y="6237865"/>
                <a:ext cx="68360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D9EC324-DAE9-E1DB-05E4-3824E277A9E3}"/>
                  </a:ext>
                </a:extLst>
              </p:cNvPr>
              <p:cNvSpPr txBox="1"/>
              <p:nvPr/>
            </p:nvSpPr>
            <p:spPr>
              <a:xfrm>
                <a:off x="3353989" y="1146817"/>
                <a:ext cx="4863573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una muestra</a:t>
                </a:r>
                <a:r>
                  <a:rPr kumimoji="0" lang="es-MX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aleatoria de tamaño n de una población con media </a:t>
                </a:r>
                <a14:m>
                  <m:oMath xmlns:m="http://schemas.openxmlformats.org/officeDocument/2006/math">
                    <m:r>
                      <a:rPr kumimoji="0" lang="es-MX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y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s-MX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kumimoji="0" lang="es-MX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 Tenemos que: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D9EC324-DAE9-E1DB-05E4-3824E277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89" y="1146817"/>
                <a:ext cx="4863573" cy="923330"/>
              </a:xfrm>
              <a:prstGeom prst="rect">
                <a:avLst/>
              </a:prstGeom>
              <a:blipFill>
                <a:blip r:embed="rId16"/>
                <a:stretch>
                  <a:fillRect l="-875" t="-2597" r="-1000" b="-844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A19F92E6-7819-714A-1E7D-F125336C25D6}"/>
              </a:ext>
            </a:extLst>
          </p:cNvPr>
          <p:cNvGrpSpPr/>
          <p:nvPr/>
        </p:nvGrpSpPr>
        <p:grpSpPr>
          <a:xfrm>
            <a:off x="2540338" y="129874"/>
            <a:ext cx="1101584" cy="901425"/>
            <a:chOff x="4557" y="292098"/>
            <a:chExt cx="1412697" cy="1802850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A60F9105-4929-A2B6-BC46-7BCD724FE562}"/>
                </a:ext>
              </a:extLst>
            </p:cNvPr>
            <p:cNvSpPr/>
            <p:nvPr/>
          </p:nvSpPr>
          <p:spPr>
            <a:xfrm>
              <a:off x="4557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1" name="Rectángulo: esquinas redondeadas 4">
              <a:extLst>
                <a:ext uri="{FF2B5EF4-FFF2-40B4-BE49-F238E27FC236}">
                  <a16:creationId xmlns:a16="http://schemas.microsoft.com/office/drawing/2014/main" id="{A694FE8D-5945-5269-666D-CBAEBFF2727E}"/>
                </a:ext>
              </a:extLst>
            </p:cNvPr>
            <p:cNvSpPr txBox="1"/>
            <p:nvPr/>
          </p:nvSpPr>
          <p:spPr>
            <a:xfrm>
              <a:off x="45933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1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Definición de la población objetivo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6883858-AF1F-C451-ED23-7B19F24C0F0E}"/>
              </a:ext>
            </a:extLst>
          </p:cNvPr>
          <p:cNvGrpSpPr/>
          <p:nvPr/>
        </p:nvGrpSpPr>
        <p:grpSpPr>
          <a:xfrm>
            <a:off x="4518114" y="129874"/>
            <a:ext cx="1101584" cy="901425"/>
            <a:chOff x="1982333" y="292098"/>
            <a:chExt cx="1412697" cy="1802850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85FA4273-74D7-3D84-46CF-EC76D3FB4B9F}"/>
                </a:ext>
              </a:extLst>
            </p:cNvPr>
            <p:cNvSpPr/>
            <p:nvPr/>
          </p:nvSpPr>
          <p:spPr>
            <a:xfrm>
              <a:off x="1982333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4" name="Rectángulo: esquinas redondeadas 6">
              <a:extLst>
                <a:ext uri="{FF2B5EF4-FFF2-40B4-BE49-F238E27FC236}">
                  <a16:creationId xmlns:a16="http://schemas.microsoft.com/office/drawing/2014/main" id="{A893A116-880A-356E-C0BC-ABB5067E355F}"/>
                </a:ext>
              </a:extLst>
            </p:cNvPr>
            <p:cNvSpPr txBox="1"/>
            <p:nvPr/>
          </p:nvSpPr>
          <p:spPr>
            <a:xfrm>
              <a:off x="2023709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2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Delimitar a la población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53D19A2-ED7E-3EE3-C9BD-4C9AF65E3476}"/>
              </a:ext>
            </a:extLst>
          </p:cNvPr>
          <p:cNvGrpSpPr/>
          <p:nvPr/>
        </p:nvGrpSpPr>
        <p:grpSpPr>
          <a:xfrm>
            <a:off x="6495890" y="129874"/>
            <a:ext cx="1101584" cy="901425"/>
            <a:chOff x="3960109" y="292098"/>
            <a:chExt cx="1412697" cy="1802850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1219944E-6C79-25E3-2799-4B445F06C605}"/>
                </a:ext>
              </a:extLst>
            </p:cNvPr>
            <p:cNvSpPr/>
            <p:nvPr/>
          </p:nvSpPr>
          <p:spPr>
            <a:xfrm>
              <a:off x="3960109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7" name="Rectángulo: esquinas redondeadas 8">
              <a:extLst>
                <a:ext uri="{FF2B5EF4-FFF2-40B4-BE49-F238E27FC236}">
                  <a16:creationId xmlns:a16="http://schemas.microsoft.com/office/drawing/2014/main" id="{7C87C277-3710-8578-697B-EE0BB5E95D7A}"/>
                </a:ext>
              </a:extLst>
            </p:cNvPr>
            <p:cNvSpPr txBox="1"/>
            <p:nvPr/>
          </p:nvSpPr>
          <p:spPr>
            <a:xfrm>
              <a:off x="4001485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3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Selección de las técnicas de muestreo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3CC2E18-4524-37DB-8E26-FA8D959720CC}"/>
              </a:ext>
            </a:extLst>
          </p:cNvPr>
          <p:cNvGrpSpPr/>
          <p:nvPr/>
        </p:nvGrpSpPr>
        <p:grpSpPr>
          <a:xfrm>
            <a:off x="8473666" y="129874"/>
            <a:ext cx="1101584" cy="901425"/>
            <a:chOff x="5937885" y="292098"/>
            <a:chExt cx="1412697" cy="1802850"/>
          </a:xfrm>
          <a:solidFill>
            <a:srgbClr val="FFC000"/>
          </a:solidFill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9FD95EA9-031B-DA77-7957-512FF6FA8551}"/>
                </a:ext>
              </a:extLst>
            </p:cNvPr>
            <p:cNvSpPr/>
            <p:nvPr/>
          </p:nvSpPr>
          <p:spPr>
            <a:xfrm>
              <a:off x="5937885" y="292098"/>
              <a:ext cx="1412697" cy="180285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31" name="Rectángulo: esquinas redondeadas 10">
              <a:extLst>
                <a:ext uri="{FF2B5EF4-FFF2-40B4-BE49-F238E27FC236}">
                  <a16:creationId xmlns:a16="http://schemas.microsoft.com/office/drawing/2014/main" id="{DDCD9F63-D6A6-6319-BA09-F9A0FB7BAFD3}"/>
                </a:ext>
              </a:extLst>
            </p:cNvPr>
            <p:cNvSpPr txBox="1"/>
            <p:nvPr/>
          </p:nvSpPr>
          <p:spPr>
            <a:xfrm>
              <a:off x="5979261" y="333474"/>
              <a:ext cx="1329945" cy="172009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4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Determinación del tamaño de la muestra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842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7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548640"/>
            <a:ext cx="8276908" cy="941286"/>
          </a:xfrm>
        </p:spPr>
        <p:txBody>
          <a:bodyPr rtlCol="0">
            <a:noAutofit/>
          </a:bodyPr>
          <a:lstStyle/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Tarea: Consistencia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681A86-6AF3-5693-8134-13EC26FBFD95}"/>
                  </a:ext>
                </a:extLst>
              </p:cNvPr>
              <p:cNvSpPr txBox="1"/>
              <p:nvPr/>
            </p:nvSpPr>
            <p:spPr>
              <a:xfrm>
                <a:off x="964022" y="2401670"/>
                <a:ext cx="9858653" cy="1018484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s-MX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una muestra</a:t>
                </a:r>
                <a:r>
                  <a:rPr kumimoji="0" lang="es-MX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aleatoria de tamaño n de una población con media </a:t>
                </a:r>
                <a14:m>
                  <m:oMath xmlns:m="http://schemas.openxmlformats.org/officeDocument/2006/math">
                    <m:r>
                      <a:rPr kumimoji="0" lang="es-MX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y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s-MX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kumimoji="0" lang="es-MX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s-MX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lvl="0" algn="just">
                  <a:defRPr/>
                </a:pPr>
                <a:endParaRPr kumimoji="0" lang="es-MX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buAutoNum type="arabicPeriod"/>
                  <a:defRPr/>
                </a:pP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Demuestra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un estimador consistente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es decir,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groupChr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cuando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681A86-6AF3-5693-8134-13EC26FBF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401670"/>
                <a:ext cx="9858653" cy="1018484"/>
              </a:xfrm>
              <a:prstGeom prst="rect">
                <a:avLst/>
              </a:prstGeom>
              <a:blipFill>
                <a:blip r:embed="rId3"/>
                <a:stretch>
                  <a:fillRect l="-432" t="-2959" b="-828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BF55C1A0-91DD-1CAA-FEC0-4766857575EA}"/>
              </a:ext>
            </a:extLst>
          </p:cNvPr>
          <p:cNvGrpSpPr/>
          <p:nvPr/>
        </p:nvGrpSpPr>
        <p:grpSpPr>
          <a:xfrm>
            <a:off x="2540338" y="129874"/>
            <a:ext cx="1101584" cy="901425"/>
            <a:chOff x="4557" y="292098"/>
            <a:chExt cx="1412697" cy="1802850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0AB5182F-D05D-9C89-035A-3E32B3CAC2B7}"/>
                </a:ext>
              </a:extLst>
            </p:cNvPr>
            <p:cNvSpPr/>
            <p:nvPr/>
          </p:nvSpPr>
          <p:spPr>
            <a:xfrm>
              <a:off x="4557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5" name="Rectángulo: esquinas redondeadas 4">
              <a:extLst>
                <a:ext uri="{FF2B5EF4-FFF2-40B4-BE49-F238E27FC236}">
                  <a16:creationId xmlns:a16="http://schemas.microsoft.com/office/drawing/2014/main" id="{DB27AA15-5C4E-38FC-330D-E427B37ABF59}"/>
                </a:ext>
              </a:extLst>
            </p:cNvPr>
            <p:cNvSpPr txBox="1"/>
            <p:nvPr/>
          </p:nvSpPr>
          <p:spPr>
            <a:xfrm>
              <a:off x="45933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1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Definición de la población objetivo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1A646FC-0BA1-A028-3075-84D517E104D9}"/>
              </a:ext>
            </a:extLst>
          </p:cNvPr>
          <p:cNvGrpSpPr/>
          <p:nvPr/>
        </p:nvGrpSpPr>
        <p:grpSpPr>
          <a:xfrm>
            <a:off x="4518114" y="129874"/>
            <a:ext cx="1101584" cy="901425"/>
            <a:chOff x="1982333" y="292098"/>
            <a:chExt cx="1412697" cy="1802850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D5FE953-D246-2A57-2488-9E2641A1CF06}"/>
                </a:ext>
              </a:extLst>
            </p:cNvPr>
            <p:cNvSpPr/>
            <p:nvPr/>
          </p:nvSpPr>
          <p:spPr>
            <a:xfrm>
              <a:off x="1982333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8" name="Rectángulo: esquinas redondeadas 6">
              <a:extLst>
                <a:ext uri="{FF2B5EF4-FFF2-40B4-BE49-F238E27FC236}">
                  <a16:creationId xmlns:a16="http://schemas.microsoft.com/office/drawing/2014/main" id="{6F31ACD3-6C3D-6735-E9A2-B5A3254E4B21}"/>
                </a:ext>
              </a:extLst>
            </p:cNvPr>
            <p:cNvSpPr txBox="1"/>
            <p:nvPr/>
          </p:nvSpPr>
          <p:spPr>
            <a:xfrm>
              <a:off x="2023709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2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Delimitar a la población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E92D976-41D0-F586-10D4-D8BA1E49ED6C}"/>
              </a:ext>
            </a:extLst>
          </p:cNvPr>
          <p:cNvGrpSpPr/>
          <p:nvPr/>
        </p:nvGrpSpPr>
        <p:grpSpPr>
          <a:xfrm>
            <a:off x="6495890" y="129874"/>
            <a:ext cx="1101584" cy="901425"/>
            <a:chOff x="3960109" y="292098"/>
            <a:chExt cx="1412697" cy="1802850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7FAA7431-A9BC-BA66-76CF-5456486A8D23}"/>
                </a:ext>
              </a:extLst>
            </p:cNvPr>
            <p:cNvSpPr/>
            <p:nvPr/>
          </p:nvSpPr>
          <p:spPr>
            <a:xfrm>
              <a:off x="3960109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1" name="Rectángulo: esquinas redondeadas 8">
              <a:extLst>
                <a:ext uri="{FF2B5EF4-FFF2-40B4-BE49-F238E27FC236}">
                  <a16:creationId xmlns:a16="http://schemas.microsoft.com/office/drawing/2014/main" id="{B80BC914-48B6-41B3-EDB3-69C407F2A94B}"/>
                </a:ext>
              </a:extLst>
            </p:cNvPr>
            <p:cNvSpPr txBox="1"/>
            <p:nvPr/>
          </p:nvSpPr>
          <p:spPr>
            <a:xfrm>
              <a:off x="4001485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3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Selección de las técnicas de muestreo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EDA24CF-7CD9-66F8-6363-77E094841485}"/>
              </a:ext>
            </a:extLst>
          </p:cNvPr>
          <p:cNvGrpSpPr/>
          <p:nvPr/>
        </p:nvGrpSpPr>
        <p:grpSpPr>
          <a:xfrm>
            <a:off x="8473666" y="129874"/>
            <a:ext cx="1101584" cy="901425"/>
            <a:chOff x="5937885" y="292098"/>
            <a:chExt cx="1412697" cy="1802850"/>
          </a:xfrm>
          <a:solidFill>
            <a:srgbClr val="FFC000"/>
          </a:solidFill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7DCA5F9A-9019-DCAF-BF73-BDC5DAE8942F}"/>
                </a:ext>
              </a:extLst>
            </p:cNvPr>
            <p:cNvSpPr/>
            <p:nvPr/>
          </p:nvSpPr>
          <p:spPr>
            <a:xfrm>
              <a:off x="5937885" y="292098"/>
              <a:ext cx="1412697" cy="180285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24" name="Rectángulo: esquinas redondeadas 10">
              <a:extLst>
                <a:ext uri="{FF2B5EF4-FFF2-40B4-BE49-F238E27FC236}">
                  <a16:creationId xmlns:a16="http://schemas.microsoft.com/office/drawing/2014/main" id="{EDB9CFE5-E1F3-1B35-9232-D4C7133B3B7B}"/>
                </a:ext>
              </a:extLst>
            </p:cNvPr>
            <p:cNvSpPr txBox="1"/>
            <p:nvPr/>
          </p:nvSpPr>
          <p:spPr>
            <a:xfrm>
              <a:off x="5979261" y="333474"/>
              <a:ext cx="1329945" cy="172009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4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Determinación del tamaño de la muestra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8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64022" y="879063"/>
                <a:ext cx="9303384" cy="610863"/>
              </a:xfrm>
            </p:spPr>
            <p:txBody>
              <a:bodyPr rtlCol="0">
                <a:noAutofit/>
              </a:bodyPr>
              <a:lstStyle/>
              <a:p>
                <a:pPr algn="just" rtl="0"/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Propiedades importantes de la distribución </a:t>
                </a:r>
                <a14:m>
                  <m:oMath xmlns:m="http://schemas.openxmlformats.org/officeDocument/2006/math">
                    <m:r>
                      <a:rPr lang="es-ES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𝑐h𝑖</m:t>
                    </m:r>
                    <m:r>
                      <a:rPr lang="es-ES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ES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𝑐𝑢𝑎𝑑𝑟𝑎𝑑𝑎</m:t>
                    </m:r>
                  </m:oMath>
                </a14:m>
                <a:endParaRPr lang="es-E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64022" y="879063"/>
                <a:ext cx="9303384" cy="610863"/>
              </a:xfrm>
              <a:blipFill>
                <a:blip r:embed="rId3"/>
                <a:stretch>
                  <a:fillRect l="-2163" b="-3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F494AF8A-D47C-6E15-F0A8-B546B382BBB9}"/>
              </a:ext>
            </a:extLst>
          </p:cNvPr>
          <p:cNvSpPr txBox="1"/>
          <p:nvPr/>
        </p:nvSpPr>
        <p:spPr>
          <a:xfrm>
            <a:off x="219440" y="2229811"/>
            <a:ext cx="7422331" cy="64633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distribución </a:t>
            </a:r>
            <a:r>
              <a:rPr lang="es-MX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-cuadrada no es simétrica, a diferencia de las distribuciones normal y t de </a:t>
            </a:r>
            <a:r>
              <a:rPr lang="es-MX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219440" y="3841606"/>
            <a:ext cx="7422331" cy="92333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distribución </a:t>
            </a:r>
            <a:r>
              <a:rPr lang="es-MX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-cuadrada es diferente para cada número de grados de libertad. Conforme el número de grados de libertad se incrementa, la distribución </a:t>
            </a:r>
            <a:r>
              <a:rPr lang="es-MX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-cuadrada se aproxima a una distribución normal.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D9A5C2-E546-4A01-2335-8CD4A5C14560}"/>
                  </a:ext>
                </a:extLst>
              </p:cNvPr>
              <p:cNvSpPr txBox="1"/>
              <p:nvPr/>
            </p:nvSpPr>
            <p:spPr>
              <a:xfrm>
                <a:off x="219440" y="4905783"/>
                <a:ext cx="7422331" cy="66999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Puesto que la distribución </a:t>
                </a:r>
                <a:r>
                  <a:rPr lang="es-MX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-cuadrada es sesgada y no simétrica, el intervalo de confianza no se ajusta al formato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endParaRPr lang="es-MX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D9A5C2-E546-4A01-2335-8CD4A5C14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40" y="4905783"/>
                <a:ext cx="7422331" cy="669992"/>
              </a:xfrm>
              <a:prstGeom prst="rect">
                <a:avLst/>
              </a:prstGeom>
              <a:blipFill>
                <a:blip r:embed="rId4"/>
                <a:stretch>
                  <a:fillRect l="-492" t="-4464" r="-574" b="-8929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F494AF8A-D47C-6E15-F0A8-B546B382BBB9}"/>
              </a:ext>
            </a:extLst>
          </p:cNvPr>
          <p:cNvSpPr txBox="1"/>
          <p:nvPr/>
        </p:nvSpPr>
        <p:spPr>
          <a:xfrm>
            <a:off x="219440" y="3012246"/>
            <a:ext cx="7422331" cy="64633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valores de </a:t>
            </a:r>
            <a:r>
              <a:rPr lang="es-MX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-cuadrada pueden ser cero o positivos, pero no pueden ser negativos.  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4669" y="2340465"/>
            <a:ext cx="3133725" cy="19145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4669" y="4343586"/>
            <a:ext cx="28765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3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" grpId="0" animBg="1"/>
      <p:bldP spid="3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</p:spPr>
            <p:txBody>
              <a:bodyPr rtlCol="0">
                <a:noAutofit/>
              </a:bodyPr>
              <a:lstStyle/>
              <a:p>
                <a:pPr algn="just" rtl="0"/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distribución </a:t>
                </a:r>
                <a14:m>
                  <m:oMath xmlns:m="http://schemas.openxmlformats.org/officeDocument/2006/math">
                    <m:r>
                      <a:rPr lang="es-MX" sz="26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𝒄𝒉𝒊</m:t>
                    </m:r>
                    <m:r>
                      <a:rPr lang="es-MX" sz="26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26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𝒄𝒖𝒂𝒅𝒓𝒂𝒅𝒂</m:t>
                    </m:r>
                  </m:oMath>
                </a14:m>
                <a:endParaRPr lang="es-E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  <a:blipFill>
                <a:blip r:embed="rId3"/>
                <a:stretch>
                  <a:fillRect l="-2430" b="-3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494AF8A-D47C-6E15-F0A8-B546B382BBB9}"/>
                  </a:ext>
                </a:extLst>
              </p:cNvPr>
              <p:cNvSpPr txBox="1"/>
              <p:nvPr/>
            </p:nvSpPr>
            <p:spPr>
              <a:xfrm>
                <a:off x="964022" y="2186609"/>
                <a:ext cx="5370517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Calcule los valores críticos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s-MX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 determinan las regiones críticas que contienen un área de 0.025 en cada cola. Suponga que el tamaño </a:t>
                </a:r>
                <a:r>
                  <a:rPr lang="es-MX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muestral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10.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494AF8A-D47C-6E15-F0A8-B546B382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186609"/>
                <a:ext cx="5370517" cy="830997"/>
              </a:xfrm>
              <a:prstGeom prst="rect">
                <a:avLst/>
              </a:prstGeom>
              <a:blipFill>
                <a:blip r:embed="rId4"/>
                <a:stretch>
                  <a:fillRect l="-340" t="-1449" r="-566" b="-797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B7AE274-EE19-B620-9CED-251A93A69065}"/>
                  </a:ext>
                </a:extLst>
              </p:cNvPr>
              <p:cNvSpPr txBox="1"/>
              <p:nvPr/>
            </p:nvSpPr>
            <p:spPr>
              <a:xfrm>
                <a:off x="6596013" y="5686549"/>
                <a:ext cx="5370517" cy="8309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</a:t>
                </a:r>
                <a:r>
                  <a:rPr lang="es-MX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RStudio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utiliza la función </a:t>
                </a:r>
                <a:r>
                  <a:rPr lang="es-MX" sz="16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qchisq</a:t>
                </a:r>
                <a:r>
                  <a:rPr lang="es-MX" sz="16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(p, </a:t>
                </a:r>
                <a:r>
                  <a:rPr lang="es-MX" sz="16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</a:t>
                </a:r>
                <a:r>
                  <a:rPr lang="es-MX" sz="16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hallar un valor crítico de la distribución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𝑐h𝑖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𝑐𝑢𝑎𝑑𝑟𝑎𝑑𝑎</m:t>
                    </m:r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p: vector de probabilidades, </a:t>
                </a:r>
                <a:r>
                  <a:rPr lang="es-MX" sz="16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grados de libertad.</a:t>
                </a:r>
                <a:endParaRPr lang="es-MX" sz="16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B7AE274-EE19-B620-9CED-251A93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013" y="5686549"/>
                <a:ext cx="5370517" cy="830997"/>
              </a:xfrm>
              <a:prstGeom prst="rect">
                <a:avLst/>
              </a:prstGeom>
              <a:blipFill>
                <a:blip r:embed="rId5"/>
                <a:stretch>
                  <a:fillRect l="-340" t="-1449" r="-566" b="-797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37778"/>
          <a:stretch/>
        </p:blipFill>
        <p:spPr>
          <a:xfrm>
            <a:off x="1393372" y="3600189"/>
            <a:ext cx="4017372" cy="208636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2725" y="3017606"/>
            <a:ext cx="6058308" cy="259750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7746275" y="5250824"/>
            <a:ext cx="470263" cy="182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/>
          <p:cNvSpPr/>
          <p:nvPr/>
        </p:nvSpPr>
        <p:spPr>
          <a:xfrm>
            <a:off x="10328365" y="5250824"/>
            <a:ext cx="470263" cy="182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115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Margen de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494AF8A-D47C-6E15-F0A8-B546B382BBB9}"/>
                  </a:ext>
                </a:extLst>
              </p:cNvPr>
              <p:cNvSpPr txBox="1"/>
              <p:nvPr/>
            </p:nvSpPr>
            <p:spPr>
              <a:xfrm>
                <a:off x="618489" y="2184090"/>
                <a:ext cx="4786024" cy="135517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Supongamos una muestra aleatoria</a:t>
                </a:r>
                <a:r>
                  <a:rPr kumimoji="0" lang="es-MX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0" lang="es-MX" sz="1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s-MX" sz="1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s-MX" sz="18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de tamaño</a:t>
                </a:r>
                <a:r>
                  <a:rPr kumimoji="0" lang="es-MX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n de una población con </a:t>
                </a:r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varianza</a:t>
                </a:r>
                <a:r>
                  <a:rPr lang="es-MX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s-MX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s-MX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sigue</a:t>
                </a:r>
                <a:r>
                  <a:rPr kumimoji="0" lang="es-MX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una distribución chi-cuadrada con </a:t>
                </a:r>
                <a14:m>
                  <m:oMath xmlns:m="http://schemas.openxmlformats.org/officeDocument/2006/math">
                    <m:r>
                      <a:rPr kumimoji="0" lang="es-MX" sz="18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0" lang="es-MX" sz="18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kumimoji="0" lang="es-MX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grados de libertad.</a:t>
                </a:r>
                <a:endPara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494AF8A-D47C-6E15-F0A8-B546B382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89" y="2184090"/>
                <a:ext cx="4786024" cy="1355179"/>
              </a:xfrm>
              <a:prstGeom prst="rect">
                <a:avLst/>
              </a:prstGeom>
              <a:blipFill>
                <a:blip r:embed="rId3"/>
                <a:stretch>
                  <a:fillRect l="-888" t="-1778" r="-888" b="-533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E1CE5D-0829-367D-3253-0060B26FBC99}"/>
                  </a:ext>
                </a:extLst>
              </p:cNvPr>
              <p:cNvSpPr txBox="1"/>
              <p:nvPr/>
            </p:nvSpPr>
            <p:spPr>
              <a:xfrm>
                <a:off x="618488" y="3754126"/>
                <a:ext cx="4786024" cy="1541704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un nivel de confianza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s-MX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 valores</a:t>
                </a:r>
                <a:r>
                  <a:rPr kumimoji="0" lang="es-MX" sz="1800" b="0" i="0" u="none" strike="noStrike" kern="1200" cap="none" spc="0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críticos son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d>
                          <m:d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  <m:sup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d>
                          <m:d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type m:val="skw"/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  <m:sup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Estos valores corresponden a los percentiles inferiores y superiores de la distribución chi-cuadrado con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− 1 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grados de libertad.</a:t>
                </a:r>
                <a:endPara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E1CE5D-0829-367D-3253-0060B26FB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88" y="3754126"/>
                <a:ext cx="4786024" cy="1541704"/>
              </a:xfrm>
              <a:prstGeom prst="rect">
                <a:avLst/>
              </a:prstGeom>
              <a:blipFill>
                <a:blip r:embed="rId4"/>
                <a:stretch>
                  <a:fillRect l="-888" t="-1961" r="-888" b="-509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>
            <a:extLst>
              <a:ext uri="{FF2B5EF4-FFF2-40B4-BE49-F238E27FC236}">
                <a16:creationId xmlns:a16="http://schemas.microsoft.com/office/drawing/2014/main" id="{222C78A9-3AAD-0FE9-E962-54DC6F4AD609}"/>
              </a:ext>
            </a:extLst>
          </p:cNvPr>
          <p:cNvGrpSpPr/>
          <p:nvPr/>
        </p:nvGrpSpPr>
        <p:grpSpPr>
          <a:xfrm>
            <a:off x="2540338" y="129874"/>
            <a:ext cx="1101584" cy="901425"/>
            <a:chOff x="4557" y="292098"/>
            <a:chExt cx="1412697" cy="1802850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3BD68740-713E-5B1A-8472-F8405FD30281}"/>
                </a:ext>
              </a:extLst>
            </p:cNvPr>
            <p:cNvSpPr/>
            <p:nvPr/>
          </p:nvSpPr>
          <p:spPr>
            <a:xfrm>
              <a:off x="4557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9" name="Rectángulo: esquinas redondeadas 4">
              <a:extLst>
                <a:ext uri="{FF2B5EF4-FFF2-40B4-BE49-F238E27FC236}">
                  <a16:creationId xmlns:a16="http://schemas.microsoft.com/office/drawing/2014/main" id="{B9CF22BB-5432-BBEC-8CCC-E60F1155C42D}"/>
                </a:ext>
              </a:extLst>
            </p:cNvPr>
            <p:cNvSpPr txBox="1"/>
            <p:nvPr/>
          </p:nvSpPr>
          <p:spPr>
            <a:xfrm>
              <a:off x="45933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1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Definición de la población objetivo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82BE16D3-C2F1-C7A4-93A5-8D96EA52F39B}"/>
              </a:ext>
            </a:extLst>
          </p:cNvPr>
          <p:cNvGrpSpPr/>
          <p:nvPr/>
        </p:nvGrpSpPr>
        <p:grpSpPr>
          <a:xfrm>
            <a:off x="4518114" y="129874"/>
            <a:ext cx="1101584" cy="901425"/>
            <a:chOff x="1982333" y="292098"/>
            <a:chExt cx="1412697" cy="1802850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3B37A732-62BB-F41B-9B4A-CCDD0FA66518}"/>
                </a:ext>
              </a:extLst>
            </p:cNvPr>
            <p:cNvSpPr/>
            <p:nvPr/>
          </p:nvSpPr>
          <p:spPr>
            <a:xfrm>
              <a:off x="1982333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2" name="Rectángulo: esquinas redondeadas 6">
              <a:extLst>
                <a:ext uri="{FF2B5EF4-FFF2-40B4-BE49-F238E27FC236}">
                  <a16:creationId xmlns:a16="http://schemas.microsoft.com/office/drawing/2014/main" id="{F83DF241-AEE4-1A8D-634A-C01BA32A2E78}"/>
                </a:ext>
              </a:extLst>
            </p:cNvPr>
            <p:cNvSpPr txBox="1"/>
            <p:nvPr/>
          </p:nvSpPr>
          <p:spPr>
            <a:xfrm>
              <a:off x="2023709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2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Delimitar a la población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E9D0DB2-99D3-BD38-2941-E4AE4F506FE8}"/>
              </a:ext>
            </a:extLst>
          </p:cNvPr>
          <p:cNvGrpSpPr/>
          <p:nvPr/>
        </p:nvGrpSpPr>
        <p:grpSpPr>
          <a:xfrm>
            <a:off x="6495890" y="129874"/>
            <a:ext cx="1101584" cy="901425"/>
            <a:chOff x="3960109" y="292098"/>
            <a:chExt cx="1412697" cy="1802850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ADB3DD13-F289-23CC-6CCF-283EB349BD4B}"/>
                </a:ext>
              </a:extLst>
            </p:cNvPr>
            <p:cNvSpPr/>
            <p:nvPr/>
          </p:nvSpPr>
          <p:spPr>
            <a:xfrm>
              <a:off x="3960109" y="292098"/>
              <a:ext cx="1412697" cy="180285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5" name="Rectángulo: esquinas redondeadas 8">
              <a:extLst>
                <a:ext uri="{FF2B5EF4-FFF2-40B4-BE49-F238E27FC236}">
                  <a16:creationId xmlns:a16="http://schemas.microsoft.com/office/drawing/2014/main" id="{B0A48CC2-8615-34B4-2BE9-3D703A2A425A}"/>
                </a:ext>
              </a:extLst>
            </p:cNvPr>
            <p:cNvSpPr txBox="1"/>
            <p:nvPr/>
          </p:nvSpPr>
          <p:spPr>
            <a:xfrm>
              <a:off x="4001485" y="333474"/>
              <a:ext cx="1329945" cy="17200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3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Selección de las técnicas de muestreo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503070-250D-D01C-2428-C379B735A560}"/>
              </a:ext>
            </a:extLst>
          </p:cNvPr>
          <p:cNvGrpSpPr/>
          <p:nvPr/>
        </p:nvGrpSpPr>
        <p:grpSpPr>
          <a:xfrm>
            <a:off x="8473666" y="129874"/>
            <a:ext cx="1101584" cy="901425"/>
            <a:chOff x="5937885" y="292098"/>
            <a:chExt cx="1412697" cy="1802850"/>
          </a:xfrm>
          <a:solidFill>
            <a:srgbClr val="FFC000"/>
          </a:solidFill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DB323C89-D2DB-4B1C-DABC-8E110B3DE396}"/>
                </a:ext>
              </a:extLst>
            </p:cNvPr>
            <p:cNvSpPr/>
            <p:nvPr/>
          </p:nvSpPr>
          <p:spPr>
            <a:xfrm>
              <a:off x="5937885" y="292098"/>
              <a:ext cx="1412697" cy="180285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sz="1000"/>
            </a:p>
          </p:txBody>
        </p:sp>
        <p:sp>
          <p:nvSpPr>
            <p:cNvPr id="18" name="Rectángulo: esquinas redondeadas 10">
              <a:extLst>
                <a:ext uri="{FF2B5EF4-FFF2-40B4-BE49-F238E27FC236}">
                  <a16:creationId xmlns:a16="http://schemas.microsoft.com/office/drawing/2014/main" id="{ED2839F4-891F-3DC7-64AC-9D3459353486}"/>
                </a:ext>
              </a:extLst>
            </p:cNvPr>
            <p:cNvSpPr txBox="1"/>
            <p:nvPr/>
          </p:nvSpPr>
          <p:spPr>
            <a:xfrm>
              <a:off x="5979261" y="333474"/>
              <a:ext cx="1329945" cy="172009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ETAPA 4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Determinación del tamaño de la muestra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263153A1-D89D-67D9-3E59-EF2DBD085AE8}"/>
                  </a:ext>
                </a:extLst>
              </p:cNvPr>
              <p:cNvSpPr txBox="1"/>
              <p:nvPr/>
            </p:nvSpPr>
            <p:spPr>
              <a:xfrm>
                <a:off x="1812270" y="5169312"/>
                <a:ext cx="1090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263153A1-D89D-67D9-3E59-EF2DBD085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270" y="5169312"/>
                <a:ext cx="10900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A72C99B-0957-0733-0F26-1F6954983BBA}"/>
                  </a:ext>
                </a:extLst>
              </p:cNvPr>
              <p:cNvSpPr txBox="1"/>
              <p:nvPr/>
            </p:nvSpPr>
            <p:spPr>
              <a:xfrm>
                <a:off x="5619698" y="2184090"/>
                <a:ext cx="5475932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Queremos encontrar un intervalo de confianza tal que la probabilidad de que la verdadera varianza poblacional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MX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MX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esté dentro de este intervalo sea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A72C99B-0957-0733-0F26-1F6954983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98" y="2184090"/>
                <a:ext cx="5475932" cy="923330"/>
              </a:xfrm>
              <a:prstGeom prst="rect">
                <a:avLst/>
              </a:prstGeom>
              <a:blipFill>
                <a:blip r:embed="rId6"/>
                <a:stretch>
                  <a:fillRect l="-889" t="-2597" r="-778" b="-844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9E13668-48E9-C6C1-B6EB-16F4BE9A103F}"/>
                  </a:ext>
                </a:extLst>
              </p:cNvPr>
              <p:cNvSpPr txBox="1"/>
              <p:nvPr/>
            </p:nvSpPr>
            <p:spPr>
              <a:xfrm>
                <a:off x="5906296" y="3263917"/>
                <a:ext cx="5134738" cy="6279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9E13668-48E9-C6C1-B6EB-16F4BE9A1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296" y="3263917"/>
                <a:ext cx="5134738" cy="6279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707CE1-E245-584A-FAD7-C2AF71A3E244}"/>
                  </a:ext>
                </a:extLst>
              </p:cNvPr>
              <p:cNvSpPr txBox="1"/>
              <p:nvPr/>
            </p:nvSpPr>
            <p:spPr>
              <a:xfrm>
                <a:off x="6712347" y="4760834"/>
                <a:ext cx="3290634" cy="816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s-MX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MX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s-MX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1707CE1-E245-584A-FAD7-C2AF71A3E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347" y="4760834"/>
                <a:ext cx="3290634" cy="8169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C81D3C4-B524-CB54-ED58-486DBD038CC4}"/>
                  </a:ext>
                </a:extLst>
              </p:cNvPr>
              <p:cNvSpPr txBox="1"/>
              <p:nvPr/>
            </p:nvSpPr>
            <p:spPr>
              <a:xfrm>
                <a:off x="6507051" y="3986099"/>
                <a:ext cx="3997757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s-MX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type m:val="skw"/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C81D3C4-B524-CB54-ED58-486DBD03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51" y="3986099"/>
                <a:ext cx="3997757" cy="6481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38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22" grpId="0" animBg="1"/>
      <p:bldP spid="24" grpId="0"/>
      <p:bldP spid="6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</p:spPr>
            <p:txBody>
              <a:bodyPr rtlCol="0">
                <a:noAutofit/>
              </a:bodyPr>
              <a:lstStyle/>
              <a:p>
                <a:pPr algn="just"/>
                <a:r>
                  <a:rPr lang="es-E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Intervalo de Confianza para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𝝈</m:t>
                        </m:r>
                      </m:e>
                      <m:sup>
                        <m:r>
                          <a:rPr lang="es-MX" sz="2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C122DF8-59D4-D94D-8ED9-F2F319899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64022" y="879063"/>
                <a:ext cx="8276908" cy="610863"/>
              </a:xfrm>
              <a:blipFill>
                <a:blip r:embed="rId3"/>
                <a:stretch>
                  <a:fillRect l="-2430" b="-3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FAE5368-CA82-A18C-7BBA-53BB71123C98}"/>
                  </a:ext>
                </a:extLst>
              </p:cNvPr>
              <p:cNvSpPr txBox="1"/>
              <p:nvPr/>
            </p:nvSpPr>
            <p:spPr>
              <a:xfrm>
                <a:off x="964022" y="2328460"/>
                <a:ext cx="4645208" cy="99181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Intervalo de confianza para 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MX" b="0" i="1" dirty="0">
                  <a:solidFill>
                    <a:schemeClr val="bg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f>
                        <m:f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sub>
                            <m:sup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FAE5368-CA82-A18C-7BBA-53BB71123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8460"/>
                <a:ext cx="4645208" cy="991810"/>
              </a:xfrm>
              <a:prstGeom prst="rect">
                <a:avLst/>
              </a:prstGeom>
              <a:blipFill>
                <a:blip r:embed="rId4"/>
                <a:stretch>
                  <a:fillRect t="-3636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FAE5368-CA82-A18C-7BBA-53BB71123C98}"/>
                  </a:ext>
                </a:extLst>
              </p:cNvPr>
              <p:cNvSpPr txBox="1"/>
              <p:nvPr/>
            </p:nvSpPr>
            <p:spPr>
              <a:xfrm>
                <a:off x="5609230" y="2350034"/>
                <a:ext cx="4645208" cy="118769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b="0" i="1" dirty="0">
                    <a:solidFill>
                      <a:schemeClr val="bg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Intervalo de confianza para estimar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endParaRPr lang="es-MX" b="0" i="1" dirty="0">
                  <a:solidFill>
                    <a:schemeClr val="bg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rad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ad>
                        <m:radPr>
                          <m:degHide m:val="on"/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sub>
                                <m:sup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rad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FAE5368-CA82-A18C-7BBA-53BB71123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230" y="2350034"/>
                <a:ext cx="4645208" cy="1187697"/>
              </a:xfrm>
              <a:prstGeom prst="rect">
                <a:avLst/>
              </a:prstGeom>
              <a:blipFill>
                <a:blip r:embed="rId5"/>
                <a:stretch>
                  <a:fillRect t="-306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BB649AE-2558-1BC1-00FF-27FD51AF3B6E}"/>
                  </a:ext>
                </a:extLst>
              </p:cNvPr>
              <p:cNvSpPr txBox="1"/>
              <p:nvPr/>
            </p:nvSpPr>
            <p:spPr>
              <a:xfrm>
                <a:off x="964022" y="3936174"/>
                <a:ext cx="9332916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Actividad:</a:t>
                </a:r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Cree en </a:t>
                </a:r>
                <a:r>
                  <a:rPr kumimoji="0" lang="es-MX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RStudio</a:t>
                </a:r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una función para calcular el intervalo de confianza para la desviación estándar poblacional </a:t>
                </a:r>
                <a14:m>
                  <m:oMath xmlns:m="http://schemas.openxmlformats.org/officeDocument/2006/math">
                    <m:r>
                      <a:rPr kumimoji="0" lang="es-MX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kumimoji="0" lang="es-MX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BB649AE-2558-1BC1-00FF-27FD51AF3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936174"/>
                <a:ext cx="9332916" cy="646331"/>
              </a:xfrm>
              <a:prstGeom prst="rect">
                <a:avLst/>
              </a:prstGeom>
              <a:blipFill>
                <a:blip r:embed="rId6"/>
                <a:stretch>
                  <a:fillRect l="-457" t="-4630" r="-522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5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</p:bldLst>
  </p:timing>
</p:sld>
</file>

<file path=ppt/theme/theme1.xml><?xml version="1.0" encoding="utf-8"?>
<a:theme xmlns:a="http://schemas.openxmlformats.org/drawingml/2006/main" name="Tema1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742</Words>
  <Application>Microsoft Office PowerPoint</Application>
  <PresentationFormat>Panorámica</PresentationFormat>
  <Paragraphs>93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Sesión 13 : Estimación de la varianza poblacional</vt:lpstr>
      <vt:lpstr>Estimación de la varianza poblacional</vt:lpstr>
      <vt:lpstr>Insesgadez</vt:lpstr>
      <vt:lpstr>Demostración:</vt:lpstr>
      <vt:lpstr>Tarea: Consistencia</vt:lpstr>
      <vt:lpstr>Propiedades importantes de la distribución chi-cuadrada</vt:lpstr>
      <vt:lpstr>La distribución chi-cuadrada</vt:lpstr>
      <vt:lpstr>Margen de error</vt:lpstr>
      <vt:lpstr>Intervalo de Confianza para σ^2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53</cp:revision>
  <dcterms:created xsi:type="dcterms:W3CDTF">2023-09-16T20:42:33Z</dcterms:created>
  <dcterms:modified xsi:type="dcterms:W3CDTF">2025-02-04T19:49:38Z</dcterms:modified>
</cp:coreProperties>
</file>