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58" r:id="rId5"/>
    <p:sldId id="268" r:id="rId6"/>
    <p:sldId id="263" r:id="rId7"/>
    <p:sldId id="264" r:id="rId8"/>
    <p:sldId id="266" r:id="rId9"/>
    <p:sldId id="269" r:id="rId10"/>
    <p:sldId id="270" r:id="rId11"/>
    <p:sldId id="272" r:id="rId12"/>
    <p:sldId id="273" r:id="rId13"/>
    <p:sldId id="271" r:id="rId14"/>
    <p:sldId id="274" r:id="rId15"/>
    <p:sldId id="265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597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27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55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650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477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825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10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23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067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539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9E552DF-F98F-4B3C-B2D7-B1733B6B438B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17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1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C6F61-FE7A-0128-EF72-2CDDE0C25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Árboles de decisión</a:t>
            </a:r>
          </a:p>
        </p:txBody>
      </p:sp>
    </p:spTree>
    <p:extLst>
      <p:ext uri="{BB962C8B-B14F-4D97-AF65-F5344CB8AC3E}">
        <p14:creationId xmlns:p14="http://schemas.microsoft.com/office/powerpoint/2010/main" val="3027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D4DC-C3D3-3C0A-E84F-2C397C9D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BE001-30F6-7F9C-D80C-1D6F474D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¿Qué es un árbol de decisión?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9947FC-1366-343A-C316-E0CF56099874}"/>
              </a:ext>
            </a:extLst>
          </p:cNvPr>
          <p:cNvSpPr txBox="1"/>
          <p:nvPr/>
        </p:nvSpPr>
        <p:spPr>
          <a:xfrm>
            <a:off x="922867" y="3005667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7A7DDF6-D067-6544-252D-144D483F1927}"/>
              </a:ext>
            </a:extLst>
          </p:cNvPr>
          <p:cNvSpPr txBox="1"/>
          <p:nvPr/>
        </p:nvSpPr>
        <p:spPr>
          <a:xfrm>
            <a:off x="922863" y="3555719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Permite la predicción de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continuos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(regresión) y de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discretos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(clasificación)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E091BB-80A0-BDF8-689B-8FE7342B1570}"/>
              </a:ext>
            </a:extLst>
          </p:cNvPr>
          <p:cNvSpPr txBox="1"/>
          <p:nvPr/>
        </p:nvSpPr>
        <p:spPr>
          <a:xfrm>
            <a:off x="922863" y="3998628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 si un vector pertenece a una clase o a otra estableciendo un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reglas de decisión “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terminan en la predicción de una clase concreta.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8E21B43-CEB3-F3E5-6146-D62C6DA92DB4}"/>
              </a:ext>
            </a:extLst>
          </p:cNvPr>
          <p:cNvSpPr txBox="1"/>
          <p:nvPr/>
        </p:nvSpPr>
        <p:spPr>
          <a:xfrm>
            <a:off x="922864" y="2070315"/>
            <a:ext cx="998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árbol de decisión es un modelo de aprendizaje supervisado utilizado para resolver problemas de clasificación y regresión. Se representa como una estructura similar a un diagrama de flujo, donde cada nodo interno representa una prueba sobre una variable, cada rama representa un resultado, y cada hoja una decisión o predicción.</a:t>
            </a:r>
          </a:p>
        </p:txBody>
      </p:sp>
    </p:spTree>
    <p:extLst>
      <p:ext uri="{BB962C8B-B14F-4D97-AF65-F5344CB8AC3E}">
        <p14:creationId xmlns:p14="http://schemas.microsoft.com/office/powerpoint/2010/main" val="23474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A910-DF2A-8451-BD18-EC5F2C6C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54C64-655E-84B2-F83A-5BB9AF38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¿Qué es un árbol de decisión?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C9B4FA-41C9-FB69-2AE0-CDEF6C16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6199554" cy="424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33D3C6B-5841-A3CD-A046-73D3621F76FF}"/>
                  </a:ext>
                </a:extLst>
              </p:cNvPr>
              <p:cNvSpPr txBox="1"/>
              <p:nvPr/>
            </p:nvSpPr>
            <p:spPr>
              <a:xfrm>
                <a:off x="8005233" y="1810417"/>
                <a:ext cx="2294466" cy="64633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40</a:t>
                </a: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33D3C6B-5841-A3CD-A046-73D3621F7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233" y="1810417"/>
                <a:ext cx="2294466" cy="646331"/>
              </a:xfrm>
              <a:prstGeom prst="rect">
                <a:avLst/>
              </a:prstGeom>
              <a:blipFill>
                <a:blip r:embed="rId3"/>
                <a:stretch>
                  <a:fillRect l="-789" t="-4587" b="-119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84207C-C492-9393-CEA4-0134DFC1A4EA}"/>
                  </a:ext>
                </a:extLst>
              </p:cNvPr>
              <p:cNvSpPr txBox="1"/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84207C-C492-9393-CEA4-0134DFC1A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376DAFA-CBDE-1A22-0B50-DFB0DFF0B580}"/>
                  </a:ext>
                </a:extLst>
              </p:cNvPr>
              <p:cNvSpPr txBox="1"/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376DAFA-CBDE-1A22-0B50-DFB0DFF0B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A9888C3-EE6F-8F68-ED58-BCA257D6C082}"/>
                  </a:ext>
                </a:extLst>
              </p:cNvPr>
              <p:cNvSpPr txBox="1"/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A9888C3-EE6F-8F68-ED58-BCA257D6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3AC4766-AB72-7075-DAAD-4FFF8DA08B27}"/>
                  </a:ext>
                </a:extLst>
              </p:cNvPr>
              <p:cNvSpPr txBox="1"/>
              <p:nvPr/>
            </p:nvSpPr>
            <p:spPr>
              <a:xfrm>
                <a:off x="6858000" y="2967334"/>
                <a:ext cx="2294466" cy="9233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12</a:t>
                </a: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3AC4766-AB72-7075-DAAD-4FFF8DA08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967334"/>
                <a:ext cx="2294466" cy="923330"/>
              </a:xfrm>
              <a:prstGeom prst="rect">
                <a:avLst/>
              </a:prstGeom>
              <a:blipFill>
                <a:blip r:embed="rId7"/>
                <a:stretch>
                  <a:fillRect t="-3247" b="-84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4482011-3873-6C4E-FE5D-0F1E6CDD10C2}"/>
                  </a:ext>
                </a:extLst>
              </p:cNvPr>
              <p:cNvSpPr txBox="1"/>
              <p:nvPr/>
            </p:nvSpPr>
            <p:spPr>
              <a:xfrm>
                <a:off x="9262533" y="2967335"/>
                <a:ext cx="2294466" cy="64633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28</a:t>
                </a: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4482011-3873-6C4E-FE5D-0F1E6CDD1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533" y="2967335"/>
                <a:ext cx="2294466" cy="646331"/>
              </a:xfrm>
              <a:prstGeom prst="rect">
                <a:avLst/>
              </a:prstGeom>
              <a:blipFill>
                <a:blip r:embed="rId8"/>
                <a:stretch>
                  <a:fillRect t="-4587" b="-119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778A9CD-7211-FE32-C590-D5AA9B6A5E33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8005233" y="2456748"/>
            <a:ext cx="1147233" cy="510586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FBCD70D-F8C0-5526-09FA-B914FE70219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9152466" y="2456748"/>
            <a:ext cx="1257300" cy="510587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96A683F-CB94-87EC-B89D-5D2D229BC000}"/>
              </a:ext>
            </a:extLst>
          </p:cNvPr>
          <p:cNvCxnSpPr>
            <a:cxnSpLocks/>
          </p:cNvCxnSpPr>
          <p:nvPr/>
        </p:nvCxnSpPr>
        <p:spPr>
          <a:xfrm flipV="1">
            <a:off x="2626294" y="2011233"/>
            <a:ext cx="0" cy="37816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2B59BE1-99CB-AE76-CDA4-BCA508A56F0D}"/>
                  </a:ext>
                </a:extLst>
              </p:cNvPr>
              <p:cNvSpPr txBox="1"/>
              <p:nvPr/>
            </p:nvSpPr>
            <p:spPr>
              <a:xfrm>
                <a:off x="8670845" y="2578204"/>
                <a:ext cx="894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≤3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2B59BE1-99CB-AE76-CDA4-BCA508A5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845" y="2578204"/>
                <a:ext cx="8948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E724B1A-928F-4FC3-C5A0-2D25C3CA6CB9}"/>
              </a:ext>
            </a:extLst>
          </p:cNvPr>
          <p:cNvCxnSpPr>
            <a:cxnSpLocks/>
          </p:cNvCxnSpPr>
          <p:nvPr/>
        </p:nvCxnSpPr>
        <p:spPr>
          <a:xfrm>
            <a:off x="2626294" y="3657565"/>
            <a:ext cx="40903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2B61368-5C33-5F4A-DFF0-1BE06CE8FFCC}"/>
                  </a:ext>
                </a:extLst>
              </p:cNvPr>
              <p:cNvSpPr txBox="1"/>
              <p:nvPr/>
            </p:nvSpPr>
            <p:spPr>
              <a:xfrm>
                <a:off x="7271240" y="4401250"/>
                <a:ext cx="2294466" cy="9233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16</a:t>
                </a: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2B61368-5C33-5F4A-DFF0-1BE06CE8F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240" y="4401250"/>
                <a:ext cx="2294466" cy="923330"/>
              </a:xfrm>
              <a:prstGeom prst="rect">
                <a:avLst/>
              </a:prstGeom>
              <a:blipFill>
                <a:blip r:embed="rId10"/>
                <a:stretch>
                  <a:fillRect t="-3247" b="-84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4B6A07F-34C3-EC7A-8CD5-575963F1C924}"/>
                  </a:ext>
                </a:extLst>
              </p:cNvPr>
              <p:cNvSpPr txBox="1"/>
              <p:nvPr/>
            </p:nvSpPr>
            <p:spPr>
              <a:xfrm>
                <a:off x="9681633" y="4401250"/>
                <a:ext cx="2294466" cy="9233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12</a:t>
                </a: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4B6A07F-34C3-EC7A-8CD5-575963F1C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1633" y="4401250"/>
                <a:ext cx="2294466" cy="923330"/>
              </a:xfrm>
              <a:prstGeom prst="rect">
                <a:avLst/>
              </a:prstGeom>
              <a:blipFill>
                <a:blip r:embed="rId11"/>
                <a:stretch>
                  <a:fillRect t="-3247" b="-84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E85DF15-7721-542A-ADB2-786A07F525D9}"/>
                  </a:ext>
                </a:extLst>
              </p:cNvPr>
              <p:cNvSpPr txBox="1"/>
              <p:nvPr/>
            </p:nvSpPr>
            <p:spPr>
              <a:xfrm>
                <a:off x="9773757" y="3867990"/>
                <a:ext cx="894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≤4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E85DF15-7721-542A-ADB2-786A07F52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757" y="3867990"/>
                <a:ext cx="89486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C7A3D77-F989-E566-9026-3BC23508DEF0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8418473" y="3616019"/>
            <a:ext cx="2111260" cy="785231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B48303B-57C3-34EB-11A8-E734EB7C95FB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0571088" y="3613666"/>
            <a:ext cx="257778" cy="78758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3BF7671-51E9-939A-F944-456CED3A3E29}"/>
                  </a:ext>
                </a:extLst>
              </p:cNvPr>
              <p:cNvSpPr txBox="1"/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3BF7671-51E9-939A-F944-456CED3A3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445D476-4E65-50E2-973E-D4675115AEEB}"/>
                  </a:ext>
                </a:extLst>
              </p:cNvPr>
              <p:cNvSpPr txBox="1"/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445D476-4E65-50E2-973E-D4675115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12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22" grpId="0"/>
      <p:bldP spid="26" grpId="0" animBg="1"/>
      <p:bldP spid="27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5435-7BEB-6C9F-E5C4-07ADD80C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F35FC5E-1ECA-E077-375C-EB3B864CC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55"/>
          <a:stretch/>
        </p:blipFill>
        <p:spPr bwMode="auto">
          <a:xfrm>
            <a:off x="484238" y="1954615"/>
            <a:ext cx="5899629" cy="449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C452947-62C5-B343-454B-7E8805FC8572}"/>
              </a:ext>
            </a:extLst>
          </p:cNvPr>
          <p:cNvCxnSpPr>
            <a:cxnSpLocks/>
          </p:cNvCxnSpPr>
          <p:nvPr/>
        </p:nvCxnSpPr>
        <p:spPr>
          <a:xfrm>
            <a:off x="4292600" y="2403987"/>
            <a:ext cx="186812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472B7DE-8DF5-B1B1-B3D2-E164B4AD25A6}"/>
              </a:ext>
            </a:extLst>
          </p:cNvPr>
          <p:cNvSpPr txBox="1"/>
          <p:nvPr/>
        </p:nvSpPr>
        <p:spPr>
          <a:xfrm>
            <a:off x="6160729" y="2080821"/>
            <a:ext cx="4939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Nodo raíz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Representa a toda la población o muestra 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784CAF4-3EDC-93B5-EFFA-21FFB6B75E00}"/>
              </a:ext>
            </a:extLst>
          </p:cNvPr>
          <p:cNvCxnSpPr>
            <a:cxnSpLocks/>
          </p:cNvCxnSpPr>
          <p:nvPr/>
        </p:nvCxnSpPr>
        <p:spPr>
          <a:xfrm>
            <a:off x="2593531" y="3504832"/>
            <a:ext cx="4559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8B3A57-8D4B-398E-8D4C-D12CB81B54D7}"/>
              </a:ext>
            </a:extLst>
          </p:cNvPr>
          <p:cNvSpPr txBox="1"/>
          <p:nvPr/>
        </p:nvSpPr>
        <p:spPr>
          <a:xfrm>
            <a:off x="7142315" y="3212444"/>
            <a:ext cx="4708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Nodos de decisión: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un nodo se divide en más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subnodos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BF5E9A0-2C76-B8C7-BF6E-642637944A12}"/>
              </a:ext>
            </a:extLst>
          </p:cNvPr>
          <p:cNvCxnSpPr>
            <a:cxnSpLocks/>
          </p:cNvCxnSpPr>
          <p:nvPr/>
        </p:nvCxnSpPr>
        <p:spPr>
          <a:xfrm>
            <a:off x="6096000" y="5817146"/>
            <a:ext cx="10569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5570F4-A3A9-9671-BEE7-DD9C18EC56C5}"/>
              </a:ext>
            </a:extLst>
          </p:cNvPr>
          <p:cNvSpPr txBox="1"/>
          <p:nvPr/>
        </p:nvSpPr>
        <p:spPr>
          <a:xfrm>
            <a:off x="7142315" y="5493980"/>
            <a:ext cx="4422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Nodo / Hoja terminal: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nodos que no se dividen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1DB9F2-B331-E6EA-3DD0-1FFF8A29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Terminología de los árboles de decisión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2588A69-257E-617F-70B9-B33372056286}"/>
              </a:ext>
            </a:extLst>
          </p:cNvPr>
          <p:cNvSpPr txBox="1"/>
          <p:nvPr/>
        </p:nvSpPr>
        <p:spPr>
          <a:xfrm>
            <a:off x="6383867" y="2534236"/>
            <a:ext cx="5180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División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 un proceso de dividir un nodo en dos o más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subnodos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E590131-4C18-ABBD-355F-8A1D3AC1ADD5}"/>
              </a:ext>
            </a:extLst>
          </p:cNvPr>
          <p:cNvSpPr txBox="1"/>
          <p:nvPr/>
        </p:nvSpPr>
        <p:spPr>
          <a:xfrm>
            <a:off x="6383867" y="3854527"/>
            <a:ext cx="518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Poda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Cuando eliminamos los nodos de un nodo decisión.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69054A-5FF1-ECBE-9279-9D44BE113F9B}"/>
              </a:ext>
            </a:extLst>
          </p:cNvPr>
          <p:cNvSpPr txBox="1"/>
          <p:nvPr/>
        </p:nvSpPr>
        <p:spPr>
          <a:xfrm>
            <a:off x="6383867" y="4358252"/>
            <a:ext cx="5180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Nodo padre y Nodo hijo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 nodo que está dividido en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subnodos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denomina nodo padre de los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subnodos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donde los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subnodos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 nodos hijos de un nodo padre.</a:t>
            </a:r>
          </a:p>
        </p:txBody>
      </p:sp>
    </p:spTree>
    <p:extLst>
      <p:ext uri="{BB962C8B-B14F-4D97-AF65-F5344CB8AC3E}">
        <p14:creationId xmlns:p14="http://schemas.microsoft.com/office/powerpoint/2010/main" val="308065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136B-9CED-51FC-0F58-CA606832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8C2F7-79E2-BC15-9CB1-57F8213C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Medidas de selección de atributos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A6780CB-E326-7247-7F54-70BB3799C05A}"/>
              </a:ext>
            </a:extLst>
          </p:cNvPr>
          <p:cNvSpPr txBox="1"/>
          <p:nvPr/>
        </p:nvSpPr>
        <p:spPr>
          <a:xfrm>
            <a:off x="922867" y="3005667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 dos medidas de selección de atributos más comunes: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92C8F7-C103-6DFC-D972-3980CFD3245B}"/>
              </a:ext>
            </a:extLst>
          </p:cNvPr>
          <p:cNvSpPr txBox="1"/>
          <p:nvPr/>
        </p:nvSpPr>
        <p:spPr>
          <a:xfrm>
            <a:off x="922866" y="3418728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Gini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DE4B29-8DC3-478A-D1C7-0B43DEC13FF0}"/>
              </a:ext>
            </a:extLst>
          </p:cNvPr>
          <p:cNvSpPr txBox="1"/>
          <p:nvPr/>
        </p:nvSpPr>
        <p:spPr>
          <a:xfrm>
            <a:off x="922864" y="2070315"/>
            <a:ext cx="998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principal </a:t>
            </a:r>
            <a:r>
              <a:rPr lang="es-MX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</a:t>
            </a:r>
            <a:r>
              <a:rPr lang="es-MX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la implementación del Árbol de decisión es identificar los atributos que consideramos como el nodo raíz y cada nivel. Este proceso se le conoce como </a:t>
            </a:r>
            <a:r>
              <a:rPr lang="es-MX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atributos</a:t>
            </a:r>
            <a:r>
              <a:rPr lang="es-MX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Existen diferentes medidas de selección de atributos para identificar el atributo que puede considerarse como el nodo raíz en cada nivel.</a:t>
            </a:r>
          </a:p>
        </p:txBody>
      </p:sp>
    </p:spTree>
    <p:extLst>
      <p:ext uri="{BB962C8B-B14F-4D97-AF65-F5344CB8AC3E}">
        <p14:creationId xmlns:p14="http://schemas.microsoft.com/office/powerpoint/2010/main" val="35533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D3AE-76D5-0BD8-8A9F-9B5CAFAC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DC8C0-7527-343E-28CB-9742D465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3640667" cy="1356360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 </a:t>
            </a:r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9EC8B5-DAFF-31A0-C887-3E3998E1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6199554" cy="424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03797A7-23D0-E01A-6826-04E32C256B96}"/>
                  </a:ext>
                </a:extLst>
              </p:cNvPr>
              <p:cNvSpPr txBox="1"/>
              <p:nvPr/>
            </p:nvSpPr>
            <p:spPr>
              <a:xfrm>
                <a:off x="8235267" y="2032928"/>
                <a:ext cx="2294466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40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03797A7-23D0-E01A-6826-04E32C256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267" y="2032928"/>
                <a:ext cx="2294466" cy="584775"/>
              </a:xfrm>
              <a:prstGeom prst="rect">
                <a:avLst/>
              </a:prstGeom>
              <a:blipFill>
                <a:blip r:embed="rId3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C670528-0359-753F-CD98-E9FF7FA8E955}"/>
                  </a:ext>
                </a:extLst>
              </p:cNvPr>
              <p:cNvSpPr txBox="1"/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C670528-0359-753F-CD98-E9FF7FA8E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1893B72-4B00-FF13-53D1-3C5915B31233}"/>
                  </a:ext>
                </a:extLst>
              </p:cNvPr>
              <p:cNvSpPr txBox="1"/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1893B72-4B00-FF13-53D1-3C5915B31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0E1AA09-34E8-AB93-4F2B-99934E4CA761}"/>
                  </a:ext>
                </a:extLst>
              </p:cNvPr>
              <p:cNvSpPr txBox="1"/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0E1AA09-34E8-AB93-4F2B-99934E4CA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7825E77-7F2C-EFB6-4CAD-083E26A82B92}"/>
                  </a:ext>
                </a:extLst>
              </p:cNvPr>
              <p:cNvSpPr txBox="1"/>
              <p:nvPr/>
            </p:nvSpPr>
            <p:spPr>
              <a:xfrm>
                <a:off x="7698612" y="3028245"/>
                <a:ext cx="1676400" cy="8309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2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7825E77-7F2C-EFB6-4CAD-083E26A82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12" y="3028245"/>
                <a:ext cx="1676400" cy="830997"/>
              </a:xfrm>
              <a:prstGeom prst="rect">
                <a:avLst/>
              </a:prstGeom>
              <a:blipFill>
                <a:blip r:embed="rId7"/>
                <a:stretch>
                  <a:fillRect l="-719" t="-1439" b="-719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4F03B01-DA49-3394-F0D9-361C4023E041}"/>
                  </a:ext>
                </a:extLst>
              </p:cNvPr>
              <p:cNvSpPr txBox="1"/>
              <p:nvPr/>
            </p:nvSpPr>
            <p:spPr>
              <a:xfrm>
                <a:off x="9474103" y="3028891"/>
                <a:ext cx="2111260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38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4F03B01-DA49-3394-F0D9-361C4023E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103" y="3028891"/>
                <a:ext cx="2111260" cy="584775"/>
              </a:xfrm>
              <a:prstGeom prst="rect">
                <a:avLst/>
              </a:prstGeom>
              <a:blipFill>
                <a:blip r:embed="rId8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3187489-1DE7-A422-BD05-E6BD752F8832}"/>
                  </a:ext>
                </a:extLst>
              </p:cNvPr>
              <p:cNvSpPr txBox="1"/>
              <p:nvPr/>
            </p:nvSpPr>
            <p:spPr>
              <a:xfrm>
                <a:off x="8935069" y="2617703"/>
                <a:ext cx="89486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3187489-1DE7-A422-BD05-E6BD752F8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069" y="2617703"/>
                <a:ext cx="89486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25EB0A2-097D-D261-947F-661CDA378D5C}"/>
                  </a:ext>
                </a:extLst>
              </p:cNvPr>
              <p:cNvSpPr txBox="1"/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25EB0A2-097D-D261-947F-661CDA378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67C26C14-1804-42D8-D3C4-1EF260C0C653}"/>
                  </a:ext>
                </a:extLst>
              </p:cNvPr>
              <p:cNvSpPr txBox="1"/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67C26C14-1804-42D8-D3C4-1EF260C0C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23D17C2-3A21-BAB5-58CD-80F45A21F5AD}"/>
              </a:ext>
            </a:extLst>
          </p:cNvPr>
          <p:cNvCxnSpPr/>
          <p:nvPr/>
        </p:nvCxnSpPr>
        <p:spPr>
          <a:xfrm flipV="1">
            <a:off x="1583267" y="2011233"/>
            <a:ext cx="0" cy="37816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49946F4-753C-B650-2D2E-373F8827925E}"/>
                  </a:ext>
                </a:extLst>
              </p:cNvPr>
              <p:cNvSpPr txBox="1"/>
              <p:nvPr/>
            </p:nvSpPr>
            <p:spPr>
              <a:xfrm>
                <a:off x="4683697" y="791389"/>
                <a:ext cx="71442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Buscar el valor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 separe ese conjunto de datos de la manera 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“más pura posible” </a:t>
                </a:r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 decir, manteniendo el mayor número de elementos de una clase en un subconjunto y el mayor número de elementos de otra clase en el otro subconjunto.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49946F4-753C-B650-2D2E-373F88279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697" y="791389"/>
                <a:ext cx="7144236" cy="830997"/>
              </a:xfrm>
              <a:prstGeom prst="rect">
                <a:avLst/>
              </a:prstGeom>
              <a:blipFill>
                <a:blip r:embed="rId12"/>
                <a:stretch>
                  <a:fillRect l="-427" t="-2206" r="-512"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64C8A353-1771-F8BE-2BB9-5F326AF9E856}"/>
              </a:ext>
            </a:extLst>
          </p:cNvPr>
          <p:cNvSpPr txBox="1"/>
          <p:nvPr/>
        </p:nvSpPr>
        <p:spPr>
          <a:xfrm>
            <a:off x="7346251" y="4442612"/>
            <a:ext cx="27544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Coeficiente de Gini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7C554F4-40C1-CA6F-C5FE-CB5B5C9B53DA}"/>
                  </a:ext>
                </a:extLst>
              </p:cNvPr>
              <p:cNvSpPr txBox="1"/>
              <p:nvPr/>
            </p:nvSpPr>
            <p:spPr>
              <a:xfrm>
                <a:off x="7165634" y="4980776"/>
                <a:ext cx="2139265" cy="84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7C554F4-40C1-CA6F-C5FE-CB5B5C9B5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634" y="4980776"/>
                <a:ext cx="2139265" cy="8485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173FAAF-8AA3-6E51-6B58-A4086BCE4308}"/>
                  </a:ext>
                </a:extLst>
              </p:cNvPr>
              <p:cNvSpPr txBox="1"/>
              <p:nvPr/>
            </p:nvSpPr>
            <p:spPr>
              <a:xfrm>
                <a:off x="9179927" y="4813250"/>
                <a:ext cx="2648006" cy="1334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Cada una de las clases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Nodo del árbol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clases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 radio de ejemplos de la clase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 el nodo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173FAAF-8AA3-6E51-6B58-A4086BCE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927" y="4813250"/>
                <a:ext cx="2648006" cy="1334211"/>
              </a:xfrm>
              <a:prstGeom prst="rect">
                <a:avLst/>
              </a:prstGeom>
              <a:blipFill>
                <a:blip r:embed="rId14"/>
                <a:stretch>
                  <a:fillRect l="-922" t="-1376" b="-550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0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22" grpId="0"/>
      <p:bldP spid="9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A3C5-2D0F-DE8E-06E5-A6C5DE203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E8CE5-4296-B644-B61D-D8F99A4D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3640667" cy="1356360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 </a:t>
            </a:r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83F5BC-8FA6-D06D-6F61-453697B5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6199554" cy="424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1BBF1CA-0B9B-2DDE-9B82-C89E49AB5CC8}"/>
                  </a:ext>
                </a:extLst>
              </p:cNvPr>
              <p:cNvSpPr txBox="1"/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40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1BBF1CA-0B9B-2DDE-9B82-C89E49AB5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  <a:blipFill>
                <a:blip r:embed="rId3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664C636-309A-48F4-7311-63D21151B21F}"/>
                  </a:ext>
                </a:extLst>
              </p:cNvPr>
              <p:cNvSpPr txBox="1"/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664C636-309A-48F4-7311-63D21151B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267" y="3963061"/>
                <a:ext cx="7874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BA87544-079E-BE12-2853-2EF4E754F661}"/>
                  </a:ext>
                </a:extLst>
              </p:cNvPr>
              <p:cNvSpPr txBox="1"/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BA87544-079E-BE12-2853-2EF4E754F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67" y="2011233"/>
                <a:ext cx="78740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E13C93A-7206-3180-80C9-B4773030AA2F}"/>
                  </a:ext>
                </a:extLst>
              </p:cNvPr>
              <p:cNvSpPr txBox="1"/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E13C93A-7206-3180-80C9-B4773030A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067" y="3244334"/>
                <a:ext cx="787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2570374-4766-9C20-526E-D40BEBDC5444}"/>
                  </a:ext>
                </a:extLst>
              </p:cNvPr>
              <p:cNvSpPr txBox="1"/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2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2570374-4766-9C20-526E-D40BEBDC5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  <a:blipFill>
                <a:blip r:embed="rId7"/>
                <a:stretch>
                  <a:fillRect l="-719" t="-1429" b="-64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2A30918-4A1A-7C56-9491-52F630CD14A2}"/>
                  </a:ext>
                </a:extLst>
              </p:cNvPr>
              <p:cNvSpPr txBox="1"/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38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2A30918-4A1A-7C56-9491-52F630CD1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  <a:blipFill>
                <a:blip r:embed="rId8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45175F5-857D-FAF6-0FF2-F72D9CD55F5F}"/>
                  </a:ext>
                </a:extLst>
              </p:cNvPr>
              <p:cNvSpPr txBox="1"/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45175F5-857D-FAF6-0FF2-F72D9CD55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61D98B7-A441-17A1-9D13-8E515E904B04}"/>
                  </a:ext>
                </a:extLst>
              </p:cNvPr>
              <p:cNvSpPr txBox="1"/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61D98B7-A441-17A1-9D13-8E515E904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196" y="6147461"/>
                <a:ext cx="7874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5061DA8-E9ED-F0A0-C2B5-5638B3604203}"/>
                  </a:ext>
                </a:extLst>
              </p:cNvPr>
              <p:cNvSpPr txBox="1"/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5061DA8-E9ED-F0A0-C2B5-5638B3604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5" y="3778395"/>
                <a:ext cx="7874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D308485-FD77-C48B-692D-52EBCAC97710}"/>
              </a:ext>
            </a:extLst>
          </p:cNvPr>
          <p:cNvCxnSpPr/>
          <p:nvPr/>
        </p:nvCxnSpPr>
        <p:spPr>
          <a:xfrm flipV="1">
            <a:off x="1583267" y="2011233"/>
            <a:ext cx="0" cy="37816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B7CBE2-B6E9-26F2-E802-62E024D4D383}"/>
              </a:ext>
            </a:extLst>
          </p:cNvPr>
          <p:cNvSpPr txBox="1"/>
          <p:nvPr/>
        </p:nvSpPr>
        <p:spPr>
          <a:xfrm>
            <a:off x="9535189" y="3220909"/>
            <a:ext cx="22927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pureza es completa y el error para este nodo es cero. Este nodo tiene todos los ejemplos pertenecientes a una única clase.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115058-9B3F-6D34-90A7-1DBC0BACEE51}"/>
                  </a:ext>
                </a:extLst>
              </p:cNvPr>
              <p:cNvSpPr txBox="1"/>
              <p:nvPr/>
            </p:nvSpPr>
            <p:spPr>
              <a:xfrm>
                <a:off x="6036737" y="3568221"/>
                <a:ext cx="3550135" cy="885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115058-9B3F-6D34-90A7-1DBC0BACE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737" y="3568221"/>
                <a:ext cx="3550135" cy="8850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D1CFB81-D177-F977-A6A9-80FE52AC15D1}"/>
                  </a:ext>
                </a:extLst>
              </p:cNvPr>
              <p:cNvSpPr txBox="1"/>
              <p:nvPr/>
            </p:nvSpPr>
            <p:spPr>
              <a:xfrm>
                <a:off x="5427934" y="4921480"/>
                <a:ext cx="4253516" cy="885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10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38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12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38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16</m:t>
                                      </m:r>
                                    </m:num>
                                    <m:den>
                                      <m:r>
                                        <a:rPr lang="es-MX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38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=0.65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D1CFB81-D177-F977-A6A9-80FE52AC1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934" y="4921480"/>
                <a:ext cx="4253516" cy="8850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F367F307-D1E5-D2AA-C1A3-A0528873EFD0}"/>
              </a:ext>
            </a:extLst>
          </p:cNvPr>
          <p:cNvSpPr txBox="1"/>
          <p:nvPr/>
        </p:nvSpPr>
        <p:spPr>
          <a:xfrm>
            <a:off x="9535189" y="4835176"/>
            <a:ext cx="2292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explica bien que el nodo no es puro y hay bastante mezcla de clases, lo que indica un alto nivel de impureza.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F6674C9-EAE5-D40D-B998-179DEA76B507}"/>
              </a:ext>
            </a:extLst>
          </p:cNvPr>
          <p:cNvSpPr txBox="1"/>
          <p:nvPr/>
        </p:nvSpPr>
        <p:spPr>
          <a:xfrm>
            <a:off x="2593258" y="4410789"/>
            <a:ext cx="28346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árbol intenta encontrar la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mejor división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del conjunto de datos buscando la menor impureza total ponderada.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41D97B3-255C-C1F2-F141-1DC0A3748C7D}"/>
              </a:ext>
            </a:extLst>
          </p:cNvPr>
          <p:cNvSpPr txBox="1"/>
          <p:nvPr/>
        </p:nvSpPr>
        <p:spPr>
          <a:xfrm>
            <a:off x="7608925" y="2380565"/>
            <a:ext cx="19779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 en un nodo puro (bueno)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D64FBF1-6AE5-6557-262B-907B2924343F}"/>
              </a:ext>
            </a:extLst>
          </p:cNvPr>
          <p:cNvSpPr txBox="1"/>
          <p:nvPr/>
        </p:nvSpPr>
        <p:spPr>
          <a:xfrm>
            <a:off x="9535189" y="2380564"/>
            <a:ext cx="19779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 en un nodo impuro (malo)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3D80434-0265-855D-244F-32BC15035FC4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8597899" y="1048787"/>
            <a:ext cx="845688" cy="41054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2BC1ABB-E943-4E85-A8EC-978C8B5DC873}"/>
              </a:ext>
            </a:extLst>
          </p:cNvPr>
          <p:cNvCxnSpPr>
            <a:stCxn id="22" idx="0"/>
            <a:endCxn id="14" idx="0"/>
          </p:cNvCxnSpPr>
          <p:nvPr/>
        </p:nvCxnSpPr>
        <p:spPr>
          <a:xfrm>
            <a:off x="9443587" y="1048787"/>
            <a:ext cx="1147233" cy="41118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64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22" grpId="0"/>
      <p:bldP spid="19" grpId="0"/>
      <p:bldP spid="6" grpId="0"/>
      <p:bldP spid="15" grpId="0"/>
      <p:bldP spid="16" grpId="0"/>
      <p:bldP spid="17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A00C-5AC4-DB7C-3CF4-757AEE8F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FCC66-8DCB-B660-FA89-8F56E6F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MX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(CART)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FE650B-7FD3-C746-D641-B3D7C73F6E07}"/>
              </a:ext>
            </a:extLst>
          </p:cNvPr>
          <p:cNvSpPr txBox="1"/>
          <p:nvPr/>
        </p:nvSpPr>
        <p:spPr>
          <a:xfrm>
            <a:off x="1032933" y="2040467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Impureza ponderada total de los nodos hijos después de la división: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649034B-DC49-DE5E-5FC4-7A296FBD4860}"/>
                  </a:ext>
                </a:extLst>
              </p:cNvPr>
              <p:cNvSpPr txBox="1"/>
              <p:nvPr/>
            </p:nvSpPr>
            <p:spPr>
              <a:xfrm>
                <a:off x="3503913" y="2605357"/>
                <a:ext cx="2249077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649034B-DC49-DE5E-5FC4-7A296FBD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913" y="2605357"/>
                <a:ext cx="2249077" cy="47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1298E6F-CF2E-794C-7866-AB04FBB951D6}"/>
                  </a:ext>
                </a:extLst>
              </p:cNvPr>
              <p:cNvSpPr txBox="1"/>
              <p:nvPr/>
            </p:nvSpPr>
            <p:spPr>
              <a:xfrm>
                <a:off x="6095999" y="2395954"/>
                <a:ext cx="47766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Elementos totales.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Número de elementos en cada subconjunto.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Impurezas individuales.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1298E6F-CF2E-794C-7866-AB04FBB9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395954"/>
                <a:ext cx="4776601" cy="830997"/>
              </a:xfrm>
              <a:prstGeom prst="rect">
                <a:avLst/>
              </a:prstGeom>
              <a:blipFill>
                <a:blip r:embed="rId3"/>
                <a:stretch>
                  <a:fillRect l="-510" t="-2206"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27CD8C3-B8E8-D9C0-72BE-99EA4BEA51AE}"/>
                  </a:ext>
                </a:extLst>
              </p:cNvPr>
              <p:cNvSpPr txBox="1"/>
              <p:nvPr/>
            </p:nvSpPr>
            <p:spPr>
              <a:xfrm>
                <a:off x="4184997" y="3453287"/>
                <a:ext cx="368145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d>
                        <m:d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=0.6175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27CD8C3-B8E8-D9C0-72BE-99EA4BEA5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997" y="3453287"/>
                <a:ext cx="3681457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90540F1-C5F6-D348-19C8-3C1F868B69CF}"/>
                  </a:ext>
                </a:extLst>
              </p:cNvPr>
              <p:cNvSpPr txBox="1"/>
              <p:nvPr/>
            </p:nvSpPr>
            <p:spPr>
              <a:xfrm>
                <a:off x="1143000" y="4975248"/>
                <a:ext cx="40423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𝑔𝑎𝑖𝑛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𝑝𝑎𝑟𝑒𝑛𝑡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90540F1-C5F6-D348-19C8-3C1F868B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975248"/>
                <a:ext cx="4042325" cy="276999"/>
              </a:xfrm>
              <a:prstGeom prst="rect">
                <a:avLst/>
              </a:prstGeom>
              <a:blipFill>
                <a:blip r:embed="rId5"/>
                <a:stretch>
                  <a:fillRect l="-1056" t="-2174" r="-165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8C0418F6-8793-01FB-E4AF-4F0EE427A7C3}"/>
              </a:ext>
            </a:extLst>
          </p:cNvPr>
          <p:cNvSpPr txBox="1"/>
          <p:nvPr/>
        </p:nvSpPr>
        <p:spPr>
          <a:xfrm>
            <a:off x="5614099" y="4682860"/>
            <a:ext cx="574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la impureza promedio ponderada de los hijos es mucho menor que la impureza del nodo padre, significa que la división fue muy efectiva para separar las clases y hacer los nodos resultantes más puros. En este caso, el Gini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será alto.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5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B46E-F310-A5B0-4C48-98B7C7A3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C12D2-4E5E-A53E-7B59-1B4B0BDB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Entropía y ganancia de información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289F60-7B70-8E17-9AA8-D6EBC7493EA5}"/>
              </a:ext>
            </a:extLst>
          </p:cNvPr>
          <p:cNvSpPr txBox="1"/>
          <p:nvPr/>
        </p:nvSpPr>
        <p:spPr>
          <a:xfrm>
            <a:off x="1032933" y="2040467"/>
            <a:ext cx="99855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entropía mide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impureza en el conjunto de datos 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Física y Matemáticas, la entropía se conoce como la aleatoriedad o incertidumbre de una variable aleatoria X.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teoría de la información, se refiere a la impureza en un grupo de ejemplos.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 es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disminución de la entropía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ganancia de información calcula la diferencia entre la entropía antes de la división y la entropía promedio después de la división del conjunto de datos en función de los valores de atributos dados.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427B5DF-028B-C156-D252-B1CC7F19D6A3}"/>
                  </a:ext>
                </a:extLst>
              </p:cNvPr>
              <p:cNvSpPr txBox="1"/>
              <p:nvPr/>
            </p:nvSpPr>
            <p:spPr>
              <a:xfrm>
                <a:off x="5141327" y="4026920"/>
                <a:ext cx="522187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6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Variable aleatoria (por ejemplo, la clase: “Sí” y “No”)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Probabilidad de ocurrencia del evento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Número total de clases.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427B5DF-028B-C156-D252-B1CC7F19D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327" y="4026920"/>
                <a:ext cx="5221874" cy="830997"/>
              </a:xfrm>
              <a:prstGeom prst="rect">
                <a:avLst/>
              </a:prstGeom>
              <a:blipFill>
                <a:blip r:embed="rId2"/>
                <a:stretch>
                  <a:fillRect l="-467" t="-2206"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6207A0-3942-16E5-61CF-4C7C7965734F}"/>
                  </a:ext>
                </a:extLst>
              </p:cNvPr>
              <p:cNvSpPr txBox="1"/>
              <p:nvPr/>
            </p:nvSpPr>
            <p:spPr>
              <a:xfrm>
                <a:off x="771010" y="4106332"/>
                <a:ext cx="5221874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𝑒𝑛𝑡𝑟𝑜𝑝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6207A0-3942-16E5-61CF-4C7C79657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10" y="4106332"/>
                <a:ext cx="5221874" cy="672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49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7299F-3C27-B31E-182A-A334A10A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915AB-77C9-57F6-A5E7-66AA102C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Entropía ¿Cómo se aplica?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D80BF0-DB56-D8F5-457D-608F7786C031}"/>
              </a:ext>
            </a:extLst>
          </p:cNvPr>
          <p:cNvSpPr txBox="1"/>
          <p:nvPr/>
        </p:nvSpPr>
        <p:spPr>
          <a:xfrm>
            <a:off x="1032933" y="2040467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un árbol de decisión, la entropía se utiliza para evaluar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qué tan mezcladas están todas las clases en un nodo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1F513D6-AEB0-8641-95F8-3F544096BA57}"/>
                  </a:ext>
                </a:extLst>
              </p:cNvPr>
              <p:cNvSpPr txBox="1"/>
              <p:nvPr/>
            </p:nvSpPr>
            <p:spPr>
              <a:xfrm>
                <a:off x="573191" y="5016936"/>
                <a:ext cx="5734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el nodo tiene clases puras (por ejemplo, todos sobrevivieron):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=1→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=−1∙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1F513D6-AEB0-8641-95F8-3F544096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1" y="5016936"/>
                <a:ext cx="5734476" cy="584775"/>
              </a:xfrm>
              <a:prstGeom prst="rect">
                <a:avLst/>
              </a:prstGeom>
              <a:blipFill>
                <a:blip r:embed="rId2"/>
                <a:stretch>
                  <a:fillRect l="-425" t="-3125" b="-6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39EAF4E-DB1B-70D0-8169-A907BC3450C5}"/>
                  </a:ext>
                </a:extLst>
              </p:cNvPr>
              <p:cNvSpPr txBox="1"/>
              <p:nvPr/>
            </p:nvSpPr>
            <p:spPr>
              <a:xfrm>
                <a:off x="573189" y="2704328"/>
                <a:ext cx="57344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hay una mezcla perfecta (por ejemplo, 50% sobrevivieron y 50% no sobrevivieron):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=−0.5∙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−0.5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39EAF4E-DB1B-70D0-8169-A907BC34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89" y="2704328"/>
                <a:ext cx="5734477" cy="830997"/>
              </a:xfrm>
              <a:prstGeom prst="rect">
                <a:avLst/>
              </a:prstGeom>
              <a:blipFill>
                <a:blip r:embed="rId3"/>
                <a:stretch>
                  <a:fillRect l="-425" t="-2206" r="-638" b="-4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A5C1F2E-700D-30F9-49F0-336FB8632836}"/>
                  </a:ext>
                </a:extLst>
              </p:cNvPr>
              <p:cNvSpPr txBox="1"/>
              <p:nvPr/>
            </p:nvSpPr>
            <p:spPr>
              <a:xfrm>
                <a:off x="573191" y="3860632"/>
                <a:ext cx="57344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hay una mezcla no perfecta (por ejemplo, 90% sobrevivieron y 10% no sobrevivieron):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=−0.9∙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=0.47</m:t>
                      </m:r>
                    </m:oMath>
                  </m:oMathPara>
                </a14:m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A5C1F2E-700D-30F9-49F0-336FB8632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1" y="3860632"/>
                <a:ext cx="5734476" cy="830997"/>
              </a:xfrm>
              <a:prstGeom prst="rect">
                <a:avLst/>
              </a:prstGeom>
              <a:blipFill>
                <a:blip r:embed="rId4"/>
                <a:stretch>
                  <a:fillRect l="-425" t="-2190" r="-638" b="-36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C673E676-4A6A-A948-0B73-8BFC0A1F8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536" y="3472527"/>
            <a:ext cx="5156786" cy="135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7566-F4A3-FA81-C3BF-E2E36D4D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D67E5-3214-91EC-C113-1B88F0B0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Entropía ¿Cómo se aplica?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0EFAF8-E616-3DA8-AFE8-A54B300FDC30}"/>
              </a:ext>
            </a:extLst>
          </p:cNvPr>
          <p:cNvSpPr txBox="1"/>
          <p:nvPr/>
        </p:nvSpPr>
        <p:spPr>
          <a:xfrm>
            <a:off x="1032933" y="2040467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hay más de dos clases, la entropía puede ser mayor a 1. El valor máximo es: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4F51D63-BD49-5B0C-9D69-1E88FD3414C6}"/>
                  </a:ext>
                </a:extLst>
              </p:cNvPr>
              <p:cNvSpPr txBox="1"/>
              <p:nvPr/>
            </p:nvSpPr>
            <p:spPr>
              <a:xfrm>
                <a:off x="2977726" y="263933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á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𝑥𝑖𝑚𝑎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𝑒𝑛𝑡𝑟𝑜𝑝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í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4F51D63-BD49-5B0C-9D69-1E88FD341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726" y="2639334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9F492D5A-D0B8-8AF8-6930-C2269A77E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01" y="3429000"/>
            <a:ext cx="5084065" cy="226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8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F606-7E47-0441-17B5-02589F9D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5210C-A27B-72F8-86A7-4E620E4A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 ¿Cómo se aplica?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AD4A7A-36C5-77E1-F477-CD8C3234C1CE}"/>
              </a:ext>
            </a:extLst>
          </p:cNvPr>
          <p:cNvSpPr txBox="1"/>
          <p:nvPr/>
        </p:nvSpPr>
        <p:spPr>
          <a:xfrm>
            <a:off x="1032933" y="2040467"/>
            <a:ext cx="998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 es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disminución de la entropía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ganancia de información calcula la diferencia entre la entropía antes de la división y la entropía promedio después de la división del conjunto de datos en función de los valores de atributos dados.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96099DB-E297-2E61-2F96-C076E278EB01}"/>
                  </a:ext>
                </a:extLst>
              </p:cNvPr>
              <p:cNvSpPr txBox="1"/>
              <p:nvPr/>
            </p:nvSpPr>
            <p:spPr>
              <a:xfrm>
                <a:off x="2953173" y="3070632"/>
                <a:ext cx="6145106" cy="35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𝑎𝑛𝑎𝑛𝑐𝑖𝑎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𝑖𝑛𝑓𝑜𝑟𝑚𝑎𝑐𝑖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ó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𝑃𝑎𝑑𝑟𝑒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𝐻𝑖𝑗𝑜𝑠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𝐴𝑛𝑡𝑒𝑠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𝐷𝑒𝑠𝑝𝑢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96099DB-E297-2E61-2F96-C076E278E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173" y="3070632"/>
                <a:ext cx="6145106" cy="358368"/>
              </a:xfrm>
              <a:prstGeom prst="rect">
                <a:avLst/>
              </a:prstGeom>
              <a:blipFill>
                <a:blip r:embed="rId2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A4EA803-E19B-3CD1-7493-492A73F760FB}"/>
                  </a:ext>
                </a:extLst>
              </p:cNvPr>
              <p:cNvSpPr txBox="1"/>
              <p:nvPr/>
            </p:nvSpPr>
            <p:spPr>
              <a:xfrm>
                <a:off x="3333326" y="3986537"/>
                <a:ext cx="2762674" cy="514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𝐻𝑖𝑗𝑜𝑠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𝐼𝑧𝑞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𝐷𝑒𝑟</m:t>
                          </m:r>
                        </m:sub>
                      </m:sSub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A4EA803-E19B-3CD1-7493-492A73F76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326" y="3986537"/>
                <a:ext cx="2762674" cy="514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106E27-874C-7314-17AF-DB0D3A8369AD}"/>
                  </a:ext>
                </a:extLst>
              </p:cNvPr>
              <p:cNvSpPr txBox="1"/>
              <p:nvPr/>
            </p:nvSpPr>
            <p:spPr>
              <a:xfrm>
                <a:off x="6096000" y="3695463"/>
                <a:ext cx="3993544" cy="1096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Elementos totales.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Número de elementos en cada subconjunto.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𝐼𝑧𝑞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𝐷𝑒𝑟</m:t>
                        </m:r>
                      </m:sub>
                    </m:sSub>
                  </m:oMath>
                </a14:m>
                <a:r>
                  <a:rPr lang="es-MX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Entropías individuales.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106E27-874C-7314-17AF-DB0D3A8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95463"/>
                <a:ext cx="3993544" cy="1096198"/>
              </a:xfrm>
              <a:prstGeom prst="rect">
                <a:avLst/>
              </a:prstGeom>
              <a:blipFill>
                <a:blip r:embed="rId4"/>
                <a:stretch>
                  <a:fillRect l="-611" t="-1667" b="-44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55F84FA-DBCE-3B03-C8A9-9DD72834BA79}"/>
                  </a:ext>
                </a:extLst>
              </p:cNvPr>
              <p:cNvSpPr txBox="1"/>
              <p:nvPr/>
            </p:nvSpPr>
            <p:spPr>
              <a:xfrm>
                <a:off x="3797723" y="5010644"/>
                <a:ext cx="4596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s-MX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s-MX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𝐺𝑎𝑛𝑎𝑛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𝑐𝑖𝑎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𝑖𝑛𝑓𝑜𝑟𝑚𝑎𝑐𝑖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ó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s-MX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𝑃𝑎𝑑𝑟𝑒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𝐴𝑛𝑡𝑒𝑠</m:t>
                          </m:r>
                        </m:sub>
                      </m:sSub>
                    </m:oMath>
                  </m:oMathPara>
                </a14:m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55F84FA-DBCE-3B03-C8A9-9DD72834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723" y="5010644"/>
                <a:ext cx="4596553" cy="338554"/>
              </a:xfrm>
              <a:prstGeom prst="rect">
                <a:avLst/>
              </a:prstGeom>
              <a:blipFill>
                <a:blip r:embed="rId5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579091E-9D58-83E3-9585-76DCE8D2FFFC}"/>
                  </a:ext>
                </a:extLst>
              </p:cNvPr>
              <p:cNvSpPr txBox="1"/>
              <p:nvPr/>
            </p:nvSpPr>
            <p:spPr>
              <a:xfrm>
                <a:off x="1032933" y="5443755"/>
                <a:ext cx="99855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ganancia = 0, la división no aporta nada (las clases están igual de mezcladas que antes).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 la ganancia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𝐴𝑛𝑡𝑒𝑠</m:t>
                        </m:r>
                      </m:sub>
                    </m:sSub>
                  </m:oMath>
                </a14:m>
                <a:r>
                  <a:rPr lang="es-E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la división es perfecta (cada subconjunto tiene solo una clase, es decir, entropía 0).</a:t>
                </a:r>
                <a:endParaRPr lang="es-MX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579091E-9D58-83E3-9585-76DCE8D2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33" y="5443755"/>
                <a:ext cx="9985587" cy="584775"/>
              </a:xfrm>
              <a:prstGeom prst="rect">
                <a:avLst/>
              </a:prstGeom>
              <a:blipFill>
                <a:blip r:embed="rId6"/>
                <a:stretch>
                  <a:fillRect l="-244" t="-3125" b="-12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16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B418-F4D9-2FCE-261A-46A3A33D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06E24-623F-8D7D-F7DE-35D3D8F6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6097724" cy="1356360"/>
          </a:xfrm>
        </p:spPr>
        <p:txBody>
          <a:bodyPr/>
          <a:lstStyle/>
          <a:p>
            <a:pPr algn="ctr"/>
            <a:r>
              <a:rPr lang="es-MX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75E617-9E6F-6B17-6FE1-A7BF3280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5367997" cy="3672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3313346-97C3-BFBB-AFCE-232705E0C485}"/>
                  </a:ext>
                </a:extLst>
              </p:cNvPr>
              <p:cNvSpPr txBox="1"/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40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3313346-97C3-BFBB-AFCE-232705E0C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  <a:blipFill>
                <a:blip r:embed="rId3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BCDCFFB-53A2-F7D2-9AC9-05F9568A9189}"/>
                  </a:ext>
                </a:extLst>
              </p:cNvPr>
              <p:cNvSpPr txBox="1"/>
              <p:nvPr/>
            </p:nvSpPr>
            <p:spPr>
              <a:xfrm>
                <a:off x="1405158" y="3778395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BCDCFFB-53A2-F7D2-9AC9-05F9568A9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158" y="3778395"/>
                <a:ext cx="7874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EDC49ED-EFB5-99C5-673A-AB38454047AC}"/>
                  </a:ext>
                </a:extLst>
              </p:cNvPr>
              <p:cNvSpPr txBox="1"/>
              <p:nvPr/>
            </p:nvSpPr>
            <p:spPr>
              <a:xfrm>
                <a:off x="2633134" y="1965960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EDC49ED-EFB5-99C5-673A-AB3845404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34" y="1965960"/>
                <a:ext cx="78740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A52D608-CBE7-5C86-F656-C23B85325F1E}"/>
                  </a:ext>
                </a:extLst>
              </p:cNvPr>
              <p:cNvSpPr txBox="1"/>
              <p:nvPr/>
            </p:nvSpPr>
            <p:spPr>
              <a:xfrm>
                <a:off x="3801534" y="3026250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A52D608-CBE7-5C86-F656-C23B85325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34" y="3026250"/>
                <a:ext cx="787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B357A2F-D4B0-6E59-3306-2E732B25A797}"/>
                  </a:ext>
                </a:extLst>
              </p:cNvPr>
              <p:cNvSpPr txBox="1"/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2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B357A2F-D4B0-6E59-3306-2E732B25A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  <a:blipFill>
                <a:blip r:embed="rId7"/>
                <a:stretch>
                  <a:fillRect l="-719" t="-1429" b="-64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00B6571-E4A5-D8EC-EAE9-4C7DE4253149}"/>
                  </a:ext>
                </a:extLst>
              </p:cNvPr>
              <p:cNvSpPr txBox="1"/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38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00B6571-E4A5-D8EC-EAE9-4C7DE4253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  <a:blipFill>
                <a:blip r:embed="rId8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C25FC19-5087-43B5-C2FF-84C9F4F80668}"/>
                  </a:ext>
                </a:extLst>
              </p:cNvPr>
              <p:cNvSpPr txBox="1"/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C25FC19-5087-43B5-C2FF-84C9F4F80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A9177692-0EA9-B055-46A1-DFD8850FBCD7}"/>
                  </a:ext>
                </a:extLst>
              </p:cNvPr>
              <p:cNvSpPr txBox="1"/>
              <p:nvPr/>
            </p:nvSpPr>
            <p:spPr>
              <a:xfrm>
                <a:off x="2954867" y="5697259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A9177692-0EA9-B055-46A1-DFD8850FB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867" y="5697259"/>
                <a:ext cx="7874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667B49B-7101-B4C7-3682-BD0C4E1504D8}"/>
                  </a:ext>
                </a:extLst>
              </p:cNvPr>
              <p:cNvSpPr txBox="1"/>
              <p:nvPr/>
            </p:nvSpPr>
            <p:spPr>
              <a:xfrm>
                <a:off x="133207" y="347214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667B49B-7101-B4C7-3682-BD0C4E150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07" y="3472141"/>
                <a:ext cx="7874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3C9E400-C3AA-447F-8951-7D61400C6928}"/>
              </a:ext>
            </a:extLst>
          </p:cNvPr>
          <p:cNvCxnSpPr/>
          <p:nvPr/>
        </p:nvCxnSpPr>
        <p:spPr>
          <a:xfrm flipV="1">
            <a:off x="1422400" y="1538169"/>
            <a:ext cx="0" cy="37816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86AB394-620D-6F01-6F3B-301F528497D6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8597899" y="1048787"/>
            <a:ext cx="845688" cy="41054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9EA1EC1-AA09-8A2A-4706-407468405A94}"/>
              </a:ext>
            </a:extLst>
          </p:cNvPr>
          <p:cNvCxnSpPr>
            <a:stCxn id="22" idx="0"/>
            <a:endCxn id="14" idx="0"/>
          </p:cNvCxnSpPr>
          <p:nvPr/>
        </p:nvCxnSpPr>
        <p:spPr>
          <a:xfrm>
            <a:off x="9443587" y="1048787"/>
            <a:ext cx="1147233" cy="41118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4D173AE-1E02-332F-3990-561409FDE14D}"/>
                  </a:ext>
                </a:extLst>
              </p:cNvPr>
              <p:cNvSpPr txBox="1"/>
              <p:nvPr/>
            </p:nvSpPr>
            <p:spPr>
              <a:xfrm>
                <a:off x="6049998" y="2731361"/>
                <a:ext cx="5367997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𝑝𝑎𝑑𝑟𝑒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den>
                      </m:f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den>
                          </m:f>
                        </m:e>
                      </m:d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=1.57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4D173AE-1E02-332F-3990-561409FDE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998" y="2731361"/>
                <a:ext cx="5367997" cy="5763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412D8ED-861C-C493-A05E-30A5949BEF33}"/>
                  </a:ext>
                </a:extLst>
              </p:cNvPr>
              <p:cNvSpPr txBox="1"/>
              <p:nvPr/>
            </p:nvSpPr>
            <p:spPr>
              <a:xfrm>
                <a:off x="6049998" y="3439544"/>
                <a:ext cx="4747162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𝐻𝑖𝑗𝑜</m:t>
                          </m:r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𝐼𝑧𝑞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412D8ED-861C-C493-A05E-30A5949BE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998" y="3439544"/>
                <a:ext cx="4747162" cy="5763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621630E-B2F8-156F-3DDE-AAAC12DC9F8A}"/>
                  </a:ext>
                </a:extLst>
              </p:cNvPr>
              <p:cNvSpPr txBox="1"/>
              <p:nvPr/>
            </p:nvSpPr>
            <p:spPr>
              <a:xfrm>
                <a:off x="6049998" y="4147727"/>
                <a:ext cx="5596452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𝐻𝑖𝑗𝑜</m:t>
                          </m:r>
                          <m:r>
                            <a:rPr lang="es-MX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𝐷𝑒𝑟</m:t>
                          </m:r>
                        </m:sub>
                      </m:sSub>
                      <m:r>
                        <a:rPr lang="es-MX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38</m:t>
                          </m:r>
                        </m:den>
                      </m:f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38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38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38</m:t>
                              </m:r>
                            </m:den>
                          </m:f>
                        </m:e>
                      </m:d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38</m:t>
                          </m:r>
                        </m:den>
                      </m:f>
                      <m:r>
                        <a:rPr lang="es-MX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MX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38</m:t>
                              </m:r>
                            </m:den>
                          </m:f>
                        </m:e>
                      </m:d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=1.56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621630E-B2F8-156F-3DDE-AAAC12DC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998" y="4147727"/>
                <a:ext cx="5596452" cy="5763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4AA162B-5F44-1F97-D953-724C7C92F945}"/>
                  </a:ext>
                </a:extLst>
              </p:cNvPr>
              <p:cNvSpPr txBox="1"/>
              <p:nvPr/>
            </p:nvSpPr>
            <p:spPr>
              <a:xfrm>
                <a:off x="6123560" y="4901418"/>
                <a:ext cx="4572000" cy="515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𝐻𝑖𝑗𝑜𝑠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𝐼𝑧𝑞</m:t>
                          </m:r>
                        </m:sub>
                      </m:sSub>
                      <m:r>
                        <a:rPr lang="es-MX" sz="1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MX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𝐷𝑒𝑟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d>
                        <m:dPr>
                          <m:ctrlPr>
                            <a:rPr lang="es-MX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d>
                        <m:dPr>
                          <m:ctrlPr>
                            <a:rPr lang="es-MX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1.56</m:t>
                          </m:r>
                        </m:e>
                      </m:d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=1.482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4AA162B-5F44-1F97-D953-724C7C92F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560" y="4901418"/>
                <a:ext cx="4572000" cy="5156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B1F106A-A628-F8A2-43FD-547655A6690A}"/>
                  </a:ext>
                </a:extLst>
              </p:cNvPr>
              <p:cNvSpPr txBox="1"/>
              <p:nvPr/>
            </p:nvSpPr>
            <p:spPr>
              <a:xfrm>
                <a:off x="6123560" y="5596042"/>
                <a:ext cx="4278581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s-MX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𝑎𝑛𝑎𝑛𝑐𝑖𝑎</m:t>
                      </m:r>
                      <m:r>
                        <a:rPr lang="es-MX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𝑃𝑎𝑑𝑟𝑒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𝐻𝑖𝑗𝑜𝑠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=1.57−1.482=0.088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B1F106A-A628-F8A2-43FD-547655A66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560" y="5596042"/>
                <a:ext cx="4278581" cy="325089"/>
              </a:xfrm>
              <a:prstGeom prst="rect">
                <a:avLst/>
              </a:prstGeom>
              <a:blipFill>
                <a:blip r:embed="rId1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99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096B8-3937-73AD-1098-509D5BD5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6A905-C8E5-3546-3F51-EDDDA8C9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5916896" cy="1356360"/>
          </a:xfrm>
        </p:spPr>
        <p:txBody>
          <a:bodyPr/>
          <a:lstStyle/>
          <a:p>
            <a:pPr algn="ctr"/>
            <a:r>
              <a:rPr lang="es-MX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Ganancia de información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811F94-DD2D-493E-D7E9-353C6130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5367997" cy="3672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CAB4875-576A-E3FB-BFC6-10ED3ACAE393}"/>
                  </a:ext>
                </a:extLst>
              </p:cNvPr>
              <p:cNvSpPr txBox="1"/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40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CAB4875-576A-E3FB-BFC6-10ED3ACAE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354" y="464012"/>
                <a:ext cx="2294466" cy="584775"/>
              </a:xfrm>
              <a:prstGeom prst="rect">
                <a:avLst/>
              </a:prstGeom>
              <a:blipFill>
                <a:blip r:embed="rId3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50A594B-0FC9-1722-A22E-53ECF0A5C7E1}"/>
                  </a:ext>
                </a:extLst>
              </p:cNvPr>
              <p:cNvSpPr txBox="1"/>
              <p:nvPr/>
            </p:nvSpPr>
            <p:spPr>
              <a:xfrm>
                <a:off x="1405158" y="3778395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50A594B-0FC9-1722-A22E-53ECF0A5C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158" y="3778395"/>
                <a:ext cx="7874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01435D-833C-0F2E-CEE7-3C336F818D07}"/>
                  </a:ext>
                </a:extLst>
              </p:cNvPr>
              <p:cNvSpPr txBox="1"/>
              <p:nvPr/>
            </p:nvSpPr>
            <p:spPr>
              <a:xfrm>
                <a:off x="2633134" y="1965960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01435D-833C-0F2E-CEE7-3C336F81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34" y="1965960"/>
                <a:ext cx="78740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F6640FF-90D0-3F54-A804-40C762E8F2E1}"/>
                  </a:ext>
                </a:extLst>
              </p:cNvPr>
              <p:cNvSpPr txBox="1"/>
              <p:nvPr/>
            </p:nvSpPr>
            <p:spPr>
              <a:xfrm>
                <a:off x="3801534" y="3026250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F6640FF-90D0-3F54-A804-40C762E8F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34" y="3026250"/>
                <a:ext cx="787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4C73B55-2826-CE28-046E-466097FD40BD}"/>
                  </a:ext>
                </a:extLst>
              </p:cNvPr>
              <p:cNvSpPr txBox="1"/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2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4C73B55-2826-CE28-046E-466097FD4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99" y="1459329"/>
                <a:ext cx="1676400" cy="830997"/>
              </a:xfrm>
              <a:prstGeom prst="rect">
                <a:avLst/>
              </a:prstGeom>
              <a:blipFill>
                <a:blip r:embed="rId7"/>
                <a:stretch>
                  <a:fillRect l="-719" t="-1429" b="-64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6961E8-5AD5-F00B-7013-9DFA0A090210}"/>
                  </a:ext>
                </a:extLst>
              </p:cNvPr>
              <p:cNvSpPr txBox="1"/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= 38</a:t>
                </a:r>
              </a:p>
              <a:p>
                <a:pPr algn="ctr"/>
                <a:r>
                  <a:rPr lang="es-MX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s-MX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MX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𝟏𝟔</m:t>
                        </m:r>
                      </m:e>
                    </m:d>
                  </m:oMath>
                </a14:m>
                <a:endParaRPr lang="es-MX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6961E8-5AD5-F00B-7013-9DFA0A090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190" y="1459975"/>
                <a:ext cx="2111260" cy="584775"/>
              </a:xfrm>
              <a:prstGeom prst="rect">
                <a:avLst/>
              </a:prstGeom>
              <a:blipFill>
                <a:blip r:embed="rId8"/>
                <a:stretch>
                  <a:fillRect t="-2020" b="-1010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EA27441F-AE75-09EB-78DA-C1701EA6DC13}"/>
                  </a:ext>
                </a:extLst>
              </p:cNvPr>
              <p:cNvSpPr txBox="1"/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EA27441F-AE75-09EB-78DA-C1701EA6D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156" y="1048787"/>
                <a:ext cx="89486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B2388BC-6C33-F342-3864-FD2FBC26251C}"/>
                  </a:ext>
                </a:extLst>
              </p:cNvPr>
              <p:cNvSpPr txBox="1"/>
              <p:nvPr/>
            </p:nvSpPr>
            <p:spPr>
              <a:xfrm>
                <a:off x="2954867" y="5697259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B2388BC-6C33-F342-3864-FD2FBC26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867" y="5697259"/>
                <a:ext cx="7874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AF8A871-5589-A10B-1155-AC9243CFD72F}"/>
                  </a:ext>
                </a:extLst>
              </p:cNvPr>
              <p:cNvSpPr txBox="1"/>
              <p:nvPr/>
            </p:nvSpPr>
            <p:spPr>
              <a:xfrm>
                <a:off x="133207" y="3472141"/>
                <a:ext cx="787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AF8A871-5589-A10B-1155-AC9243CFD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07" y="3472141"/>
                <a:ext cx="7874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55784C1-26B9-CD45-6845-9A9BB93B8F15}"/>
              </a:ext>
            </a:extLst>
          </p:cNvPr>
          <p:cNvCxnSpPr/>
          <p:nvPr/>
        </p:nvCxnSpPr>
        <p:spPr>
          <a:xfrm flipV="1">
            <a:off x="1422400" y="1538169"/>
            <a:ext cx="0" cy="37816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69CA8F6-0C03-308D-F4E7-1960E32E05B6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8597899" y="1048787"/>
            <a:ext cx="845688" cy="41054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AC84553-1F0B-7F31-5475-C32418913617}"/>
              </a:ext>
            </a:extLst>
          </p:cNvPr>
          <p:cNvCxnSpPr>
            <a:stCxn id="22" idx="0"/>
            <a:endCxn id="14" idx="0"/>
          </p:cNvCxnSpPr>
          <p:nvPr/>
        </p:nvCxnSpPr>
        <p:spPr>
          <a:xfrm>
            <a:off x="9443587" y="1048787"/>
            <a:ext cx="1147233" cy="41118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F4408D-3515-10FB-E255-AD2251256ECE}"/>
                  </a:ext>
                </a:extLst>
              </p:cNvPr>
              <p:cNvSpPr txBox="1"/>
              <p:nvPr/>
            </p:nvSpPr>
            <p:spPr>
              <a:xfrm>
                <a:off x="6856865" y="2716994"/>
                <a:ext cx="4278581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s-MX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𝑎𝑛𝑎𝑛𝑐𝑖𝑎</m:t>
                      </m:r>
                      <m:r>
                        <a:rPr lang="es-MX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𝑃𝑎𝑑𝑟𝑒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</a:rPr>
                            <m:t>𝐻𝑖𝑗𝑜𝑠</m:t>
                          </m:r>
                        </m:sub>
                      </m:sSub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=1.57−1.482=0.088</m:t>
                      </m:r>
                    </m:oMath>
                  </m:oMathPara>
                </a14:m>
                <a:endParaRPr lang="es-MX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F4408D-3515-10FB-E255-AD225125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865" y="2716994"/>
                <a:ext cx="4278581" cy="325089"/>
              </a:xfrm>
              <a:prstGeom prst="rect">
                <a:avLst/>
              </a:prstGeom>
              <a:blipFill>
                <a:blip r:embed="rId12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FACBB217-6469-F114-FE43-A11A51DA478D}"/>
              </a:ext>
            </a:extLst>
          </p:cNvPr>
          <p:cNvSpPr txBox="1"/>
          <p:nvPr/>
        </p:nvSpPr>
        <p:spPr>
          <a:xfrm>
            <a:off x="6269028" y="3185385"/>
            <a:ext cx="53679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división del nodo reduce la incertidumbre del conjunto original en apenas 0.088 bits, lo cual indica que la división no es muy informativa.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decir, la pureza de las clases mejora ligeramente, pero no lo suficiente como para considerarla una excelente división.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Cuanto mayor es la ganancia de información, más útil es la división para separar las clases.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A970-C059-1015-41B2-0F0F53FE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6499D-46D4-6DF2-740F-5F95B989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736667" cy="1356360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9736524-ABB0-DF4D-1304-2C73D299BC4E}"/>
              </a:ext>
            </a:extLst>
          </p:cNvPr>
          <p:cNvSpPr txBox="1"/>
          <p:nvPr/>
        </p:nvSpPr>
        <p:spPr>
          <a:xfrm>
            <a:off x="518189" y="1965960"/>
            <a:ext cx="5349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Analiza el conjunto de datos y selecciona la primera característica disponible para evaluarla como un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potencial punto de división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(Split)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30C853-27A8-654F-BF2E-AEE2B4A897D7}"/>
              </a:ext>
            </a:extLst>
          </p:cNvPr>
          <p:cNvSpPr txBox="1"/>
          <p:nvPr/>
        </p:nvSpPr>
        <p:spPr>
          <a:xfrm>
            <a:off x="518188" y="2906821"/>
            <a:ext cx="534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Examina el rango de valores asociado con esta característica y selecciona un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de división inicial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(Split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6A57BB-42F4-E97D-5B79-1F4AE9D803A6}"/>
              </a:ext>
            </a:extLst>
          </p:cNvPr>
          <p:cNvSpPr txBox="1"/>
          <p:nvPr/>
        </p:nvSpPr>
        <p:spPr>
          <a:xfrm>
            <a:off x="518188" y="3601460"/>
            <a:ext cx="534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Copia los dos subconjuntos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valores en los nodos 1 y 2 respectivamente.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858502-F97E-3F3E-AA4D-03BCA6DF68BF}"/>
              </a:ext>
            </a:extLst>
          </p:cNvPr>
          <p:cNvSpPr txBox="1"/>
          <p:nvPr/>
        </p:nvSpPr>
        <p:spPr>
          <a:xfrm>
            <a:off x="518188" y="4296099"/>
            <a:ext cx="534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Evalúa el resultado de la división aplicando la métrica de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141017-36E6-D8E3-AE3B-674CEDD9AF6E}"/>
              </a:ext>
            </a:extLst>
          </p:cNvPr>
          <p:cNvSpPr txBox="1"/>
          <p:nvPr/>
        </p:nvSpPr>
        <p:spPr>
          <a:xfrm>
            <a:off x="518188" y="4990738"/>
            <a:ext cx="534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 escoge el siguiente valor de división (Split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y se repite el proceso.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86069BD-8413-636B-D5A1-91D9F53418E7}"/>
              </a:ext>
            </a:extLst>
          </p:cNvPr>
          <p:cNvSpPr txBox="1"/>
          <p:nvPr/>
        </p:nvSpPr>
        <p:spPr>
          <a:xfrm>
            <a:off x="6021522" y="1965960"/>
            <a:ext cx="53492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selecciona la siguiente característica y se repiten los pasos 2 a 5.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proceso continua hasta que todas las características de el conjunto de datos y todos los valores de división hayan sido evaluados.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2249D94-AAB9-6133-D2EF-D49A40FA0A10}"/>
              </a:ext>
            </a:extLst>
          </p:cNvPr>
          <p:cNvSpPr txBox="1"/>
          <p:nvPr/>
        </p:nvSpPr>
        <p:spPr>
          <a:xfrm>
            <a:off x="6021522" y="3092786"/>
            <a:ext cx="5349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El árbol selecciona el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(característica, valor de división) que mejor valor de beneficio general produzca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divide el conjunto de datos en dos nodos hijos.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4E03E1D-9927-DBDB-20C2-DE9334328E3B}"/>
              </a:ext>
            </a:extLst>
          </p:cNvPr>
          <p:cNvSpPr txBox="1"/>
          <p:nvPr/>
        </p:nvSpPr>
        <p:spPr>
          <a:xfrm>
            <a:off x="6021521" y="3973391"/>
            <a:ext cx="53492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 realiza el mismo proceso para cada uno de los nuevos nodos hijos hasta que el árbol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satura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(los nodos hijos pertenecen a una sola clase o se encuentra un criterio de detención)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ECA3A0B-6F92-FB0D-8445-B64F5059AC0B}"/>
              </a:ext>
            </a:extLst>
          </p:cNvPr>
          <p:cNvSpPr txBox="1"/>
          <p:nvPr/>
        </p:nvSpPr>
        <p:spPr>
          <a:xfrm>
            <a:off x="6021520" y="5100217"/>
            <a:ext cx="5349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Si es necesario,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analista puede podar ramas del árbol 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no aportan mucho valor pero proporcionan complejidad computacional.</a:t>
            </a:r>
          </a:p>
        </p:txBody>
      </p:sp>
    </p:spTree>
    <p:extLst>
      <p:ext uri="{BB962C8B-B14F-4D97-AF65-F5344CB8AC3E}">
        <p14:creationId xmlns:p14="http://schemas.microsoft.com/office/powerpoint/2010/main" val="311084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/>
      <p:bldP spid="8" grpId="0"/>
      <p:bldP spid="9" grpId="0"/>
      <p:bldP spid="18" grpId="0"/>
      <p:bldP spid="21" grpId="0"/>
      <p:bldP spid="26" grpId="0"/>
      <p:bldP spid="28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1601-B4F8-7A16-A7FE-DB47701D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E637A7-00AD-1194-663A-30C30D0D1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60" y="1682067"/>
            <a:ext cx="7496175" cy="39909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670A2C-6770-248C-3DF3-1CE4B2441297}"/>
              </a:ext>
            </a:extLst>
          </p:cNvPr>
          <p:cNvSpPr txBox="1"/>
          <p:nvPr/>
        </p:nvSpPr>
        <p:spPr>
          <a:xfrm>
            <a:off x="2064774" y="353961"/>
            <a:ext cx="5722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el conjunto de datos completo que tienes inicialmente. Este se divide en diferentes partes para poder entrenar, validar y probar modelos de aprendizaje automático.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2CF1458-9AA7-3291-F464-AB0598E46480}"/>
              </a:ext>
            </a:extLst>
          </p:cNvPr>
          <p:cNvCxnSpPr/>
          <p:nvPr/>
        </p:nvCxnSpPr>
        <p:spPr>
          <a:xfrm flipV="1">
            <a:off x="4734232" y="1184958"/>
            <a:ext cx="0" cy="3517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DA6A3274-66E9-790A-1A32-6E3DA77D8940}"/>
              </a:ext>
            </a:extLst>
          </p:cNvPr>
          <p:cNvSpPr txBox="1"/>
          <p:nvPr/>
        </p:nvSpPr>
        <p:spPr>
          <a:xfrm>
            <a:off x="373626" y="1833716"/>
            <a:ext cx="28710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parte del conjunto de datos que el modelo usa para aprender patrones.</a:t>
            </a:r>
          </a:p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el caso de los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aquí es donde se construye el árbol: identificando divisiones óptimas basadas en variables.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36C9BA9-E8A3-3C44-C280-ED1225778DCC}"/>
              </a:ext>
            </a:extLst>
          </p:cNvPr>
          <p:cNvCxnSpPr>
            <a:cxnSpLocks/>
          </p:cNvCxnSpPr>
          <p:nvPr/>
        </p:nvCxnSpPr>
        <p:spPr>
          <a:xfrm flipH="1">
            <a:off x="3244645" y="2647796"/>
            <a:ext cx="79441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4E9CA2-254F-C711-1923-7A13BCC74B40}"/>
              </a:ext>
            </a:extLst>
          </p:cNvPr>
          <p:cNvSpPr/>
          <p:nvPr/>
        </p:nvSpPr>
        <p:spPr>
          <a:xfrm>
            <a:off x="9040761" y="2448232"/>
            <a:ext cx="1474839" cy="634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848EA76-E1CA-B276-E4DA-B1EC51B8064D}"/>
              </a:ext>
            </a:extLst>
          </p:cNvPr>
          <p:cNvSpPr/>
          <p:nvPr/>
        </p:nvSpPr>
        <p:spPr>
          <a:xfrm>
            <a:off x="9517626" y="5191272"/>
            <a:ext cx="2017609" cy="634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13B4279-6CDF-A86C-92AB-B5FD938B7F6D}"/>
              </a:ext>
            </a:extLst>
          </p:cNvPr>
          <p:cNvSpPr/>
          <p:nvPr/>
        </p:nvSpPr>
        <p:spPr>
          <a:xfrm>
            <a:off x="9051591" y="4557102"/>
            <a:ext cx="2483644" cy="634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B2332F9-7BCE-C9B4-CA6D-0BB16ACC43F6}"/>
              </a:ext>
            </a:extLst>
          </p:cNvPr>
          <p:cNvSpPr txBox="1"/>
          <p:nvPr/>
        </p:nvSpPr>
        <p:spPr>
          <a:xfrm>
            <a:off x="9363229" y="1980487"/>
            <a:ext cx="2455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una porción separada del conjunto de datos, utilizada para medir qué tan bien funciona el modelo una vez que ha sido entrenado.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34FCE43-20F6-3262-9930-ABD4C94917BA}"/>
              </a:ext>
            </a:extLst>
          </p:cNvPr>
          <p:cNvCxnSpPr>
            <a:cxnSpLocks/>
          </p:cNvCxnSpPr>
          <p:nvPr/>
        </p:nvCxnSpPr>
        <p:spPr>
          <a:xfrm>
            <a:off x="8981764" y="2647796"/>
            <a:ext cx="3972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983E341-2A6D-19F5-B775-576E259B5812}"/>
              </a:ext>
            </a:extLst>
          </p:cNvPr>
          <p:cNvSpPr txBox="1"/>
          <p:nvPr/>
        </p:nvSpPr>
        <p:spPr>
          <a:xfrm>
            <a:off x="373625" y="4110635"/>
            <a:ext cx="28710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proceso sistemático de dividir tus datos en partes (llamadas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folds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para entrenar el modelo en una parte de los datos. 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2A5BE8-77AD-F0B0-08C2-E3C01C03A17E}"/>
              </a:ext>
            </a:extLst>
          </p:cNvPr>
          <p:cNvSpPr txBox="1"/>
          <p:nvPr/>
        </p:nvSpPr>
        <p:spPr>
          <a:xfrm>
            <a:off x="1233500" y="5393380"/>
            <a:ext cx="52146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Supongamos que dividimos el conjunto en 10 partes iguales (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folds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cada iteración toma 9 partes para entrenar y 1 para probar.</a:t>
            </a:r>
          </a:p>
          <a:p>
            <a:pPr algn="just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repite el proceso cambiando el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prueba en cada iteración.</a:t>
            </a:r>
          </a:p>
          <a:p>
            <a:pPr algn="just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 métricas como: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acuurancy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F1.</a:t>
            </a:r>
          </a:p>
          <a:p>
            <a:pPr algn="just"/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Promedia los resultados para obtener una métrica general más robusta.</a:t>
            </a:r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D175236-3DDB-86D9-0249-865072A58776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 flipH="1">
            <a:off x="1809135" y="3677555"/>
            <a:ext cx="2229925" cy="433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21D12214-6816-5AC4-2045-FBD96E3F33E3}"/>
              </a:ext>
            </a:extLst>
          </p:cNvPr>
          <p:cNvCxnSpPr>
            <a:stCxn id="2" idx="3"/>
            <a:endCxn id="5" idx="0"/>
          </p:cNvCxnSpPr>
          <p:nvPr/>
        </p:nvCxnSpPr>
        <p:spPr>
          <a:xfrm>
            <a:off x="3244644" y="4772355"/>
            <a:ext cx="596178" cy="6210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06248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670</TotalTime>
  <Words>1825</Words>
  <Application>Microsoft Office PowerPoint</Application>
  <PresentationFormat>Panorámica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Cambria Math</vt:lpstr>
      <vt:lpstr>Corbel</vt:lpstr>
      <vt:lpstr>Times New Roman</vt:lpstr>
      <vt:lpstr>Base</vt:lpstr>
      <vt:lpstr>Árboles de decisión</vt:lpstr>
      <vt:lpstr>¿Qué es un árbol de decisión?</vt:lpstr>
      <vt:lpstr>¿Qué es un árbol de decisión?</vt:lpstr>
      <vt:lpstr>Terminología de los árboles de decisión </vt:lpstr>
      <vt:lpstr>Medidas de selección de atributos</vt:lpstr>
      <vt:lpstr>Gini Impurity</vt:lpstr>
      <vt:lpstr>Gini Impurity</vt:lpstr>
      <vt:lpstr>Classification and Regression Tree (CART)</vt:lpstr>
      <vt:lpstr>Entropía y ganancia de información</vt:lpstr>
      <vt:lpstr>Entropía ¿Cómo se aplica?</vt:lpstr>
      <vt:lpstr>Entropía ¿Cómo se aplica?</vt:lpstr>
      <vt:lpstr>Ganancia de información ¿Cómo se aplica?</vt:lpstr>
      <vt:lpstr>Ganancia de información</vt:lpstr>
      <vt:lpstr>Ganancia de información</vt:lpstr>
      <vt:lpstr>Entrenamiento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NEXTICAPAN - CORTES</dc:creator>
  <cp:lastModifiedBy>DAVID NEXTICAPAN - CORTES</cp:lastModifiedBy>
  <cp:revision>27</cp:revision>
  <dcterms:created xsi:type="dcterms:W3CDTF">2024-11-18T16:51:30Z</dcterms:created>
  <dcterms:modified xsi:type="dcterms:W3CDTF">2025-06-05T19:53:30Z</dcterms:modified>
</cp:coreProperties>
</file>