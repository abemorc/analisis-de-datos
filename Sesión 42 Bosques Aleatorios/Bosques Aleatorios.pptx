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75" r:id="rId4"/>
    <p:sldId id="276" r:id="rId5"/>
    <p:sldId id="277" r:id="rId6"/>
    <p:sldId id="278" r:id="rId7"/>
    <p:sldId id="279" r:id="rId8"/>
    <p:sldId id="281" r:id="rId9"/>
    <p:sldId id="28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709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597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6271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755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3650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477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78255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6107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8238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0672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539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B9E552DF-F98F-4B3C-B2D7-B1733B6B438B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052EAA46-CFC8-4FD1-80C1-56AB3865DE0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17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emf"/><Relationship Id="rId7" Type="http://schemas.openxmlformats.org/officeDocument/2006/relationships/image" Target="../media/image18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C6F61-FE7A-0128-EF72-2CDDE0C25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BOSQUES ALEATORIOS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29D2692-8FD3-0743-26C5-96722FC45E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276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FA910-DF2A-8451-BD18-EC5F2C6C9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A54C64-655E-84B2-F83A-5BB9AF385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Limitaciones de los árboles de decisión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C9B4FA-41C9-FB69-2AE0-CDEF6C16E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19" y="1965960"/>
            <a:ext cx="4935414" cy="3376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B84207C-C492-9393-CEA4-0134DFC1A4EA}"/>
                  </a:ext>
                </a:extLst>
              </p:cNvPr>
              <p:cNvSpPr txBox="1"/>
              <p:nvPr/>
            </p:nvSpPr>
            <p:spPr>
              <a:xfrm>
                <a:off x="1253068" y="3671873"/>
                <a:ext cx="8466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1B84207C-C492-9393-CEA4-0134DFC1A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068" y="3671873"/>
                <a:ext cx="846666" cy="338554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376DAFA-CBDE-1A22-0B50-DFB0DFF0B580}"/>
                  </a:ext>
                </a:extLst>
              </p:cNvPr>
              <p:cNvSpPr txBox="1"/>
              <p:nvPr/>
            </p:nvSpPr>
            <p:spPr>
              <a:xfrm>
                <a:off x="2302624" y="2029725"/>
                <a:ext cx="92057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6376DAFA-CBDE-1A22-0B50-DFB0DFF0B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624" y="2029725"/>
                <a:ext cx="920572" cy="338554"/>
              </a:xfrm>
              <a:prstGeom prst="rect">
                <a:avLst/>
              </a:prstGeom>
              <a:blipFill>
                <a:blip r:embed="rId4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A9888C3-EE6F-8F68-ED58-BCA257D6C082}"/>
                  </a:ext>
                </a:extLst>
              </p:cNvPr>
              <p:cNvSpPr txBox="1"/>
              <p:nvPr/>
            </p:nvSpPr>
            <p:spPr>
              <a:xfrm>
                <a:off x="3426706" y="3017827"/>
                <a:ext cx="8466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2A9888C3-EE6F-8F68-ED58-BCA257D6C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706" y="3017827"/>
                <a:ext cx="846666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696A683F-CB94-87EC-B89D-5D2D229BC000}"/>
              </a:ext>
            </a:extLst>
          </p:cNvPr>
          <p:cNvCxnSpPr>
            <a:cxnSpLocks/>
          </p:cNvCxnSpPr>
          <p:nvPr/>
        </p:nvCxnSpPr>
        <p:spPr>
          <a:xfrm flipV="1">
            <a:off x="2196216" y="2099733"/>
            <a:ext cx="0" cy="28708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CE724B1A-928F-4FC3-C5A0-2D25C3CA6CB9}"/>
              </a:ext>
            </a:extLst>
          </p:cNvPr>
          <p:cNvCxnSpPr>
            <a:cxnSpLocks/>
          </p:cNvCxnSpPr>
          <p:nvPr/>
        </p:nvCxnSpPr>
        <p:spPr>
          <a:xfrm>
            <a:off x="2196216" y="3356381"/>
            <a:ext cx="325631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3BF7671-51E9-939A-F944-456CED3A3E29}"/>
                  </a:ext>
                </a:extLst>
              </p:cNvPr>
              <p:cNvSpPr txBox="1"/>
              <p:nvPr/>
            </p:nvSpPr>
            <p:spPr>
              <a:xfrm>
                <a:off x="2671404" y="5329042"/>
                <a:ext cx="6268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D3BF7671-51E9-939A-F944-456CED3A3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404" y="5329042"/>
                <a:ext cx="626843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445D476-4E65-50E2-973E-D4675115AEEB}"/>
                  </a:ext>
                </a:extLst>
              </p:cNvPr>
              <p:cNvSpPr txBox="1"/>
              <p:nvPr/>
            </p:nvSpPr>
            <p:spPr>
              <a:xfrm>
                <a:off x="70637" y="3485114"/>
                <a:ext cx="6268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1445D476-4E65-50E2-973E-D4675115A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37" y="3485114"/>
                <a:ext cx="626843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Imagen 18">
            <a:extLst>
              <a:ext uri="{FF2B5EF4-FFF2-40B4-BE49-F238E27FC236}">
                <a16:creationId xmlns:a16="http://schemas.microsoft.com/office/drawing/2014/main" id="{2269717E-283D-74B7-E1F7-4BC0CE52A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497" y="1965960"/>
            <a:ext cx="4935414" cy="33768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E65E316-6475-80B3-FF4C-2B951456D222}"/>
                  </a:ext>
                </a:extLst>
              </p:cNvPr>
              <p:cNvSpPr txBox="1"/>
              <p:nvPr/>
            </p:nvSpPr>
            <p:spPr>
              <a:xfrm>
                <a:off x="7081446" y="3671873"/>
                <a:ext cx="8466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BE65E316-6475-80B3-FF4C-2B951456D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446" y="3671873"/>
                <a:ext cx="846666" cy="338554"/>
              </a:xfrm>
              <a:prstGeom prst="rect">
                <a:avLst/>
              </a:prstGeom>
              <a:blipFill>
                <a:blip r:embed="rId8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34661B26-C087-6A0C-D123-1D561094B7B7}"/>
                  </a:ext>
                </a:extLst>
              </p:cNvPr>
              <p:cNvSpPr txBox="1"/>
              <p:nvPr/>
            </p:nvSpPr>
            <p:spPr>
              <a:xfrm>
                <a:off x="8131002" y="2029725"/>
                <a:ext cx="92057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34661B26-C087-6A0C-D123-1D561094B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002" y="2029725"/>
                <a:ext cx="920572" cy="338554"/>
              </a:xfrm>
              <a:prstGeom prst="rect">
                <a:avLst/>
              </a:prstGeom>
              <a:blipFill>
                <a:blip r:embed="rId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85E6AB7-1D0C-2DCE-3D7B-AA76BC801E38}"/>
                  </a:ext>
                </a:extLst>
              </p:cNvPr>
              <p:cNvSpPr txBox="1"/>
              <p:nvPr/>
            </p:nvSpPr>
            <p:spPr>
              <a:xfrm>
                <a:off x="9255084" y="3017827"/>
                <a:ext cx="84666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s-MX" sz="1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25" name="CuadroTexto 24">
                <a:extLst>
                  <a:ext uri="{FF2B5EF4-FFF2-40B4-BE49-F238E27FC236}">
                    <a16:creationId xmlns:a16="http://schemas.microsoft.com/office/drawing/2014/main" id="{E85E6AB7-1D0C-2DCE-3D7B-AA76BC80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5084" y="3017827"/>
                <a:ext cx="846666" cy="338554"/>
              </a:xfrm>
              <a:prstGeom prst="rect">
                <a:avLst/>
              </a:prstGeom>
              <a:blipFill>
                <a:blip r:embed="rId10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419582F-827B-7666-BC16-BEE9EB9172A1}"/>
              </a:ext>
            </a:extLst>
          </p:cNvPr>
          <p:cNvCxnSpPr>
            <a:cxnSpLocks/>
          </p:cNvCxnSpPr>
          <p:nvPr/>
        </p:nvCxnSpPr>
        <p:spPr>
          <a:xfrm flipH="1">
            <a:off x="6756399" y="3956360"/>
            <a:ext cx="449911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14D7A1EB-44C7-7F66-D3E4-20EA575971AE}"/>
              </a:ext>
            </a:extLst>
          </p:cNvPr>
          <p:cNvCxnSpPr>
            <a:cxnSpLocks/>
          </p:cNvCxnSpPr>
          <p:nvPr/>
        </p:nvCxnSpPr>
        <p:spPr>
          <a:xfrm>
            <a:off x="6756399" y="3356381"/>
            <a:ext cx="452451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2139472-A85F-DE79-8EC9-7FC09AD2AC36}"/>
                  </a:ext>
                </a:extLst>
              </p:cNvPr>
              <p:cNvSpPr txBox="1"/>
              <p:nvPr/>
            </p:nvSpPr>
            <p:spPr>
              <a:xfrm>
                <a:off x="8499782" y="5329042"/>
                <a:ext cx="6268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E2139472-A85F-DE79-8EC9-7FC09AD2A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9782" y="5329042"/>
                <a:ext cx="626843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A38FB7F-A317-6A2B-796A-BCECFA61C948}"/>
                  </a:ext>
                </a:extLst>
              </p:cNvPr>
              <p:cNvSpPr txBox="1"/>
              <p:nvPr/>
            </p:nvSpPr>
            <p:spPr>
              <a:xfrm>
                <a:off x="5899015" y="3485114"/>
                <a:ext cx="6268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s-MX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s-MX" sz="1600" dirty="0"/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A38FB7F-A317-6A2B-796A-BCECFA61C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9015" y="3485114"/>
                <a:ext cx="626843" cy="3385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CuadroTexto 39">
            <a:extLst>
              <a:ext uri="{FF2B5EF4-FFF2-40B4-BE49-F238E27FC236}">
                <a16:creationId xmlns:a16="http://schemas.microsoft.com/office/drawing/2014/main" id="{C61ABE84-D62E-C2CA-C6D7-F016A954BA93}"/>
              </a:ext>
            </a:extLst>
          </p:cNvPr>
          <p:cNvSpPr txBox="1"/>
          <p:nvPr/>
        </p:nvSpPr>
        <p:spPr>
          <a:xfrm>
            <a:off x="709911" y="5696980"/>
            <a:ext cx="1054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 muy sensibles a los datos de entrenamiento, una liger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variación en algunos de ellos puede dar origen a un árbol totalmente diferente. Lo que dificulta hacer predicciones con datos nuevos. Cuando tenemos un </a:t>
            </a:r>
            <a:r>
              <a:rPr lang="es-MX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bajo y una </a:t>
            </a: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varianza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alta estamos ante un problema de </a:t>
            </a:r>
            <a:r>
              <a:rPr lang="es-MX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129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09C6-3045-287A-B196-3F864FE95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2B660-169E-C75E-4F3C-B7527524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Medidas de selección de atributos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CEC22FB-C478-46B5-2346-21018289B111}"/>
              </a:ext>
            </a:extLst>
          </p:cNvPr>
          <p:cNvSpPr txBox="1"/>
          <p:nvPr/>
        </p:nvSpPr>
        <p:spPr>
          <a:xfrm>
            <a:off x="922863" y="2759445"/>
            <a:ext cx="9985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¿Cómo identificar el </a:t>
            </a:r>
            <a:r>
              <a:rPr lang="es-MX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s-MX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Exactitud muy alta en entrenamiento, pero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Exactitud baja en prueba.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B76AAF9-5767-45E6-610C-58F426873453}"/>
              </a:ext>
            </a:extLst>
          </p:cNvPr>
          <p:cNvSpPr txBox="1"/>
          <p:nvPr/>
        </p:nvSpPr>
        <p:spPr>
          <a:xfrm>
            <a:off x="922864" y="2070315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s-E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(sobreajuste) es cuando un modelo aprende demasiado bien los datos de entrenamiento —incluyendo el ruido, errores o patrones irrelevantes— y no generaliza bien a nuevos datos (como los de prueba).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2CEEDA-FFF1-832C-2CF1-0F8656CE62A7}"/>
              </a:ext>
            </a:extLst>
          </p:cNvPr>
          <p:cNvSpPr txBox="1"/>
          <p:nvPr/>
        </p:nvSpPr>
        <p:spPr>
          <a:xfrm>
            <a:off x="922862" y="3694797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s-E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(sesgo) mide cuánto se alejan en promedio las predicciones del modelo respecto al valor real. Es decir, qué tanto “se equivoca sistemáticamente” un modelo.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017BF28-3838-B080-F6BD-0188879D5222}"/>
              </a:ext>
            </a:extLst>
          </p:cNvPr>
          <p:cNvSpPr txBox="1"/>
          <p:nvPr/>
        </p:nvSpPr>
        <p:spPr>
          <a:xfrm>
            <a:off x="922861" y="4383927"/>
            <a:ext cx="998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árbol de decisión muy pequeño o muy simple tiende a tener alto </a:t>
            </a:r>
            <a:r>
              <a:rPr lang="es-E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 aprende lo suficiente del patrón de los datos.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árbol muy grande o profundo tiende a tener bajo </a:t>
            </a:r>
            <a:r>
              <a:rPr lang="es-E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pero alta varianza, es decir, </a:t>
            </a:r>
            <a:r>
              <a:rPr lang="es-E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sobreajusta</a:t>
            </a: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(memoriza) los datos.</a:t>
            </a:r>
            <a:endParaRPr lang="es-MX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13108F-CC69-5859-8D40-DA34C723A1A5}"/>
              </a:ext>
            </a:extLst>
          </p:cNvPr>
          <p:cNvSpPr txBox="1"/>
          <p:nvPr/>
        </p:nvSpPr>
        <p:spPr>
          <a:xfrm>
            <a:off x="922861" y="5565500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Pueden mitigarse gran parte de los efectos de estas limitaciones si se utilizan conjuntos aleatorios de árboles que toman decisiones conjuntas. </a:t>
            </a:r>
            <a:r>
              <a:rPr lang="es-E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s-E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Forest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882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33659-117F-5509-A961-3E902448D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DADF86-426D-571E-033C-A4980B6D5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Bosques Aleatorios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30F69D3D-2798-A432-61D0-26F631C4A412}"/>
              </a:ext>
            </a:extLst>
          </p:cNvPr>
          <p:cNvSpPr/>
          <p:nvPr/>
        </p:nvSpPr>
        <p:spPr>
          <a:xfrm>
            <a:off x="2795703" y="1965961"/>
            <a:ext cx="2937933" cy="441790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Data Set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002098F-3F29-E433-418A-41B17D9A7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330" y="1965960"/>
            <a:ext cx="1299332" cy="4512734"/>
          </a:xfrm>
          <a:prstGeom prst="rect">
            <a:avLst/>
          </a:prstGeom>
        </p:spPr>
      </p:pic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912B5940-5631-0FCD-727E-DA93DD78C96D}"/>
              </a:ext>
            </a:extLst>
          </p:cNvPr>
          <p:cNvCxnSpPr>
            <a:cxnSpLocks/>
          </p:cNvCxnSpPr>
          <p:nvPr/>
        </p:nvCxnSpPr>
        <p:spPr>
          <a:xfrm flipV="1">
            <a:off x="4904448" y="2620434"/>
            <a:ext cx="2493882" cy="223096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12774E3C-A2C6-4A00-C15A-E9BE6E19168A}"/>
              </a:ext>
            </a:extLst>
          </p:cNvPr>
          <p:cNvCxnSpPr/>
          <p:nvPr/>
        </p:nvCxnSpPr>
        <p:spPr>
          <a:xfrm flipV="1">
            <a:off x="5621950" y="3640667"/>
            <a:ext cx="1776380" cy="203200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51A4D82D-6B3A-1795-9950-84167173E2B1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845446" y="4707467"/>
            <a:ext cx="2552884" cy="0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353B507E-E9D9-CB7F-A4A7-54F867A65822}"/>
              </a:ext>
            </a:extLst>
          </p:cNvPr>
          <p:cNvCxnSpPr>
            <a:cxnSpLocks/>
          </p:cNvCxnSpPr>
          <p:nvPr/>
        </p:nvCxnSpPr>
        <p:spPr>
          <a:xfrm>
            <a:off x="5439269" y="5621867"/>
            <a:ext cx="1959061" cy="372533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6114FC9-D5DD-88C3-B1F8-093EB44C698F}"/>
              </a:ext>
            </a:extLst>
          </p:cNvPr>
          <p:cNvSpPr/>
          <p:nvPr/>
        </p:nvSpPr>
        <p:spPr>
          <a:xfrm>
            <a:off x="3733883" y="3234267"/>
            <a:ext cx="1888067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Subset</a:t>
            </a:r>
            <a:r>
              <a:rPr lang="es-MX" dirty="0"/>
              <a:t> 2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B51DB0B-BE90-334C-6D73-FD59EA2B6600}"/>
              </a:ext>
            </a:extLst>
          </p:cNvPr>
          <p:cNvSpPr/>
          <p:nvPr/>
        </p:nvSpPr>
        <p:spPr>
          <a:xfrm>
            <a:off x="3016381" y="2209800"/>
            <a:ext cx="1888067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Subset</a:t>
            </a:r>
            <a:r>
              <a:rPr lang="es-MX" dirty="0"/>
              <a:t> 1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8046C5E-C21A-020A-1A64-6C56CF814340}"/>
              </a:ext>
            </a:extLst>
          </p:cNvPr>
          <p:cNvSpPr/>
          <p:nvPr/>
        </p:nvSpPr>
        <p:spPr>
          <a:xfrm>
            <a:off x="2957379" y="4097867"/>
            <a:ext cx="1888067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Subset</a:t>
            </a:r>
            <a:r>
              <a:rPr lang="es-MX" dirty="0"/>
              <a:t> 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C37B297-86B9-08B9-D643-AD798E5A8FD3}"/>
              </a:ext>
            </a:extLst>
          </p:cNvPr>
          <p:cNvSpPr/>
          <p:nvPr/>
        </p:nvSpPr>
        <p:spPr>
          <a:xfrm>
            <a:off x="3551202" y="5012267"/>
            <a:ext cx="1888067" cy="1219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Subset</a:t>
            </a:r>
            <a:r>
              <a:rPr lang="es-MX" dirty="0"/>
              <a:t> n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906972D-FBED-87A9-810B-A67632EC702E}"/>
              </a:ext>
            </a:extLst>
          </p:cNvPr>
          <p:cNvSpPr txBox="1"/>
          <p:nvPr/>
        </p:nvSpPr>
        <p:spPr>
          <a:xfrm>
            <a:off x="533605" y="2000151"/>
            <a:ext cx="198161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 la aleatoriedad, cada árbol será entrenado con un </a:t>
            </a:r>
            <a:r>
              <a:rPr lang="es-E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</a:t>
            </a:r>
            <a:r>
              <a:rPr lang="es-E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diferente. Si el set tiene algo de ruido afectará a algunos árboles, pero no la totalidad del bosque. </a:t>
            </a:r>
            <a:endParaRPr lang="es-MX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6572844-9489-15F1-53BF-E5DC1A654D1B}"/>
              </a:ext>
            </a:extLst>
          </p:cNvPr>
          <p:cNvSpPr txBox="1"/>
          <p:nvPr/>
        </p:nvSpPr>
        <p:spPr>
          <a:xfrm>
            <a:off x="9480964" y="3836360"/>
            <a:ext cx="1299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Agregación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Conector: angular 29">
            <a:extLst>
              <a:ext uri="{FF2B5EF4-FFF2-40B4-BE49-F238E27FC236}">
                <a16:creationId xmlns:a16="http://schemas.microsoft.com/office/drawing/2014/main" id="{2F33919D-983F-EB05-755B-815D6FCCAF79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697661" y="2472266"/>
            <a:ext cx="1432969" cy="136409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id="{2E807E86-8089-F518-6BB3-162DCFAF215A}"/>
              </a:ext>
            </a:extLst>
          </p:cNvPr>
          <p:cNvCxnSpPr>
            <a:cxnSpLocks/>
            <a:endCxn id="28" idx="2"/>
          </p:cNvCxnSpPr>
          <p:nvPr/>
        </p:nvCxnSpPr>
        <p:spPr>
          <a:xfrm rot="5400000" flipH="1" flipV="1">
            <a:off x="8476254" y="4390940"/>
            <a:ext cx="1870402" cy="1438350"/>
          </a:xfrm>
          <a:prstGeom prst="bentConnector3">
            <a:avLst>
              <a:gd name="adj1" fmla="val -115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angular 36">
            <a:extLst>
              <a:ext uri="{FF2B5EF4-FFF2-40B4-BE49-F238E27FC236}">
                <a16:creationId xmlns:a16="http://schemas.microsoft.com/office/drawing/2014/main" id="{15558DFB-5812-63C9-E574-97E956EAB3F6}"/>
              </a:ext>
            </a:extLst>
          </p:cNvPr>
          <p:cNvCxnSpPr>
            <a:cxnSpLocks/>
          </p:cNvCxnSpPr>
          <p:nvPr/>
        </p:nvCxnSpPr>
        <p:spPr>
          <a:xfrm>
            <a:off x="8763000" y="3572933"/>
            <a:ext cx="717964" cy="2709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AF844AFF-C735-678C-A78D-F2D2EF2AD65C}"/>
              </a:ext>
            </a:extLst>
          </p:cNvPr>
          <p:cNvCxnSpPr>
            <a:cxnSpLocks/>
          </p:cNvCxnSpPr>
          <p:nvPr/>
        </p:nvCxnSpPr>
        <p:spPr>
          <a:xfrm flipV="1">
            <a:off x="8687623" y="4174913"/>
            <a:ext cx="811486" cy="58510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00A10331-078E-669A-0D95-B5140F3FBEF8}"/>
              </a:ext>
            </a:extLst>
          </p:cNvPr>
          <p:cNvSpPr txBox="1"/>
          <p:nvPr/>
        </p:nvSpPr>
        <p:spPr>
          <a:xfrm rot="16200000">
            <a:off x="10600102" y="3774804"/>
            <a:ext cx="1581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Predicción</a:t>
            </a:r>
            <a:endParaRPr lang="es-MX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AC7E4AF3-8D36-6216-78DE-B69EB90315CA}"/>
              </a:ext>
            </a:extLst>
          </p:cNvPr>
          <p:cNvCxnSpPr>
            <a:stCxn id="28" idx="3"/>
            <a:endCxn id="54" idx="0"/>
          </p:cNvCxnSpPr>
          <p:nvPr/>
        </p:nvCxnSpPr>
        <p:spPr>
          <a:xfrm>
            <a:off x="10780296" y="4005637"/>
            <a:ext cx="37948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0A5CB9B-CEA7-ACE8-59EE-01DE6C4BAB1F}"/>
              </a:ext>
            </a:extLst>
          </p:cNvPr>
          <p:cNvSpPr txBox="1"/>
          <p:nvPr/>
        </p:nvSpPr>
        <p:spPr>
          <a:xfrm>
            <a:off x="523710" y="3708400"/>
            <a:ext cx="198161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s-E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bootstrapping</a:t>
            </a:r>
            <a:r>
              <a:rPr lang="es-E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 una técnica estadística de </a:t>
            </a:r>
            <a:r>
              <a:rPr lang="es-E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re-muestreo</a:t>
            </a:r>
            <a:r>
              <a:rPr lang="es-E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 reemplazo.</a:t>
            </a:r>
          </a:p>
          <a:p>
            <a:pPr algn="just"/>
            <a:endParaRPr lang="es-E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 en tomar muchas muestras (llamadas </a:t>
            </a:r>
            <a:r>
              <a:rPr lang="es-E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s-E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r>
              <a:rPr lang="es-E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al azar y con reemplazo del conjunto original de datos para hacer estimaciones estadísticas o entrenar modelos.</a:t>
            </a:r>
            <a:endParaRPr lang="es-MX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53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2" grpId="0" animBg="1"/>
      <p:bldP spid="14" grpId="0" animBg="1"/>
      <p:bldP spid="15" grpId="0" animBg="1"/>
      <p:bldP spid="27" grpId="0"/>
      <p:bldP spid="28" grpId="0"/>
      <p:bldP spid="54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F4396-A3E5-AE24-854A-0FFAE719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8FD4F0-E530-6C76-2909-ED92DEFE9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Bosques Aleatorios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E4DF8E-A513-5C98-E762-D6DF932DF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0" y="2633557"/>
            <a:ext cx="1988820" cy="267462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4FF34DB-A6B0-9080-E380-3EB33DE16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917" y="1965960"/>
            <a:ext cx="8581293" cy="1527401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74E986-0FC1-C09A-4F66-CBD0A7ECA839}"/>
              </a:ext>
            </a:extLst>
          </p:cNvPr>
          <p:cNvSpPr/>
          <p:nvPr/>
        </p:nvSpPr>
        <p:spPr>
          <a:xfrm>
            <a:off x="3124200" y="3850655"/>
            <a:ext cx="1312333" cy="99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 1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8368C8E-829A-094E-8A47-EA974E7B1077}"/>
              </a:ext>
            </a:extLst>
          </p:cNvPr>
          <p:cNvSpPr/>
          <p:nvPr/>
        </p:nvSpPr>
        <p:spPr>
          <a:xfrm>
            <a:off x="5020733" y="3850655"/>
            <a:ext cx="1312333" cy="99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 2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DAC649B-CF72-63E0-54E9-958357A57856}"/>
              </a:ext>
            </a:extLst>
          </p:cNvPr>
          <p:cNvSpPr/>
          <p:nvPr/>
        </p:nvSpPr>
        <p:spPr>
          <a:xfrm>
            <a:off x="6705600" y="3850655"/>
            <a:ext cx="1312333" cy="99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 3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E5E1A8B-1811-BF32-2DD1-DD2CAD9BB6C0}"/>
              </a:ext>
            </a:extLst>
          </p:cNvPr>
          <p:cNvSpPr/>
          <p:nvPr/>
        </p:nvSpPr>
        <p:spPr>
          <a:xfrm>
            <a:off x="8403167" y="3850655"/>
            <a:ext cx="1312333" cy="99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 4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0C131B2-9A09-A95E-9A6A-E763AE9EDAFA}"/>
              </a:ext>
            </a:extLst>
          </p:cNvPr>
          <p:cNvSpPr/>
          <p:nvPr/>
        </p:nvSpPr>
        <p:spPr>
          <a:xfrm>
            <a:off x="10100734" y="3850655"/>
            <a:ext cx="1312333" cy="9990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Árbol 5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43F615C1-3E4B-4410-5E78-015DF882B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5304" y="5207015"/>
            <a:ext cx="1463167" cy="95258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CD47329E-F6CC-4647-34CC-AB42F16C3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0791" y="5207015"/>
            <a:ext cx="1342275" cy="952583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BD633999-9801-0EB1-8142-ABC0234B76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0768" y="5207015"/>
            <a:ext cx="1371390" cy="952583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D3FA447F-1301-49E7-0DEB-5C75ED5A82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167" y="5207015"/>
            <a:ext cx="1455546" cy="1005927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FBC7C916-C718-FE35-56C3-D05A8C98A1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0733" y="5207014"/>
            <a:ext cx="1482887" cy="952583"/>
          </a:xfrm>
          <a:prstGeom prst="rect">
            <a:avLst/>
          </a:prstGeom>
        </p:spPr>
      </p:pic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64E1E757-3904-C076-42FA-A10BAD129414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3780367" y="3493361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E43A77DF-084B-1464-531E-91401F978346}"/>
              </a:ext>
            </a:extLst>
          </p:cNvPr>
          <p:cNvCxnSpPr>
            <a:cxnSpLocks/>
          </p:cNvCxnSpPr>
          <p:nvPr/>
        </p:nvCxnSpPr>
        <p:spPr>
          <a:xfrm>
            <a:off x="3780367" y="4849720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22CBACC2-C564-03F1-C33A-30557553E5D8}"/>
              </a:ext>
            </a:extLst>
          </p:cNvPr>
          <p:cNvCxnSpPr>
            <a:cxnSpLocks/>
          </p:cNvCxnSpPr>
          <p:nvPr/>
        </p:nvCxnSpPr>
        <p:spPr>
          <a:xfrm>
            <a:off x="5651501" y="3493361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F57C470F-6506-3A17-0552-40C8915B8F46}"/>
              </a:ext>
            </a:extLst>
          </p:cNvPr>
          <p:cNvCxnSpPr>
            <a:cxnSpLocks/>
          </p:cNvCxnSpPr>
          <p:nvPr/>
        </p:nvCxnSpPr>
        <p:spPr>
          <a:xfrm>
            <a:off x="5651501" y="4849720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0865D5E1-B183-367E-B7F5-0443A9A00E75}"/>
              </a:ext>
            </a:extLst>
          </p:cNvPr>
          <p:cNvCxnSpPr>
            <a:cxnSpLocks/>
          </p:cNvCxnSpPr>
          <p:nvPr/>
        </p:nvCxnSpPr>
        <p:spPr>
          <a:xfrm>
            <a:off x="7378701" y="3493361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CD7073D6-FC3B-81B9-F746-C518526436F3}"/>
              </a:ext>
            </a:extLst>
          </p:cNvPr>
          <p:cNvCxnSpPr>
            <a:cxnSpLocks/>
          </p:cNvCxnSpPr>
          <p:nvPr/>
        </p:nvCxnSpPr>
        <p:spPr>
          <a:xfrm>
            <a:off x="7378701" y="4849720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>
            <a:extLst>
              <a:ext uri="{FF2B5EF4-FFF2-40B4-BE49-F238E27FC236}">
                <a16:creationId xmlns:a16="http://schemas.microsoft.com/office/drawing/2014/main" id="{EC97227D-C0B3-98CB-A8A0-640009C69FDC}"/>
              </a:ext>
            </a:extLst>
          </p:cNvPr>
          <p:cNvCxnSpPr>
            <a:cxnSpLocks/>
          </p:cNvCxnSpPr>
          <p:nvPr/>
        </p:nvCxnSpPr>
        <p:spPr>
          <a:xfrm>
            <a:off x="9139767" y="3493361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>
            <a:extLst>
              <a:ext uri="{FF2B5EF4-FFF2-40B4-BE49-F238E27FC236}">
                <a16:creationId xmlns:a16="http://schemas.microsoft.com/office/drawing/2014/main" id="{90C894DF-B2E5-7F59-BDFB-1375D6C7639A}"/>
              </a:ext>
            </a:extLst>
          </p:cNvPr>
          <p:cNvCxnSpPr>
            <a:cxnSpLocks/>
          </p:cNvCxnSpPr>
          <p:nvPr/>
        </p:nvCxnSpPr>
        <p:spPr>
          <a:xfrm>
            <a:off x="9139767" y="4849720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FDBF4F1B-014B-C7AB-4B9E-B1AD08FCC3CA}"/>
              </a:ext>
            </a:extLst>
          </p:cNvPr>
          <p:cNvCxnSpPr>
            <a:cxnSpLocks/>
          </p:cNvCxnSpPr>
          <p:nvPr/>
        </p:nvCxnSpPr>
        <p:spPr>
          <a:xfrm>
            <a:off x="10765367" y="3493361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de flecha 54">
            <a:extLst>
              <a:ext uri="{FF2B5EF4-FFF2-40B4-BE49-F238E27FC236}">
                <a16:creationId xmlns:a16="http://schemas.microsoft.com/office/drawing/2014/main" id="{7C89E7E3-B32C-FDB0-6FD1-76BE444EA230}"/>
              </a:ext>
            </a:extLst>
          </p:cNvPr>
          <p:cNvCxnSpPr>
            <a:cxnSpLocks/>
          </p:cNvCxnSpPr>
          <p:nvPr/>
        </p:nvCxnSpPr>
        <p:spPr>
          <a:xfrm>
            <a:off x="10765367" y="4849720"/>
            <a:ext cx="0" cy="357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67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6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D2AEA-9A2E-B6F2-B53B-4BE95E6F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CCD494-7C42-5C07-6C8B-B4306EE37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Bosques Aleatorios</a:t>
            </a: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0D5792FA-4F42-7DF5-4107-3740C0266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441" y="1613577"/>
            <a:ext cx="7986452" cy="3901778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B2DA85BB-9AAC-03AE-F081-569F0B438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61" y="4848183"/>
            <a:ext cx="1783080" cy="396240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F7F98632-D1EA-AADA-6750-36C9221218DE}"/>
              </a:ext>
            </a:extLst>
          </p:cNvPr>
          <p:cNvSpPr txBox="1"/>
          <p:nvPr/>
        </p:nvSpPr>
        <p:spPr>
          <a:xfrm>
            <a:off x="5531001" y="5639760"/>
            <a:ext cx="1299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Agregación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4E29CA24-D99D-674A-CCB5-3C944BE4EA03}"/>
              </a:ext>
            </a:extLst>
          </p:cNvPr>
          <p:cNvCxnSpPr>
            <a:endCxn id="25" idx="1"/>
          </p:cNvCxnSpPr>
          <p:nvPr/>
        </p:nvCxnSpPr>
        <p:spPr>
          <a:xfrm>
            <a:off x="2997200" y="5515355"/>
            <a:ext cx="2533801" cy="293682"/>
          </a:xfrm>
          <a:prstGeom prst="bentConnector3">
            <a:avLst>
              <a:gd name="adj1" fmla="val 21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angular 34">
            <a:extLst>
              <a:ext uri="{FF2B5EF4-FFF2-40B4-BE49-F238E27FC236}">
                <a16:creationId xmlns:a16="http://schemas.microsoft.com/office/drawing/2014/main" id="{8E023A62-7335-98B6-E622-2A2303B7E789}"/>
              </a:ext>
            </a:extLst>
          </p:cNvPr>
          <p:cNvCxnSpPr>
            <a:cxnSpLocks/>
          </p:cNvCxnSpPr>
          <p:nvPr/>
        </p:nvCxnSpPr>
        <p:spPr>
          <a:xfrm>
            <a:off x="4686414" y="5453153"/>
            <a:ext cx="844587" cy="209043"/>
          </a:xfrm>
          <a:prstGeom prst="bentConnector3">
            <a:avLst>
              <a:gd name="adj1" fmla="val -12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: angular 39">
            <a:extLst>
              <a:ext uri="{FF2B5EF4-FFF2-40B4-BE49-F238E27FC236}">
                <a16:creationId xmlns:a16="http://schemas.microsoft.com/office/drawing/2014/main" id="{96841CA4-98F1-69D1-936A-CEF0802CEC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61002" y="5492919"/>
            <a:ext cx="2722205" cy="316118"/>
          </a:xfrm>
          <a:prstGeom prst="bentConnector3">
            <a:avLst>
              <a:gd name="adj1" fmla="val 23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: angular 43">
            <a:extLst>
              <a:ext uri="{FF2B5EF4-FFF2-40B4-BE49-F238E27FC236}">
                <a16:creationId xmlns:a16="http://schemas.microsoft.com/office/drawing/2014/main" id="{505D81B5-8E24-815F-0FF6-F90ED8B5CF96}"/>
              </a:ext>
            </a:extLst>
          </p:cNvPr>
          <p:cNvCxnSpPr>
            <a:cxnSpLocks/>
          </p:cNvCxnSpPr>
          <p:nvPr/>
        </p:nvCxnSpPr>
        <p:spPr>
          <a:xfrm rot="10800000" flipV="1">
            <a:off x="6661002" y="5492918"/>
            <a:ext cx="1213772" cy="169277"/>
          </a:xfrm>
          <a:prstGeom prst="bentConnector3">
            <a:avLst>
              <a:gd name="adj1" fmla="val -224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4C6CDABD-AC1C-0E31-14BD-86479A0F594B}"/>
              </a:ext>
            </a:extLst>
          </p:cNvPr>
          <p:cNvCxnSpPr>
            <a:cxnSpLocks/>
          </p:cNvCxnSpPr>
          <p:nvPr/>
        </p:nvCxnSpPr>
        <p:spPr>
          <a:xfrm rot="5400000">
            <a:off x="6031745" y="5602076"/>
            <a:ext cx="355884" cy="58039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uadroTexto 57">
            <a:extLst>
              <a:ext uri="{FF2B5EF4-FFF2-40B4-BE49-F238E27FC236}">
                <a16:creationId xmlns:a16="http://schemas.microsoft.com/office/drawing/2014/main" id="{FC23B75A-5994-EC9D-B85F-7DEB338F2955}"/>
              </a:ext>
            </a:extLst>
          </p:cNvPr>
          <p:cNvSpPr txBox="1"/>
          <p:nvPr/>
        </p:nvSpPr>
        <p:spPr>
          <a:xfrm>
            <a:off x="2491467" y="5475342"/>
            <a:ext cx="505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“1”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E776361-C359-06D0-90BD-14D77225D791}"/>
              </a:ext>
            </a:extLst>
          </p:cNvPr>
          <p:cNvSpPr txBox="1"/>
          <p:nvPr/>
        </p:nvSpPr>
        <p:spPr>
          <a:xfrm>
            <a:off x="4209182" y="5397698"/>
            <a:ext cx="505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“1”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B60BED44-E72B-7E4E-F653-C051080A3529}"/>
              </a:ext>
            </a:extLst>
          </p:cNvPr>
          <p:cNvSpPr txBox="1"/>
          <p:nvPr/>
        </p:nvSpPr>
        <p:spPr>
          <a:xfrm>
            <a:off x="5665449" y="5427993"/>
            <a:ext cx="505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“0”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7E27310-966F-69D9-A2AE-4B0E36A313F0}"/>
              </a:ext>
            </a:extLst>
          </p:cNvPr>
          <p:cNvSpPr txBox="1"/>
          <p:nvPr/>
        </p:nvSpPr>
        <p:spPr>
          <a:xfrm>
            <a:off x="7910186" y="5419526"/>
            <a:ext cx="505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“1”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67C47EF4-BB03-48A9-B8BD-6A78D6388D21}"/>
              </a:ext>
            </a:extLst>
          </p:cNvPr>
          <p:cNvSpPr txBox="1"/>
          <p:nvPr/>
        </p:nvSpPr>
        <p:spPr>
          <a:xfrm>
            <a:off x="9383207" y="5444953"/>
            <a:ext cx="505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“0”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6BBE8211-5898-ED3D-B70C-814AFEF30795}"/>
              </a:ext>
            </a:extLst>
          </p:cNvPr>
          <p:cNvSpPr txBox="1"/>
          <p:nvPr/>
        </p:nvSpPr>
        <p:spPr>
          <a:xfrm>
            <a:off x="5207943" y="6102719"/>
            <a:ext cx="2061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Predicción = 1</a:t>
            </a:r>
            <a:endParaRPr lang="es-MX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0BF50696-F6E3-6D8F-98F7-6E194451C8D5}"/>
              </a:ext>
            </a:extLst>
          </p:cNvPr>
          <p:cNvCxnSpPr>
            <a:stCxn id="25" idx="2"/>
          </p:cNvCxnSpPr>
          <p:nvPr/>
        </p:nvCxnSpPr>
        <p:spPr>
          <a:xfrm>
            <a:off x="6180667" y="5978314"/>
            <a:ext cx="0" cy="2700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33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7BA0E-337E-CFC7-FB4D-07B36C674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526B8-CABB-A54F-00EA-348D4F9C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Observaciones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5B4B37D-7A11-D91F-4BBF-98691E37BB4F}"/>
              </a:ext>
            </a:extLst>
          </p:cNvPr>
          <p:cNvSpPr txBox="1"/>
          <p:nvPr/>
        </p:nvSpPr>
        <p:spPr>
          <a:xfrm>
            <a:off x="922864" y="2070315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 base al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bootstraping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 todas las observaciones seleccionadas aleatoriamente quedarán incluidas al final en los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subsets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entrenamiento.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252C0B4-8492-D406-9CC5-ADF65AEA1C0B}"/>
              </a:ext>
            </a:extLst>
          </p:cNvPr>
          <p:cNvSpPr txBox="1"/>
          <p:nvPr/>
        </p:nvSpPr>
        <p:spPr>
          <a:xfrm>
            <a:off x="922860" y="2765457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diferencia de otros algoritmos de machine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donde al inicio la base de datos se divide en datos de entrenamiento y validación, en el caso de los bosques aleatorios no ocurre lo mismo. 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FA8858A-EF19-33E8-C54A-56C817E93E54}"/>
              </a:ext>
            </a:extLst>
          </p:cNvPr>
          <p:cNvSpPr txBox="1"/>
          <p:nvPr/>
        </p:nvSpPr>
        <p:spPr>
          <a:xfrm>
            <a:off x="922860" y="3525519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set de validación se extrae de las muestras que no fueron tomadas aleatoriamente del set de entrenamiento original.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36DD623-5C9A-F6D3-F477-9E1EC2C0DFD7}"/>
              </a:ext>
            </a:extLst>
          </p:cNvPr>
          <p:cNvSpPr txBox="1"/>
          <p:nvPr/>
        </p:nvSpPr>
        <p:spPr>
          <a:xfrm>
            <a:off x="922859" y="4285581"/>
            <a:ext cx="9985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Estos ejemplos de entrenamiento se conocen como muestras por fuera de la bolsa o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-bag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samples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61C3A62-3BA2-82AE-2B5A-D4B9D6E6E196}"/>
              </a:ext>
            </a:extLst>
          </p:cNvPr>
          <p:cNvSpPr txBox="1"/>
          <p:nvPr/>
        </p:nvSpPr>
        <p:spPr>
          <a:xfrm>
            <a:off x="922858" y="4799422"/>
            <a:ext cx="99855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Como sabemos ¿cuántos árboles usar?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¿Hasta dónde hacer crecer los árboles?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¿Cuántas características utilizar durante el entrenamiento?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57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E2CB-FBB2-8044-B819-D10E2DFB7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E5AB6-F8F5-2822-800A-AB96613E5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MX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-Bag </a:t>
            </a:r>
            <a:r>
              <a:rPr lang="es-MX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FCBEB9-FECD-D16E-E5D2-AFE418ABC959}"/>
              </a:ext>
            </a:extLst>
          </p:cNvPr>
          <p:cNvSpPr txBox="1"/>
          <p:nvPr/>
        </p:nvSpPr>
        <p:spPr>
          <a:xfrm>
            <a:off x="922864" y="2070315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precisión </a:t>
            </a: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OOB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-Bag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es una estimación de qué tan bien tu modelo de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Forest se desempeña con nuevos datos, sin necesidad de un conjunto de prueba separado. 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2EA7F3-61BF-7F99-0E38-60AD95D7A793}"/>
              </a:ext>
            </a:extLst>
          </p:cNvPr>
          <p:cNvSpPr txBox="1"/>
          <p:nvPr/>
        </p:nvSpPr>
        <p:spPr>
          <a:xfrm>
            <a:off x="922860" y="2765457"/>
            <a:ext cx="998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Cuando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randomForest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entrena cada árbol: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Toma una muestra aleatoria con reemplazo del conjunto de entrenamiento (esto es el </a:t>
            </a:r>
            <a:r>
              <a:rPr lang="es-E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Aproximadamente el 63% de los datos se usan para entrenar el árbol.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otro 37% (aprox.) no es usado para ese árbol. A eso se le llama el conjunto OOB.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95BA1E-AFFE-2D21-C51F-29DCA2AD913C}"/>
              </a:ext>
            </a:extLst>
          </p:cNvPr>
          <p:cNvSpPr txBox="1"/>
          <p:nvPr/>
        </p:nvSpPr>
        <p:spPr>
          <a:xfrm>
            <a:off x="922858" y="3953042"/>
            <a:ext cx="99855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Luego, ese árbol puede predecir las observaciones que no vio (las OOB), y se compara con sus etiquetas reales para ver si acertó.</a:t>
            </a:r>
            <a:endParaRPr lang="es-MX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144B64-F6DF-102F-5B40-59C833A41E78}"/>
              </a:ext>
            </a:extLst>
          </p:cNvPr>
          <p:cNvSpPr txBox="1"/>
          <p:nvPr/>
        </p:nvSpPr>
        <p:spPr>
          <a:xfrm>
            <a:off x="922858" y="4648184"/>
            <a:ext cx="9985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¿Cómo se calcula la precisión OOB?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Recolecta las predicciones hechas por los árboles que no la usaron para entrenar.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Asigna la clase más votada.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 con la clase real.</a:t>
            </a:r>
            <a:endParaRPr lang="es-MX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EDAA3F5-506D-5914-5450-2CF3207FAAB0}"/>
              </a:ext>
            </a:extLst>
          </p:cNvPr>
          <p:cNvSpPr txBox="1"/>
          <p:nvPr/>
        </p:nvSpPr>
        <p:spPr>
          <a:xfrm>
            <a:off x="922858" y="5840346"/>
            <a:ext cx="100956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Precisión OOB = Porcentaje de predicciones correctas sobre los datos OOB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OOB     = 1 - Precisión OOB</a:t>
            </a:r>
            <a:endParaRPr lang="es-MX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874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0CBC9-2036-FE89-84C1-1893F78D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8CC08-6415-BC51-B359-315933CBA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Observaciones</a:t>
            </a:r>
            <a:endParaRPr 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9C028E-D510-F91F-170B-28A5DF59E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806276"/>
            <a:ext cx="10668000" cy="524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310428"/>
      </p:ext>
    </p:extLst>
  </p:cSld>
  <p:clrMapOvr>
    <a:masterClrMapping/>
  </p:clrMapOvr>
</p:sld>
</file>

<file path=ppt/theme/theme1.xml><?xml version="1.0" encoding="utf-8"?>
<a:theme xmlns:a="http://schemas.openxmlformats.org/drawingml/2006/main" name="Base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Base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e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TM03457444[[fn=Base]]</Template>
  <TotalTime>1048</TotalTime>
  <Words>662</Words>
  <Application>Microsoft Office PowerPoint</Application>
  <PresentationFormat>Panorámica</PresentationFormat>
  <Paragraphs>70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Corbel</vt:lpstr>
      <vt:lpstr>Times New Roman</vt:lpstr>
      <vt:lpstr>Base</vt:lpstr>
      <vt:lpstr>BOSQUES ALEATORIOS</vt:lpstr>
      <vt:lpstr>Limitaciones de los árboles de decisión</vt:lpstr>
      <vt:lpstr>Medidas de selección de atributos</vt:lpstr>
      <vt:lpstr>Bosques Aleatorios</vt:lpstr>
      <vt:lpstr>Bosques Aleatorios</vt:lpstr>
      <vt:lpstr>Bosques Aleatorios</vt:lpstr>
      <vt:lpstr>Observaciones</vt:lpstr>
      <vt:lpstr>Out-Of-Bag accuracy</vt:lpstr>
      <vt:lpstr>Observaciones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NEXTICAPAN - CORTES</dc:creator>
  <cp:lastModifiedBy>DAVID NEXTICAPAN - CORTES</cp:lastModifiedBy>
  <cp:revision>38</cp:revision>
  <dcterms:created xsi:type="dcterms:W3CDTF">2024-11-18T16:51:30Z</dcterms:created>
  <dcterms:modified xsi:type="dcterms:W3CDTF">2025-06-10T19:38:18Z</dcterms:modified>
</cp:coreProperties>
</file>