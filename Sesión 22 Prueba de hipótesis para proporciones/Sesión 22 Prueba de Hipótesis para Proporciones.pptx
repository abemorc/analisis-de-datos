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68" r:id="rId2"/>
    <p:sldId id="269" r:id="rId3"/>
    <p:sldId id="301" r:id="rId4"/>
    <p:sldId id="297" r:id="rId5"/>
    <p:sldId id="281" r:id="rId6"/>
    <p:sldId id="296" r:id="rId7"/>
    <p:sldId id="298" r:id="rId8"/>
    <p:sldId id="300"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20/03/2025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BF5FA-5E8E-8BFD-1855-42A0B94E489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DCE1D7-A71B-4887-447C-732A1BADF45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89B55FF-E6E2-6A21-DCB6-F0600C695D83}"/>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9F9CEBD-79B1-9DDE-4E5B-BEFB74711631}"/>
              </a:ext>
            </a:extLst>
          </p:cNvPr>
          <p:cNvSpPr>
            <a:spLocks noGrp="1"/>
          </p:cNvSpPr>
          <p:nvPr>
            <p:ph type="sldNum" sz="quarter" idx="5"/>
          </p:nvPr>
        </p:nvSpPr>
        <p:spPr/>
        <p:txBody>
          <a:bodyPr/>
          <a:lstStyle/>
          <a:p>
            <a:pPr rtl="0"/>
            <a:fld id="{A89C7E07-3C67-C64C-8DA0-0404F6303970}" type="slidenum">
              <a:rPr lang="es-ES" smtClean="0"/>
              <a:t>3</a:t>
            </a:fld>
            <a:endParaRPr lang="es-ES"/>
          </a:p>
        </p:txBody>
      </p:sp>
    </p:spTree>
    <p:extLst>
      <p:ext uri="{BB962C8B-B14F-4D97-AF65-F5344CB8AC3E}">
        <p14:creationId xmlns:p14="http://schemas.microsoft.com/office/powerpoint/2010/main" val="1195052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4</a:t>
            </a:fld>
            <a:endParaRPr lang="es-ES"/>
          </a:p>
        </p:txBody>
      </p:sp>
    </p:spTree>
    <p:extLst>
      <p:ext uri="{BB962C8B-B14F-4D97-AF65-F5344CB8AC3E}">
        <p14:creationId xmlns:p14="http://schemas.microsoft.com/office/powerpoint/2010/main" val="3798853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5</a:t>
            </a:fld>
            <a:endParaRPr lang="es-ES"/>
          </a:p>
        </p:txBody>
      </p:sp>
    </p:spTree>
    <p:extLst>
      <p:ext uri="{BB962C8B-B14F-4D97-AF65-F5344CB8AC3E}">
        <p14:creationId xmlns:p14="http://schemas.microsoft.com/office/powerpoint/2010/main" val="468970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6</a:t>
            </a:fld>
            <a:endParaRPr lang="es-ES"/>
          </a:p>
        </p:txBody>
      </p:sp>
    </p:spTree>
    <p:extLst>
      <p:ext uri="{BB962C8B-B14F-4D97-AF65-F5344CB8AC3E}">
        <p14:creationId xmlns:p14="http://schemas.microsoft.com/office/powerpoint/2010/main" val="3809392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7</a:t>
            </a:fld>
            <a:endParaRPr lang="es-ES"/>
          </a:p>
        </p:txBody>
      </p:sp>
    </p:spTree>
    <p:extLst>
      <p:ext uri="{BB962C8B-B14F-4D97-AF65-F5344CB8AC3E}">
        <p14:creationId xmlns:p14="http://schemas.microsoft.com/office/powerpoint/2010/main" val="31925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8</a:t>
            </a:fld>
            <a:endParaRPr lang="es-ES"/>
          </a:p>
        </p:txBody>
      </p:sp>
    </p:spTree>
    <p:extLst>
      <p:ext uri="{BB962C8B-B14F-4D97-AF65-F5344CB8AC3E}">
        <p14:creationId xmlns:p14="http://schemas.microsoft.com/office/powerpoint/2010/main" val="3166085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 de marzo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 de marzo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0.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6.png"/><Relationship Id="rId9"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1.jpeg"/><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400" dirty="0">
                <a:latin typeface="Times New Roman" panose="02020603050405020304" pitchFamily="18" charset="0"/>
                <a:cs typeface="Times New Roman" panose="02020603050405020304" pitchFamily="18" charset="0"/>
              </a:rPr>
              <a:t>Sesión 22: Prueba de Hipótesis de Proporciones</a:t>
            </a: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Pruebas de Hipótesis para Proporciones</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B77887F-BB86-8BB4-8E75-761FE414B5F2}"/>
                  </a:ext>
                </a:extLst>
              </p:cNvPr>
              <p:cNvSpPr txBox="1"/>
              <p:nvPr/>
            </p:nvSpPr>
            <p:spPr>
              <a:xfrm>
                <a:off x="964022" y="2353304"/>
                <a:ext cx="9332916" cy="2333331"/>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Los requisitos que se deben cumplir son los siguientes:</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Las observaciones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muestrales</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son una muestra aleatoria simple.</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Se satisfacen las condiciones para una distribución binomial. (Existe un número fijo de ensayos independientes con probabilidades constantes, y cada ensayo tiene dos categorías de resultados de “éxito” o “fracaso”)</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rPr>
                  <a:t>Se satisfacen las condiciones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𝑛𝑝</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≥5</m:t>
                    </m:r>
                  </m:oMath>
                </a14:m>
                <a:r>
                  <a:rPr lang="es-MX" dirty="0">
                    <a:solidFill>
                      <a:schemeClr val="bg1"/>
                    </a:solidFill>
                    <a:latin typeface="Times New Roman" panose="02020603050405020304" pitchFamily="18" charset="0"/>
                    <a:ea typeface="Times New Roman" panose="02020603050405020304" pitchFamily="18" charset="0"/>
                  </a:rPr>
                  <a:t> y </a:t>
                </a:r>
                <a14:m>
                  <m:oMath xmlns:m="http://schemas.openxmlformats.org/officeDocument/2006/math">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𝑛𝑞</m:t>
                    </m:r>
                    <m:r>
                      <a:rPr lang="es-MX"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≥5</m:t>
                    </m:r>
                  </m:oMath>
                </a14:m>
                <a:r>
                  <a:rPr lang="es-MX" dirty="0">
                    <a:solidFill>
                      <a:schemeClr val="bg1"/>
                    </a:solidFill>
                    <a:latin typeface="Times New Roman" panose="02020603050405020304" pitchFamily="18" charset="0"/>
                    <a:ea typeface="Times New Roman" panose="02020603050405020304" pitchFamily="18" charset="0"/>
                  </a:rPr>
                  <a:t>, por lo tanto, la distribución binomial de proporciones </a:t>
                </a:r>
                <a:r>
                  <a:rPr lang="es-MX" dirty="0" err="1">
                    <a:solidFill>
                      <a:schemeClr val="bg1"/>
                    </a:solidFill>
                    <a:latin typeface="Times New Roman" panose="02020603050405020304" pitchFamily="18" charset="0"/>
                    <a:ea typeface="Times New Roman" panose="02020603050405020304" pitchFamily="18" charset="0"/>
                  </a:rPr>
                  <a:t>muestrales</a:t>
                </a:r>
                <a:r>
                  <a:rPr lang="es-MX" dirty="0">
                    <a:solidFill>
                      <a:schemeClr val="bg1"/>
                    </a:solidFill>
                    <a:latin typeface="Times New Roman" panose="02020603050405020304" pitchFamily="18" charset="0"/>
                    <a:ea typeface="Times New Roman" panose="02020603050405020304" pitchFamily="18" charset="0"/>
                  </a:rPr>
                  <a:t> puede aproximarse con una distribución normal</a:t>
                </a:r>
                <a:endParaRPr lang="es-MX"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5" name="CuadroTexto 4">
                <a:extLst>
                  <a:ext uri="{FF2B5EF4-FFF2-40B4-BE49-F238E27FC236}">
                    <a16:creationId xmlns:a16="http://schemas.microsoft.com/office/drawing/2014/main" id="{4B77887F-BB86-8BB4-8E75-761FE414B5F2}"/>
                  </a:ext>
                </a:extLst>
              </p:cNvPr>
              <p:cNvSpPr txBox="1">
                <a:spLocks noRot="1" noChangeAspect="1" noMove="1" noResize="1" noEditPoints="1" noAdjustHandles="1" noChangeArrowheads="1" noChangeShapeType="1" noTextEdit="1"/>
              </p:cNvSpPr>
              <p:nvPr/>
            </p:nvSpPr>
            <p:spPr>
              <a:xfrm>
                <a:off x="964022" y="2353304"/>
                <a:ext cx="9332916" cy="2333331"/>
              </a:xfrm>
              <a:prstGeom prst="rect">
                <a:avLst/>
              </a:prstGeom>
              <a:blipFill>
                <a:blip r:embed="rId3"/>
                <a:stretch>
                  <a:fillRect l="-457" t="-1039" r="-522" b="-2857"/>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3F0AB-1E52-52C3-2450-1C72E6BDD2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D79AD0-1A5F-D6E9-2E0B-3CF4113487AC}"/>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¿Por qué la regla de los 5?</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1FB2BA61-1FD1-8589-B96B-2174B46FBEA9}"/>
                  </a:ext>
                </a:extLst>
              </p:cNvPr>
              <p:cNvSpPr txBox="1"/>
              <p:nvPr/>
            </p:nvSpPr>
            <p:spPr>
              <a:xfrm>
                <a:off x="964022" y="2107644"/>
                <a:ext cx="9332916" cy="864980"/>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 un prueba de hipótesis para una proporción, la variable de interés sigue una distribución binomial X ~ </a:t>
                </a:r>
                <a:r>
                  <a:rPr lang="es-MX" sz="16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Bin</a:t>
                </a: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r>
                  <a:rPr lang="es-MX" sz="16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n,p</a:t>
                </a:r>
                <a:r>
                  <a:rPr lang="es-MX" sz="16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Sin embargo, trabajar con la distribución binomial directamente es complicado, por lo que se usa una aproximación normal </a:t>
                </a:r>
                <a14:m>
                  <m:oMath xmlns:m="http://schemas.openxmlformats.org/officeDocument/2006/math">
                    <m:r>
                      <a:rPr lang="es-MX" sz="1600"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𝑋</m:t>
                    </m:r>
                    <m:r>
                      <a:rPr lang="es-MX" sz="1600"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 ~ </m:t>
                    </m:r>
                    <m:r>
                      <a:rPr lang="es-MX" sz="1600"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𝑁</m:t>
                    </m:r>
                    <m:r>
                      <a:rPr lang="es-MX" sz="1600"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r>
                      <a:rPr lang="es-MX" sz="1600" i="1" dirty="0" err="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𝑛𝑝</m:t>
                    </m:r>
                    <m:r>
                      <a:rPr lang="es-MX" sz="1600" i="1" dirty="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 </m:t>
                    </m:r>
                    <m:r>
                      <a:rPr lang="es-MX" sz="1600" i="1" dirty="0" err="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𝑛𝑝</m:t>
                    </m:r>
                    <m:r>
                      <a:rPr lang="es-MX" sz="1600" i="1" dirty="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m:t>
                    </m:r>
                    <m:r>
                      <a:rPr lang="es-MX" sz="1600" i="1" dirty="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r>
                      <a:rPr lang="es-MX" sz="1600" i="1" dirty="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  </m:t>
                    </m:r>
                  </m:oMath>
                </a14:m>
                <a:endParaRPr lang="es-MX" sz="1600"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5" name="CuadroTexto 4">
                <a:extLst>
                  <a:ext uri="{FF2B5EF4-FFF2-40B4-BE49-F238E27FC236}">
                    <a16:creationId xmlns:a16="http://schemas.microsoft.com/office/drawing/2014/main" id="{1FB2BA61-1FD1-8589-B96B-2174B46FBEA9}"/>
                  </a:ext>
                </a:extLst>
              </p:cNvPr>
              <p:cNvSpPr txBox="1">
                <a:spLocks noRot="1" noChangeAspect="1" noMove="1" noResize="1" noEditPoints="1" noAdjustHandles="1" noChangeArrowheads="1" noChangeShapeType="1" noTextEdit="1"/>
              </p:cNvSpPr>
              <p:nvPr/>
            </p:nvSpPr>
            <p:spPr>
              <a:xfrm>
                <a:off x="964022" y="2107644"/>
                <a:ext cx="9332916" cy="864980"/>
              </a:xfrm>
              <a:prstGeom prst="rect">
                <a:avLst/>
              </a:prstGeom>
              <a:blipFill>
                <a:blip r:embed="rId3"/>
                <a:stretch>
                  <a:fillRect l="-261" t="-1389" r="-326" b="-7639"/>
                </a:stretch>
              </a:blipFill>
              <a:ln>
                <a:solidFill>
                  <a:schemeClr val="tx1">
                    <a:lumMod val="85000"/>
                  </a:schemeClr>
                </a:solidFill>
              </a:ln>
            </p:spPr>
            <p:txBody>
              <a:bodyPr/>
              <a:lstStyle/>
              <a:p>
                <a:r>
                  <a:rPr lang="es-MX">
                    <a:noFill/>
                  </a:rPr>
                  <a:t> </a:t>
                </a:r>
              </a:p>
            </p:txBody>
          </p:sp>
        </mc:Fallback>
      </mc:AlternateContent>
      <p:sp>
        <p:nvSpPr>
          <p:cNvPr id="3" name="CuadroTexto 2">
            <a:extLst>
              <a:ext uri="{FF2B5EF4-FFF2-40B4-BE49-F238E27FC236}">
                <a16:creationId xmlns:a16="http://schemas.microsoft.com/office/drawing/2014/main" id="{5EF2A55B-E046-BDC3-0329-31472C13C475}"/>
              </a:ext>
            </a:extLst>
          </p:cNvPr>
          <p:cNvSpPr txBox="1"/>
          <p:nvPr/>
        </p:nvSpPr>
        <p:spPr>
          <a:xfrm>
            <a:off x="964022" y="3128244"/>
            <a:ext cx="9332916" cy="601511"/>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600" dirty="0">
                <a:solidFill>
                  <a:schemeClr val="bg1"/>
                </a:solidFill>
                <a:latin typeface="Times New Roman" panose="02020603050405020304" pitchFamily="18" charset="0"/>
                <a:cs typeface="Times New Roman" panose="02020603050405020304" pitchFamily="18" charset="0"/>
              </a:rPr>
              <a:t>Para que esta aproximación sean válida, la distribución debe ser suficientemente simétrica y no estar demasiado sesgada.</a:t>
            </a:r>
          </a:p>
        </p:txBody>
      </p:sp>
      <p:pic>
        <p:nvPicPr>
          <p:cNvPr id="9" name="Imagen 8">
            <a:extLst>
              <a:ext uri="{FF2B5EF4-FFF2-40B4-BE49-F238E27FC236}">
                <a16:creationId xmlns:a16="http://schemas.microsoft.com/office/drawing/2014/main" id="{18F85651-DC41-98F0-3883-719FEBC1B078}"/>
              </a:ext>
            </a:extLst>
          </p:cNvPr>
          <p:cNvPicPr>
            <a:picLocks noChangeAspect="1"/>
          </p:cNvPicPr>
          <p:nvPr/>
        </p:nvPicPr>
        <p:blipFill>
          <a:blip r:embed="rId4"/>
          <a:stretch>
            <a:fillRect/>
          </a:stretch>
        </p:blipFill>
        <p:spPr>
          <a:xfrm>
            <a:off x="964022" y="3933626"/>
            <a:ext cx="4495583" cy="2924374"/>
          </a:xfrm>
          <a:prstGeom prst="rect">
            <a:avLst/>
          </a:prstGeom>
        </p:spPr>
      </p:pic>
      <p:pic>
        <p:nvPicPr>
          <p:cNvPr id="11" name="Imagen 10">
            <a:extLst>
              <a:ext uri="{FF2B5EF4-FFF2-40B4-BE49-F238E27FC236}">
                <a16:creationId xmlns:a16="http://schemas.microsoft.com/office/drawing/2014/main" id="{2B589382-27C5-826A-93C1-F1FF28CAC07D}"/>
              </a:ext>
            </a:extLst>
          </p:cNvPr>
          <p:cNvPicPr>
            <a:picLocks noChangeAspect="1"/>
          </p:cNvPicPr>
          <p:nvPr/>
        </p:nvPicPr>
        <p:blipFill>
          <a:blip r:embed="rId5"/>
          <a:stretch>
            <a:fillRect/>
          </a:stretch>
        </p:blipFill>
        <p:spPr>
          <a:xfrm>
            <a:off x="5630480" y="3933626"/>
            <a:ext cx="4873957" cy="2924374"/>
          </a:xfrm>
          <a:prstGeom prst="rect">
            <a:avLst/>
          </a:prstGeom>
        </p:spPr>
      </p:pic>
    </p:spTree>
    <p:extLst>
      <p:ext uri="{BB962C8B-B14F-4D97-AF65-F5344CB8AC3E}">
        <p14:creationId xmlns:p14="http://schemas.microsoft.com/office/powerpoint/2010/main" val="821018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Pruebas de Hipótesis para Proporciones</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961482"/>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La </a:t>
                </a:r>
                <a:r>
                  <a:rPr lang="es-MX" b="1" i="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prueba de Wald</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una prueba de hipótesis que se usa para evaluar si una proporción poblacional </a:t>
                </a:r>
                <a14:m>
                  <m:oMath xmlns:m="http://schemas.openxmlformats.org/officeDocument/2006/math">
                    <m:r>
                      <a:rPr lang="es-MX" i="1" dirty="0"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𝑝</m:t>
                    </m:r>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es igual a un valor específico </a:t>
                </a:r>
                <a14:m>
                  <m:oMath xmlns:m="http://schemas.openxmlformats.org/officeDocument/2006/math">
                    <m:sSub>
                      <m:sSubPr>
                        <m:ctrlPr>
                          <a:rPr lang="es-MX" i="1" smtClean="0">
                            <a:solidFill>
                              <a:schemeClr val="bg1"/>
                            </a:solidFill>
                            <a:latin typeface="Cambria Math" panose="02040503050406030204" pitchFamily="18" charset="0"/>
                            <a:cs typeface="Times New Roman" panose="02020603050405020304" pitchFamily="18" charset="0"/>
                          </a:rPr>
                        </m:ctrlPr>
                      </m:sSubPr>
                      <m:e>
                        <m:r>
                          <a:rPr lang="es-MX" b="0" i="1" smtClean="0">
                            <a:solidFill>
                              <a:schemeClr val="bg1"/>
                            </a:solidFill>
                            <a:latin typeface="Cambria Math" panose="02040503050406030204" pitchFamily="18" charset="0"/>
                            <a:cs typeface="Times New Roman" panose="02020603050405020304" pitchFamily="18" charset="0"/>
                          </a:rPr>
                          <m:t>𝑝</m:t>
                        </m:r>
                      </m:e>
                      <m:sub>
                        <m:r>
                          <a:rPr lang="es-MX" b="0" i="1" smtClean="0">
                            <a:solidFill>
                              <a:schemeClr val="bg1"/>
                            </a:solidFill>
                            <a:latin typeface="Cambria Math" panose="02040503050406030204" pitchFamily="18" charset="0"/>
                            <a:cs typeface="Times New Roman" panose="02020603050405020304" pitchFamily="18" charset="0"/>
                          </a:rPr>
                          <m:t>0</m:t>
                        </m:r>
                      </m:sub>
                    </m:sSub>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Se basa en la aproximación normal de la distribución de la proporción muestral.</a:t>
                </a: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961482"/>
              </a:xfrm>
              <a:prstGeom prst="rect">
                <a:avLst/>
              </a:prstGeom>
              <a:blipFill>
                <a:blip r:embed="rId3"/>
                <a:stretch>
                  <a:fillRect l="-326" t="-3145" r="-522" b="-8805"/>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494AF8A-D47C-6E15-F0A8-B546B382BBB9}"/>
                  </a:ext>
                </a:extLst>
              </p:cNvPr>
              <p:cNvSpPr txBox="1"/>
              <p:nvPr/>
            </p:nvSpPr>
            <p:spPr>
              <a:xfrm>
                <a:off x="964022" y="3459171"/>
                <a:ext cx="9332916" cy="1391663"/>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En esta prueba el estadístico está dado por:</a:t>
                </a:r>
              </a:p>
              <a:p>
                <a:pPr algn="ctr">
                  <a:lnSpc>
                    <a:spcPct val="107000"/>
                  </a:lnSpc>
                  <a:spcAft>
                    <a:spcPts val="800"/>
                  </a:spcAft>
                </a:pPr>
                <a14:m>
                  <m:oMath xmlns:m="http://schemas.openxmlformats.org/officeDocument/2006/math">
                    <m:r>
                      <a:rPr lang="es-MX" sz="2400" b="0" i="1">
                        <a:solidFill>
                          <a:schemeClr val="bg1"/>
                        </a:solidFill>
                        <a:latin typeface="Cambria Math" panose="02040503050406030204" pitchFamily="18" charset="0"/>
                      </a:rPr>
                      <m:t>𝑧</m:t>
                    </m:r>
                    <m:r>
                      <a:rPr lang="es-MX" sz="2400" b="0" i="1">
                        <a:solidFill>
                          <a:schemeClr val="bg1"/>
                        </a:solidFill>
                        <a:latin typeface="Cambria Math" panose="02040503050406030204" pitchFamily="18" charset="0"/>
                      </a:rPr>
                      <m:t>=</m:t>
                    </m:r>
                    <m:f>
                      <m:fPr>
                        <m:ctrlPr>
                          <a:rPr lang="es-MX" sz="2400" i="1">
                            <a:solidFill>
                              <a:schemeClr val="bg1"/>
                            </a:solidFill>
                            <a:latin typeface="Cambria Math" panose="02040503050406030204" pitchFamily="18" charset="0"/>
                          </a:rPr>
                        </m:ctrlPr>
                      </m:fPr>
                      <m:num>
                        <m:acc>
                          <m:accPr>
                            <m:chr m:val="̂"/>
                            <m:ctrlPr>
                              <a:rPr lang="es-MX" sz="2400" i="1">
                                <a:solidFill>
                                  <a:schemeClr val="bg1"/>
                                </a:solidFill>
                                <a:latin typeface="Cambria Math" panose="02040503050406030204" pitchFamily="18" charset="0"/>
                              </a:rPr>
                            </m:ctrlPr>
                          </m:accPr>
                          <m:e>
                            <m:r>
                              <a:rPr lang="es-MX" sz="2400" b="0" i="1">
                                <a:solidFill>
                                  <a:schemeClr val="bg1"/>
                                </a:solidFill>
                                <a:latin typeface="Cambria Math" panose="02040503050406030204" pitchFamily="18" charset="0"/>
                              </a:rPr>
                              <m:t>𝑝</m:t>
                            </m:r>
                          </m:e>
                        </m:acc>
                        <m:r>
                          <a:rPr lang="es-MX" sz="2400" b="0" i="1">
                            <a:solidFill>
                              <a:schemeClr val="bg1"/>
                            </a:solidFill>
                            <a:latin typeface="Cambria Math" panose="02040503050406030204" pitchFamily="18" charset="0"/>
                          </a:rPr>
                          <m:t>−</m:t>
                        </m:r>
                        <m:r>
                          <a:rPr lang="es-MX" sz="2400" b="0" i="1">
                            <a:solidFill>
                              <a:schemeClr val="bg1"/>
                            </a:solidFill>
                            <a:latin typeface="Cambria Math" panose="02040503050406030204" pitchFamily="18" charset="0"/>
                          </a:rPr>
                          <m:t>𝑝</m:t>
                        </m:r>
                      </m:num>
                      <m:den>
                        <m:rad>
                          <m:radPr>
                            <m:degHide m:val="on"/>
                            <m:ctrlPr>
                              <a:rPr lang="es-MX" sz="2400" i="1">
                                <a:solidFill>
                                  <a:schemeClr val="bg1"/>
                                </a:solidFill>
                                <a:latin typeface="Cambria Math" panose="02040503050406030204" pitchFamily="18" charset="0"/>
                              </a:rPr>
                            </m:ctrlPr>
                          </m:radPr>
                          <m:deg/>
                          <m:e>
                            <m:f>
                              <m:fPr>
                                <m:ctrlPr>
                                  <a:rPr lang="es-MX" sz="2400" i="1">
                                    <a:solidFill>
                                      <a:schemeClr val="bg1"/>
                                    </a:solidFill>
                                    <a:latin typeface="Cambria Math" panose="02040503050406030204" pitchFamily="18" charset="0"/>
                                  </a:rPr>
                                </m:ctrlPr>
                              </m:fPr>
                              <m:num>
                                <m:r>
                                  <a:rPr lang="es-MX" sz="2400" b="0" i="1">
                                    <a:solidFill>
                                      <a:schemeClr val="bg1"/>
                                    </a:solidFill>
                                    <a:latin typeface="Cambria Math" panose="02040503050406030204" pitchFamily="18" charset="0"/>
                                  </a:rPr>
                                  <m:t>𝑝𝑞</m:t>
                                </m:r>
                              </m:num>
                              <m:den>
                                <m:r>
                                  <a:rPr lang="es-MX" sz="2400" b="0" i="1">
                                    <a:solidFill>
                                      <a:schemeClr val="bg1"/>
                                    </a:solidFill>
                                    <a:latin typeface="Cambria Math" panose="02040503050406030204" pitchFamily="18" charset="0"/>
                                  </a:rPr>
                                  <m:t>𝑛</m:t>
                                </m:r>
                              </m:den>
                            </m:f>
                          </m:e>
                        </m:rad>
                      </m:den>
                    </m:f>
                  </m:oMath>
                </a14:m>
                <a:r>
                  <a:rPr lang="es-MX"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p>
            </p:txBody>
          </p:sp>
        </mc:Choice>
        <mc:Fallback xmlns="">
          <p:sp>
            <p:nvSpPr>
              <p:cNvPr id="6" name="CuadroTexto 5">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3459171"/>
                <a:ext cx="9332916" cy="1391663"/>
              </a:xfrm>
              <a:prstGeom prst="rect">
                <a:avLst/>
              </a:prstGeom>
              <a:blipFill>
                <a:blip r:embed="rId4"/>
                <a:stretch>
                  <a:fillRect l="-326" t="-1732"/>
                </a:stretch>
              </a:blipFill>
              <a:ln>
                <a:solidFill>
                  <a:schemeClr val="tx1">
                    <a:lumMod val="85000"/>
                  </a:schemeClr>
                </a:solidFill>
              </a:ln>
            </p:spPr>
            <p:txBody>
              <a:bodyPr/>
              <a:lstStyle/>
              <a:p>
                <a:r>
                  <a:rPr lang="es-MX">
                    <a:noFill/>
                  </a:rPr>
                  <a:t> </a:t>
                </a:r>
              </a:p>
            </p:txBody>
          </p:sp>
        </mc:Fallback>
      </mc:AlternateContent>
      <p:sp>
        <p:nvSpPr>
          <p:cNvPr id="7" name="CuadroTexto 6">
            <a:extLst>
              <a:ext uri="{FF2B5EF4-FFF2-40B4-BE49-F238E27FC236}">
                <a16:creationId xmlns:a16="http://schemas.microsoft.com/office/drawing/2014/main" id="{F494AF8A-D47C-6E15-F0A8-B546B382BBB9}"/>
              </a:ext>
            </a:extLst>
          </p:cNvPr>
          <p:cNvSpPr txBox="1"/>
          <p:nvPr/>
        </p:nvSpPr>
        <p:spPr>
          <a:xfrm>
            <a:off x="964022" y="5072231"/>
            <a:ext cx="9332916" cy="685059"/>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Para realizar esta prueba en R no hay una función y debemos escribir líneas de código para obtener el estadístico de prueba, el valor P y el intervalo de confianza. </a:t>
            </a:r>
          </a:p>
        </p:txBody>
      </p:sp>
    </p:spTree>
    <p:extLst>
      <p:ext uri="{BB962C8B-B14F-4D97-AF65-F5344CB8AC3E}">
        <p14:creationId xmlns:p14="http://schemas.microsoft.com/office/powerpoint/2010/main" val="127551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Ejemplo</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1855893"/>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Cuando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Gregor</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Mendel llevó a cabo sus célebres experimentos de hibridación con guisantes, uno de ellos resultó en una descendencia de 428 plantas con vainas verdes y 152 plantas con vainas amarillas. Según su teoría, se esperaba que 1/4 de los descendientes tuvieran vainas amarillas. Utilizando un nivel de significancia de 0.05, realice una prueba de hipótesis para verificar la afirmación de que la proporción de plantas de guisantes con vainas amarillas es igual a 1/4.</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Rectángulo 3"/>
              <p:cNvSpPr/>
              <p:nvPr/>
            </p:nvSpPr>
            <p:spPr>
              <a:xfrm>
                <a:off x="964021" y="4214785"/>
                <a:ext cx="9332917" cy="1953163"/>
              </a:xfrm>
              <a:prstGeom prst="rect">
                <a:avLst/>
              </a:prstGeom>
            </p:spPr>
            <p:txBody>
              <a:bodyPr wrap="square">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Requisitos:</a:t>
                </a:r>
                <a:endParaRPr lang="es-MX"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es-MX"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Con base en el diseño del experimento, se trata de una muestra aleatoria simple.</a:t>
                </a:r>
                <a:endParaRPr lang="es-MX"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Font typeface="+mj-lt"/>
                  <a:buAutoNum type="arabicPeriod"/>
                </a:pPr>
                <a:r>
                  <a:rPr lang="es-MX"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Existe un número fijo 580 de ensayos independientes con dos categorías (vainas verdes y amarillas)</a:t>
                </a:r>
                <a:endParaRPr lang="es-MX"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s-MX"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Las condiciones </a:t>
                </a:r>
                <a14:m>
                  <m:oMath xmlns:m="http://schemas.openxmlformats.org/officeDocument/2006/math">
                    <m:r>
                      <a:rPr lang="es-MX"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𝑛𝑝</m:t>
                    </m:r>
                    <m:r>
                      <a:rPr lang="es-MX"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≥5</m:t>
                    </m:r>
                  </m:oMath>
                </a14:m>
                <a:r>
                  <a:rPr lang="es-MX"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r>
                      <a:rPr lang="es-MX"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𝑛𝑞</m:t>
                    </m:r>
                    <m:r>
                      <a:rPr lang="es-MX"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≥5</m:t>
                    </m:r>
                  </m:oMath>
                </a14:m>
                <a:r>
                  <a:rPr lang="es-MX"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se satisfacen </a:t>
                </a:r>
                <a14:m>
                  <m:oMath xmlns:m="http://schemas.openxmlformats.org/officeDocument/2006/math">
                    <m:r>
                      <a:rPr lang="es-MX"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𝑛𝑝</m:t>
                    </m:r>
                    <m:r>
                      <a:rPr lang="es-MX"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=580×0.25=145≥5</m:t>
                    </m:r>
                  </m:oMath>
                </a14:m>
                <a:r>
                  <a:rPr lang="es-MX"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y </a:t>
                </a:r>
                <a14:m>
                  <m:oMath xmlns:m="http://schemas.openxmlformats.org/officeDocument/2006/math">
                    <m:r>
                      <a:rPr lang="es-MX"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𝑛𝑞</m:t>
                    </m:r>
                    <m:r>
                      <a:rPr lang="es-MX"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=580×0.75=435≥5</m:t>
                    </m:r>
                  </m:oMath>
                </a14:m>
                <a:endParaRPr lang="es-MX"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4" name="Rectángulo 3"/>
              <p:cNvSpPr>
                <a:spLocks noRot="1" noChangeAspect="1" noMove="1" noResize="1" noEditPoints="1" noAdjustHandles="1" noChangeArrowheads="1" noChangeShapeType="1" noTextEdit="1"/>
              </p:cNvSpPr>
              <p:nvPr/>
            </p:nvSpPr>
            <p:spPr>
              <a:xfrm>
                <a:off x="964021" y="4214785"/>
                <a:ext cx="9332917" cy="1953163"/>
              </a:xfrm>
              <a:prstGeom prst="rect">
                <a:avLst/>
              </a:prstGeom>
              <a:blipFill>
                <a:blip r:embed="rId3"/>
                <a:stretch>
                  <a:fillRect l="-523" t="-1558" r="-588"/>
                </a:stretch>
              </a:blipFill>
            </p:spPr>
            <p:txBody>
              <a:bodyPr/>
              <a:lstStyle/>
              <a:p>
                <a:r>
                  <a:rPr lang="es-MX">
                    <a:noFill/>
                  </a:rPr>
                  <a:t> </a:t>
                </a:r>
              </a:p>
            </p:txBody>
          </p:sp>
        </mc:Fallback>
      </mc:AlternateContent>
    </p:spTree>
    <p:extLst>
      <p:ext uri="{BB962C8B-B14F-4D97-AF65-F5344CB8AC3E}">
        <p14:creationId xmlns:p14="http://schemas.microsoft.com/office/powerpoint/2010/main" val="303771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Solución</a:t>
            </a:r>
          </a:p>
        </p:txBody>
      </p:sp>
      <mc:AlternateContent xmlns:mc="http://schemas.openxmlformats.org/markup-compatibility/2006" xmlns:a14="http://schemas.microsoft.com/office/drawing/2010/main">
        <mc:Choice Requires="a14">
          <p:graphicFrame>
            <p:nvGraphicFramePr>
              <p:cNvPr id="3" name="Tabla 2"/>
              <p:cNvGraphicFramePr>
                <a:graphicFrameLocks noGrp="1"/>
              </p:cNvGraphicFramePr>
              <p:nvPr>
                <p:extLst>
                  <p:ext uri="{D42A27DB-BD31-4B8C-83A1-F6EECF244321}">
                    <p14:modId xmlns:p14="http://schemas.microsoft.com/office/powerpoint/2010/main" val="1836316091"/>
                  </p:ext>
                </p:extLst>
              </p:nvPr>
            </p:nvGraphicFramePr>
            <p:xfrm>
              <a:off x="470264" y="1986763"/>
              <a:ext cx="11194866" cy="4344670"/>
            </p:xfrm>
            <a:graphic>
              <a:graphicData uri="http://schemas.openxmlformats.org/drawingml/2006/table">
                <a:tbl>
                  <a:tblPr firstRow="1" bandRow="1">
                    <a:tableStyleId>{9DCAF9ED-07DC-4A11-8D7F-57B35C25682E}</a:tableStyleId>
                  </a:tblPr>
                  <a:tblGrid>
                    <a:gridCol w="3731622">
                      <a:extLst>
                        <a:ext uri="{9D8B030D-6E8A-4147-A177-3AD203B41FA5}">
                          <a16:colId xmlns:a16="http://schemas.microsoft.com/office/drawing/2014/main" val="1183533241"/>
                        </a:ext>
                      </a:extLst>
                    </a:gridCol>
                    <a:gridCol w="3731622">
                      <a:extLst>
                        <a:ext uri="{9D8B030D-6E8A-4147-A177-3AD203B41FA5}">
                          <a16:colId xmlns:a16="http://schemas.microsoft.com/office/drawing/2014/main" val="3421709590"/>
                        </a:ext>
                      </a:extLst>
                    </a:gridCol>
                    <a:gridCol w="3731622">
                      <a:extLst>
                        <a:ext uri="{9D8B030D-6E8A-4147-A177-3AD203B41FA5}">
                          <a16:colId xmlns:a16="http://schemas.microsoft.com/office/drawing/2014/main" val="2864044992"/>
                        </a:ext>
                      </a:extLst>
                    </a:gridCol>
                  </a:tblGrid>
                  <a:tr h="370840">
                    <a:tc>
                      <a:txBody>
                        <a:bodyPr/>
                        <a:lstStyle/>
                        <a:p>
                          <a:pPr algn="ctr"/>
                          <a:r>
                            <a:rPr lang="es-MX" sz="1600" dirty="0">
                              <a:latin typeface="Times New Roman" panose="02020603050405020304" pitchFamily="18" charset="0"/>
                              <a:cs typeface="Times New Roman" panose="02020603050405020304" pitchFamily="18" charset="0"/>
                            </a:rPr>
                            <a:t>Método Tradicional</a:t>
                          </a:r>
                        </a:p>
                      </a:txBody>
                      <a:tcPr/>
                    </a:tc>
                    <a:tc>
                      <a:txBody>
                        <a:bodyPr/>
                        <a:lstStyle/>
                        <a:p>
                          <a:pPr algn="ctr"/>
                          <a:r>
                            <a:rPr lang="es-MX" sz="1600" dirty="0">
                              <a:latin typeface="Times New Roman" panose="02020603050405020304" pitchFamily="18" charset="0"/>
                              <a:cs typeface="Times New Roman" panose="02020603050405020304" pitchFamily="18" charset="0"/>
                            </a:rPr>
                            <a:t>Método del valor P</a:t>
                          </a:r>
                        </a:p>
                      </a:txBody>
                      <a:tcPr/>
                    </a:tc>
                    <a:tc>
                      <a:txBody>
                        <a:bodyPr/>
                        <a:lstStyle/>
                        <a:p>
                          <a:pPr algn="ctr"/>
                          <a:r>
                            <a:rPr lang="es-MX" sz="1600" dirty="0">
                              <a:latin typeface="Times New Roman" panose="02020603050405020304" pitchFamily="18" charset="0"/>
                              <a:cs typeface="Times New Roman" panose="02020603050405020304" pitchFamily="18" charset="0"/>
                            </a:rPr>
                            <a:t>Método por Intervalos</a:t>
                          </a:r>
                          <a:r>
                            <a:rPr lang="es-MX" sz="1600" baseline="0" dirty="0">
                              <a:latin typeface="Times New Roman" panose="02020603050405020304" pitchFamily="18" charset="0"/>
                              <a:cs typeface="Times New Roman" panose="02020603050405020304" pitchFamily="18" charset="0"/>
                            </a:rPr>
                            <a:t> de Confianza</a:t>
                          </a:r>
                          <a:endParaRPr lang="es-MX"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49162958"/>
                      </a:ext>
                    </a:extLst>
                  </a:tr>
                  <a:tr h="370840">
                    <a:tc>
                      <a:txBody>
                        <a:bodyPr/>
                        <a:lstStyle/>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1: </a:t>
                          </a:r>
                          <a:r>
                            <a:rPr lang="es-MX" sz="1600" dirty="0">
                              <a:effectLst/>
                              <a:latin typeface="Times New Roman" panose="02020603050405020304" pitchFamily="18" charset="0"/>
                              <a:cs typeface="Times New Roman" panose="02020603050405020304" pitchFamily="18" charset="0"/>
                            </a:rPr>
                            <a:t>Planteamos el juego de hipótesis </a:t>
                          </a:r>
                        </a:p>
                        <a:p>
                          <a:pPr algn="just">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MX" sz="1600" i="1">
                                        <a:effectLst/>
                                        <a:latin typeface="Cambria Math" panose="02040503050406030204" pitchFamily="18" charset="0"/>
                                      </a:rPr>
                                    </m:ctrlPr>
                                  </m:sSubPr>
                                  <m:e>
                                    <m:r>
                                      <a:rPr lang="es-MX" sz="1600">
                                        <a:effectLst/>
                                        <a:latin typeface="Cambria Math" panose="02040503050406030204" pitchFamily="18" charset="0"/>
                                      </a:rPr>
                                      <m:t>𝐻</m:t>
                                    </m:r>
                                  </m:e>
                                  <m:sub>
                                    <m:r>
                                      <a:rPr lang="es-MX" sz="1600">
                                        <a:effectLst/>
                                        <a:latin typeface="Cambria Math" panose="02040503050406030204" pitchFamily="18" charset="0"/>
                                      </a:rPr>
                                      <m:t>0</m:t>
                                    </m:r>
                                  </m:sub>
                                </m:sSub>
                                <m:r>
                                  <a:rPr lang="es-MX" sz="1600">
                                    <a:effectLst/>
                                    <a:latin typeface="Cambria Math" panose="02040503050406030204" pitchFamily="18" charset="0"/>
                                  </a:rPr>
                                  <m:t>:</m:t>
                                </m:r>
                                <m:r>
                                  <a:rPr lang="es-MX" sz="1600">
                                    <a:effectLst/>
                                    <a:latin typeface="Cambria Math" panose="02040503050406030204" pitchFamily="18" charset="0"/>
                                  </a:rPr>
                                  <m:t>𝑝</m:t>
                                </m:r>
                                <m:r>
                                  <a:rPr lang="es-MX" sz="1600">
                                    <a:effectLst/>
                                    <a:latin typeface="Cambria Math" panose="02040503050406030204" pitchFamily="18" charset="0"/>
                                  </a:rPr>
                                  <m:t>=0.25         </m:t>
                                </m:r>
                                <m:sSub>
                                  <m:sSubPr>
                                    <m:ctrlPr>
                                      <a:rPr lang="es-MX" sz="1600" i="1">
                                        <a:effectLst/>
                                        <a:latin typeface="Cambria Math" panose="02040503050406030204" pitchFamily="18" charset="0"/>
                                      </a:rPr>
                                    </m:ctrlPr>
                                  </m:sSubPr>
                                  <m:e>
                                    <m:r>
                                      <a:rPr lang="es-MX" sz="1600">
                                        <a:effectLst/>
                                        <a:latin typeface="Cambria Math" panose="02040503050406030204" pitchFamily="18" charset="0"/>
                                      </a:rPr>
                                      <m:t>𝐻</m:t>
                                    </m:r>
                                  </m:e>
                                  <m:sub>
                                    <m:r>
                                      <a:rPr lang="es-MX" sz="1600">
                                        <a:effectLst/>
                                        <a:latin typeface="Cambria Math" panose="02040503050406030204" pitchFamily="18" charset="0"/>
                                      </a:rPr>
                                      <m:t>1</m:t>
                                    </m:r>
                                  </m:sub>
                                </m:sSub>
                                <m:r>
                                  <a:rPr lang="es-MX" sz="1600">
                                    <a:effectLst/>
                                    <a:latin typeface="Cambria Math" panose="02040503050406030204" pitchFamily="18" charset="0"/>
                                  </a:rPr>
                                  <m:t>:</m:t>
                                </m:r>
                                <m:r>
                                  <a:rPr lang="es-MX" sz="1600">
                                    <a:effectLst/>
                                    <a:latin typeface="Cambria Math" panose="02040503050406030204" pitchFamily="18" charset="0"/>
                                  </a:rPr>
                                  <m:t>𝑝</m:t>
                                </m:r>
                                <m:r>
                                  <a:rPr lang="es-MX" sz="1600">
                                    <a:effectLst/>
                                    <a:latin typeface="Cambria Math" panose="02040503050406030204" pitchFamily="18" charset="0"/>
                                  </a:rPr>
                                  <m:t>≠0.25</m:t>
                                </m:r>
                              </m:oMath>
                            </m:oMathPara>
                          </a14:m>
                          <a:endParaRPr lang="es-MX" sz="16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2: </a:t>
                          </a:r>
                          <a:r>
                            <a:rPr lang="es-MX" sz="1600" dirty="0">
                              <a:effectLst/>
                              <a:latin typeface="Times New Roman" panose="02020603050405020304" pitchFamily="18" charset="0"/>
                              <a:cs typeface="Times New Roman" panose="02020603050405020304" pitchFamily="18" charset="0"/>
                            </a:rPr>
                            <a:t>Calculamos los valores críticos </a:t>
                          </a:r>
                          <a14:m>
                            <m:oMath xmlns:m="http://schemas.openxmlformats.org/officeDocument/2006/math">
                              <m:r>
                                <a:rPr lang="es-MX" sz="1600">
                                  <a:effectLst/>
                                  <a:latin typeface="Cambria Math" panose="02040503050406030204" pitchFamily="18" charset="0"/>
                                </a:rPr>
                                <m:t>𝑧</m:t>
                              </m:r>
                              <m:r>
                                <a:rPr lang="es-MX" sz="1600">
                                  <a:effectLst/>
                                  <a:latin typeface="Cambria Math" panose="02040503050406030204" pitchFamily="18" charset="0"/>
                                </a:rPr>
                                <m:t>=±1.96</m:t>
                              </m:r>
                            </m:oMath>
                          </a14:m>
                          <a:endParaRPr lang="es-MX" sz="16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3: </a:t>
                          </a:r>
                          <a:r>
                            <a:rPr lang="es-MX" sz="1600" dirty="0">
                              <a:effectLst/>
                              <a:latin typeface="Times New Roman" panose="02020603050405020304" pitchFamily="18" charset="0"/>
                              <a:cs typeface="Times New Roman" panose="02020603050405020304" pitchFamily="18" charset="0"/>
                            </a:rPr>
                            <a:t>Se calcula el estadístico de prueba </a:t>
                          </a:r>
                          <a14:m>
                            <m:oMath xmlns:m="http://schemas.openxmlformats.org/officeDocument/2006/math">
                              <m:r>
                                <a:rPr lang="es-MX" sz="1600">
                                  <a:effectLst/>
                                  <a:latin typeface="Cambria Math" panose="02040503050406030204" pitchFamily="18" charset="0"/>
                                </a:rPr>
                                <m:t>𝑧</m:t>
                              </m:r>
                              <m:r>
                                <a:rPr lang="es-MX" sz="1600">
                                  <a:effectLst/>
                                  <a:latin typeface="Cambria Math" panose="02040503050406030204" pitchFamily="18" charset="0"/>
                                </a:rPr>
                                <m:t>=0.67</m:t>
                              </m:r>
                            </m:oMath>
                          </a14:m>
                          <a:endParaRPr lang="es-MX" sz="16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4: </a:t>
                          </a:r>
                          <a:r>
                            <a:rPr lang="es-MX" sz="1600" dirty="0">
                              <a:effectLst/>
                              <a:latin typeface="Times New Roman" panose="02020603050405020304" pitchFamily="18" charset="0"/>
                              <a:cs typeface="Times New Roman" panose="02020603050405020304" pitchFamily="18" charset="0"/>
                            </a:rPr>
                            <a:t>No se rechaza la hipótesis nula, ya que el estadístico de prueba </a:t>
                          </a:r>
                          <a14:m>
                            <m:oMath xmlns:m="http://schemas.openxmlformats.org/officeDocument/2006/math">
                              <m:r>
                                <a:rPr lang="es-MX" sz="1600">
                                  <a:effectLst/>
                                  <a:latin typeface="Cambria Math" panose="02040503050406030204" pitchFamily="18" charset="0"/>
                                </a:rPr>
                                <m:t>𝑧</m:t>
                              </m:r>
                              <m:r>
                                <a:rPr lang="es-MX" sz="1600">
                                  <a:effectLst/>
                                  <a:latin typeface="Cambria Math" panose="02040503050406030204" pitchFamily="18" charset="0"/>
                                </a:rPr>
                                <m:t>=0.67</m:t>
                              </m:r>
                            </m:oMath>
                          </a14:m>
                          <a:r>
                            <a:rPr lang="es-MX" sz="1600" dirty="0">
                              <a:effectLst/>
                              <a:latin typeface="Times New Roman" panose="02020603050405020304" pitchFamily="18" charset="0"/>
                              <a:cs typeface="Times New Roman" panose="02020603050405020304" pitchFamily="18" charset="0"/>
                            </a:rPr>
                            <a:t> no cae dentro de la región crítica. </a:t>
                          </a:r>
                        </a:p>
                        <a:p>
                          <a:pPr algn="just"/>
                          <a:r>
                            <a:rPr lang="es-MX" sz="1600" b="1" dirty="0">
                              <a:effectLst/>
                              <a:latin typeface="Times New Roman" panose="02020603050405020304" pitchFamily="18" charset="0"/>
                              <a:cs typeface="Times New Roman" panose="02020603050405020304" pitchFamily="18" charset="0"/>
                            </a:rPr>
                            <a:t>Paso 5: </a:t>
                          </a:r>
                          <a:r>
                            <a:rPr lang="es-MX" sz="1600" dirty="0">
                              <a:effectLst/>
                              <a:latin typeface="Times New Roman" panose="02020603050405020304" pitchFamily="18" charset="0"/>
                              <a:cs typeface="Times New Roman" panose="02020603050405020304" pitchFamily="18" charset="0"/>
                            </a:rPr>
                            <a:t>No existe evidencia suficiente para justificar el rechazo de la aseveración de que 1/4 de los vástagos de guisantes tienen vainas amarillas. </a:t>
                          </a:r>
                          <a:endParaRPr lang="es-MX" sz="1600" dirty="0">
                            <a:latin typeface="Times New Roman" panose="02020603050405020304" pitchFamily="18" charset="0"/>
                            <a:cs typeface="Times New Roman" panose="02020603050405020304" pitchFamily="18" charset="0"/>
                          </a:endParaRPr>
                        </a:p>
                      </a:txBody>
                      <a:tcPr/>
                    </a:tc>
                    <a:tc>
                      <a:txBody>
                        <a:bodyPr/>
                        <a:lstStyle/>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1: </a:t>
                          </a:r>
                          <a:r>
                            <a:rPr lang="es-MX" sz="1600" dirty="0">
                              <a:effectLst/>
                              <a:latin typeface="Times New Roman" panose="02020603050405020304" pitchFamily="18" charset="0"/>
                              <a:cs typeface="Times New Roman" panose="02020603050405020304" pitchFamily="18" charset="0"/>
                            </a:rPr>
                            <a:t>Planteamos el juego de hipótesis </a:t>
                          </a:r>
                          <a:endParaRPr lang="es-MX" sz="14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MX" sz="1600" i="1">
                                        <a:effectLst/>
                                        <a:latin typeface="Cambria Math" panose="02040503050406030204" pitchFamily="18" charset="0"/>
                                      </a:rPr>
                                    </m:ctrlPr>
                                  </m:sSubPr>
                                  <m:e>
                                    <m:r>
                                      <a:rPr lang="es-MX" sz="1600">
                                        <a:effectLst/>
                                        <a:latin typeface="Cambria Math" panose="02040503050406030204" pitchFamily="18" charset="0"/>
                                      </a:rPr>
                                      <m:t>𝐻</m:t>
                                    </m:r>
                                  </m:e>
                                  <m:sub>
                                    <m:r>
                                      <a:rPr lang="es-MX" sz="1600">
                                        <a:effectLst/>
                                        <a:latin typeface="Cambria Math" panose="02040503050406030204" pitchFamily="18" charset="0"/>
                                      </a:rPr>
                                      <m:t>0</m:t>
                                    </m:r>
                                  </m:sub>
                                </m:sSub>
                                <m:r>
                                  <a:rPr lang="es-MX" sz="1600">
                                    <a:effectLst/>
                                    <a:latin typeface="Cambria Math" panose="02040503050406030204" pitchFamily="18" charset="0"/>
                                  </a:rPr>
                                  <m:t>:</m:t>
                                </m:r>
                                <m:r>
                                  <a:rPr lang="es-MX" sz="1600">
                                    <a:effectLst/>
                                    <a:latin typeface="Cambria Math" panose="02040503050406030204" pitchFamily="18" charset="0"/>
                                  </a:rPr>
                                  <m:t>𝑝</m:t>
                                </m:r>
                                <m:r>
                                  <a:rPr lang="es-MX" sz="1600">
                                    <a:effectLst/>
                                    <a:latin typeface="Cambria Math" panose="02040503050406030204" pitchFamily="18" charset="0"/>
                                  </a:rPr>
                                  <m:t>=0.25         </m:t>
                                </m:r>
                                <m:sSub>
                                  <m:sSubPr>
                                    <m:ctrlPr>
                                      <a:rPr lang="es-MX" sz="1600" i="1">
                                        <a:effectLst/>
                                        <a:latin typeface="Cambria Math" panose="02040503050406030204" pitchFamily="18" charset="0"/>
                                      </a:rPr>
                                    </m:ctrlPr>
                                  </m:sSubPr>
                                  <m:e>
                                    <m:r>
                                      <a:rPr lang="es-MX" sz="1600">
                                        <a:effectLst/>
                                        <a:latin typeface="Cambria Math" panose="02040503050406030204" pitchFamily="18" charset="0"/>
                                      </a:rPr>
                                      <m:t>𝐻</m:t>
                                    </m:r>
                                  </m:e>
                                  <m:sub>
                                    <m:r>
                                      <a:rPr lang="es-MX" sz="1600">
                                        <a:effectLst/>
                                        <a:latin typeface="Cambria Math" panose="02040503050406030204" pitchFamily="18" charset="0"/>
                                      </a:rPr>
                                      <m:t>1</m:t>
                                    </m:r>
                                  </m:sub>
                                </m:sSub>
                                <m:r>
                                  <a:rPr lang="es-MX" sz="1600">
                                    <a:effectLst/>
                                    <a:latin typeface="Cambria Math" panose="02040503050406030204" pitchFamily="18" charset="0"/>
                                  </a:rPr>
                                  <m:t>:</m:t>
                                </m:r>
                                <m:r>
                                  <a:rPr lang="es-MX" sz="1600">
                                    <a:effectLst/>
                                    <a:latin typeface="Cambria Math" panose="02040503050406030204" pitchFamily="18" charset="0"/>
                                  </a:rPr>
                                  <m:t>𝑝</m:t>
                                </m:r>
                                <m:r>
                                  <a:rPr lang="es-MX" sz="1600">
                                    <a:effectLst/>
                                    <a:latin typeface="Cambria Math" panose="02040503050406030204" pitchFamily="18" charset="0"/>
                                  </a:rPr>
                                  <m:t>≠0.25</m:t>
                                </m:r>
                              </m:oMath>
                            </m:oMathPara>
                          </a14:m>
                          <a:endParaRPr lang="es-MX" sz="14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2: </a:t>
                          </a:r>
                          <a:r>
                            <a:rPr lang="es-MX" sz="1600" dirty="0">
                              <a:effectLst/>
                              <a:latin typeface="Times New Roman" panose="02020603050405020304" pitchFamily="18" charset="0"/>
                              <a:cs typeface="Times New Roman" panose="02020603050405020304" pitchFamily="18" charset="0"/>
                            </a:rPr>
                            <a:t>Se calcula el estadístico de prueba </a:t>
                          </a:r>
                          <a14:m>
                            <m:oMath xmlns:m="http://schemas.openxmlformats.org/officeDocument/2006/math">
                              <m:r>
                                <a:rPr lang="es-MX" sz="1600">
                                  <a:effectLst/>
                                  <a:latin typeface="Cambria Math" panose="02040503050406030204" pitchFamily="18" charset="0"/>
                                </a:rPr>
                                <m:t>𝑧</m:t>
                              </m:r>
                              <m:r>
                                <a:rPr lang="es-MX" sz="1600">
                                  <a:effectLst/>
                                  <a:latin typeface="Cambria Math" panose="02040503050406030204" pitchFamily="18" charset="0"/>
                                </a:rPr>
                                <m:t>=0.67</m:t>
                              </m:r>
                            </m:oMath>
                          </a14:m>
                          <a:endParaRPr lang="es-MX" sz="14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3: </a:t>
                          </a:r>
                          <a:r>
                            <a:rPr lang="es-MX" sz="1600" dirty="0">
                              <a:effectLst/>
                              <a:latin typeface="Times New Roman" panose="02020603050405020304" pitchFamily="18" charset="0"/>
                              <a:cs typeface="Times New Roman" panose="02020603050405020304" pitchFamily="18" charset="0"/>
                            </a:rPr>
                            <a:t>El valor P es el doble del área a la derecha del estadístico de Prueba. </a:t>
                          </a:r>
                          <a14:m>
                            <m:oMath xmlns:m="http://schemas.openxmlformats.org/officeDocument/2006/math">
                              <m:r>
                                <a:rPr lang="es-MX" sz="1600">
                                  <a:effectLst/>
                                  <a:latin typeface="Cambria Math" panose="02040503050406030204" pitchFamily="18" charset="0"/>
                                </a:rPr>
                                <m:t>𝑃</m:t>
                              </m:r>
                              <m:r>
                                <a:rPr lang="es-MX" sz="1600">
                                  <a:effectLst/>
                                  <a:latin typeface="Cambria Math" panose="02040503050406030204" pitchFamily="18" charset="0"/>
                                </a:rPr>
                                <m:t>=0.5028</m:t>
                              </m:r>
                            </m:oMath>
                          </a14:m>
                          <a:endParaRPr lang="es-MX" sz="14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4: </a:t>
                          </a:r>
                          <a:r>
                            <a:rPr lang="es-MX" sz="1600" dirty="0">
                              <a:effectLst/>
                              <a:latin typeface="Times New Roman" panose="02020603050405020304" pitchFamily="18" charset="0"/>
                              <a:cs typeface="Times New Roman" panose="02020603050405020304" pitchFamily="18" charset="0"/>
                            </a:rPr>
                            <a:t>No se rechaza la hipótesis nula, ya que </a:t>
                          </a:r>
                          <a14:m>
                            <m:oMath xmlns:m="http://schemas.openxmlformats.org/officeDocument/2006/math">
                              <m:r>
                                <a:rPr lang="es-MX" sz="1600">
                                  <a:effectLst/>
                                  <a:latin typeface="Cambria Math" panose="02040503050406030204" pitchFamily="18" charset="0"/>
                                </a:rPr>
                                <m:t>𝑃</m:t>
                              </m:r>
                              <m:r>
                                <a:rPr lang="es-MX" sz="1600">
                                  <a:effectLst/>
                                  <a:latin typeface="Cambria Math" panose="02040503050406030204" pitchFamily="18" charset="0"/>
                                </a:rPr>
                                <m:t>=0.5028&gt;0.05</m:t>
                              </m:r>
                            </m:oMath>
                          </a14:m>
                          <a:r>
                            <a:rPr lang="es-MX" sz="1600" dirty="0">
                              <a:effectLst/>
                              <a:latin typeface="Times New Roman" panose="02020603050405020304" pitchFamily="18" charset="0"/>
                              <a:cs typeface="Times New Roman" panose="02020603050405020304" pitchFamily="18" charset="0"/>
                            </a:rPr>
                            <a:t>.</a:t>
                          </a:r>
                          <a:endParaRPr lang="es-MX" sz="14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5: </a:t>
                          </a:r>
                          <a:r>
                            <a:rPr lang="es-MX" sz="1600" dirty="0">
                              <a:effectLst/>
                              <a:latin typeface="Times New Roman" panose="02020603050405020304" pitchFamily="18" charset="0"/>
                              <a:cs typeface="Times New Roman" panose="02020603050405020304" pitchFamily="18" charset="0"/>
                            </a:rPr>
                            <a:t>No existe evidencia suficiente para justificar el rechazo de la aseveración de que 1/4 de los vástagos de guisantes tienen vainas amarillas.</a:t>
                          </a:r>
                          <a:endParaRPr lang="es-MX"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algn="just">
                            <a:lnSpc>
                              <a:spcPct val="107000"/>
                            </a:lnSpc>
                            <a:spcAft>
                              <a:spcPts val="800"/>
                            </a:spcAft>
                          </a:pPr>
                          <a:r>
                            <a:rPr lang="es-MX" sz="1600" b="1" i="0" dirty="0">
                              <a:effectLst/>
                              <a:latin typeface="Times New Roman" panose="02020603050405020304" pitchFamily="18" charset="0"/>
                              <a:cs typeface="Times New Roman" panose="02020603050405020304" pitchFamily="18" charset="0"/>
                            </a:rPr>
                            <a:t>Paso 1: </a:t>
                          </a:r>
                          <a:r>
                            <a:rPr lang="es-MX" sz="1600" dirty="0">
                              <a:effectLst/>
                              <a:latin typeface="Times New Roman" panose="02020603050405020304" pitchFamily="18" charset="0"/>
                              <a:cs typeface="Times New Roman" panose="02020603050405020304" pitchFamily="18" charset="0"/>
                            </a:rPr>
                            <a:t>Planteamos el juego de hipótesis </a:t>
                          </a:r>
                          <a:endParaRPr lang="es-MX" sz="14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MX" sz="1600" i="1">
                                        <a:effectLst/>
                                        <a:latin typeface="Cambria Math" panose="02040503050406030204" pitchFamily="18" charset="0"/>
                                      </a:rPr>
                                    </m:ctrlPr>
                                  </m:sSubPr>
                                  <m:e>
                                    <m:r>
                                      <a:rPr lang="es-MX" sz="1600">
                                        <a:effectLst/>
                                        <a:latin typeface="Cambria Math" panose="02040503050406030204" pitchFamily="18" charset="0"/>
                                      </a:rPr>
                                      <m:t>𝐻</m:t>
                                    </m:r>
                                  </m:e>
                                  <m:sub>
                                    <m:r>
                                      <a:rPr lang="es-MX" sz="1600">
                                        <a:effectLst/>
                                        <a:latin typeface="Cambria Math" panose="02040503050406030204" pitchFamily="18" charset="0"/>
                                      </a:rPr>
                                      <m:t>0</m:t>
                                    </m:r>
                                  </m:sub>
                                </m:sSub>
                                <m:r>
                                  <a:rPr lang="es-MX" sz="1600">
                                    <a:effectLst/>
                                    <a:latin typeface="Cambria Math" panose="02040503050406030204" pitchFamily="18" charset="0"/>
                                  </a:rPr>
                                  <m:t>:</m:t>
                                </m:r>
                                <m:r>
                                  <a:rPr lang="es-MX" sz="1600">
                                    <a:effectLst/>
                                    <a:latin typeface="Cambria Math" panose="02040503050406030204" pitchFamily="18" charset="0"/>
                                  </a:rPr>
                                  <m:t>𝑝</m:t>
                                </m:r>
                                <m:r>
                                  <a:rPr lang="es-MX" sz="1600">
                                    <a:effectLst/>
                                    <a:latin typeface="Cambria Math" panose="02040503050406030204" pitchFamily="18" charset="0"/>
                                  </a:rPr>
                                  <m:t>=0.25         </m:t>
                                </m:r>
                                <m:sSub>
                                  <m:sSubPr>
                                    <m:ctrlPr>
                                      <a:rPr lang="es-MX" sz="1600" i="1">
                                        <a:effectLst/>
                                        <a:latin typeface="Cambria Math" panose="02040503050406030204" pitchFamily="18" charset="0"/>
                                      </a:rPr>
                                    </m:ctrlPr>
                                  </m:sSubPr>
                                  <m:e>
                                    <m:r>
                                      <a:rPr lang="es-MX" sz="1600">
                                        <a:effectLst/>
                                        <a:latin typeface="Cambria Math" panose="02040503050406030204" pitchFamily="18" charset="0"/>
                                      </a:rPr>
                                      <m:t>𝐻</m:t>
                                    </m:r>
                                  </m:e>
                                  <m:sub>
                                    <m:r>
                                      <a:rPr lang="es-MX" sz="1600">
                                        <a:effectLst/>
                                        <a:latin typeface="Cambria Math" panose="02040503050406030204" pitchFamily="18" charset="0"/>
                                      </a:rPr>
                                      <m:t>1</m:t>
                                    </m:r>
                                  </m:sub>
                                </m:sSub>
                                <m:r>
                                  <a:rPr lang="es-MX" sz="1600">
                                    <a:effectLst/>
                                    <a:latin typeface="Cambria Math" panose="02040503050406030204" pitchFamily="18" charset="0"/>
                                  </a:rPr>
                                  <m:t>:</m:t>
                                </m:r>
                                <m:r>
                                  <a:rPr lang="es-MX" sz="1600">
                                    <a:effectLst/>
                                    <a:latin typeface="Cambria Math" panose="02040503050406030204" pitchFamily="18" charset="0"/>
                                  </a:rPr>
                                  <m:t>𝑝</m:t>
                                </m:r>
                                <m:r>
                                  <a:rPr lang="es-MX" sz="1600">
                                    <a:effectLst/>
                                    <a:latin typeface="Cambria Math" panose="02040503050406030204" pitchFamily="18" charset="0"/>
                                  </a:rPr>
                                  <m:t>≠0.25</m:t>
                                </m:r>
                              </m:oMath>
                            </m:oMathPara>
                          </a14:m>
                          <a:endParaRPr lang="es-MX" sz="14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2: </a:t>
                          </a:r>
                          <a:r>
                            <a:rPr lang="es-MX" sz="1600" dirty="0">
                              <a:effectLst/>
                              <a:latin typeface="Times New Roman" panose="02020603050405020304" pitchFamily="18" charset="0"/>
                              <a:cs typeface="Times New Roman" panose="02020603050405020304" pitchFamily="18" charset="0"/>
                            </a:rPr>
                            <a:t>Se calcula el intervalo de confianza con un nivel de confianza del 95%</a:t>
                          </a:r>
                          <a:endParaRPr lang="es-MX" sz="14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14:m>
                            <m:oMathPara xmlns:m="http://schemas.openxmlformats.org/officeDocument/2006/math">
                              <m:oMathParaPr>
                                <m:jc m:val="centerGroup"/>
                              </m:oMathParaPr>
                              <m:oMath xmlns:m="http://schemas.openxmlformats.org/officeDocument/2006/math">
                                <m:r>
                                  <a:rPr lang="es-MX" sz="1600">
                                    <a:effectLst/>
                                    <a:latin typeface="Cambria Math" panose="02040503050406030204" pitchFamily="18" charset="0"/>
                                  </a:rPr>
                                  <m:t>0.2263&lt;</m:t>
                                </m:r>
                                <m:r>
                                  <a:rPr lang="es-MX" sz="1600">
                                    <a:effectLst/>
                                    <a:latin typeface="Cambria Math" panose="02040503050406030204" pitchFamily="18" charset="0"/>
                                  </a:rPr>
                                  <m:t>𝑝</m:t>
                                </m:r>
                                <m:r>
                                  <a:rPr lang="es-MX" sz="1600">
                                    <a:effectLst/>
                                    <a:latin typeface="Cambria Math" panose="02040503050406030204" pitchFamily="18" charset="0"/>
                                  </a:rPr>
                                  <m:t>&lt;0.2979</m:t>
                                </m:r>
                              </m:oMath>
                            </m:oMathPara>
                          </a14:m>
                          <a:endParaRPr lang="es-MX" sz="1400" dirty="0">
                            <a:effectLst/>
                            <a:latin typeface="Times New Roman" panose="02020603050405020304" pitchFamily="18" charset="0"/>
                            <a:cs typeface="Times New Roman" panose="02020603050405020304" pitchFamily="18" charset="0"/>
                          </a:endParaRPr>
                        </a:p>
                        <a:p>
                          <a:pPr algn="just">
                            <a:lnSpc>
                              <a:spcPct val="107000"/>
                            </a:lnSpc>
                            <a:spcAft>
                              <a:spcPts val="800"/>
                            </a:spcAft>
                          </a:pPr>
                          <a:r>
                            <a:rPr lang="es-MX" sz="1600" b="1" dirty="0">
                              <a:effectLst/>
                              <a:latin typeface="Times New Roman" panose="02020603050405020304" pitchFamily="18" charset="0"/>
                              <a:cs typeface="Times New Roman" panose="02020603050405020304" pitchFamily="18" charset="0"/>
                            </a:rPr>
                            <a:t>Paso 3: </a:t>
                          </a:r>
                          <a:r>
                            <a:rPr lang="es-MX" sz="1600" dirty="0">
                              <a:effectLst/>
                              <a:latin typeface="Times New Roman" panose="02020603050405020304" pitchFamily="18" charset="0"/>
                              <a:cs typeface="Times New Roman" panose="02020603050405020304" pitchFamily="18" charset="0"/>
                            </a:rPr>
                            <a:t>Como los límites del intervalo de confianza contienen el valor aseverado de 0.25, no se rechaza la hipótesis nula.</a:t>
                          </a:r>
                          <a:endParaRPr lang="es-MX" sz="1400" dirty="0">
                            <a:effectLst/>
                            <a:latin typeface="Times New Roman" panose="02020603050405020304" pitchFamily="18" charset="0"/>
                            <a:cs typeface="Times New Roman" panose="02020603050405020304" pitchFamily="18" charset="0"/>
                          </a:endParaRPr>
                        </a:p>
                        <a:p>
                          <a:pPr algn="just"/>
                          <a:r>
                            <a:rPr lang="es-MX" sz="1600" b="1" dirty="0">
                              <a:effectLst/>
                              <a:latin typeface="Times New Roman" panose="02020603050405020304" pitchFamily="18" charset="0"/>
                              <a:cs typeface="Times New Roman" panose="02020603050405020304" pitchFamily="18" charset="0"/>
                            </a:rPr>
                            <a:t>Paso 4: </a:t>
                          </a:r>
                          <a:r>
                            <a:rPr lang="es-MX" sz="1600" dirty="0">
                              <a:effectLst/>
                              <a:latin typeface="Times New Roman" panose="02020603050405020304" pitchFamily="18" charset="0"/>
                              <a:cs typeface="Times New Roman" panose="02020603050405020304" pitchFamily="18" charset="0"/>
                            </a:rPr>
                            <a:t>No existe evidencia suficiente para justificar el rechazo de la aseveración de que 1/4 de los vástagos de guisantes tienen vainas amarillas.</a:t>
                          </a:r>
                          <a:endParaRPr lang="es-MX"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6663367"/>
                      </a:ext>
                    </a:extLst>
                  </a:tr>
                </a:tbl>
              </a:graphicData>
            </a:graphic>
          </p:graphicFrame>
        </mc:Choice>
        <mc:Fallback xmlns="">
          <p:graphicFrame>
            <p:nvGraphicFramePr>
              <p:cNvPr id="3" name="Tabla 2"/>
              <p:cNvGraphicFramePr>
                <a:graphicFrameLocks noGrp="1"/>
              </p:cNvGraphicFramePr>
              <p:nvPr>
                <p:extLst>
                  <p:ext uri="{D42A27DB-BD31-4B8C-83A1-F6EECF244321}">
                    <p14:modId xmlns:p14="http://schemas.microsoft.com/office/powerpoint/2010/main" val="1836316091"/>
                  </p:ext>
                </p:extLst>
              </p:nvPr>
            </p:nvGraphicFramePr>
            <p:xfrm>
              <a:off x="470264" y="1986763"/>
              <a:ext cx="11194866" cy="4362260"/>
            </p:xfrm>
            <a:graphic>
              <a:graphicData uri="http://schemas.openxmlformats.org/drawingml/2006/table">
                <a:tbl>
                  <a:tblPr firstRow="1" bandRow="1">
                    <a:tableStyleId>{9DCAF9ED-07DC-4A11-8D7F-57B35C25682E}</a:tableStyleId>
                  </a:tblPr>
                  <a:tblGrid>
                    <a:gridCol w="3731622">
                      <a:extLst>
                        <a:ext uri="{9D8B030D-6E8A-4147-A177-3AD203B41FA5}">
                          <a16:colId xmlns:a16="http://schemas.microsoft.com/office/drawing/2014/main" val="1183533241"/>
                        </a:ext>
                      </a:extLst>
                    </a:gridCol>
                    <a:gridCol w="3731622">
                      <a:extLst>
                        <a:ext uri="{9D8B030D-6E8A-4147-A177-3AD203B41FA5}">
                          <a16:colId xmlns:a16="http://schemas.microsoft.com/office/drawing/2014/main" val="3421709590"/>
                        </a:ext>
                      </a:extLst>
                    </a:gridCol>
                    <a:gridCol w="3731622">
                      <a:extLst>
                        <a:ext uri="{9D8B030D-6E8A-4147-A177-3AD203B41FA5}">
                          <a16:colId xmlns:a16="http://schemas.microsoft.com/office/drawing/2014/main" val="2864044992"/>
                        </a:ext>
                      </a:extLst>
                    </a:gridCol>
                  </a:tblGrid>
                  <a:tr h="370840">
                    <a:tc>
                      <a:txBody>
                        <a:bodyPr/>
                        <a:lstStyle/>
                        <a:p>
                          <a:pPr algn="ctr"/>
                          <a:r>
                            <a:rPr lang="es-MX" sz="1600" dirty="0" smtClean="0">
                              <a:latin typeface="Times New Roman" panose="02020603050405020304" pitchFamily="18" charset="0"/>
                              <a:cs typeface="Times New Roman" panose="02020603050405020304" pitchFamily="18" charset="0"/>
                            </a:rPr>
                            <a:t>Método Tradicional</a:t>
                          </a:r>
                          <a:endParaRPr lang="es-MX" sz="1600" dirty="0">
                            <a:latin typeface="Times New Roman" panose="02020603050405020304" pitchFamily="18" charset="0"/>
                            <a:cs typeface="Times New Roman" panose="02020603050405020304" pitchFamily="18" charset="0"/>
                          </a:endParaRPr>
                        </a:p>
                      </a:txBody>
                      <a:tcPr/>
                    </a:tc>
                    <a:tc>
                      <a:txBody>
                        <a:bodyPr/>
                        <a:lstStyle/>
                        <a:p>
                          <a:pPr algn="ctr"/>
                          <a:r>
                            <a:rPr lang="es-MX" sz="1600" dirty="0" smtClean="0">
                              <a:latin typeface="Times New Roman" panose="02020603050405020304" pitchFamily="18" charset="0"/>
                              <a:cs typeface="Times New Roman" panose="02020603050405020304" pitchFamily="18" charset="0"/>
                            </a:rPr>
                            <a:t>Método del valor P</a:t>
                          </a:r>
                          <a:endParaRPr lang="es-MX" sz="1600" dirty="0">
                            <a:latin typeface="Times New Roman" panose="02020603050405020304" pitchFamily="18" charset="0"/>
                            <a:cs typeface="Times New Roman" panose="02020603050405020304" pitchFamily="18" charset="0"/>
                          </a:endParaRPr>
                        </a:p>
                      </a:txBody>
                      <a:tcPr/>
                    </a:tc>
                    <a:tc>
                      <a:txBody>
                        <a:bodyPr/>
                        <a:lstStyle/>
                        <a:p>
                          <a:pPr algn="ctr"/>
                          <a:r>
                            <a:rPr lang="es-MX" sz="1600" dirty="0" smtClean="0">
                              <a:latin typeface="Times New Roman" panose="02020603050405020304" pitchFamily="18" charset="0"/>
                              <a:cs typeface="Times New Roman" panose="02020603050405020304" pitchFamily="18" charset="0"/>
                            </a:rPr>
                            <a:t>Método por Intervalos</a:t>
                          </a:r>
                          <a:r>
                            <a:rPr lang="es-MX" sz="1600" baseline="0" dirty="0" smtClean="0">
                              <a:latin typeface="Times New Roman" panose="02020603050405020304" pitchFamily="18" charset="0"/>
                              <a:cs typeface="Times New Roman" panose="02020603050405020304" pitchFamily="18" charset="0"/>
                            </a:rPr>
                            <a:t> de Confianza</a:t>
                          </a:r>
                          <a:endParaRPr lang="es-MX"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49162958"/>
                      </a:ext>
                    </a:extLst>
                  </a:tr>
                  <a:tr h="3991420">
                    <a:tc>
                      <a:txBody>
                        <a:bodyPr/>
                        <a:lstStyle/>
                        <a:p>
                          <a:endParaRPr lang="es-MX"/>
                        </a:p>
                      </a:txBody>
                      <a:tcPr>
                        <a:blipFill>
                          <a:blip r:embed="rId3"/>
                          <a:stretch>
                            <a:fillRect l="-163" t="-9604" r="-200490" b="-1524"/>
                          </a:stretch>
                        </a:blipFill>
                      </a:tcPr>
                    </a:tc>
                    <a:tc>
                      <a:txBody>
                        <a:bodyPr/>
                        <a:lstStyle/>
                        <a:p>
                          <a:endParaRPr lang="es-MX"/>
                        </a:p>
                      </a:txBody>
                      <a:tcPr>
                        <a:blipFill>
                          <a:blip r:embed="rId3"/>
                          <a:stretch>
                            <a:fillRect l="-100000" t="-9604" r="-100163" b="-1524"/>
                          </a:stretch>
                        </a:blipFill>
                      </a:tcPr>
                    </a:tc>
                    <a:tc>
                      <a:txBody>
                        <a:bodyPr/>
                        <a:lstStyle/>
                        <a:p>
                          <a:endParaRPr lang="es-MX"/>
                        </a:p>
                      </a:txBody>
                      <a:tcPr>
                        <a:blipFill>
                          <a:blip r:embed="rId3"/>
                          <a:stretch>
                            <a:fillRect l="-200327" t="-9604" r="-327" b="-1524"/>
                          </a:stretch>
                        </a:blipFill>
                      </a:tcPr>
                    </a:tc>
                    <a:extLst>
                      <a:ext uri="{0D108BD9-81ED-4DB2-BD59-A6C34878D82A}">
                        <a16:rowId xmlns:a16="http://schemas.microsoft.com/office/drawing/2014/main" val="156663367"/>
                      </a:ext>
                    </a:extLst>
                  </a:tr>
                </a:tbl>
              </a:graphicData>
            </a:graphic>
          </p:graphicFrame>
        </mc:Fallback>
      </mc:AlternateContent>
    </p:spTree>
    <p:extLst>
      <p:ext uri="{BB962C8B-B14F-4D97-AF65-F5344CB8AC3E}">
        <p14:creationId xmlns:p14="http://schemas.microsoft.com/office/powerpoint/2010/main" val="4070456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Pruebas de Hipótesis para Proporciones</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4986527" cy="981423"/>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Prueba </a:t>
                </a:r>
                <a14:m>
                  <m:oMath xmlns:m="http://schemas.openxmlformats.org/officeDocument/2006/math">
                    <m:sSup>
                      <m:sSupPr>
                        <m:ctrlP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s-MX"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𝜒</m:t>
                        </m:r>
                      </m:e>
                      <m:sup>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de Pearson. Para realizar esta prueba se usa la función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prop.test</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que tiene la siguiente estructura:</a:t>
                </a: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4986527" cy="981423"/>
              </a:xfrm>
              <a:prstGeom prst="rect">
                <a:avLst/>
              </a:prstGeom>
              <a:blipFill>
                <a:blip r:embed="rId3"/>
                <a:stretch>
                  <a:fillRect l="-610" t="-3067" r="-976" b="-6135"/>
                </a:stretch>
              </a:blipFill>
              <a:ln>
                <a:solidFill>
                  <a:schemeClr val="tx1">
                    <a:lumMod val="85000"/>
                  </a:schemeClr>
                </a:solidFill>
              </a:ln>
            </p:spPr>
            <p:txBody>
              <a:bodyPr/>
              <a:lstStyle/>
              <a:p>
                <a:r>
                  <a:rPr lang="es-MX">
                    <a:noFill/>
                  </a:rPr>
                  <a:t> </a:t>
                </a:r>
              </a:p>
            </p:txBody>
          </p:sp>
        </mc:Fallback>
      </mc:AlternateContent>
      <p:pic>
        <p:nvPicPr>
          <p:cNvPr id="3" name="Imagen 2"/>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964021" y="3168032"/>
            <a:ext cx="4986528" cy="916561"/>
          </a:xfrm>
          <a:prstGeom prst="rect">
            <a:avLst/>
          </a:prstGeom>
        </p:spPr>
      </p:pic>
      <p:graphicFrame>
        <p:nvGraphicFramePr>
          <p:cNvPr id="4" name="Tabla 3"/>
          <p:cNvGraphicFramePr>
            <a:graphicFrameLocks noGrp="1"/>
          </p:cNvGraphicFramePr>
          <p:nvPr/>
        </p:nvGraphicFramePr>
        <p:xfrm>
          <a:off x="2032000" y="719666"/>
          <a:ext cx="8128000" cy="37084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1197766212"/>
                    </a:ext>
                  </a:extLst>
                </a:gridCol>
              </a:tblGrid>
              <a:tr h="370840">
                <a:tc>
                  <a:txBody>
                    <a:bodyPr/>
                    <a:lstStyle/>
                    <a:p>
                      <a:endParaRPr lang="es-MX" dirty="0"/>
                    </a:p>
                  </a:txBody>
                  <a:tcPr/>
                </a:tc>
                <a:extLst>
                  <a:ext uri="{0D108BD9-81ED-4DB2-BD59-A6C34878D82A}">
                    <a16:rowId xmlns:a16="http://schemas.microsoft.com/office/drawing/2014/main" val="296531200"/>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F494AF8A-D47C-6E15-F0A8-B546B382BBB9}"/>
                  </a:ext>
                </a:extLst>
              </p:cNvPr>
              <p:cNvSpPr txBox="1"/>
              <p:nvPr/>
            </p:nvSpPr>
            <p:spPr>
              <a:xfrm>
                <a:off x="964021" y="4084593"/>
                <a:ext cx="4986527" cy="2218877"/>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x: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número de éxitos en la muestra</a:t>
                </a:r>
              </a:p>
              <a:p>
                <a:pPr algn="just">
                  <a:lnSpc>
                    <a:spcPct val="107000"/>
                  </a:lnSpc>
                  <a:spcAft>
                    <a:spcPts val="800"/>
                  </a:spcAft>
                </a:pP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número de observaciones en la muestra</a:t>
                </a:r>
              </a:p>
              <a:p>
                <a:pPr algn="just">
                  <a:lnSpc>
                    <a:spcPct val="107000"/>
                  </a:lnSpc>
                  <a:spcAft>
                    <a:spcPts val="800"/>
                  </a:spcAft>
                </a:pPr>
                <a:r>
                  <a:rPr lang="es-MX" sz="14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alternative</a:t>
                </a: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r>
                  <a:rPr lang="es-MX"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two.sided</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cuando la hipótesis alterativa es </a:t>
                </a:r>
                <a14:m>
                  <m:oMath xmlns:m="http://schemas.openxmlformats.org/officeDocument/2006/math">
                    <m:r>
                      <a:rPr lang="es-MX" sz="14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less</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para </a:t>
                </a:r>
                <a14:m>
                  <m:oMath xmlns:m="http://schemas.openxmlformats.org/officeDocument/2006/math">
                    <m:r>
                      <a:rPr lang="es-MX" sz="14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&lt;</m:t>
                    </m:r>
                  </m:oMath>
                </a14:m>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y “</a:t>
                </a:r>
                <a:r>
                  <a:rPr lang="es-MX"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greater</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para &gt;.</a:t>
                </a:r>
              </a:p>
              <a:p>
                <a:pPr algn="just">
                  <a:lnSpc>
                    <a:spcPct val="107000"/>
                  </a:lnSpc>
                  <a:spcAft>
                    <a:spcPts val="800"/>
                  </a:spcAft>
                </a:pP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valor de referencia de la prueba</a:t>
                </a:r>
              </a:p>
              <a:p>
                <a:pPr algn="just">
                  <a:lnSpc>
                    <a:spcPct val="107000"/>
                  </a:lnSpc>
                  <a:spcAft>
                    <a:spcPts val="800"/>
                  </a:spcAft>
                </a:pPr>
                <a:r>
                  <a:rPr lang="es-MX" sz="14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conf.level</a:t>
                </a: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nivel de confianza para el intervalo</a:t>
                </a:r>
              </a:p>
              <a:p>
                <a:pPr algn="just">
                  <a:lnSpc>
                    <a:spcPct val="107000"/>
                  </a:lnSpc>
                  <a:spcAft>
                    <a:spcPts val="800"/>
                  </a:spcAft>
                </a:pPr>
                <a:r>
                  <a:rPr lang="es-MX" sz="14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correct</a:t>
                </a: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valor lógico para indicar su se usa la corrección de Yates</a:t>
                </a:r>
              </a:p>
            </p:txBody>
          </p:sp>
        </mc:Choice>
        <mc:Fallback xmlns="">
          <p:sp>
            <p:nvSpPr>
              <p:cNvPr id="9" name="CuadroTexto 8">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1" y="4084593"/>
                <a:ext cx="4986527" cy="2218877"/>
              </a:xfrm>
              <a:prstGeom prst="rect">
                <a:avLst/>
              </a:prstGeom>
              <a:blipFill>
                <a:blip r:embed="rId6"/>
                <a:stretch>
                  <a:fillRect l="-244" t="-273" r="-244" b="-1093"/>
                </a:stretch>
              </a:blipFill>
              <a:ln>
                <a:solidFill>
                  <a:schemeClr val="tx1">
                    <a:lumMod val="85000"/>
                  </a:schemeClr>
                </a:solidFill>
              </a:ln>
            </p:spPr>
            <p:txBody>
              <a:bodyPr/>
              <a:lstStyle/>
              <a:p>
                <a:r>
                  <a:rPr lang="es-MX">
                    <a:noFill/>
                  </a:rPr>
                  <a:t> </a:t>
                </a:r>
              </a:p>
            </p:txBody>
          </p:sp>
        </mc:Fallback>
      </mc:AlternateContent>
      <p:sp>
        <p:nvSpPr>
          <p:cNvPr id="10" name="CuadroTexto 9">
            <a:extLst>
              <a:ext uri="{FF2B5EF4-FFF2-40B4-BE49-F238E27FC236}">
                <a16:creationId xmlns:a16="http://schemas.microsoft.com/office/drawing/2014/main" id="{F494AF8A-D47C-6E15-F0A8-B546B382BBB9}"/>
              </a:ext>
            </a:extLst>
          </p:cNvPr>
          <p:cNvSpPr txBox="1"/>
          <p:nvPr/>
        </p:nvSpPr>
        <p:spPr>
          <a:xfrm>
            <a:off x="6093372" y="2186609"/>
            <a:ext cx="4986527" cy="981423"/>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Prueba binomial exacta. Para realizar esta prueba se usa la función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binom.test</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que tiene la siguiente estructura:</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494AF8A-D47C-6E15-F0A8-B546B382BBB9}"/>
                  </a:ext>
                </a:extLst>
              </p:cNvPr>
              <p:cNvSpPr txBox="1"/>
              <p:nvPr/>
            </p:nvSpPr>
            <p:spPr>
              <a:xfrm>
                <a:off x="6093370" y="4084593"/>
                <a:ext cx="4986527" cy="1885773"/>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x: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número de éxitos en la muestra</a:t>
                </a:r>
              </a:p>
              <a:p>
                <a:pPr algn="just">
                  <a:lnSpc>
                    <a:spcPct val="107000"/>
                  </a:lnSpc>
                  <a:spcAft>
                    <a:spcPts val="800"/>
                  </a:spcAft>
                </a:pP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número de observaciones en la muestra</a:t>
                </a:r>
              </a:p>
              <a:p>
                <a:pPr algn="just">
                  <a:lnSpc>
                    <a:spcPct val="107000"/>
                  </a:lnSpc>
                  <a:spcAft>
                    <a:spcPts val="800"/>
                  </a:spcAft>
                </a:pPr>
                <a:r>
                  <a:rPr lang="es-MX" sz="14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alternative</a:t>
                </a: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r>
                <a:r>
                  <a:rPr lang="es-MX"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two.sided</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cuando la hipótesis alterativa es </a:t>
                </a:r>
                <a14:m>
                  <m:oMath xmlns:m="http://schemas.openxmlformats.org/officeDocument/2006/math">
                    <m:r>
                      <a:rPr lang="es-MX" sz="14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less</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para </a:t>
                </a:r>
                <a14:m>
                  <m:oMath xmlns:m="http://schemas.openxmlformats.org/officeDocument/2006/math">
                    <m:r>
                      <a:rPr lang="es-MX" sz="140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&lt;</m:t>
                    </m:r>
                  </m:oMath>
                </a14:m>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y “</a:t>
                </a:r>
                <a:r>
                  <a:rPr lang="es-MX" sz="1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greater</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para &gt;.</a:t>
                </a:r>
              </a:p>
              <a:p>
                <a:pPr algn="just">
                  <a:lnSpc>
                    <a:spcPct val="107000"/>
                  </a:lnSpc>
                  <a:spcAft>
                    <a:spcPts val="800"/>
                  </a:spcAft>
                </a:pP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valor de referencia de la prueba</a:t>
                </a:r>
              </a:p>
              <a:p>
                <a:pPr algn="just">
                  <a:lnSpc>
                    <a:spcPct val="107000"/>
                  </a:lnSpc>
                  <a:spcAft>
                    <a:spcPts val="800"/>
                  </a:spcAft>
                </a:pPr>
                <a:r>
                  <a:rPr lang="es-MX" sz="1400" b="1"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conf.level</a:t>
                </a:r>
                <a:r>
                  <a:rPr lang="es-MX" sz="1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r>
                  <a:rPr lang="es-MX" sz="1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nivel de confianza para el intervalo</a:t>
                </a:r>
              </a:p>
            </p:txBody>
          </p:sp>
        </mc:Choice>
        <mc:Fallback xmlns="">
          <p:sp>
            <p:nvSpPr>
              <p:cNvPr id="11" name="CuadroTexto 10">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6093370" y="4084593"/>
                <a:ext cx="4986527" cy="1885773"/>
              </a:xfrm>
              <a:prstGeom prst="rect">
                <a:avLst/>
              </a:prstGeom>
              <a:blipFill>
                <a:blip r:embed="rId7"/>
                <a:stretch>
                  <a:fillRect l="-244" t="-322" r="-244" b="-1608"/>
                </a:stretch>
              </a:blipFill>
              <a:ln>
                <a:solidFill>
                  <a:schemeClr val="tx1">
                    <a:lumMod val="85000"/>
                  </a:schemeClr>
                </a:solidFill>
              </a:ln>
            </p:spPr>
            <p:txBody>
              <a:bodyPr/>
              <a:lstStyle/>
              <a:p>
                <a:r>
                  <a:rPr lang="es-MX">
                    <a:noFill/>
                  </a:rPr>
                  <a:t> </a:t>
                </a:r>
              </a:p>
            </p:txBody>
          </p:sp>
        </mc:Fallback>
      </mc:AlternateContent>
      <p:pic>
        <p:nvPicPr>
          <p:cNvPr id="8" name="Imagen 7"/>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Layer>
                </a14:imgProps>
              </a:ext>
            </a:extLst>
          </a:blip>
          <a:stretch>
            <a:fillRect/>
          </a:stretch>
        </p:blipFill>
        <p:spPr>
          <a:xfrm>
            <a:off x="6093369" y="3168032"/>
            <a:ext cx="4986527" cy="933648"/>
          </a:xfrm>
          <a:prstGeom prst="rect">
            <a:avLst/>
          </a:prstGeom>
        </p:spPr>
      </p:pic>
    </p:spTree>
    <p:extLst>
      <p:ext uri="{BB962C8B-B14F-4D97-AF65-F5344CB8AC3E}">
        <p14:creationId xmlns:p14="http://schemas.microsoft.com/office/powerpoint/2010/main" val="379962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Ejercicio</a:t>
            </a:r>
          </a:p>
        </p:txBody>
      </p:sp>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1277786"/>
          </a:xfrm>
          <a:prstGeom prst="rect">
            <a:avLst/>
          </a:prstGeom>
          <a:noFill/>
          <a:ln>
            <a:solidFill>
              <a:schemeClr val="tx1">
                <a:lumMod val="85000"/>
              </a:schemeClr>
            </a:solidFill>
          </a:ln>
        </p:spPr>
        <p:txBody>
          <a:bodyPr wrap="square" rtlCol="0">
            <a:spAutoFit/>
          </a:bodyPr>
          <a:lstStyle/>
          <a:p>
            <a:pPr marL="285750" indent="-285750" algn="just">
              <a:lnSpc>
                <a:spcPct val="107000"/>
              </a:lnSpc>
              <a:spcAft>
                <a:spcPts val="800"/>
              </a:spcAft>
              <a:buFont typeface="Arial" panose="020B0604020202020204" pitchFamily="34" charset="0"/>
              <a:buChar char="•"/>
            </a:pPr>
            <a:r>
              <a:rPr lang="es-MX"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En un estudio de 11,000 accidentes automovilísticos seleccionados aleatoriamente por una compañía de seguros, se descubrió que 5586 de ellos ocurrieron a 8 km de casa del conductor. Utilice un nivel de significancia de 0.01 para probar la aseveración de que más del 50% de los accidentes automovilísticos ocurren dentro de 8 km de distancia de la casa del conductor.</a:t>
            </a:r>
            <a:endParaRPr lang="es-MX"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3C834892-59DC-F3FD-2F4F-1513D6E60F14}"/>
                  </a:ext>
                </a:extLst>
              </p:cNvPr>
              <p:cNvSpPr txBox="1"/>
              <p:nvPr/>
            </p:nvSpPr>
            <p:spPr>
              <a:xfrm>
                <a:off x="3857348" y="3867413"/>
                <a:ext cx="3335023" cy="37555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MX" dirty="0">
                    <a:solidFill>
                      <a:schemeClr val="bg1"/>
                    </a:solidFill>
                    <a:latin typeface="Times New Roman" panose="02020603050405020304" pitchFamily="18" charset="0"/>
                    <a:cs typeface="Times New Roman" panose="02020603050405020304" pitchFamily="18" charset="0"/>
                  </a:rPr>
                  <a:t>Usando la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Prueba </a:t>
                </a:r>
                <a14:m>
                  <m:oMath xmlns:m="http://schemas.openxmlformats.org/officeDocument/2006/math">
                    <m:sSup>
                      <m:sSupPr>
                        <m:ctrlPr>
                          <a:rPr lang="es-MX"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s-MX" b="0" i="1">
                            <a:solidFill>
                              <a:schemeClr val="bg1"/>
                            </a:solidFill>
                            <a:latin typeface="Cambria Math" panose="02040503050406030204" pitchFamily="18" charset="0"/>
                            <a:ea typeface="Cambria Math" panose="02040503050406030204" pitchFamily="18" charset="0"/>
                            <a:cs typeface="Times New Roman" panose="02020603050405020304" pitchFamily="18" charset="0"/>
                          </a:rPr>
                          <m:t>𝜒</m:t>
                        </m:r>
                      </m:e>
                      <m:sup>
                        <m:r>
                          <a:rPr lang="es-MX" b="0" i="1" smtClea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de Pearson</a:t>
                </a:r>
                <a:endParaRPr lang="es-MX"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3" name="CuadroTexto 2">
                <a:extLst>
                  <a:ext uri="{FF2B5EF4-FFF2-40B4-BE49-F238E27FC236}">
                    <a16:creationId xmlns:a16="http://schemas.microsoft.com/office/drawing/2014/main" id="{3C834892-59DC-F3FD-2F4F-1513D6E60F14}"/>
                  </a:ext>
                </a:extLst>
              </p:cNvPr>
              <p:cNvSpPr txBox="1">
                <a:spLocks noRot="1" noChangeAspect="1" noMove="1" noResize="1" noEditPoints="1" noAdjustHandles="1" noChangeArrowheads="1" noChangeShapeType="1" noTextEdit="1"/>
              </p:cNvSpPr>
              <p:nvPr/>
            </p:nvSpPr>
            <p:spPr>
              <a:xfrm>
                <a:off x="3857348" y="3867413"/>
                <a:ext cx="3335023" cy="375552"/>
              </a:xfrm>
              <a:prstGeom prst="rect">
                <a:avLst/>
              </a:prstGeom>
              <a:blipFill>
                <a:blip r:embed="rId3"/>
                <a:stretch>
                  <a:fillRect l="-1457" t="-6250" b="-20313"/>
                </a:stretch>
              </a:blipFill>
            </p:spPr>
            <p:txBody>
              <a:bodyPr/>
              <a:lstStyle/>
              <a:p>
                <a:r>
                  <a:rPr lang="es-MX">
                    <a:noFill/>
                  </a:rPr>
                  <a:t> </a:t>
                </a:r>
              </a:p>
            </p:txBody>
          </p:sp>
        </mc:Fallback>
      </mc:AlternateContent>
      <p:sp>
        <p:nvSpPr>
          <p:cNvPr id="4" name="CuadroTexto 3">
            <a:extLst>
              <a:ext uri="{FF2B5EF4-FFF2-40B4-BE49-F238E27FC236}">
                <a16:creationId xmlns:a16="http://schemas.microsoft.com/office/drawing/2014/main" id="{A6E238CB-55EA-143D-1E04-67D8650A8937}"/>
              </a:ext>
            </a:extLst>
          </p:cNvPr>
          <p:cNvSpPr txBox="1"/>
          <p:nvPr/>
        </p:nvSpPr>
        <p:spPr>
          <a:xfrm>
            <a:off x="3882158" y="4881481"/>
            <a:ext cx="3335024"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MX" dirty="0">
                <a:solidFill>
                  <a:schemeClr val="bg1"/>
                </a:solidFill>
                <a:latin typeface="Times New Roman" panose="02020603050405020304" pitchFamily="18" charset="0"/>
                <a:cs typeface="Times New Roman" panose="02020603050405020304" pitchFamily="18" charset="0"/>
              </a:rPr>
              <a:t>Usando la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Prueba binomial exacta</a:t>
            </a:r>
            <a:endParaRPr lang="es-MX" dirty="0">
              <a:solidFill>
                <a:schemeClr val="bg1"/>
              </a:solidFill>
              <a:latin typeface="Times New Roman" panose="02020603050405020304" pitchFamily="18" charset="0"/>
              <a:cs typeface="Times New Roman" panose="02020603050405020304" pitchFamily="18" charset="0"/>
            </a:endParaRPr>
          </a:p>
        </p:txBody>
      </p:sp>
      <p:sp>
        <p:nvSpPr>
          <p:cNvPr id="5" name="CuadroTexto 4">
            <a:extLst>
              <a:ext uri="{FF2B5EF4-FFF2-40B4-BE49-F238E27FC236}">
                <a16:creationId xmlns:a16="http://schemas.microsoft.com/office/drawing/2014/main" id="{F94ACB0E-8E71-4509-68FB-BE72E68498E2}"/>
              </a:ext>
            </a:extLst>
          </p:cNvPr>
          <p:cNvSpPr txBox="1"/>
          <p:nvPr/>
        </p:nvSpPr>
        <p:spPr>
          <a:xfrm>
            <a:off x="3882158" y="5889329"/>
            <a:ext cx="3335024"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MX" dirty="0">
                <a:solidFill>
                  <a:schemeClr val="bg1"/>
                </a:solidFill>
                <a:latin typeface="Times New Roman" panose="02020603050405020304" pitchFamily="18" charset="0"/>
                <a:cs typeface="Times New Roman" panose="02020603050405020304" pitchFamily="18" charset="0"/>
              </a:rPr>
              <a:t>Usando la </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Prueba de Wald</a:t>
            </a:r>
            <a:endParaRPr lang="es-MX" dirty="0">
              <a:solidFill>
                <a:schemeClr val="bg1"/>
              </a:solidFill>
              <a:latin typeface="Times New Roman" panose="02020603050405020304" pitchFamily="18" charset="0"/>
              <a:cs typeface="Times New Roman" panose="02020603050405020304" pitchFamily="18" charset="0"/>
            </a:endParaRPr>
          </a:p>
        </p:txBody>
      </p:sp>
      <p:pic>
        <p:nvPicPr>
          <p:cNvPr id="6" name="Picture 4" descr="Personas con un icono de computadora: vector de stock (libre de regalías)  2008763171 | Shutterstock">
            <a:extLst>
              <a:ext uri="{FF2B5EF4-FFF2-40B4-BE49-F238E27FC236}">
                <a16:creationId xmlns:a16="http://schemas.microsoft.com/office/drawing/2014/main" id="{8775146E-F7A4-2E1A-2BE3-60CD8DC690F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17260"/>
          <a:stretch/>
        </p:blipFill>
        <p:spPr bwMode="auto">
          <a:xfrm>
            <a:off x="7217182" y="3615469"/>
            <a:ext cx="1033608" cy="92099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ersonas con un icono de computadora: vector de stock (libre de regalías)  2008763171 | Shutterstock">
            <a:extLst>
              <a:ext uri="{FF2B5EF4-FFF2-40B4-BE49-F238E27FC236}">
                <a16:creationId xmlns:a16="http://schemas.microsoft.com/office/drawing/2014/main" id="{8946EDD3-6433-6186-9B5B-6DBF5673C4F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17260"/>
          <a:stretch/>
        </p:blipFill>
        <p:spPr bwMode="auto">
          <a:xfrm>
            <a:off x="7217182" y="4605650"/>
            <a:ext cx="1033608" cy="92099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icono de medalla de oro de recompensa, estilo de dibujos animados 14364083  Vector en Vecteezy">
            <a:extLst>
              <a:ext uri="{FF2B5EF4-FFF2-40B4-BE49-F238E27FC236}">
                <a16:creationId xmlns:a16="http://schemas.microsoft.com/office/drawing/2014/main" id="{DCD675FA-3927-5A70-9A11-DB7DFCA0E95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95656" y="5635665"/>
            <a:ext cx="876659" cy="87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850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2124</TotalTime>
  <Words>974</Words>
  <Application>Microsoft Office PowerPoint</Application>
  <PresentationFormat>Panorámica</PresentationFormat>
  <Paragraphs>70</Paragraphs>
  <Slides>8</Slides>
  <Notes>8</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8</vt:i4>
      </vt:variant>
    </vt:vector>
  </HeadingPairs>
  <TitlesOfParts>
    <vt:vector size="16" baseType="lpstr">
      <vt:lpstr>Arial</vt:lpstr>
      <vt:lpstr>Calibri</vt:lpstr>
      <vt:lpstr>Cambria Math</vt:lpstr>
      <vt:lpstr>Franklin Gothic Book</vt:lpstr>
      <vt:lpstr>Franklin Gothic Demi</vt:lpstr>
      <vt:lpstr>Times New Roman</vt:lpstr>
      <vt:lpstr>Wingdings</vt:lpstr>
      <vt:lpstr>Tema1</vt:lpstr>
      <vt:lpstr>Sesión 22: Prueba de Hipótesis de Proporciones</vt:lpstr>
      <vt:lpstr>Pruebas de Hipótesis para Proporciones</vt:lpstr>
      <vt:lpstr>¿Por qué la regla de los 5?</vt:lpstr>
      <vt:lpstr>Pruebas de Hipótesis para Proporciones</vt:lpstr>
      <vt:lpstr>Ejemplo</vt:lpstr>
      <vt:lpstr>Solución</vt:lpstr>
      <vt:lpstr>Pruebas de Hipótesis para Proporciones</vt:lpstr>
      <vt:lpstr>Ejercicio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 CORTES</cp:lastModifiedBy>
  <cp:revision>69</cp:revision>
  <dcterms:created xsi:type="dcterms:W3CDTF">2023-09-16T20:42:33Z</dcterms:created>
  <dcterms:modified xsi:type="dcterms:W3CDTF">2025-03-20T17:59:02Z</dcterms:modified>
</cp:coreProperties>
</file>