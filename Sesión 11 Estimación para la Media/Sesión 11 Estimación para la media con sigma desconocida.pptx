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68" r:id="rId2"/>
    <p:sldId id="269" r:id="rId3"/>
    <p:sldId id="274" r:id="rId4"/>
    <p:sldId id="270" r:id="rId5"/>
    <p:sldId id="259" r:id="rId6"/>
    <p:sldId id="271" r:id="rId7"/>
    <p:sldId id="272" r:id="rId8"/>
    <p:sldId id="275" r:id="rId9"/>
    <p:sldId id="276" r:id="rId1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29/01/2025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1057642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3605131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1970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3191366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7</a:t>
            </a:fld>
            <a:endParaRPr lang="es-ES"/>
          </a:p>
        </p:txBody>
      </p:sp>
    </p:spTree>
    <p:extLst>
      <p:ext uri="{BB962C8B-B14F-4D97-AF65-F5344CB8AC3E}">
        <p14:creationId xmlns:p14="http://schemas.microsoft.com/office/powerpoint/2010/main" val="664214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8</a:t>
            </a:fld>
            <a:endParaRPr lang="es-ES"/>
          </a:p>
        </p:txBody>
      </p:sp>
    </p:spTree>
    <p:extLst>
      <p:ext uri="{BB962C8B-B14F-4D97-AF65-F5344CB8AC3E}">
        <p14:creationId xmlns:p14="http://schemas.microsoft.com/office/powerpoint/2010/main" val="3671898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9</a:t>
            </a:fld>
            <a:endParaRPr lang="es-ES"/>
          </a:p>
        </p:txBody>
      </p:sp>
    </p:spTree>
    <p:extLst>
      <p:ext uri="{BB962C8B-B14F-4D97-AF65-F5344CB8AC3E}">
        <p14:creationId xmlns:p14="http://schemas.microsoft.com/office/powerpoint/2010/main" val="928977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 de enero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20.png"/><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740.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91.png"/></Relationships>
</file>

<file path=ppt/slides/_rels/slide4.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0.png"/><Relationship Id="rId4" Type="http://schemas.openxmlformats.org/officeDocument/2006/relationships/image" Target="../media/image5.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4147930" y="2116182"/>
                <a:ext cx="7710695" cy="1514019"/>
              </a:xfrm>
            </p:spPr>
            <p:txBody>
              <a:bodyPr rtlCol="0"/>
              <a:lstStyle/>
              <a:p>
                <a:pPr algn="ctr" rtl="0"/>
                <a:r>
                  <a:rPr lang="es-ES" sz="3600" dirty="0">
                    <a:latin typeface="Times New Roman" panose="02020603050405020304" pitchFamily="18" charset="0"/>
                    <a:cs typeface="Times New Roman" panose="02020603050405020304" pitchFamily="18" charset="0"/>
                  </a:rPr>
                  <a:t>Sesión 11: Estimaciones para la media poblacional </a:t>
                </a:r>
                <a14:m>
                  <m:oMath xmlns:m="http://schemas.openxmlformats.org/officeDocument/2006/math">
                    <m:r>
                      <a:rPr lang="es-ES" sz="3600" i="1" smtClean="0">
                        <a:latin typeface="Cambria Math" panose="02040503050406030204" pitchFamily="18" charset="0"/>
                        <a:ea typeface="Cambria Math" panose="02040503050406030204" pitchFamily="18" charset="0"/>
                        <a:cs typeface="Times New Roman" panose="02020603050405020304" pitchFamily="18" charset="0"/>
                      </a:rPr>
                      <m:t>𝝁</m:t>
                    </m:r>
                  </m:oMath>
                </a14:m>
                <a:r>
                  <a:rPr lang="es-ES" sz="3600" dirty="0">
                    <a:latin typeface="Times New Roman" panose="02020603050405020304" pitchFamily="18" charset="0"/>
                    <a:cs typeface="Times New Roman" panose="02020603050405020304" pitchFamily="18" charset="0"/>
                  </a:rPr>
                  <a:t> con </a:t>
                </a:r>
                <a14:m>
                  <m:oMath xmlns:m="http://schemas.openxmlformats.org/officeDocument/2006/math">
                    <m:r>
                      <a:rPr lang="es-ES" sz="3600" i="1" smtClean="0">
                        <a:latin typeface="Cambria Math" panose="02040503050406030204" pitchFamily="18" charset="0"/>
                        <a:ea typeface="Cambria Math" panose="02040503050406030204" pitchFamily="18" charset="0"/>
                        <a:cs typeface="Times New Roman" panose="02020603050405020304" pitchFamily="18" charset="0"/>
                      </a:rPr>
                      <m:t>𝝈</m:t>
                    </m:r>
                  </m:oMath>
                </a14:m>
                <a:r>
                  <a:rPr lang="es-ES" sz="3600" dirty="0">
                    <a:latin typeface="Times New Roman" panose="02020603050405020304" pitchFamily="18" charset="0"/>
                    <a:cs typeface="Times New Roman" panose="02020603050405020304" pitchFamily="18" charset="0"/>
                  </a:rPr>
                  <a:t> desconocida</a:t>
                </a:r>
              </a:p>
            </p:txBody>
          </p:sp>
        </mc:Choice>
        <mc:Fallback xmlns="">
          <p:sp>
            <p:nvSpPr>
              <p:cNvPr id="2" name="Título 1">
                <a:extLst>
                  <a:ext uri="{FF2B5EF4-FFF2-40B4-BE49-F238E27FC236}">
                    <a16:creationId xmlns:a16="http://schemas.microsoft.com/office/drawing/2014/main" id="{293E168C-8042-5B4E-A5A4-A5BF693AE2D6}"/>
                  </a:ext>
                </a:extLst>
              </p:cNvPr>
              <p:cNvSpPr>
                <a:spLocks noGrp="1" noRot="1" noChangeAspect="1" noMove="1" noResize="1" noEditPoints="1" noAdjustHandles="1" noChangeArrowheads="1" noChangeShapeType="1" noTextEdit="1"/>
              </p:cNvSpPr>
              <p:nvPr>
                <p:ph type="ctrTitle"/>
              </p:nvPr>
            </p:nvSpPr>
            <p:spPr>
              <a:xfrm>
                <a:off x="4147930" y="2116182"/>
                <a:ext cx="7710695" cy="1514019"/>
              </a:xfrm>
              <a:blipFill>
                <a:blip r:embed="rId3"/>
                <a:stretch>
                  <a:fillRect t="-10843" b="-17671"/>
                </a:stretch>
              </a:blipFill>
            </p:spPr>
            <p:txBody>
              <a:bodyPr/>
              <a:lstStyle/>
              <a:p>
                <a:r>
                  <a:rPr lang="es-MX">
                    <a:noFill/>
                  </a:rPr>
                  <a:t> </a:t>
                </a:r>
              </a:p>
            </p:txBody>
          </p:sp>
        </mc:Fallback>
      </mc:AlternateContent>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Estimación de una media de población: </a:t>
                </a:r>
                <a14:m>
                  <m:oMath xmlns:m="http://schemas.openxmlformats.org/officeDocument/2006/math">
                    <m:r>
                      <a:rPr lang="es-ES" sz="2600" i="1" smtClean="0">
                        <a:latin typeface="Cambria Math" panose="02040503050406030204" pitchFamily="18" charset="0"/>
                        <a:ea typeface="Cambria Math" panose="02040503050406030204" pitchFamily="18" charset="0"/>
                        <a:cs typeface="Times New Roman" panose="02020603050405020304" pitchFamily="18" charset="0"/>
                      </a:rPr>
                      <m:t>𝝈</m:t>
                    </m:r>
                  </m:oMath>
                </a14:m>
                <a:r>
                  <a:rPr lang="es-ES" sz="2600" dirty="0">
                    <a:latin typeface="Times New Roman" panose="02020603050405020304" pitchFamily="18" charset="0"/>
                    <a:cs typeface="Times New Roman" panose="02020603050405020304" pitchFamily="18" charset="0"/>
                  </a:rPr>
                  <a:t> desconocida</a:t>
                </a: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430" r="-1841" b="-340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1200329"/>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Requisitos:</a:t>
                </a:r>
              </a:p>
              <a:p>
                <a:pPr marL="914400" lvl="1" indent="-457200" algn="just">
                  <a:buFont typeface="+mj-lt"/>
                  <a:buAutoNum type="arabicPeriod"/>
                </a:pPr>
                <a:r>
                  <a:rPr lang="es-MX" dirty="0">
                    <a:solidFill>
                      <a:schemeClr val="bg1"/>
                    </a:solidFill>
                    <a:latin typeface="Times New Roman" panose="02020603050405020304" pitchFamily="18" charset="0"/>
                    <a:cs typeface="Times New Roman" panose="02020603050405020304" pitchFamily="18" charset="0"/>
                  </a:rPr>
                  <a:t>La muestra es aleatoria simple.</a:t>
                </a:r>
              </a:p>
              <a:p>
                <a:pPr marL="914400" lvl="1" indent="-457200" algn="just">
                  <a:buFont typeface="+mj-lt"/>
                  <a:buAutoNum type="arabicPeriod"/>
                </a:pPr>
                <a:r>
                  <a:rPr lang="es-MX" dirty="0">
                    <a:solidFill>
                      <a:schemeClr val="bg1"/>
                    </a:solidFill>
                    <a:latin typeface="Times New Roman" panose="02020603050405020304" pitchFamily="18" charset="0"/>
                    <a:cs typeface="Times New Roman" panose="02020603050405020304" pitchFamily="18" charset="0"/>
                  </a:rPr>
                  <a:t>Cualquiera o ambas de estas condiciones se satisfacen: la población está normalmente distribuida o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𝑛</m:t>
                    </m:r>
                    <m:r>
                      <a:rPr lang="es-MX" i="1" dirty="0" smtClean="0">
                        <a:solidFill>
                          <a:schemeClr val="bg1"/>
                        </a:solidFill>
                        <a:latin typeface="Cambria Math" panose="02040503050406030204" pitchFamily="18" charset="0"/>
                        <a:cs typeface="Times New Roman" panose="02020603050405020304" pitchFamily="18" charset="0"/>
                      </a:rPr>
                      <m:t>&gt;30</m:t>
                    </m:r>
                  </m:oMath>
                </a14:m>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1200329"/>
              </a:xfrm>
              <a:prstGeom prst="rect">
                <a:avLst/>
              </a:prstGeom>
              <a:blipFill>
                <a:blip r:embed="rId4"/>
                <a:stretch>
                  <a:fillRect l="-326" t="-2513" r="-522" b="-653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4B77887F-BB86-8BB4-8E75-761FE414B5F2}"/>
                  </a:ext>
                </a:extLst>
              </p:cNvPr>
              <p:cNvSpPr txBox="1"/>
              <p:nvPr/>
            </p:nvSpPr>
            <p:spPr>
              <a:xfrm>
                <a:off x="964023" y="3577080"/>
                <a:ext cx="9332916" cy="369332"/>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media muestral </a:t>
                </a:r>
                <a14:m>
                  <m:oMath xmlns:m="http://schemas.openxmlformats.org/officeDocument/2006/math">
                    <m:acc>
                      <m:accPr>
                        <m:chr m:val="̅"/>
                        <m:ctrlPr>
                          <a:rPr lang="es-MX" i="1" smtClean="0">
                            <a:solidFill>
                              <a:schemeClr val="bg1"/>
                            </a:solidFill>
                            <a:latin typeface="Cambria Math" panose="02040503050406030204" pitchFamily="18" charset="0"/>
                            <a:cs typeface="Times New Roman" panose="02020603050405020304" pitchFamily="18" charset="0"/>
                          </a:rPr>
                        </m:ctrlPr>
                      </m:accPr>
                      <m:e>
                        <m:r>
                          <a:rPr lang="es-MX" b="0" i="1" smtClean="0">
                            <a:solidFill>
                              <a:schemeClr val="bg1"/>
                            </a:solidFill>
                            <a:latin typeface="Cambria Math" panose="02040503050406030204" pitchFamily="18" charset="0"/>
                            <a:cs typeface="Times New Roman" panose="02020603050405020304" pitchFamily="18" charset="0"/>
                          </a:rPr>
                          <m:t>𝑥</m:t>
                        </m:r>
                      </m:e>
                    </m:acc>
                  </m:oMath>
                </a14:m>
                <a:r>
                  <a:rPr lang="es-MX" dirty="0">
                    <a:solidFill>
                      <a:schemeClr val="bg1"/>
                    </a:solidFill>
                    <a:latin typeface="Times New Roman" panose="02020603050405020304" pitchFamily="18" charset="0"/>
                    <a:cs typeface="Times New Roman" panose="02020603050405020304" pitchFamily="18" charset="0"/>
                  </a:rPr>
                  <a:t> es el mejor estimador puntual de la media de la población </a:t>
                </a:r>
                <a14:m>
                  <m:oMath xmlns:m="http://schemas.openxmlformats.org/officeDocument/2006/math">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oMath>
                </a14:m>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4" name="CuadroTexto 3">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964023" y="3577080"/>
                <a:ext cx="9332916" cy="369332"/>
              </a:xfrm>
              <a:prstGeom prst="rect">
                <a:avLst/>
              </a:prstGeom>
              <a:blipFill>
                <a:blip r:embed="rId5"/>
                <a:stretch>
                  <a:fillRect l="-326" t="-8065" b="-24194"/>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62D9A5C2-E546-4A01-2335-8CD4A5C14560}"/>
                  </a:ext>
                </a:extLst>
              </p:cNvPr>
              <p:cNvSpPr txBox="1"/>
              <p:nvPr/>
            </p:nvSpPr>
            <p:spPr>
              <a:xfrm>
                <a:off x="964022" y="4136554"/>
                <a:ext cx="9332916"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Si </a:t>
                </a:r>
                <a14:m>
                  <m:oMath xmlns:m="http://schemas.openxmlformats.org/officeDocument/2006/math">
                    <m:r>
                      <a:rPr lang="es-ES" sz="18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𝝈</m:t>
                    </m:r>
                  </m:oMath>
                </a14:m>
                <a:r>
                  <a:rPr lang="es-MX" dirty="0">
                    <a:solidFill>
                      <a:schemeClr val="bg1"/>
                    </a:solidFill>
                    <a:latin typeface="Times New Roman" panose="02020603050405020304" pitchFamily="18" charset="0"/>
                    <a:cs typeface="Times New Roman" panose="02020603050405020304" pitchFamily="18" charset="0"/>
                  </a:rPr>
                  <a:t> no se conoce, pero los requisitos anteriores se satisfacen, utilizamos la </a:t>
                </a:r>
                <a:r>
                  <a:rPr lang="es-MX" i="1" dirty="0">
                    <a:solidFill>
                      <a:schemeClr val="bg1"/>
                    </a:solidFill>
                    <a:latin typeface="Times New Roman" panose="02020603050405020304" pitchFamily="18" charset="0"/>
                    <a:cs typeface="Times New Roman" panose="02020603050405020304" pitchFamily="18" charset="0"/>
                  </a:rPr>
                  <a:t>distribución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𝑡</m:t>
                    </m:r>
                  </m:oMath>
                </a14:m>
                <a:r>
                  <a:rPr lang="es-MX" i="1" dirty="0">
                    <a:solidFill>
                      <a:schemeClr val="bg1"/>
                    </a:solidFill>
                    <a:latin typeface="Times New Roman" panose="02020603050405020304" pitchFamily="18" charset="0"/>
                    <a:cs typeface="Times New Roman" panose="02020603050405020304" pitchFamily="18" charset="0"/>
                  </a:rPr>
                  <a:t> de </a:t>
                </a:r>
                <a:r>
                  <a:rPr lang="es-MX" i="1" dirty="0" err="1">
                    <a:solidFill>
                      <a:schemeClr val="bg1"/>
                    </a:solidFill>
                    <a:latin typeface="Times New Roman" panose="02020603050405020304" pitchFamily="18" charset="0"/>
                    <a:cs typeface="Times New Roman" panose="02020603050405020304" pitchFamily="18" charset="0"/>
                  </a:rPr>
                  <a:t>Student</a:t>
                </a:r>
                <a:r>
                  <a:rPr lang="es-MX" i="1" dirty="0">
                    <a:solidFill>
                      <a:schemeClr val="bg1"/>
                    </a:solidFill>
                    <a:latin typeface="Times New Roman" panose="02020603050405020304" pitchFamily="18" charset="0"/>
                    <a:cs typeface="Times New Roman" panose="02020603050405020304" pitchFamily="18" charset="0"/>
                  </a:rPr>
                  <a:t>.  </a:t>
                </a:r>
                <a:r>
                  <a:rPr lang="es-MX" b="1" i="1" dirty="0">
                    <a:solidFill>
                      <a:schemeClr val="bg1"/>
                    </a:solidFill>
                    <a:latin typeface="Times New Roman" panose="02020603050405020304" pitchFamily="18" charset="0"/>
                    <a:cs typeface="Times New Roman" panose="02020603050405020304" pitchFamily="18" charset="0"/>
                  </a:rPr>
                  <a:t>¡Demostrarlo!</a:t>
                </a:r>
              </a:p>
            </p:txBody>
          </p:sp>
        </mc:Choice>
        <mc:Fallback xmlns="">
          <p:sp>
            <p:nvSpPr>
              <p:cNvPr id="3" name="CuadroTexto 2">
                <a:extLst>
                  <a:ext uri="{FF2B5EF4-FFF2-40B4-BE49-F238E27FC236}">
                    <a16:creationId xmlns:a16="http://schemas.microsoft.com/office/drawing/2014/main" id="{62D9A5C2-E546-4A01-2335-8CD4A5C14560}"/>
                  </a:ext>
                </a:extLst>
              </p:cNvPr>
              <p:cNvSpPr txBox="1">
                <a:spLocks noRot="1" noChangeAspect="1" noMove="1" noResize="1" noEditPoints="1" noAdjustHandles="1" noChangeArrowheads="1" noChangeShapeType="1" noTextEdit="1"/>
              </p:cNvSpPr>
              <p:nvPr/>
            </p:nvSpPr>
            <p:spPr>
              <a:xfrm>
                <a:off x="964022" y="4136554"/>
                <a:ext cx="9332916" cy="646331"/>
              </a:xfrm>
              <a:prstGeom prst="rect">
                <a:avLst/>
              </a:prstGeom>
              <a:blipFill>
                <a:blip r:embed="rId6"/>
                <a:stretch>
                  <a:fillRect l="-326" t="-4630" r="-1174" b="-1296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82E76CE6-1BD0-79AE-A817-2A19743D9F79}"/>
                  </a:ext>
                </a:extLst>
              </p:cNvPr>
              <p:cNvSpPr txBox="1"/>
              <p:nvPr/>
            </p:nvSpPr>
            <p:spPr>
              <a:xfrm>
                <a:off x="964022" y="4973027"/>
                <a:ext cx="9332916" cy="923330"/>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distribución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𝑡</m:t>
                    </m:r>
                  </m:oMath>
                </a14:m>
                <a:r>
                  <a:rPr lang="es-MX" dirty="0">
                    <a:solidFill>
                      <a:schemeClr val="bg1"/>
                    </a:solidFill>
                    <a:latin typeface="Times New Roman" panose="02020603050405020304" pitchFamily="18" charset="0"/>
                    <a:cs typeface="Times New Roman" panose="02020603050405020304" pitchFamily="18" charset="0"/>
                  </a:rPr>
                  <a:t> de </a:t>
                </a:r>
                <a:r>
                  <a:rPr lang="es-MX" dirty="0" err="1">
                    <a:solidFill>
                      <a:schemeClr val="bg1"/>
                    </a:solidFill>
                    <a:latin typeface="Times New Roman" panose="02020603050405020304" pitchFamily="18" charset="0"/>
                    <a:cs typeface="Times New Roman" panose="02020603050405020304" pitchFamily="18" charset="0"/>
                  </a:rPr>
                  <a:t>Student</a:t>
                </a:r>
                <a:r>
                  <a:rPr lang="es-MX" dirty="0">
                    <a:solidFill>
                      <a:schemeClr val="bg1"/>
                    </a:solidFill>
                    <a:latin typeface="Times New Roman" panose="02020603050405020304" pitchFamily="18" charset="0"/>
                    <a:cs typeface="Times New Roman" panose="02020603050405020304" pitchFamily="18" charset="0"/>
                  </a:rPr>
                  <a:t> es más ancha que la distribución normal, reflejando la mayor incertidumbre debida a la estimación de 𝜎 con 𝑠. A medida que el tamaño de la muestra 𝑛 aumenta, la distribución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𝑡</m:t>
                    </m:r>
                  </m:oMath>
                </a14:m>
                <a:r>
                  <a:rPr lang="es-MX" dirty="0">
                    <a:solidFill>
                      <a:schemeClr val="bg1"/>
                    </a:solidFill>
                    <a:latin typeface="Times New Roman" panose="02020603050405020304" pitchFamily="18" charset="0"/>
                    <a:cs typeface="Times New Roman" panose="02020603050405020304" pitchFamily="18" charset="0"/>
                  </a:rPr>
                  <a:t> se aproxima a la distribución normal.</a:t>
                </a:r>
                <a:endParaRPr lang="es-MX" i="1"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5" name="CuadroTexto 4">
                <a:extLst>
                  <a:ext uri="{FF2B5EF4-FFF2-40B4-BE49-F238E27FC236}">
                    <a16:creationId xmlns:a16="http://schemas.microsoft.com/office/drawing/2014/main" id="{82E76CE6-1BD0-79AE-A817-2A19743D9F79}"/>
                  </a:ext>
                </a:extLst>
              </p:cNvPr>
              <p:cNvSpPr txBox="1">
                <a:spLocks noRot="1" noChangeAspect="1" noMove="1" noResize="1" noEditPoints="1" noAdjustHandles="1" noChangeArrowheads="1" noChangeShapeType="1" noTextEdit="1"/>
              </p:cNvSpPr>
              <p:nvPr/>
            </p:nvSpPr>
            <p:spPr>
              <a:xfrm>
                <a:off x="964022" y="4973027"/>
                <a:ext cx="9332916" cy="923330"/>
              </a:xfrm>
              <a:prstGeom prst="rect">
                <a:avLst/>
              </a:prstGeom>
              <a:blipFill>
                <a:blip r:embed="rId7"/>
                <a:stretch>
                  <a:fillRect l="-326" t="-3268" r="-522" b="-9150"/>
                </a:stretch>
              </a:blipFill>
              <a:ln>
                <a:solidFill>
                  <a:schemeClr val="tx1">
                    <a:lumMod val="85000"/>
                  </a:schemeClr>
                </a:solidFill>
              </a:ln>
            </p:spPr>
            <p:txBody>
              <a:bodyPr/>
              <a:lstStyle/>
              <a:p>
                <a:r>
                  <a:rPr lang="es-MX">
                    <a:noFill/>
                  </a:rPr>
                  <a:t> </a:t>
                </a:r>
              </a:p>
            </p:txBody>
          </p:sp>
        </mc:Fallback>
      </mc:AlternateContent>
      <p:grpSp>
        <p:nvGrpSpPr>
          <p:cNvPr id="6" name="Grupo 5">
            <a:extLst>
              <a:ext uri="{FF2B5EF4-FFF2-40B4-BE49-F238E27FC236}">
                <a16:creationId xmlns:a16="http://schemas.microsoft.com/office/drawing/2014/main" id="{9431AC0B-6879-94EB-2571-33582A1C57CC}"/>
              </a:ext>
            </a:extLst>
          </p:cNvPr>
          <p:cNvGrpSpPr/>
          <p:nvPr/>
        </p:nvGrpSpPr>
        <p:grpSpPr>
          <a:xfrm>
            <a:off x="2540338" y="129874"/>
            <a:ext cx="1101584" cy="901425"/>
            <a:chOff x="4557" y="292098"/>
            <a:chExt cx="1412697" cy="1802850"/>
          </a:xfrm>
        </p:grpSpPr>
        <p:sp>
          <p:nvSpPr>
            <p:cNvPr id="7" name="Rectángulo: esquinas redondeadas 6">
              <a:extLst>
                <a:ext uri="{FF2B5EF4-FFF2-40B4-BE49-F238E27FC236}">
                  <a16:creationId xmlns:a16="http://schemas.microsoft.com/office/drawing/2014/main" id="{A3D24D83-760C-9EB6-C109-4C1638738407}"/>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8" name="Rectángulo: esquinas redondeadas 4">
              <a:extLst>
                <a:ext uri="{FF2B5EF4-FFF2-40B4-BE49-F238E27FC236}">
                  <a16:creationId xmlns:a16="http://schemas.microsoft.com/office/drawing/2014/main" id="{AAAEDCF1-EB29-4C80-2954-E4185664F3CB}"/>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9" name="Grupo 8">
            <a:extLst>
              <a:ext uri="{FF2B5EF4-FFF2-40B4-BE49-F238E27FC236}">
                <a16:creationId xmlns:a16="http://schemas.microsoft.com/office/drawing/2014/main" id="{6407B510-9B64-B1CF-108F-316C598F5D65}"/>
              </a:ext>
            </a:extLst>
          </p:cNvPr>
          <p:cNvGrpSpPr/>
          <p:nvPr/>
        </p:nvGrpSpPr>
        <p:grpSpPr>
          <a:xfrm>
            <a:off x="4518114" y="129874"/>
            <a:ext cx="1101584" cy="901425"/>
            <a:chOff x="1982333" y="292098"/>
            <a:chExt cx="1412697" cy="1802850"/>
          </a:xfrm>
        </p:grpSpPr>
        <p:sp>
          <p:nvSpPr>
            <p:cNvPr id="10" name="Rectángulo: esquinas redondeadas 9">
              <a:extLst>
                <a:ext uri="{FF2B5EF4-FFF2-40B4-BE49-F238E27FC236}">
                  <a16:creationId xmlns:a16="http://schemas.microsoft.com/office/drawing/2014/main" id="{7BBA222A-7D69-10E3-1D14-D8D824CB7555}"/>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1" name="Rectángulo: esquinas redondeadas 6">
              <a:extLst>
                <a:ext uri="{FF2B5EF4-FFF2-40B4-BE49-F238E27FC236}">
                  <a16:creationId xmlns:a16="http://schemas.microsoft.com/office/drawing/2014/main" id="{FE6FF7BD-84EF-04D3-C8EA-33BCC1F6E4C4}"/>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2" name="Grupo 11">
            <a:extLst>
              <a:ext uri="{FF2B5EF4-FFF2-40B4-BE49-F238E27FC236}">
                <a16:creationId xmlns:a16="http://schemas.microsoft.com/office/drawing/2014/main" id="{E91627E9-15F3-3F2D-8665-87C352DB7E46}"/>
              </a:ext>
            </a:extLst>
          </p:cNvPr>
          <p:cNvGrpSpPr/>
          <p:nvPr/>
        </p:nvGrpSpPr>
        <p:grpSpPr>
          <a:xfrm>
            <a:off x="6495890" y="129874"/>
            <a:ext cx="1101584" cy="901425"/>
            <a:chOff x="3960109" y="292098"/>
            <a:chExt cx="1412697" cy="1802850"/>
          </a:xfrm>
        </p:grpSpPr>
        <p:sp>
          <p:nvSpPr>
            <p:cNvPr id="13" name="Rectángulo: esquinas redondeadas 12">
              <a:extLst>
                <a:ext uri="{FF2B5EF4-FFF2-40B4-BE49-F238E27FC236}">
                  <a16:creationId xmlns:a16="http://schemas.microsoft.com/office/drawing/2014/main" id="{2C3165E4-0063-E138-DC0A-D7EECAD3F168}"/>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4" name="Rectángulo: esquinas redondeadas 8">
              <a:extLst>
                <a:ext uri="{FF2B5EF4-FFF2-40B4-BE49-F238E27FC236}">
                  <a16:creationId xmlns:a16="http://schemas.microsoft.com/office/drawing/2014/main" id="{F1CBA8B0-1ACD-CB5A-25B6-65B4F3EDC0EB}"/>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5" name="Grupo 14">
            <a:extLst>
              <a:ext uri="{FF2B5EF4-FFF2-40B4-BE49-F238E27FC236}">
                <a16:creationId xmlns:a16="http://schemas.microsoft.com/office/drawing/2014/main" id="{5DD23D0A-63FC-863B-364D-30D63B03DBA8}"/>
              </a:ext>
            </a:extLst>
          </p:cNvPr>
          <p:cNvGrpSpPr/>
          <p:nvPr/>
        </p:nvGrpSpPr>
        <p:grpSpPr>
          <a:xfrm>
            <a:off x="8473666" y="129874"/>
            <a:ext cx="1101584" cy="901425"/>
            <a:chOff x="5937885" y="292098"/>
            <a:chExt cx="1412697" cy="1802850"/>
          </a:xfrm>
          <a:solidFill>
            <a:srgbClr val="FFC000"/>
          </a:solidFill>
        </p:grpSpPr>
        <p:sp>
          <p:nvSpPr>
            <p:cNvPr id="16" name="Rectángulo: esquinas redondeadas 15">
              <a:extLst>
                <a:ext uri="{FF2B5EF4-FFF2-40B4-BE49-F238E27FC236}">
                  <a16:creationId xmlns:a16="http://schemas.microsoft.com/office/drawing/2014/main" id="{620EF7B4-2636-355E-C448-96A0FEA574CF}"/>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7" name="Rectángulo: esquinas redondeadas 10">
              <a:extLst>
                <a:ext uri="{FF2B5EF4-FFF2-40B4-BE49-F238E27FC236}">
                  <a16:creationId xmlns:a16="http://schemas.microsoft.com/office/drawing/2014/main" id="{2E564BE9-080F-31C5-0B67-A7D69918BE5C}"/>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animBg="1"/>
      <p:bldP spid="3"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Propiedades importantes de la distribución t-</a:t>
            </a:r>
            <a:r>
              <a:rPr lang="es-ES" sz="2600" dirty="0" err="1">
                <a:latin typeface="Times New Roman" panose="02020603050405020304" pitchFamily="18" charset="0"/>
                <a:cs typeface="Times New Roman" panose="02020603050405020304" pitchFamily="18" charset="0"/>
              </a:rPr>
              <a:t>Student</a:t>
            </a:r>
            <a:endParaRPr lang="es-ES" sz="2600" dirty="0">
              <a:latin typeface="Times New Roman" panose="02020603050405020304" pitchFamily="18" charset="0"/>
              <a:cs typeface="Times New Roman" panose="02020603050405020304" pitchFamily="18" charset="0"/>
            </a:endParaRPr>
          </a:p>
        </p:txBody>
      </p:sp>
      <p:sp>
        <p:nvSpPr>
          <p:cNvPr id="28" name="CuadroTexto 27">
            <a:extLst>
              <a:ext uri="{FF2B5EF4-FFF2-40B4-BE49-F238E27FC236}">
                <a16:creationId xmlns:a16="http://schemas.microsoft.com/office/drawing/2014/main" id="{F494AF8A-D47C-6E15-F0A8-B546B382BBB9}"/>
              </a:ext>
            </a:extLst>
          </p:cNvPr>
          <p:cNvSpPr txBox="1"/>
          <p:nvPr/>
        </p:nvSpPr>
        <p:spPr>
          <a:xfrm>
            <a:off x="219440" y="2229811"/>
            <a:ext cx="7422331" cy="369332"/>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distribución t de </a:t>
            </a:r>
            <a:r>
              <a:rPr lang="es-MX" dirty="0" err="1">
                <a:solidFill>
                  <a:schemeClr val="bg1"/>
                </a:solidFill>
                <a:latin typeface="Times New Roman" panose="02020603050405020304" pitchFamily="18" charset="0"/>
                <a:cs typeface="Times New Roman" panose="02020603050405020304" pitchFamily="18" charset="0"/>
              </a:rPr>
              <a:t>Student</a:t>
            </a:r>
            <a:r>
              <a:rPr lang="es-MX" dirty="0">
                <a:solidFill>
                  <a:schemeClr val="bg1"/>
                </a:solidFill>
                <a:latin typeface="Times New Roman" panose="02020603050405020304" pitchFamily="18" charset="0"/>
                <a:cs typeface="Times New Roman" panose="02020603050405020304" pitchFamily="18" charset="0"/>
              </a:rPr>
              <a:t> es diferente para distintos tamaños de muestra.</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4B77887F-BB86-8BB4-8E75-761FE414B5F2}"/>
                  </a:ext>
                </a:extLst>
              </p:cNvPr>
              <p:cNvSpPr txBox="1"/>
              <p:nvPr/>
            </p:nvSpPr>
            <p:spPr>
              <a:xfrm>
                <a:off x="219440" y="3841606"/>
                <a:ext cx="7422331"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distribución t de </a:t>
                </a:r>
                <a:r>
                  <a:rPr lang="es-MX" dirty="0" err="1">
                    <a:solidFill>
                      <a:schemeClr val="bg1"/>
                    </a:solidFill>
                    <a:latin typeface="Times New Roman" panose="02020603050405020304" pitchFamily="18" charset="0"/>
                    <a:cs typeface="Times New Roman" panose="02020603050405020304" pitchFamily="18" charset="0"/>
                  </a:rPr>
                  <a:t>Student</a:t>
                </a:r>
                <a:r>
                  <a:rPr lang="es-MX" dirty="0">
                    <a:solidFill>
                      <a:schemeClr val="bg1"/>
                    </a:solidFill>
                    <a:latin typeface="Times New Roman" panose="02020603050405020304" pitchFamily="18" charset="0"/>
                    <a:cs typeface="Times New Roman" panose="02020603050405020304" pitchFamily="18" charset="0"/>
                  </a:rPr>
                  <a:t> tiene una media de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𝑡</m:t>
                    </m:r>
                    <m:r>
                      <a:rPr lang="es-MX" i="1" dirty="0" smtClean="0">
                        <a:solidFill>
                          <a:schemeClr val="bg1"/>
                        </a:solidFill>
                        <a:latin typeface="Cambria Math" panose="02040503050406030204" pitchFamily="18" charset="0"/>
                        <a:cs typeface="Times New Roman" panose="02020603050405020304" pitchFamily="18" charset="0"/>
                      </a:rPr>
                      <m:t>=0</m:t>
                    </m:r>
                  </m:oMath>
                </a14:m>
                <a:r>
                  <a:rPr lang="es-MX" dirty="0">
                    <a:solidFill>
                      <a:schemeClr val="bg1"/>
                    </a:solidFill>
                    <a:latin typeface="Times New Roman" panose="02020603050405020304" pitchFamily="18" charset="0"/>
                    <a:cs typeface="Times New Roman" panose="02020603050405020304" pitchFamily="18" charset="0"/>
                  </a:rPr>
                  <a:t> (así como la distribución normal estándar tiene una media de 0)</a:t>
                </a:r>
              </a:p>
            </p:txBody>
          </p:sp>
        </mc:Choice>
        <mc:Fallback xmlns="">
          <p:sp>
            <p:nvSpPr>
              <p:cNvPr id="4" name="CuadroTexto 3">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219440" y="3841606"/>
                <a:ext cx="7422331" cy="646331"/>
              </a:xfrm>
              <a:prstGeom prst="rect">
                <a:avLst/>
              </a:prstGeom>
              <a:blipFill>
                <a:blip r:embed="rId3"/>
                <a:stretch>
                  <a:fillRect l="-492" t="-3704" r="-574" b="-1296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62D9A5C2-E546-4A01-2335-8CD4A5C14560}"/>
                  </a:ext>
                </a:extLst>
              </p:cNvPr>
              <p:cNvSpPr txBox="1"/>
              <p:nvPr/>
            </p:nvSpPr>
            <p:spPr>
              <a:xfrm>
                <a:off x="219440" y="4679565"/>
                <a:ext cx="7422331" cy="923330"/>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desviación estándar de la distribución t de </a:t>
                </a:r>
                <a:r>
                  <a:rPr lang="es-MX" dirty="0" err="1">
                    <a:solidFill>
                      <a:schemeClr val="bg1"/>
                    </a:solidFill>
                    <a:latin typeface="Times New Roman" panose="02020603050405020304" pitchFamily="18" charset="0"/>
                    <a:cs typeface="Times New Roman" panose="02020603050405020304" pitchFamily="18" charset="0"/>
                  </a:rPr>
                  <a:t>Student</a:t>
                </a:r>
                <a:r>
                  <a:rPr lang="es-MX" dirty="0">
                    <a:solidFill>
                      <a:schemeClr val="bg1"/>
                    </a:solidFill>
                    <a:latin typeface="Times New Roman" panose="02020603050405020304" pitchFamily="18" charset="0"/>
                    <a:cs typeface="Times New Roman" panose="02020603050405020304" pitchFamily="18" charset="0"/>
                  </a:rPr>
                  <a:t> varía con el tamaño </a:t>
                </a:r>
                <a:r>
                  <a:rPr lang="es-MX" dirty="0" err="1">
                    <a:solidFill>
                      <a:schemeClr val="bg1"/>
                    </a:solidFill>
                    <a:latin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cs typeface="Times New Roman" panose="02020603050405020304" pitchFamily="18" charset="0"/>
                  </a:rPr>
                  <a:t>, pero es mayor que 1 (a diferencia de la distribución normal estándar que tiene </a:t>
                </a:r>
                <a14:m>
                  <m:oMath xmlns:m="http://schemas.openxmlformats.org/officeDocument/2006/math">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𝜎</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oMath>
                </a14:m>
                <a:endParaRPr lang="es-MX" i="1"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62D9A5C2-E546-4A01-2335-8CD4A5C14560}"/>
                  </a:ext>
                </a:extLst>
              </p:cNvPr>
              <p:cNvSpPr txBox="1">
                <a:spLocks noRot="1" noChangeAspect="1" noMove="1" noResize="1" noEditPoints="1" noAdjustHandles="1" noChangeArrowheads="1" noChangeShapeType="1" noTextEdit="1"/>
              </p:cNvSpPr>
              <p:nvPr/>
            </p:nvSpPr>
            <p:spPr>
              <a:xfrm>
                <a:off x="219440" y="4679565"/>
                <a:ext cx="7422331" cy="923330"/>
              </a:xfrm>
              <a:prstGeom prst="rect">
                <a:avLst/>
              </a:prstGeom>
              <a:blipFill>
                <a:blip r:embed="rId4"/>
                <a:stretch>
                  <a:fillRect l="-492" t="-3268" r="-574" b="-9150"/>
                </a:stretch>
              </a:blipFill>
              <a:ln>
                <a:solidFill>
                  <a:schemeClr val="tx1">
                    <a:lumMod val="85000"/>
                  </a:schemeClr>
                </a:solidFill>
              </a:ln>
            </p:spPr>
            <p:txBody>
              <a:bodyPr/>
              <a:lstStyle/>
              <a:p>
                <a:r>
                  <a:rPr lang="es-MX">
                    <a:noFill/>
                  </a:rPr>
                  <a:t> </a:t>
                </a:r>
              </a:p>
            </p:txBody>
          </p:sp>
        </mc:Fallback>
      </mc:AlternateContent>
      <p:sp>
        <p:nvSpPr>
          <p:cNvPr id="5" name="CuadroTexto 4">
            <a:extLst>
              <a:ext uri="{FF2B5EF4-FFF2-40B4-BE49-F238E27FC236}">
                <a16:creationId xmlns:a16="http://schemas.microsoft.com/office/drawing/2014/main" id="{82E76CE6-1BD0-79AE-A817-2A19743D9F79}"/>
              </a:ext>
            </a:extLst>
          </p:cNvPr>
          <p:cNvSpPr txBox="1"/>
          <p:nvPr/>
        </p:nvSpPr>
        <p:spPr>
          <a:xfrm>
            <a:off x="219440" y="5785295"/>
            <a:ext cx="7422331" cy="646331"/>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Conforme el tamaño </a:t>
            </a:r>
            <a:r>
              <a:rPr lang="es-MX" dirty="0" err="1">
                <a:solidFill>
                  <a:schemeClr val="bg1"/>
                </a:solidFill>
                <a:latin typeface="Times New Roman" panose="02020603050405020304" pitchFamily="18" charset="0"/>
                <a:cs typeface="Times New Roman" panose="02020603050405020304" pitchFamily="18" charset="0"/>
              </a:rPr>
              <a:t>muestral</a:t>
            </a:r>
            <a:r>
              <a:rPr lang="es-MX" dirty="0">
                <a:solidFill>
                  <a:schemeClr val="bg1"/>
                </a:solidFill>
                <a:latin typeface="Times New Roman" panose="02020603050405020304" pitchFamily="18" charset="0"/>
                <a:cs typeface="Times New Roman" panose="02020603050405020304" pitchFamily="18" charset="0"/>
              </a:rPr>
              <a:t> n se hace más grande, la distribución t de </a:t>
            </a:r>
            <a:r>
              <a:rPr lang="es-MX" dirty="0" err="1">
                <a:solidFill>
                  <a:schemeClr val="bg1"/>
                </a:solidFill>
                <a:latin typeface="Times New Roman" panose="02020603050405020304" pitchFamily="18" charset="0"/>
                <a:cs typeface="Times New Roman" panose="02020603050405020304" pitchFamily="18" charset="0"/>
              </a:rPr>
              <a:t>Student</a:t>
            </a:r>
            <a:r>
              <a:rPr lang="es-MX" dirty="0">
                <a:solidFill>
                  <a:schemeClr val="bg1"/>
                </a:solidFill>
                <a:latin typeface="Times New Roman" panose="02020603050405020304" pitchFamily="18" charset="0"/>
                <a:cs typeface="Times New Roman" panose="02020603050405020304" pitchFamily="18" charset="0"/>
              </a:rPr>
              <a:t> se acerca más a la distribución normal estándar.</a:t>
            </a:r>
            <a:endParaRPr lang="es-MX" i="1" dirty="0">
              <a:solidFill>
                <a:schemeClr val="bg1"/>
              </a:solidFill>
              <a:latin typeface="Times New Roman" panose="02020603050405020304" pitchFamily="18" charset="0"/>
              <a:cs typeface="Times New Roman" panose="02020603050405020304" pitchFamily="18" charset="0"/>
            </a:endParaRPr>
          </a:p>
        </p:txBody>
      </p:sp>
      <p:sp>
        <p:nvSpPr>
          <p:cNvPr id="7" name="CuadroTexto 6">
            <a:extLst>
              <a:ext uri="{FF2B5EF4-FFF2-40B4-BE49-F238E27FC236}">
                <a16:creationId xmlns:a16="http://schemas.microsoft.com/office/drawing/2014/main" id="{F494AF8A-D47C-6E15-F0A8-B546B382BBB9}"/>
              </a:ext>
            </a:extLst>
          </p:cNvPr>
          <p:cNvSpPr txBox="1"/>
          <p:nvPr/>
        </p:nvSpPr>
        <p:spPr>
          <a:xfrm>
            <a:off x="219440" y="2726648"/>
            <a:ext cx="7422331" cy="923330"/>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dirty="0">
                <a:solidFill>
                  <a:schemeClr val="bg1"/>
                </a:solidFill>
                <a:latin typeface="Times New Roman" panose="02020603050405020304" pitchFamily="18" charset="0"/>
                <a:cs typeface="Times New Roman" panose="02020603050405020304" pitchFamily="18" charset="0"/>
              </a:rPr>
              <a:t>La distribución t de </a:t>
            </a:r>
            <a:r>
              <a:rPr lang="es-MX" dirty="0" err="1">
                <a:solidFill>
                  <a:schemeClr val="bg1"/>
                </a:solidFill>
                <a:latin typeface="Times New Roman" panose="02020603050405020304" pitchFamily="18" charset="0"/>
                <a:cs typeface="Times New Roman" panose="02020603050405020304" pitchFamily="18" charset="0"/>
              </a:rPr>
              <a:t>Student</a:t>
            </a:r>
            <a:r>
              <a:rPr lang="es-MX" dirty="0">
                <a:solidFill>
                  <a:schemeClr val="bg1"/>
                </a:solidFill>
                <a:latin typeface="Times New Roman" panose="02020603050405020304" pitchFamily="18" charset="0"/>
                <a:cs typeface="Times New Roman" panose="02020603050405020304" pitchFamily="18" charset="0"/>
              </a:rPr>
              <a:t> tiene la misma forma de campana simétrica que la distribución normal estándar, pero refleja una mayor variabilidad de lo que se espera con muestras pequeñas.</a:t>
            </a:r>
          </a:p>
        </p:txBody>
      </p:sp>
      <p:pic>
        <p:nvPicPr>
          <p:cNvPr id="6" name="Imagen 5"/>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7733211" y="3012246"/>
            <a:ext cx="4019550" cy="2305050"/>
          </a:xfrm>
          <a:prstGeom prst="rect">
            <a:avLst/>
          </a:prstGeom>
        </p:spPr>
      </p:pic>
      <p:grpSp>
        <p:nvGrpSpPr>
          <p:cNvPr id="8" name="Grupo 7">
            <a:extLst>
              <a:ext uri="{FF2B5EF4-FFF2-40B4-BE49-F238E27FC236}">
                <a16:creationId xmlns:a16="http://schemas.microsoft.com/office/drawing/2014/main" id="{A5795854-DF1F-DEBC-1DFF-7927EA629896}"/>
              </a:ext>
            </a:extLst>
          </p:cNvPr>
          <p:cNvGrpSpPr/>
          <p:nvPr/>
        </p:nvGrpSpPr>
        <p:grpSpPr>
          <a:xfrm>
            <a:off x="2540338" y="129874"/>
            <a:ext cx="1101584" cy="901425"/>
            <a:chOff x="4557" y="292098"/>
            <a:chExt cx="1412697" cy="1802850"/>
          </a:xfrm>
        </p:grpSpPr>
        <p:sp>
          <p:nvSpPr>
            <p:cNvPr id="9" name="Rectángulo: esquinas redondeadas 8">
              <a:extLst>
                <a:ext uri="{FF2B5EF4-FFF2-40B4-BE49-F238E27FC236}">
                  <a16:creationId xmlns:a16="http://schemas.microsoft.com/office/drawing/2014/main" id="{51A89D36-AFF5-B491-F26F-1A352AF9A2AF}"/>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0" name="Rectángulo: esquinas redondeadas 4">
              <a:extLst>
                <a:ext uri="{FF2B5EF4-FFF2-40B4-BE49-F238E27FC236}">
                  <a16:creationId xmlns:a16="http://schemas.microsoft.com/office/drawing/2014/main" id="{6B555042-5404-9F68-FE92-D499B94B00A5}"/>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11" name="Grupo 10">
            <a:extLst>
              <a:ext uri="{FF2B5EF4-FFF2-40B4-BE49-F238E27FC236}">
                <a16:creationId xmlns:a16="http://schemas.microsoft.com/office/drawing/2014/main" id="{A0464912-FAB9-DBB8-E2CF-2520F0C665D2}"/>
              </a:ext>
            </a:extLst>
          </p:cNvPr>
          <p:cNvGrpSpPr/>
          <p:nvPr/>
        </p:nvGrpSpPr>
        <p:grpSpPr>
          <a:xfrm>
            <a:off x="4518114" y="129874"/>
            <a:ext cx="1101584" cy="901425"/>
            <a:chOff x="1982333" y="292098"/>
            <a:chExt cx="1412697" cy="1802850"/>
          </a:xfrm>
        </p:grpSpPr>
        <p:sp>
          <p:nvSpPr>
            <p:cNvPr id="12" name="Rectángulo: esquinas redondeadas 11">
              <a:extLst>
                <a:ext uri="{FF2B5EF4-FFF2-40B4-BE49-F238E27FC236}">
                  <a16:creationId xmlns:a16="http://schemas.microsoft.com/office/drawing/2014/main" id="{B32AD610-3267-B0BE-6BF9-AD3C962A44FD}"/>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3" name="Rectángulo: esquinas redondeadas 6">
              <a:extLst>
                <a:ext uri="{FF2B5EF4-FFF2-40B4-BE49-F238E27FC236}">
                  <a16:creationId xmlns:a16="http://schemas.microsoft.com/office/drawing/2014/main" id="{C1E901C2-C1F1-E053-2780-BC7E1286833F}"/>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4" name="Grupo 13">
            <a:extLst>
              <a:ext uri="{FF2B5EF4-FFF2-40B4-BE49-F238E27FC236}">
                <a16:creationId xmlns:a16="http://schemas.microsoft.com/office/drawing/2014/main" id="{06801C7A-022A-2BDC-47C8-093014AAB2CB}"/>
              </a:ext>
            </a:extLst>
          </p:cNvPr>
          <p:cNvGrpSpPr/>
          <p:nvPr/>
        </p:nvGrpSpPr>
        <p:grpSpPr>
          <a:xfrm>
            <a:off x="6495890" y="129874"/>
            <a:ext cx="1101584" cy="901425"/>
            <a:chOff x="3960109" y="292098"/>
            <a:chExt cx="1412697" cy="1802850"/>
          </a:xfrm>
        </p:grpSpPr>
        <p:sp>
          <p:nvSpPr>
            <p:cNvPr id="15" name="Rectángulo: esquinas redondeadas 14">
              <a:extLst>
                <a:ext uri="{FF2B5EF4-FFF2-40B4-BE49-F238E27FC236}">
                  <a16:creationId xmlns:a16="http://schemas.microsoft.com/office/drawing/2014/main" id="{B443B7BC-CA78-633C-3B46-041605BE2E48}"/>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6" name="Rectángulo: esquinas redondeadas 8">
              <a:extLst>
                <a:ext uri="{FF2B5EF4-FFF2-40B4-BE49-F238E27FC236}">
                  <a16:creationId xmlns:a16="http://schemas.microsoft.com/office/drawing/2014/main" id="{FBC6374D-412C-4955-40CA-9747ACE9AD14}"/>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7" name="Grupo 16">
            <a:extLst>
              <a:ext uri="{FF2B5EF4-FFF2-40B4-BE49-F238E27FC236}">
                <a16:creationId xmlns:a16="http://schemas.microsoft.com/office/drawing/2014/main" id="{CC4E99D1-E5F9-C3D1-3C8E-46F4F3FF5A44}"/>
              </a:ext>
            </a:extLst>
          </p:cNvPr>
          <p:cNvGrpSpPr/>
          <p:nvPr/>
        </p:nvGrpSpPr>
        <p:grpSpPr>
          <a:xfrm>
            <a:off x="8473666" y="129874"/>
            <a:ext cx="1101584" cy="901425"/>
            <a:chOff x="5937885" y="292098"/>
            <a:chExt cx="1412697" cy="1802850"/>
          </a:xfrm>
          <a:solidFill>
            <a:srgbClr val="FFC000"/>
          </a:solidFill>
        </p:grpSpPr>
        <p:sp>
          <p:nvSpPr>
            <p:cNvPr id="18" name="Rectángulo: esquinas redondeadas 17">
              <a:extLst>
                <a:ext uri="{FF2B5EF4-FFF2-40B4-BE49-F238E27FC236}">
                  <a16:creationId xmlns:a16="http://schemas.microsoft.com/office/drawing/2014/main" id="{43A82F0F-6CB2-7F27-BDEB-41F50B85392E}"/>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9" name="Rectángulo: esquinas redondeadas 10">
              <a:extLst>
                <a:ext uri="{FF2B5EF4-FFF2-40B4-BE49-F238E27FC236}">
                  <a16:creationId xmlns:a16="http://schemas.microsoft.com/office/drawing/2014/main" id="{DB416693-8F71-31F1-4A83-66A9A07D3252}"/>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p:spTree>
    <p:extLst>
      <p:ext uri="{BB962C8B-B14F-4D97-AF65-F5344CB8AC3E}">
        <p14:creationId xmlns:p14="http://schemas.microsoft.com/office/powerpoint/2010/main" val="1174337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animBg="1"/>
      <p:bldP spid="3" grpId="0" animBg="1"/>
      <p:bldP spid="5"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La distribución </a:t>
                </a:r>
                <a14:m>
                  <m:oMath xmlns:m="http://schemas.openxmlformats.org/officeDocument/2006/math">
                    <m:r>
                      <a:rPr lang="es-ES" sz="2600" i="1" dirty="0" smtClean="0">
                        <a:latin typeface="Cambria Math" panose="02040503050406030204" pitchFamily="18" charset="0"/>
                        <a:cs typeface="Times New Roman" panose="02020603050405020304" pitchFamily="18" charset="0"/>
                      </a:rPr>
                      <m:t>𝑡</m:t>
                    </m:r>
                  </m:oMath>
                </a14:m>
                <a:r>
                  <a:rPr lang="es-ES" sz="2600" dirty="0">
                    <a:latin typeface="Times New Roman" panose="02020603050405020304" pitchFamily="18" charset="0"/>
                    <a:cs typeface="Times New Roman" panose="02020603050405020304" pitchFamily="18" charset="0"/>
                  </a:rPr>
                  <a:t> de </a:t>
                </a:r>
                <a:r>
                  <a:rPr lang="es-ES" sz="2600" dirty="0" err="1">
                    <a:latin typeface="Times New Roman" panose="02020603050405020304" pitchFamily="18" charset="0"/>
                    <a:cs typeface="Times New Roman" panose="02020603050405020304" pitchFamily="18" charset="0"/>
                  </a:rPr>
                  <a:t>Student</a:t>
                </a:r>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430" b="-34000"/>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2" y="2186609"/>
                <a:ext cx="5370517" cy="1071640"/>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sz="1600" dirty="0">
                    <a:solidFill>
                      <a:schemeClr val="bg1"/>
                    </a:solidFill>
                    <a:latin typeface="Times New Roman" panose="02020603050405020304" pitchFamily="18" charset="0"/>
                    <a:cs typeface="Times New Roman" panose="02020603050405020304" pitchFamily="18" charset="0"/>
                  </a:rPr>
                  <a:t>Si una población tiene una distribución normal, entonces la distribución de T</a:t>
                </a:r>
                <a14:m>
                  <m:oMath xmlns:m="http://schemas.openxmlformats.org/officeDocument/2006/math">
                    <m:r>
                      <a:rPr lang="es-MX" sz="1600" b="0" i="1" smtClean="0">
                        <a:solidFill>
                          <a:schemeClr val="bg1"/>
                        </a:solidFill>
                        <a:latin typeface="Cambria Math" panose="02040503050406030204" pitchFamily="18" charset="0"/>
                        <a:cs typeface="Times New Roman" panose="02020603050405020304" pitchFamily="18" charset="0"/>
                      </a:rPr>
                      <m:t>=</m:t>
                    </m:r>
                    <m:f>
                      <m:fPr>
                        <m:ctrlPr>
                          <a:rPr lang="es-MX" sz="1600" b="0" i="1" smtClean="0">
                            <a:solidFill>
                              <a:schemeClr val="bg1"/>
                            </a:solidFill>
                            <a:latin typeface="Cambria Math" panose="02040503050406030204" pitchFamily="18" charset="0"/>
                            <a:cs typeface="Times New Roman" panose="02020603050405020304" pitchFamily="18" charset="0"/>
                          </a:rPr>
                        </m:ctrlPr>
                      </m:fPr>
                      <m:num>
                        <m:acc>
                          <m:accPr>
                            <m:chr m:val="̅"/>
                            <m:ctrlPr>
                              <a:rPr lang="es-MX" sz="1600" b="0" i="1" smtClean="0">
                                <a:solidFill>
                                  <a:schemeClr val="bg1"/>
                                </a:solidFill>
                                <a:latin typeface="Cambria Math" panose="02040503050406030204" pitchFamily="18" charset="0"/>
                                <a:cs typeface="Times New Roman" panose="02020603050405020304" pitchFamily="18" charset="0"/>
                              </a:rPr>
                            </m:ctrlPr>
                          </m:accPr>
                          <m:e>
                            <m:r>
                              <a:rPr lang="es-MX" sz="1600" b="0" i="1" smtClean="0">
                                <a:solidFill>
                                  <a:schemeClr val="bg1"/>
                                </a:solidFill>
                                <a:latin typeface="Cambria Math" panose="02040503050406030204" pitchFamily="18" charset="0"/>
                                <a:cs typeface="Times New Roman" panose="02020603050405020304" pitchFamily="18" charset="0"/>
                              </a:rPr>
                              <m:t>𝑥</m:t>
                            </m:r>
                          </m:e>
                        </m:acc>
                        <m:r>
                          <a:rPr lang="es-MX" sz="1600" b="0" i="1" smtClean="0">
                            <a:solidFill>
                              <a:schemeClr val="bg1"/>
                            </a:solidFill>
                            <a:latin typeface="Cambria Math" panose="02040503050406030204" pitchFamily="18" charset="0"/>
                            <a:cs typeface="Times New Roman" panose="02020603050405020304" pitchFamily="18" charset="0"/>
                          </a:rPr>
                          <m:t>−</m:t>
                        </m:r>
                        <m:r>
                          <a:rPr lang="es-MX" sz="16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num>
                      <m:den>
                        <m:f>
                          <m:fPr>
                            <m:ctrlPr>
                              <a:rPr lang="es-MX" sz="1600" b="0" i="1" smtClean="0">
                                <a:solidFill>
                                  <a:schemeClr val="bg1"/>
                                </a:solidFill>
                                <a:latin typeface="Cambria Math" panose="02040503050406030204" pitchFamily="18" charset="0"/>
                                <a:cs typeface="Times New Roman" panose="02020603050405020304" pitchFamily="18" charset="0"/>
                              </a:rPr>
                            </m:ctrlPr>
                          </m:fPr>
                          <m:num>
                            <m:r>
                              <a:rPr lang="es-MX" sz="1600" b="0" i="1" smtClean="0">
                                <a:solidFill>
                                  <a:schemeClr val="bg1"/>
                                </a:solidFill>
                                <a:latin typeface="Cambria Math" panose="02040503050406030204" pitchFamily="18" charset="0"/>
                                <a:cs typeface="Times New Roman" panose="02020603050405020304" pitchFamily="18" charset="0"/>
                              </a:rPr>
                              <m:t>𝑠</m:t>
                            </m:r>
                          </m:num>
                          <m:den>
                            <m:rad>
                              <m:radPr>
                                <m:degHide m:val="on"/>
                                <m:ctrlPr>
                                  <a:rPr lang="es-MX" sz="1600" b="0" i="1" smtClean="0">
                                    <a:solidFill>
                                      <a:schemeClr val="bg1"/>
                                    </a:solidFill>
                                    <a:latin typeface="Cambria Math" panose="02040503050406030204" pitchFamily="18" charset="0"/>
                                    <a:cs typeface="Times New Roman" panose="02020603050405020304" pitchFamily="18" charset="0"/>
                                  </a:rPr>
                                </m:ctrlPr>
                              </m:radPr>
                              <m:deg/>
                              <m:e>
                                <m:r>
                                  <a:rPr lang="es-MX" sz="1600" b="0" i="1" smtClean="0">
                                    <a:solidFill>
                                      <a:schemeClr val="bg1"/>
                                    </a:solidFill>
                                    <a:latin typeface="Cambria Math" panose="02040503050406030204" pitchFamily="18" charset="0"/>
                                    <a:cs typeface="Times New Roman" panose="02020603050405020304" pitchFamily="18" charset="0"/>
                                  </a:rPr>
                                  <m:t>𝑛</m:t>
                                </m:r>
                              </m:e>
                            </m:rad>
                          </m:den>
                        </m:f>
                      </m:den>
                    </m:f>
                  </m:oMath>
                </a14:m>
                <a:r>
                  <a:rPr lang="es-MX" sz="1600" dirty="0">
                    <a:solidFill>
                      <a:schemeClr val="bg1"/>
                    </a:solidFill>
                    <a:latin typeface="Times New Roman" panose="02020603050405020304" pitchFamily="18" charset="0"/>
                    <a:cs typeface="Times New Roman" panose="02020603050405020304" pitchFamily="18" charset="0"/>
                  </a:rPr>
                  <a:t>  es una </a:t>
                </a:r>
                <a:r>
                  <a:rPr lang="es-MX" sz="1600" b="1" dirty="0">
                    <a:solidFill>
                      <a:schemeClr val="bg1"/>
                    </a:solidFill>
                    <a:latin typeface="Times New Roman" panose="02020603050405020304" pitchFamily="18" charset="0"/>
                    <a:cs typeface="Times New Roman" panose="02020603050405020304" pitchFamily="18" charset="0"/>
                  </a:rPr>
                  <a:t>distribución </a:t>
                </a:r>
                <a14:m>
                  <m:oMath xmlns:m="http://schemas.openxmlformats.org/officeDocument/2006/math">
                    <m:r>
                      <a:rPr lang="es-MX" sz="1600" b="1" i="1" dirty="0" smtClean="0">
                        <a:solidFill>
                          <a:schemeClr val="bg1"/>
                        </a:solidFill>
                        <a:latin typeface="Cambria Math" panose="02040503050406030204" pitchFamily="18" charset="0"/>
                        <a:cs typeface="Times New Roman" panose="02020603050405020304" pitchFamily="18" charset="0"/>
                      </a:rPr>
                      <m:t>𝒕</m:t>
                    </m:r>
                    <m:r>
                      <a:rPr lang="es-MX" sz="1600" b="1" i="1" dirty="0" smtClean="0">
                        <a:solidFill>
                          <a:schemeClr val="bg1"/>
                        </a:solidFill>
                        <a:latin typeface="Cambria Math" panose="02040503050406030204" pitchFamily="18" charset="0"/>
                        <a:cs typeface="Times New Roman" panose="02020603050405020304" pitchFamily="18" charset="0"/>
                      </a:rPr>
                      <m:t> </m:t>
                    </m:r>
                  </m:oMath>
                </a14:m>
                <a:r>
                  <a:rPr lang="es-MX" sz="1600" b="1" dirty="0">
                    <a:solidFill>
                      <a:schemeClr val="bg1"/>
                    </a:solidFill>
                    <a:latin typeface="Times New Roman" panose="02020603050405020304" pitchFamily="18" charset="0"/>
                    <a:cs typeface="Times New Roman" panose="02020603050405020304" pitchFamily="18" charset="0"/>
                  </a:rPr>
                  <a:t>de </a:t>
                </a:r>
                <a:r>
                  <a:rPr lang="es-MX" sz="1600" b="1" dirty="0" err="1">
                    <a:solidFill>
                      <a:schemeClr val="bg1"/>
                    </a:solidFill>
                    <a:latin typeface="Times New Roman" panose="02020603050405020304" pitchFamily="18" charset="0"/>
                    <a:cs typeface="Times New Roman" panose="02020603050405020304" pitchFamily="18" charset="0"/>
                  </a:rPr>
                  <a:t>Student</a:t>
                </a:r>
                <a:r>
                  <a:rPr lang="es-MX" sz="1600" b="1" dirty="0">
                    <a:solidFill>
                      <a:schemeClr val="bg1"/>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y se utiliza para calcular valores críticos denotados por </a:t>
                </a:r>
                <a14:m>
                  <m:oMath xmlns:m="http://schemas.openxmlformats.org/officeDocument/2006/math">
                    <m:sSub>
                      <m:sSubPr>
                        <m:ctrlPr>
                          <a:rPr lang="es-MX" sz="1600" i="1" smtClean="0">
                            <a:solidFill>
                              <a:schemeClr val="bg1"/>
                            </a:solidFill>
                            <a:latin typeface="Cambria Math" panose="02040503050406030204" pitchFamily="18" charset="0"/>
                            <a:cs typeface="Times New Roman" panose="02020603050405020304" pitchFamily="18" charset="0"/>
                          </a:rPr>
                        </m:ctrlPr>
                      </m:sSubPr>
                      <m:e>
                        <m:r>
                          <a:rPr lang="es-MX" sz="1600" b="0" i="1" smtClean="0">
                            <a:solidFill>
                              <a:schemeClr val="bg1"/>
                            </a:solidFill>
                            <a:latin typeface="Cambria Math" panose="02040503050406030204" pitchFamily="18" charset="0"/>
                            <a:cs typeface="Times New Roman" panose="02020603050405020304" pitchFamily="18" charset="0"/>
                          </a:rPr>
                          <m:t>𝑡</m:t>
                        </m:r>
                      </m:e>
                      <m:sub>
                        <m:f>
                          <m:fPr>
                            <m:type m:val="skw"/>
                            <m:ctrlPr>
                              <a:rPr lang="es-MX" sz="1600" i="1" smtClean="0">
                                <a:solidFill>
                                  <a:schemeClr val="bg1"/>
                                </a:solidFill>
                                <a:latin typeface="Cambria Math" panose="02040503050406030204" pitchFamily="18" charset="0"/>
                                <a:cs typeface="Times New Roman" panose="02020603050405020304" pitchFamily="18" charset="0"/>
                              </a:rPr>
                            </m:ctrlPr>
                          </m:fPr>
                          <m:num>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600" b="0" i="1" smtClean="0">
                                <a:solidFill>
                                  <a:schemeClr val="bg1"/>
                                </a:solidFill>
                                <a:latin typeface="Cambria Math" panose="02040503050406030204" pitchFamily="18" charset="0"/>
                                <a:cs typeface="Times New Roman" panose="02020603050405020304" pitchFamily="18" charset="0"/>
                              </a:rPr>
                              <m:t>2</m:t>
                            </m:r>
                          </m:den>
                        </m:f>
                      </m:sub>
                    </m:sSub>
                  </m:oMath>
                </a14:m>
                <a:r>
                  <a:rPr lang="es-MX" sz="1600" dirty="0">
                    <a:solidFill>
                      <a:schemeClr val="bg1"/>
                    </a:solidFill>
                    <a:latin typeface="Times New Roman" panose="02020603050405020304" pitchFamily="18" charset="0"/>
                    <a:cs typeface="Times New Roman" panose="02020603050405020304" pitchFamily="18" charset="0"/>
                  </a:rPr>
                  <a:t>.</a:t>
                </a:r>
              </a:p>
            </p:txBody>
          </p:sp>
        </mc:Choice>
        <mc:Fallback>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186609"/>
                <a:ext cx="5370517" cy="1071640"/>
              </a:xfrm>
              <a:prstGeom prst="rect">
                <a:avLst/>
              </a:prstGeom>
              <a:blipFill>
                <a:blip r:embed="rId4"/>
                <a:stretch>
                  <a:fillRect l="-340" t="-1130" r="-1472" b="-36158"/>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4B77887F-BB86-8BB4-8E75-761FE414B5F2}"/>
                  </a:ext>
                </a:extLst>
              </p:cNvPr>
              <p:cNvSpPr txBox="1"/>
              <p:nvPr/>
            </p:nvSpPr>
            <p:spPr>
              <a:xfrm>
                <a:off x="964022" y="3509120"/>
                <a:ext cx="5370517" cy="858248"/>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sz="1600" dirty="0">
                    <a:solidFill>
                      <a:schemeClr val="bg1"/>
                    </a:solidFill>
                    <a:latin typeface="Times New Roman" panose="02020603050405020304" pitchFamily="18" charset="0"/>
                    <a:cs typeface="Times New Roman" panose="02020603050405020304" pitchFamily="18" charset="0"/>
                  </a:rPr>
                  <a:t>Un valor crítico </a:t>
                </a:r>
                <a14:m>
                  <m:oMath xmlns:m="http://schemas.openxmlformats.org/officeDocument/2006/math">
                    <m:sSub>
                      <m:sSubPr>
                        <m:ctrlPr>
                          <a:rPr lang="es-MX" sz="1600" i="1" smtClean="0">
                            <a:solidFill>
                              <a:schemeClr val="bg1"/>
                            </a:solidFill>
                            <a:latin typeface="Cambria Math" panose="02040503050406030204" pitchFamily="18" charset="0"/>
                            <a:cs typeface="Times New Roman" panose="02020603050405020304" pitchFamily="18" charset="0"/>
                          </a:rPr>
                        </m:ctrlPr>
                      </m:sSubPr>
                      <m:e>
                        <m:r>
                          <a:rPr lang="es-MX" sz="1600" b="0" i="1" smtClean="0">
                            <a:solidFill>
                              <a:schemeClr val="bg1"/>
                            </a:solidFill>
                            <a:latin typeface="Cambria Math" panose="02040503050406030204" pitchFamily="18" charset="0"/>
                            <a:cs typeface="Times New Roman" panose="02020603050405020304" pitchFamily="18" charset="0"/>
                          </a:rPr>
                          <m:t>𝑡</m:t>
                        </m:r>
                      </m:e>
                      <m:sub>
                        <m:f>
                          <m:fPr>
                            <m:type m:val="skw"/>
                            <m:ctrlPr>
                              <a:rPr lang="es-MX" sz="1600" i="1" smtClean="0">
                                <a:solidFill>
                                  <a:schemeClr val="bg1"/>
                                </a:solidFill>
                                <a:latin typeface="Cambria Math" panose="02040503050406030204" pitchFamily="18" charset="0"/>
                                <a:cs typeface="Times New Roman" panose="02020603050405020304" pitchFamily="18" charset="0"/>
                              </a:rPr>
                            </m:ctrlPr>
                          </m:fPr>
                          <m:num>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600" b="0" i="1" smtClean="0">
                                <a:solidFill>
                                  <a:schemeClr val="bg1"/>
                                </a:solidFill>
                                <a:latin typeface="Cambria Math" panose="02040503050406030204" pitchFamily="18" charset="0"/>
                                <a:cs typeface="Times New Roman" panose="02020603050405020304" pitchFamily="18" charset="0"/>
                              </a:rPr>
                              <m:t>2</m:t>
                            </m:r>
                          </m:den>
                        </m:f>
                      </m:sub>
                    </m:sSub>
                  </m:oMath>
                </a14:m>
                <a:r>
                  <a:rPr lang="es-MX" sz="1600" dirty="0">
                    <a:solidFill>
                      <a:schemeClr val="bg1"/>
                    </a:solidFill>
                    <a:latin typeface="Times New Roman" panose="02020603050405020304" pitchFamily="18" charset="0"/>
                    <a:cs typeface="Times New Roman" panose="02020603050405020304" pitchFamily="18" charset="0"/>
                  </a:rPr>
                  <a:t> se puede encontrar en una tabla de la distribución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𝑡</m:t>
                    </m:r>
                    <m:r>
                      <a:rPr lang="es-MX" sz="1600" i="1" dirty="0" smtClean="0">
                        <a:solidFill>
                          <a:schemeClr val="bg1"/>
                        </a:solidFill>
                        <a:latin typeface="Cambria Math" panose="02040503050406030204" pitchFamily="18" charset="0"/>
                        <a:cs typeface="Times New Roman" panose="02020603050405020304" pitchFamily="18" charset="0"/>
                      </a:rPr>
                      <m:t> </m:t>
                    </m:r>
                  </m:oMath>
                </a14:m>
                <a:r>
                  <a:rPr lang="es-MX" sz="1600" dirty="0">
                    <a:solidFill>
                      <a:schemeClr val="bg1"/>
                    </a:solidFill>
                    <a:latin typeface="Times New Roman" panose="02020603050405020304" pitchFamily="18" charset="0"/>
                    <a:cs typeface="Times New Roman" panose="02020603050405020304" pitchFamily="18" charset="0"/>
                  </a:rPr>
                  <a:t>de </a:t>
                </a:r>
                <a:r>
                  <a:rPr lang="es-MX" sz="1600" dirty="0" err="1">
                    <a:solidFill>
                      <a:schemeClr val="bg1"/>
                    </a:solidFill>
                    <a:latin typeface="Times New Roman" panose="02020603050405020304" pitchFamily="18" charset="0"/>
                    <a:cs typeface="Times New Roman" panose="02020603050405020304" pitchFamily="18" charset="0"/>
                  </a:rPr>
                  <a:t>Student</a:t>
                </a:r>
                <a:r>
                  <a:rPr lang="es-MX" sz="1600" dirty="0">
                    <a:solidFill>
                      <a:schemeClr val="bg1"/>
                    </a:solidFill>
                    <a:latin typeface="Times New Roman" panose="02020603050405020304" pitchFamily="18" charset="0"/>
                    <a:cs typeface="Times New Roman" panose="02020603050405020304" pitchFamily="18" charset="0"/>
                  </a:rPr>
                  <a:t> localizando el número apropiado de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𝑔𝑟𝑎𝑑𝑜𝑠</m:t>
                    </m:r>
                    <m:r>
                      <a:rPr lang="es-MX" sz="1600" i="1" dirty="0" smtClean="0">
                        <a:solidFill>
                          <a:schemeClr val="bg1"/>
                        </a:solidFill>
                        <a:latin typeface="Cambria Math" panose="02040503050406030204" pitchFamily="18" charset="0"/>
                        <a:cs typeface="Times New Roman" panose="02020603050405020304" pitchFamily="18" charset="0"/>
                      </a:rPr>
                      <m:t> </m:t>
                    </m:r>
                    <m:r>
                      <a:rPr lang="es-MX" sz="1600" i="1" dirty="0" smtClean="0">
                        <a:solidFill>
                          <a:schemeClr val="bg1"/>
                        </a:solidFill>
                        <a:latin typeface="Cambria Math" panose="02040503050406030204" pitchFamily="18" charset="0"/>
                        <a:cs typeface="Times New Roman" panose="02020603050405020304" pitchFamily="18" charset="0"/>
                      </a:rPr>
                      <m:t>𝑑𝑒</m:t>
                    </m:r>
                    <m:r>
                      <a:rPr lang="es-MX" sz="1600" i="1" dirty="0" smtClean="0">
                        <a:solidFill>
                          <a:schemeClr val="bg1"/>
                        </a:solidFill>
                        <a:latin typeface="Cambria Math" panose="02040503050406030204" pitchFamily="18" charset="0"/>
                        <a:cs typeface="Times New Roman" panose="02020603050405020304" pitchFamily="18" charset="0"/>
                      </a:rPr>
                      <m:t> </m:t>
                    </m:r>
                    <m:r>
                      <a:rPr lang="es-MX" sz="1600" i="1" dirty="0" smtClean="0">
                        <a:solidFill>
                          <a:schemeClr val="bg1"/>
                        </a:solidFill>
                        <a:latin typeface="Cambria Math" panose="02040503050406030204" pitchFamily="18" charset="0"/>
                        <a:cs typeface="Times New Roman" panose="02020603050405020304" pitchFamily="18" charset="0"/>
                      </a:rPr>
                      <m:t>𝑙𝑖𝑏𝑒𝑟𝑡𝑎𝑑</m:t>
                    </m:r>
                    <m:r>
                      <a:rPr lang="es-MX" sz="1600" i="1" dirty="0" smtClean="0">
                        <a:solidFill>
                          <a:schemeClr val="bg1"/>
                        </a:solidFill>
                        <a:latin typeface="Cambria Math" panose="02040503050406030204" pitchFamily="18" charset="0"/>
                        <a:cs typeface="Times New Roman" panose="02020603050405020304" pitchFamily="18" charset="0"/>
                      </a:rPr>
                      <m:t> = </m:t>
                    </m:r>
                    <m:r>
                      <a:rPr lang="es-MX" sz="1600" i="1" dirty="0" smtClean="0">
                        <a:solidFill>
                          <a:schemeClr val="bg1"/>
                        </a:solidFill>
                        <a:latin typeface="Cambria Math" panose="02040503050406030204" pitchFamily="18" charset="0"/>
                        <a:cs typeface="Times New Roman" panose="02020603050405020304" pitchFamily="18" charset="0"/>
                      </a:rPr>
                      <m:t>𝑛</m:t>
                    </m:r>
                    <m:r>
                      <a:rPr lang="es-MX" sz="1600" i="1" dirty="0" smtClean="0">
                        <a:solidFill>
                          <a:schemeClr val="bg1"/>
                        </a:solidFill>
                        <a:latin typeface="Cambria Math" panose="02040503050406030204" pitchFamily="18" charset="0"/>
                        <a:cs typeface="Times New Roman" panose="02020603050405020304" pitchFamily="18" charset="0"/>
                      </a:rPr>
                      <m:t>−1</m:t>
                    </m:r>
                  </m:oMath>
                </a14:m>
                <a:r>
                  <a:rPr lang="es-MX" sz="1600" dirty="0">
                    <a:solidFill>
                      <a:schemeClr val="bg1"/>
                    </a:solidFill>
                    <a:latin typeface="Times New Roman" panose="02020603050405020304" pitchFamily="18" charset="0"/>
                    <a:cs typeface="Times New Roman" panose="02020603050405020304" pitchFamily="18" charset="0"/>
                  </a:rPr>
                  <a:t>. </a:t>
                </a:r>
              </a:p>
            </p:txBody>
          </p:sp>
        </mc:Choice>
        <mc:Fallback xmlns="">
          <p:sp>
            <p:nvSpPr>
              <p:cNvPr id="4" name="CuadroTexto 3">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964022" y="3509120"/>
                <a:ext cx="5370517" cy="858248"/>
              </a:xfrm>
              <a:prstGeom prst="rect">
                <a:avLst/>
              </a:prstGeom>
              <a:blipFill>
                <a:blip r:embed="rId5"/>
                <a:stretch>
                  <a:fillRect l="-340" t="-14789" r="-566" b="-8451"/>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62D9A5C2-E546-4A01-2335-8CD4A5C14560}"/>
                  </a:ext>
                </a:extLst>
              </p:cNvPr>
              <p:cNvSpPr txBox="1"/>
              <p:nvPr/>
            </p:nvSpPr>
            <p:spPr>
              <a:xfrm>
                <a:off x="964022" y="4618239"/>
                <a:ext cx="3554969" cy="1596912"/>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sz="1600" b="1" dirty="0">
                    <a:solidFill>
                      <a:schemeClr val="bg1"/>
                    </a:solidFill>
                    <a:latin typeface="Times New Roman" panose="02020603050405020304" pitchFamily="18" charset="0"/>
                    <a:cs typeface="Times New Roman" panose="02020603050405020304" pitchFamily="18" charset="0"/>
                  </a:rPr>
                  <a:t>Ejemplo: </a:t>
                </a:r>
                <a:r>
                  <a:rPr lang="es-MX" sz="1600" dirty="0">
                    <a:solidFill>
                      <a:schemeClr val="bg1"/>
                    </a:solidFill>
                    <a:latin typeface="Times New Roman" panose="02020603050405020304" pitchFamily="18" charset="0"/>
                    <a:cs typeface="Times New Roman" panose="02020603050405020304" pitchFamily="18" charset="0"/>
                  </a:rPr>
                  <a:t>Una muestra de tamaño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𝑛</m:t>
                    </m:r>
                    <m:r>
                      <a:rPr lang="es-MX" sz="1600" i="1" dirty="0" smtClean="0">
                        <a:solidFill>
                          <a:schemeClr val="bg1"/>
                        </a:solidFill>
                        <a:latin typeface="Cambria Math" panose="02040503050406030204" pitchFamily="18" charset="0"/>
                        <a:cs typeface="Times New Roman" panose="02020603050405020304" pitchFamily="18" charset="0"/>
                      </a:rPr>
                      <m:t>=23 </m:t>
                    </m:r>
                  </m:oMath>
                </a14:m>
                <a:r>
                  <a:rPr lang="es-MX" sz="1600" dirty="0">
                    <a:solidFill>
                      <a:schemeClr val="bg1"/>
                    </a:solidFill>
                    <a:latin typeface="Times New Roman" panose="02020603050405020304" pitchFamily="18" charset="0"/>
                    <a:cs typeface="Times New Roman" panose="02020603050405020304" pitchFamily="18" charset="0"/>
                  </a:rPr>
                  <a:t>es una muestra aleatoria simple seleccionada de una población distribuida normalmente. Calcule el valor crítico </a:t>
                </a:r>
                <a14:m>
                  <m:oMath xmlns:m="http://schemas.openxmlformats.org/officeDocument/2006/math">
                    <m:sSub>
                      <m:sSubPr>
                        <m:ctrlPr>
                          <a:rPr lang="es-MX" sz="1600" i="1" smtClean="0">
                            <a:solidFill>
                              <a:schemeClr val="bg1"/>
                            </a:solidFill>
                            <a:latin typeface="Cambria Math" panose="02040503050406030204" pitchFamily="18" charset="0"/>
                            <a:cs typeface="Times New Roman" panose="02020603050405020304" pitchFamily="18" charset="0"/>
                          </a:rPr>
                        </m:ctrlPr>
                      </m:sSubPr>
                      <m:e>
                        <m:r>
                          <a:rPr lang="es-MX" sz="1600" b="0" i="1" smtClean="0">
                            <a:solidFill>
                              <a:schemeClr val="bg1"/>
                            </a:solidFill>
                            <a:latin typeface="Cambria Math" panose="02040503050406030204" pitchFamily="18" charset="0"/>
                            <a:cs typeface="Times New Roman" panose="02020603050405020304" pitchFamily="18" charset="0"/>
                          </a:rPr>
                          <m:t>𝑡</m:t>
                        </m:r>
                      </m:e>
                      <m:sub>
                        <m:f>
                          <m:fPr>
                            <m:type m:val="skw"/>
                            <m:ctrlPr>
                              <a:rPr lang="es-MX" sz="1600" i="1" smtClean="0">
                                <a:solidFill>
                                  <a:schemeClr val="bg1"/>
                                </a:solidFill>
                                <a:latin typeface="Cambria Math" panose="02040503050406030204" pitchFamily="18" charset="0"/>
                                <a:cs typeface="Times New Roman" panose="02020603050405020304" pitchFamily="18" charset="0"/>
                              </a:rPr>
                            </m:ctrlPr>
                          </m:fPr>
                          <m:num>
                            <m:r>
                              <a:rPr lang="es-MX" sz="16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600" b="0" i="1" smtClean="0">
                                <a:solidFill>
                                  <a:schemeClr val="bg1"/>
                                </a:solidFill>
                                <a:latin typeface="Cambria Math" panose="02040503050406030204" pitchFamily="18" charset="0"/>
                                <a:cs typeface="Times New Roman" panose="02020603050405020304" pitchFamily="18" charset="0"/>
                              </a:rPr>
                              <m:t>2</m:t>
                            </m:r>
                          </m:den>
                        </m:f>
                      </m:sub>
                    </m:sSub>
                  </m:oMath>
                </a14:m>
                <a:r>
                  <a:rPr lang="es-MX" sz="1600" dirty="0">
                    <a:solidFill>
                      <a:schemeClr val="bg1"/>
                    </a:solidFill>
                    <a:latin typeface="Times New Roman" panose="02020603050405020304" pitchFamily="18" charset="0"/>
                    <a:cs typeface="Times New Roman" panose="02020603050405020304" pitchFamily="18" charset="0"/>
                  </a:rPr>
                  <a:t> correspondiente a un nivel de confianza del 95%</a:t>
                </a:r>
                <a:endParaRPr lang="es-MX" sz="1600" i="1"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62D9A5C2-E546-4A01-2335-8CD4A5C14560}"/>
                  </a:ext>
                </a:extLst>
              </p:cNvPr>
              <p:cNvSpPr txBox="1">
                <a:spLocks noRot="1" noChangeAspect="1" noMove="1" noResize="1" noEditPoints="1" noAdjustHandles="1" noChangeArrowheads="1" noChangeShapeType="1" noTextEdit="1"/>
              </p:cNvSpPr>
              <p:nvPr/>
            </p:nvSpPr>
            <p:spPr>
              <a:xfrm>
                <a:off x="964022" y="4618239"/>
                <a:ext cx="3554969" cy="1596912"/>
              </a:xfrm>
              <a:prstGeom prst="rect">
                <a:avLst/>
              </a:prstGeom>
              <a:blipFill>
                <a:blip r:embed="rId6"/>
                <a:stretch>
                  <a:fillRect l="-513" t="-758" r="-855" b="-8712"/>
                </a:stretch>
              </a:blipFill>
              <a:ln>
                <a:solidFill>
                  <a:schemeClr val="tx1">
                    <a:lumMod val="85000"/>
                  </a:schemeClr>
                </a:solidFill>
              </a:ln>
            </p:spPr>
            <p:txBody>
              <a:bodyPr/>
              <a:lstStyle/>
              <a:p>
                <a:r>
                  <a:rPr lang="es-MX">
                    <a:noFill/>
                  </a:rPr>
                  <a:t> </a:t>
                </a:r>
              </a:p>
            </p:txBody>
          </p:sp>
        </mc:Fallback>
      </mc:AlternateContent>
      <p:sp>
        <p:nvSpPr>
          <p:cNvPr id="8" name="Rectángulo 7">
            <a:extLst>
              <a:ext uri="{FF2B5EF4-FFF2-40B4-BE49-F238E27FC236}">
                <a16:creationId xmlns:a16="http://schemas.microsoft.com/office/drawing/2014/main" id="{6C6B7DFB-A2AF-AF3A-F125-53938CC28CA5}"/>
              </a:ext>
            </a:extLst>
          </p:cNvPr>
          <p:cNvSpPr/>
          <p:nvPr/>
        </p:nvSpPr>
        <p:spPr>
          <a:xfrm>
            <a:off x="9713842" y="4956314"/>
            <a:ext cx="503582" cy="18085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2" name="Conector recto de flecha 11">
            <a:extLst>
              <a:ext uri="{FF2B5EF4-FFF2-40B4-BE49-F238E27FC236}">
                <a16:creationId xmlns:a16="http://schemas.microsoft.com/office/drawing/2014/main" id="{1F3286D0-190E-CB67-0353-46DE52A967D0}"/>
              </a:ext>
            </a:extLst>
          </p:cNvPr>
          <p:cNvCxnSpPr>
            <a:cxnSpLocks/>
          </p:cNvCxnSpPr>
          <p:nvPr/>
        </p:nvCxnSpPr>
        <p:spPr>
          <a:xfrm flipV="1">
            <a:off x="4518991" y="5046743"/>
            <a:ext cx="5194851" cy="3740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AB7AE274-EE19-B620-9CED-251A93A69065}"/>
                  </a:ext>
                </a:extLst>
              </p:cNvPr>
              <p:cNvSpPr txBox="1"/>
              <p:nvPr/>
            </p:nvSpPr>
            <p:spPr>
              <a:xfrm>
                <a:off x="6596013" y="5440328"/>
                <a:ext cx="5370517" cy="1077218"/>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sz="1600" dirty="0">
                    <a:solidFill>
                      <a:schemeClr val="bg1"/>
                    </a:solidFill>
                    <a:latin typeface="Times New Roman" panose="02020603050405020304" pitchFamily="18" charset="0"/>
                    <a:cs typeface="Times New Roman" panose="02020603050405020304" pitchFamily="18" charset="0"/>
                  </a:rPr>
                  <a:t>En </a:t>
                </a:r>
                <a:r>
                  <a:rPr lang="es-MX" sz="1600" dirty="0" err="1">
                    <a:solidFill>
                      <a:schemeClr val="bg1"/>
                    </a:solidFill>
                    <a:latin typeface="Times New Roman" panose="02020603050405020304" pitchFamily="18" charset="0"/>
                    <a:cs typeface="Times New Roman" panose="02020603050405020304" pitchFamily="18" charset="0"/>
                  </a:rPr>
                  <a:t>RStudio</a:t>
                </a:r>
                <a:r>
                  <a:rPr lang="es-MX" sz="1600" dirty="0">
                    <a:solidFill>
                      <a:schemeClr val="bg1"/>
                    </a:solidFill>
                    <a:latin typeface="Times New Roman" panose="02020603050405020304" pitchFamily="18" charset="0"/>
                    <a:cs typeface="Times New Roman" panose="02020603050405020304" pitchFamily="18" charset="0"/>
                  </a:rPr>
                  <a:t> se utiliza la función </a:t>
                </a:r>
                <a:r>
                  <a:rPr lang="es-MX" sz="1600" b="1" dirty="0" err="1">
                    <a:solidFill>
                      <a:srgbClr val="0070C0"/>
                    </a:solidFill>
                    <a:latin typeface="Times New Roman" panose="02020603050405020304" pitchFamily="18" charset="0"/>
                    <a:cs typeface="Times New Roman" panose="02020603050405020304" pitchFamily="18" charset="0"/>
                  </a:rPr>
                  <a:t>qt</a:t>
                </a:r>
                <a:r>
                  <a:rPr lang="es-MX" sz="1600" b="1" dirty="0">
                    <a:solidFill>
                      <a:srgbClr val="0070C0"/>
                    </a:solidFill>
                    <a:latin typeface="Times New Roman" panose="02020603050405020304" pitchFamily="18" charset="0"/>
                    <a:cs typeface="Times New Roman" panose="02020603050405020304" pitchFamily="18" charset="0"/>
                  </a:rPr>
                  <a:t>(p, </a:t>
                </a:r>
                <a:r>
                  <a:rPr lang="es-MX" sz="1600" b="1" dirty="0" err="1">
                    <a:solidFill>
                      <a:srgbClr val="0070C0"/>
                    </a:solidFill>
                    <a:latin typeface="Times New Roman" panose="02020603050405020304" pitchFamily="18" charset="0"/>
                    <a:cs typeface="Times New Roman" panose="02020603050405020304" pitchFamily="18" charset="0"/>
                  </a:rPr>
                  <a:t>df</a:t>
                </a:r>
                <a:r>
                  <a:rPr lang="es-MX" sz="1600" b="1" dirty="0">
                    <a:solidFill>
                      <a:srgbClr val="0070C0"/>
                    </a:solidFill>
                    <a:latin typeface="Times New Roman" panose="02020603050405020304" pitchFamily="18" charset="0"/>
                    <a:cs typeface="Times New Roman" panose="02020603050405020304" pitchFamily="18" charset="0"/>
                  </a:rPr>
                  <a:t>, </a:t>
                </a:r>
                <a:r>
                  <a:rPr lang="es-MX" sz="1600" b="1" dirty="0" err="1">
                    <a:solidFill>
                      <a:srgbClr val="0070C0"/>
                    </a:solidFill>
                    <a:latin typeface="Times New Roman" panose="02020603050405020304" pitchFamily="18" charset="0"/>
                    <a:cs typeface="Times New Roman" panose="02020603050405020304" pitchFamily="18" charset="0"/>
                  </a:rPr>
                  <a:t>lower.tail</a:t>
                </a:r>
                <a:r>
                  <a:rPr lang="es-MX" sz="1600" b="1" dirty="0">
                    <a:solidFill>
                      <a:srgbClr val="0070C0"/>
                    </a:solidFill>
                    <a:latin typeface="Times New Roman" panose="02020603050405020304" pitchFamily="18" charset="0"/>
                    <a:cs typeface="Times New Roman" panose="02020603050405020304" pitchFamily="18" charset="0"/>
                  </a:rPr>
                  <a:t>) </a:t>
                </a:r>
                <a:r>
                  <a:rPr lang="es-MX" sz="1600" dirty="0">
                    <a:solidFill>
                      <a:schemeClr val="bg1"/>
                    </a:solidFill>
                    <a:latin typeface="Times New Roman" panose="02020603050405020304" pitchFamily="18" charset="0"/>
                    <a:cs typeface="Times New Roman" panose="02020603050405020304" pitchFamily="18" charset="0"/>
                  </a:rPr>
                  <a:t>para hallar un valor crítico de la distribución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𝑡</m:t>
                    </m:r>
                  </m:oMath>
                </a14:m>
                <a:r>
                  <a:rPr lang="es-MX" sz="1600" dirty="0">
                    <a:solidFill>
                      <a:schemeClr val="bg1"/>
                    </a:solidFill>
                    <a:latin typeface="Times New Roman" panose="02020603050405020304" pitchFamily="18" charset="0"/>
                    <a:cs typeface="Times New Roman" panose="02020603050405020304" pitchFamily="18" charset="0"/>
                  </a:rPr>
                  <a:t> de </a:t>
                </a:r>
                <a:r>
                  <a:rPr lang="es-MX" sz="1600" dirty="0" err="1">
                    <a:solidFill>
                      <a:schemeClr val="bg1"/>
                    </a:solidFill>
                    <a:latin typeface="Times New Roman" panose="02020603050405020304" pitchFamily="18" charset="0"/>
                    <a:cs typeface="Times New Roman" panose="02020603050405020304" pitchFamily="18" charset="0"/>
                  </a:rPr>
                  <a:t>Student</a:t>
                </a:r>
                <a:r>
                  <a:rPr lang="es-MX" sz="1600" dirty="0">
                    <a:solidFill>
                      <a:schemeClr val="bg1"/>
                    </a:solidFill>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s-MX" sz="1600" b="1" dirty="0">
                    <a:solidFill>
                      <a:schemeClr val="bg1"/>
                    </a:solidFill>
                    <a:latin typeface="Times New Roman" panose="02020603050405020304" pitchFamily="18" charset="0"/>
                    <a:cs typeface="Times New Roman" panose="02020603050405020304" pitchFamily="18" charset="0"/>
                  </a:rPr>
                  <a:t>p: vector de probabilidades, </a:t>
                </a:r>
                <a:r>
                  <a:rPr lang="es-MX" sz="1600" b="1" dirty="0" err="1">
                    <a:solidFill>
                      <a:schemeClr val="bg1"/>
                    </a:solidFill>
                    <a:latin typeface="Times New Roman" panose="02020603050405020304" pitchFamily="18" charset="0"/>
                    <a:cs typeface="Times New Roman" panose="02020603050405020304" pitchFamily="18" charset="0"/>
                  </a:rPr>
                  <a:t>df</a:t>
                </a:r>
                <a:r>
                  <a:rPr lang="es-MX" sz="1600" b="1" dirty="0">
                    <a:solidFill>
                      <a:schemeClr val="bg1"/>
                    </a:solidFill>
                    <a:latin typeface="Times New Roman" panose="02020603050405020304" pitchFamily="18" charset="0"/>
                    <a:cs typeface="Times New Roman" panose="02020603050405020304" pitchFamily="18" charset="0"/>
                  </a:rPr>
                  <a:t>: grados de libertad, </a:t>
                </a:r>
                <a:r>
                  <a:rPr lang="es-MX" sz="1600" b="1" dirty="0" err="1">
                    <a:solidFill>
                      <a:schemeClr val="bg1"/>
                    </a:solidFill>
                    <a:latin typeface="Times New Roman" panose="02020603050405020304" pitchFamily="18" charset="0"/>
                    <a:cs typeface="Times New Roman" panose="02020603050405020304" pitchFamily="18" charset="0"/>
                  </a:rPr>
                  <a:t>lower.tail</a:t>
                </a:r>
                <a:r>
                  <a:rPr lang="es-MX" sz="1600" b="1" dirty="0">
                    <a:solidFill>
                      <a:schemeClr val="bg1"/>
                    </a:solidFill>
                    <a:latin typeface="Times New Roman" panose="02020603050405020304" pitchFamily="18" charset="0"/>
                    <a:cs typeface="Times New Roman" panose="02020603050405020304" pitchFamily="18" charset="0"/>
                  </a:rPr>
                  <a:t>: FALSE o TRUE.</a:t>
                </a:r>
                <a:endParaRPr lang="es-MX" sz="1600" b="1"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15" name="CuadroTexto 14">
                <a:extLst>
                  <a:ext uri="{FF2B5EF4-FFF2-40B4-BE49-F238E27FC236}">
                    <a16:creationId xmlns:a16="http://schemas.microsoft.com/office/drawing/2014/main" id="{AB7AE274-EE19-B620-9CED-251A93A69065}"/>
                  </a:ext>
                </a:extLst>
              </p:cNvPr>
              <p:cNvSpPr txBox="1">
                <a:spLocks noRot="1" noChangeAspect="1" noMove="1" noResize="1" noEditPoints="1" noAdjustHandles="1" noChangeArrowheads="1" noChangeShapeType="1" noTextEdit="1"/>
              </p:cNvSpPr>
              <p:nvPr/>
            </p:nvSpPr>
            <p:spPr>
              <a:xfrm>
                <a:off x="6596013" y="5440328"/>
                <a:ext cx="5370517" cy="1077218"/>
              </a:xfrm>
              <a:prstGeom prst="rect">
                <a:avLst/>
              </a:prstGeom>
              <a:blipFill>
                <a:blip r:embed="rId8"/>
                <a:stretch>
                  <a:fillRect l="-340" t="-1117" r="-566" b="-5587"/>
                </a:stretch>
              </a:blipFill>
              <a:ln>
                <a:solidFill>
                  <a:schemeClr val="tx1">
                    <a:lumMod val="85000"/>
                  </a:schemeClr>
                </a:solidFill>
              </a:ln>
            </p:spPr>
            <p:txBody>
              <a:bodyPr/>
              <a:lstStyle/>
              <a:p>
                <a:r>
                  <a:rPr lang="es-MX">
                    <a:noFill/>
                  </a:rPr>
                  <a:t> </a:t>
                </a:r>
              </a:p>
            </p:txBody>
          </p:sp>
        </mc:Fallback>
      </mc:AlternateContent>
      <p:grpSp>
        <p:nvGrpSpPr>
          <p:cNvPr id="5" name="Grupo 4">
            <a:extLst>
              <a:ext uri="{FF2B5EF4-FFF2-40B4-BE49-F238E27FC236}">
                <a16:creationId xmlns:a16="http://schemas.microsoft.com/office/drawing/2014/main" id="{5F3B9B22-4680-15FE-E89B-024A1EC8BEC6}"/>
              </a:ext>
            </a:extLst>
          </p:cNvPr>
          <p:cNvGrpSpPr/>
          <p:nvPr/>
        </p:nvGrpSpPr>
        <p:grpSpPr>
          <a:xfrm>
            <a:off x="452230" y="129874"/>
            <a:ext cx="1101584" cy="901425"/>
            <a:chOff x="4557" y="292098"/>
            <a:chExt cx="1412697" cy="1802850"/>
          </a:xfrm>
        </p:grpSpPr>
        <p:sp>
          <p:nvSpPr>
            <p:cNvPr id="6" name="Rectángulo: esquinas redondeadas 5">
              <a:extLst>
                <a:ext uri="{FF2B5EF4-FFF2-40B4-BE49-F238E27FC236}">
                  <a16:creationId xmlns:a16="http://schemas.microsoft.com/office/drawing/2014/main" id="{92A9E13B-D55B-1E79-3712-ABAA9F6457D4}"/>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9" name="Rectángulo: esquinas redondeadas 4">
              <a:extLst>
                <a:ext uri="{FF2B5EF4-FFF2-40B4-BE49-F238E27FC236}">
                  <a16:creationId xmlns:a16="http://schemas.microsoft.com/office/drawing/2014/main" id="{DBD78914-4805-7895-5F35-DC173B5B81E5}"/>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10" name="Grupo 9">
            <a:extLst>
              <a:ext uri="{FF2B5EF4-FFF2-40B4-BE49-F238E27FC236}">
                <a16:creationId xmlns:a16="http://schemas.microsoft.com/office/drawing/2014/main" id="{FDDC830A-C6E3-6DCB-3D17-DBF616685358}"/>
              </a:ext>
            </a:extLst>
          </p:cNvPr>
          <p:cNvGrpSpPr/>
          <p:nvPr/>
        </p:nvGrpSpPr>
        <p:grpSpPr>
          <a:xfrm>
            <a:off x="2430006" y="129874"/>
            <a:ext cx="1101584" cy="901425"/>
            <a:chOff x="1982333" y="292098"/>
            <a:chExt cx="1412697" cy="1802850"/>
          </a:xfrm>
        </p:grpSpPr>
        <p:sp>
          <p:nvSpPr>
            <p:cNvPr id="11" name="Rectángulo: esquinas redondeadas 10">
              <a:extLst>
                <a:ext uri="{FF2B5EF4-FFF2-40B4-BE49-F238E27FC236}">
                  <a16:creationId xmlns:a16="http://schemas.microsoft.com/office/drawing/2014/main" id="{FE4ADA10-E167-E8C5-2304-428D35F68040}"/>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3" name="Rectángulo: esquinas redondeadas 6">
              <a:extLst>
                <a:ext uri="{FF2B5EF4-FFF2-40B4-BE49-F238E27FC236}">
                  <a16:creationId xmlns:a16="http://schemas.microsoft.com/office/drawing/2014/main" id="{6ECF3009-CBCE-09CB-463F-6C55E8B781A5}"/>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4" name="Grupo 13">
            <a:extLst>
              <a:ext uri="{FF2B5EF4-FFF2-40B4-BE49-F238E27FC236}">
                <a16:creationId xmlns:a16="http://schemas.microsoft.com/office/drawing/2014/main" id="{73B809BC-990E-69F5-30DA-78927FDECCE8}"/>
              </a:ext>
            </a:extLst>
          </p:cNvPr>
          <p:cNvGrpSpPr/>
          <p:nvPr/>
        </p:nvGrpSpPr>
        <p:grpSpPr>
          <a:xfrm>
            <a:off x="4407782" y="129874"/>
            <a:ext cx="1101584" cy="901425"/>
            <a:chOff x="3960109" y="292098"/>
            <a:chExt cx="1412697" cy="1802850"/>
          </a:xfrm>
        </p:grpSpPr>
        <p:sp>
          <p:nvSpPr>
            <p:cNvPr id="16" name="Rectángulo: esquinas redondeadas 15">
              <a:extLst>
                <a:ext uri="{FF2B5EF4-FFF2-40B4-BE49-F238E27FC236}">
                  <a16:creationId xmlns:a16="http://schemas.microsoft.com/office/drawing/2014/main" id="{622EBC76-90C4-CC3D-DB1F-4E62408FCA10}"/>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7" name="Rectángulo: esquinas redondeadas 8">
              <a:extLst>
                <a:ext uri="{FF2B5EF4-FFF2-40B4-BE49-F238E27FC236}">
                  <a16:creationId xmlns:a16="http://schemas.microsoft.com/office/drawing/2014/main" id="{CB8E68F5-8201-CDD6-499A-21797938ACD1}"/>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8" name="Grupo 17">
            <a:extLst>
              <a:ext uri="{FF2B5EF4-FFF2-40B4-BE49-F238E27FC236}">
                <a16:creationId xmlns:a16="http://schemas.microsoft.com/office/drawing/2014/main" id="{69083876-CB8D-B598-C4E6-3E05D7FE0BD1}"/>
              </a:ext>
            </a:extLst>
          </p:cNvPr>
          <p:cNvGrpSpPr/>
          <p:nvPr/>
        </p:nvGrpSpPr>
        <p:grpSpPr>
          <a:xfrm>
            <a:off x="6385558" y="129874"/>
            <a:ext cx="1101584" cy="901425"/>
            <a:chOff x="5937885" y="292098"/>
            <a:chExt cx="1412697" cy="1802850"/>
          </a:xfrm>
          <a:solidFill>
            <a:srgbClr val="FFC000"/>
          </a:solidFill>
        </p:grpSpPr>
        <p:sp>
          <p:nvSpPr>
            <p:cNvPr id="19" name="Rectángulo: esquinas redondeadas 18">
              <a:extLst>
                <a:ext uri="{FF2B5EF4-FFF2-40B4-BE49-F238E27FC236}">
                  <a16:creationId xmlns:a16="http://schemas.microsoft.com/office/drawing/2014/main" id="{24073A93-8C08-D07E-7052-6017F6685626}"/>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20" name="Rectángulo: esquinas redondeadas 10">
              <a:extLst>
                <a:ext uri="{FF2B5EF4-FFF2-40B4-BE49-F238E27FC236}">
                  <a16:creationId xmlns:a16="http://schemas.microsoft.com/office/drawing/2014/main" id="{F6212CA8-A2D4-3E6C-A4BD-815E9BF52914}"/>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p:pic>
        <p:nvPicPr>
          <p:cNvPr id="7" name="Imagen 6">
            <a:extLst>
              <a:ext uri="{FF2B5EF4-FFF2-40B4-BE49-F238E27FC236}">
                <a16:creationId xmlns:a16="http://schemas.microsoft.com/office/drawing/2014/main" id="{E453011D-D487-3C51-C0D1-EF42D499EA1C}"/>
              </a:ext>
            </a:extLst>
          </p:cNvPr>
          <p:cNvPicPr>
            <a:picLocks noChangeAspect="1"/>
          </p:cNvPicPr>
          <p:nvPr/>
        </p:nvPicPr>
        <p:blipFill>
          <a:blip r:embed="rId9"/>
          <a:stretch>
            <a:fillRect/>
          </a:stretch>
        </p:blipFill>
        <p:spPr>
          <a:xfrm>
            <a:off x="6661105" y="408864"/>
            <a:ext cx="5305425" cy="4714875"/>
          </a:xfrm>
          <a:prstGeom prst="rect">
            <a:avLst/>
          </a:prstGeom>
        </p:spPr>
      </p:pic>
    </p:spTree>
    <p:extLst>
      <p:ext uri="{BB962C8B-B14F-4D97-AF65-F5344CB8AC3E}">
        <p14:creationId xmlns:p14="http://schemas.microsoft.com/office/powerpoint/2010/main" val="426115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circle(in)">
                                      <p:cBhvr>
                                        <p:cTn id="34" dur="20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circle(in)">
                                      <p:cBhvr>
                                        <p:cTn id="39"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animBg="1"/>
      <p:bldP spid="3"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ES" sz="2800" dirty="0">
                <a:latin typeface="Times New Roman" panose="02020603050405020304" pitchFamily="18" charset="0"/>
                <a:cs typeface="Times New Roman" panose="02020603050405020304" pitchFamily="18" charset="0"/>
              </a:rPr>
              <a:t>Margen de error</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577548" y="2184090"/>
                <a:ext cx="5140863" cy="1477328"/>
              </a:xfrm>
              <a:prstGeom prst="rect">
                <a:avLst/>
              </a:prstGeom>
              <a:noFill/>
              <a:ln>
                <a:solidFill>
                  <a:schemeClr val="tx1">
                    <a:lumMod val="85000"/>
                  </a:schemeClr>
                </a:solidFill>
              </a:ln>
            </p:spPr>
            <p:txBody>
              <a:bodyPr wrap="square" rtlCol="0">
                <a:spAutoFit/>
              </a:bodyPr>
              <a:lstStyle/>
              <a:p>
                <a:pPr lvl="0" algn="ju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Supongamos una muestra aleatoria</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14:m>
                  <m:oMath xmlns:m="http://schemas.openxmlformats.org/officeDocument/2006/math">
                    <m:sSub>
                      <m:sSubPr>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𝑋</m:t>
                        </m:r>
                      </m:e>
                      <m: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1</m:t>
                        </m:r>
                      </m:sub>
                    </m:s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sSub>
                      <m:sSubPr>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𝑋</m:t>
                        </m:r>
                      </m:e>
                      <m: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sub>
                    </m:s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sSub>
                      <m:sSubPr>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𝑋</m:t>
                        </m:r>
                      </m:e>
                      <m: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sub>
                    </m:sSub>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 tamaño</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14:m>
                  <m:oMath xmlns:m="http://schemas.openxmlformats.org/officeDocument/2006/math">
                    <m:r>
                      <a:rPr kumimoji="0" lang="es-MX" sz="1800" b="0" i="1" u="none" strike="noStrike" kern="1200" cap="none" spc="0" normalizeH="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oMath>
                </a14:m>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 una población con media </a:t>
                </a:r>
                <a14:m>
                  <m:oMath xmlns:m="http://schemas.openxmlformats.org/officeDocument/2006/math">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y desviación estándar</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14:m>
                  <m:oMath xmlns:m="http://schemas.openxmlformats.org/officeDocument/2006/math">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desconocida, la media muestral </a:t>
                </a:r>
                <a14:m>
                  <m:oMath xmlns:m="http://schemas.openxmlformats.org/officeDocument/2006/math">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𝑋</m:t>
                        </m:r>
                      </m:e>
                    </m:acc>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sigue</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una distribución t-</a:t>
                </a:r>
                <a:r>
                  <a:rPr kumimoji="0" lang="es-MX" sz="1800" b="0" i="0" u="none" strike="noStrike" kern="1200" cap="none" spc="0" normalizeH="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Student</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con </a:t>
                </a:r>
                <a14:m>
                  <m:oMath xmlns:m="http://schemas.openxmlformats.org/officeDocument/2006/math">
                    <m:r>
                      <a:rPr kumimoji="0" lang="es-MX" sz="1800" b="0" i="1" u="none" strike="noStrike" kern="1200" cap="none" spc="0" normalizeH="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r>
                      <a:rPr kumimoji="0" lang="es-MX" sz="1800" b="0" i="1" u="none" strike="noStrike" kern="1200" cap="none" spc="0" normalizeH="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−1</m:t>
                    </m:r>
                  </m:oMath>
                </a14:m>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grados de libertad.</a:t>
                </a:r>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577548" y="2184090"/>
                <a:ext cx="5140863" cy="1477328"/>
              </a:xfrm>
              <a:prstGeom prst="rect">
                <a:avLst/>
              </a:prstGeom>
              <a:blipFill>
                <a:blip r:embed="rId3"/>
                <a:stretch>
                  <a:fillRect l="-947" t="-1633" r="-828" b="-4898"/>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4E1CE5D-0829-367D-3253-0060B26FBC99}"/>
                  </a:ext>
                </a:extLst>
              </p:cNvPr>
              <p:cNvSpPr txBox="1"/>
              <p:nvPr/>
            </p:nvSpPr>
            <p:spPr>
              <a:xfrm>
                <a:off x="577547" y="3845127"/>
                <a:ext cx="5140863" cy="1200329"/>
              </a:xfrm>
              <a:prstGeom prst="rect">
                <a:avLst/>
              </a:prstGeom>
              <a:noFill/>
              <a:ln>
                <a:solidFill>
                  <a:schemeClr val="tx1">
                    <a:lumMod val="85000"/>
                  </a:schemeClr>
                </a:solidFill>
              </a:ln>
            </p:spPr>
            <p:txBody>
              <a:bodyPr wrap="square" rtlCol="0">
                <a:spAutoFit/>
              </a:bodyPr>
              <a:lstStyle/>
              <a:p>
                <a:pPr lvl="0" algn="just">
                  <a:defRPr/>
                </a:pPr>
                <a:r>
                  <a:rPr lang="es-MX" dirty="0">
                    <a:solidFill>
                      <a:prstClr val="black"/>
                    </a:solidFill>
                    <a:latin typeface="Times New Roman" panose="02020603050405020304" pitchFamily="18" charset="0"/>
                    <a:cs typeface="Times New Roman" panose="02020603050405020304" pitchFamily="18" charset="0"/>
                  </a:rPr>
                  <a:t>Para usar la distribución t-</a:t>
                </a:r>
                <a:r>
                  <a:rPr lang="es-MX" dirty="0" err="1">
                    <a:solidFill>
                      <a:prstClr val="black"/>
                    </a:solidFill>
                    <a:latin typeface="Times New Roman" panose="02020603050405020304" pitchFamily="18" charset="0"/>
                    <a:cs typeface="Times New Roman" panose="02020603050405020304" pitchFamily="18" charset="0"/>
                  </a:rPr>
                  <a:t>Student</a:t>
                </a:r>
                <a:r>
                  <a:rPr lang="es-MX" dirty="0">
                    <a:solidFill>
                      <a:prstClr val="black"/>
                    </a:solidFill>
                    <a:latin typeface="Times New Roman" panose="02020603050405020304" pitchFamily="18" charset="0"/>
                    <a:cs typeface="Times New Roman" panose="02020603050405020304" pitchFamily="18" charset="0"/>
                  </a:rPr>
                  <a:t>, estandarizamos </a:t>
                </a:r>
                <a14:m>
                  <m:oMath xmlns:m="http://schemas.openxmlformats.org/officeDocument/2006/math">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oMath>
                </a14:m>
                <a:r>
                  <a:rPr lang="es-MX" dirty="0">
                    <a:solidFill>
                      <a:prstClr val="black"/>
                    </a:solidFill>
                    <a:latin typeface="Times New Roman" panose="02020603050405020304" pitchFamily="18" charset="0"/>
                    <a:cs typeface="Times New Roman" panose="02020603050405020304" pitchFamily="18" charset="0"/>
                  </a:rPr>
                  <a:t> restando </a:t>
                </a:r>
                <a:r>
                  <a:rPr lang="es-MX" dirty="0">
                    <a:solidFill>
                      <a:schemeClr val="bg1"/>
                    </a:solidFill>
                    <a:latin typeface="Times New Roman" panose="02020603050405020304" pitchFamily="18" charset="0"/>
                    <a:cs typeface="Times New Roman" panose="02020603050405020304" pitchFamily="18" charset="0"/>
                  </a:rPr>
                  <a:t>la media y dividiendo por la desviación estándar muestral ajustada. Esto nos da la variable estandarizada </a:t>
                </a:r>
                <a14:m>
                  <m:oMath xmlns:m="http://schemas.openxmlformats.org/officeDocument/2006/math">
                    <m:r>
                      <a:rPr lang="es-MX" b="0" i="1" smtClean="0">
                        <a:solidFill>
                          <a:schemeClr val="bg1"/>
                        </a:solidFill>
                        <a:latin typeface="Cambria Math" panose="02040503050406030204" pitchFamily="18" charset="0"/>
                        <a:cs typeface="Times New Roman" panose="02020603050405020304" pitchFamily="18" charset="0"/>
                      </a:rPr>
                      <m:t>𝑇</m:t>
                    </m:r>
                  </m:oMath>
                </a14:m>
                <a:r>
                  <a:rPr lang="es-MX" dirty="0">
                    <a:solidFill>
                      <a:schemeClr val="bg1"/>
                    </a:solidFill>
                    <a:latin typeface="Times New Roman" panose="02020603050405020304" pitchFamily="18" charset="0"/>
                    <a:cs typeface="Times New Roman" panose="02020603050405020304" pitchFamily="18" charset="0"/>
                  </a:rPr>
                  <a:t>: </a:t>
                </a:r>
                <a:endParaRPr kumimoji="0" lang="es-MX" sz="1800" b="0"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mc:Choice>
        <mc:Fallback xmlns="">
          <p:sp>
            <p:nvSpPr>
              <p:cNvPr id="5" name="CuadroTexto 4">
                <a:extLst>
                  <a:ext uri="{FF2B5EF4-FFF2-40B4-BE49-F238E27FC236}">
                    <a16:creationId xmlns:a16="http://schemas.microsoft.com/office/drawing/2014/main" id="{74E1CE5D-0829-367D-3253-0060B26FBC99}"/>
                  </a:ext>
                </a:extLst>
              </p:cNvPr>
              <p:cNvSpPr txBox="1">
                <a:spLocks noRot="1" noChangeAspect="1" noMove="1" noResize="1" noEditPoints="1" noAdjustHandles="1" noChangeArrowheads="1" noChangeShapeType="1" noTextEdit="1"/>
              </p:cNvSpPr>
              <p:nvPr/>
            </p:nvSpPr>
            <p:spPr>
              <a:xfrm>
                <a:off x="577547" y="3845127"/>
                <a:ext cx="5140863" cy="1200329"/>
              </a:xfrm>
              <a:prstGeom prst="rect">
                <a:avLst/>
              </a:prstGeom>
              <a:blipFill>
                <a:blip r:embed="rId4"/>
                <a:stretch>
                  <a:fillRect l="-947" t="-2513" r="-4615" b="-6533"/>
                </a:stretch>
              </a:blipFill>
              <a:ln>
                <a:solidFill>
                  <a:schemeClr val="tx1">
                    <a:lumMod val="85000"/>
                  </a:schemeClr>
                </a:solidFill>
              </a:ln>
            </p:spPr>
            <p:txBody>
              <a:bodyPr/>
              <a:lstStyle/>
              <a:p>
                <a:r>
                  <a:rPr lang="es-MX">
                    <a:noFill/>
                  </a:rPr>
                  <a:t> </a:t>
                </a:r>
              </a:p>
            </p:txBody>
          </p:sp>
        </mc:Fallback>
      </mc:AlternateContent>
      <p:grpSp>
        <p:nvGrpSpPr>
          <p:cNvPr id="3" name="Grupo 2">
            <a:extLst>
              <a:ext uri="{FF2B5EF4-FFF2-40B4-BE49-F238E27FC236}">
                <a16:creationId xmlns:a16="http://schemas.microsoft.com/office/drawing/2014/main" id="{222C78A9-3AAD-0FE9-E962-54DC6F4AD609}"/>
              </a:ext>
            </a:extLst>
          </p:cNvPr>
          <p:cNvGrpSpPr/>
          <p:nvPr/>
        </p:nvGrpSpPr>
        <p:grpSpPr>
          <a:xfrm>
            <a:off x="2540338" y="129874"/>
            <a:ext cx="1101584" cy="901425"/>
            <a:chOff x="4557" y="292098"/>
            <a:chExt cx="1412697" cy="1802850"/>
          </a:xfrm>
        </p:grpSpPr>
        <p:sp>
          <p:nvSpPr>
            <p:cNvPr id="7" name="Rectángulo: esquinas redondeadas 6">
              <a:extLst>
                <a:ext uri="{FF2B5EF4-FFF2-40B4-BE49-F238E27FC236}">
                  <a16:creationId xmlns:a16="http://schemas.microsoft.com/office/drawing/2014/main" id="{3BD68740-713E-5B1A-8472-F8405FD30281}"/>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9" name="Rectángulo: esquinas redondeadas 4">
              <a:extLst>
                <a:ext uri="{FF2B5EF4-FFF2-40B4-BE49-F238E27FC236}">
                  <a16:creationId xmlns:a16="http://schemas.microsoft.com/office/drawing/2014/main" id="{B9CF22BB-5432-BBEC-8CCC-E60F1155C42D}"/>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10" name="Grupo 9">
            <a:extLst>
              <a:ext uri="{FF2B5EF4-FFF2-40B4-BE49-F238E27FC236}">
                <a16:creationId xmlns:a16="http://schemas.microsoft.com/office/drawing/2014/main" id="{82BE16D3-C2F1-C7A4-93A5-8D96EA52F39B}"/>
              </a:ext>
            </a:extLst>
          </p:cNvPr>
          <p:cNvGrpSpPr/>
          <p:nvPr/>
        </p:nvGrpSpPr>
        <p:grpSpPr>
          <a:xfrm>
            <a:off x="4518114" y="129874"/>
            <a:ext cx="1101584" cy="901425"/>
            <a:chOff x="1982333" y="292098"/>
            <a:chExt cx="1412697" cy="1802850"/>
          </a:xfrm>
        </p:grpSpPr>
        <p:sp>
          <p:nvSpPr>
            <p:cNvPr id="11" name="Rectángulo: esquinas redondeadas 10">
              <a:extLst>
                <a:ext uri="{FF2B5EF4-FFF2-40B4-BE49-F238E27FC236}">
                  <a16:creationId xmlns:a16="http://schemas.microsoft.com/office/drawing/2014/main" id="{3B37A732-62BB-F41B-9B4A-CCDD0FA66518}"/>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2" name="Rectángulo: esquinas redondeadas 6">
              <a:extLst>
                <a:ext uri="{FF2B5EF4-FFF2-40B4-BE49-F238E27FC236}">
                  <a16:creationId xmlns:a16="http://schemas.microsoft.com/office/drawing/2014/main" id="{F83DF241-AEE4-1A8D-634A-C01BA32A2E78}"/>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3" name="Grupo 12">
            <a:extLst>
              <a:ext uri="{FF2B5EF4-FFF2-40B4-BE49-F238E27FC236}">
                <a16:creationId xmlns:a16="http://schemas.microsoft.com/office/drawing/2014/main" id="{DE9D0DB2-99D3-BD38-2941-E4AE4F506FE8}"/>
              </a:ext>
            </a:extLst>
          </p:cNvPr>
          <p:cNvGrpSpPr/>
          <p:nvPr/>
        </p:nvGrpSpPr>
        <p:grpSpPr>
          <a:xfrm>
            <a:off x="6495890" y="129874"/>
            <a:ext cx="1101584" cy="901425"/>
            <a:chOff x="3960109" y="292098"/>
            <a:chExt cx="1412697" cy="1802850"/>
          </a:xfrm>
        </p:grpSpPr>
        <p:sp>
          <p:nvSpPr>
            <p:cNvPr id="14" name="Rectángulo: esquinas redondeadas 13">
              <a:extLst>
                <a:ext uri="{FF2B5EF4-FFF2-40B4-BE49-F238E27FC236}">
                  <a16:creationId xmlns:a16="http://schemas.microsoft.com/office/drawing/2014/main" id="{ADB3DD13-F289-23CC-6CCF-283EB349BD4B}"/>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5" name="Rectángulo: esquinas redondeadas 8">
              <a:extLst>
                <a:ext uri="{FF2B5EF4-FFF2-40B4-BE49-F238E27FC236}">
                  <a16:creationId xmlns:a16="http://schemas.microsoft.com/office/drawing/2014/main" id="{B0A48CC2-8615-34B4-2BE9-3D703A2A425A}"/>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6" name="Grupo 15">
            <a:extLst>
              <a:ext uri="{FF2B5EF4-FFF2-40B4-BE49-F238E27FC236}">
                <a16:creationId xmlns:a16="http://schemas.microsoft.com/office/drawing/2014/main" id="{72503070-250D-D01C-2428-C379B735A560}"/>
              </a:ext>
            </a:extLst>
          </p:cNvPr>
          <p:cNvGrpSpPr/>
          <p:nvPr/>
        </p:nvGrpSpPr>
        <p:grpSpPr>
          <a:xfrm>
            <a:off x="8473666" y="129874"/>
            <a:ext cx="1101584" cy="901425"/>
            <a:chOff x="5937885" y="292098"/>
            <a:chExt cx="1412697" cy="1802850"/>
          </a:xfrm>
          <a:solidFill>
            <a:srgbClr val="FFC000"/>
          </a:solidFill>
        </p:grpSpPr>
        <p:sp>
          <p:nvSpPr>
            <p:cNvPr id="17" name="Rectángulo: esquinas redondeadas 16">
              <a:extLst>
                <a:ext uri="{FF2B5EF4-FFF2-40B4-BE49-F238E27FC236}">
                  <a16:creationId xmlns:a16="http://schemas.microsoft.com/office/drawing/2014/main" id="{DB323C89-D2DB-4B1C-DABC-8E110B3DE396}"/>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8" name="Rectángulo: esquinas redondeadas 10">
              <a:extLst>
                <a:ext uri="{FF2B5EF4-FFF2-40B4-BE49-F238E27FC236}">
                  <a16:creationId xmlns:a16="http://schemas.microsoft.com/office/drawing/2014/main" id="{ED2839F4-891F-3DC7-64AC-9D3459353486}"/>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263153A1-D89D-67D9-3E59-EF2DBD085AE8}"/>
                  </a:ext>
                </a:extLst>
              </p:cNvPr>
              <p:cNvSpPr txBox="1"/>
              <p:nvPr/>
            </p:nvSpPr>
            <p:spPr>
              <a:xfrm>
                <a:off x="838686" y="5245275"/>
                <a:ext cx="4504888" cy="7336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𝑇</m:t>
                      </m:r>
                      <m:r>
                        <a:rPr lang="es-MX" b="0" i="1" smtClean="0">
                          <a:solidFill>
                            <a:schemeClr val="bg1"/>
                          </a:solidFill>
                          <a:latin typeface="Cambria Math" panose="02040503050406030204" pitchFamily="18" charset="0"/>
                        </a:rPr>
                        <m:t>=</m:t>
                      </m:r>
                      <m:f>
                        <m:fPr>
                          <m:ctrlP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fPr>
                        <m:num>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b="0" i="1" smtClean="0">
                              <a:solidFill>
                                <a:prstClr val="black"/>
                              </a:solidFill>
                              <a:latin typeface="Cambria Math" panose="02040503050406030204" pitchFamily="18" charset="0"/>
                              <a:cs typeface="Times New Roman" panose="02020603050405020304" pitchFamily="18" charset="0"/>
                            </a:rPr>
                            <m:t>−</m:t>
                          </m:r>
                          <m:r>
                            <a:rPr lang="es-MX"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num>
                        <m:den>
                          <m:f>
                            <m:fPr>
                              <m:type m:val="skw"/>
                              <m:ctrlP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s-MX" b="0" i="1" smtClean="0">
                                  <a:solidFill>
                                    <a:schemeClr val="bg1"/>
                                  </a:solidFill>
                                  <a:latin typeface="Cambria Math" panose="02040503050406030204" pitchFamily="18" charset="0"/>
                                </a:rPr>
                                <m:t>𝑠</m:t>
                              </m:r>
                            </m:num>
                            <m:den>
                              <m:rad>
                                <m:radPr>
                                  <m:degHide m:val="on"/>
                                  <m:ctrlPr>
                                    <a:rPr lang="es-MX" b="0" i="1" smtClean="0">
                                      <a:solidFill>
                                        <a:schemeClr val="bg1"/>
                                      </a:solidFill>
                                      <a:latin typeface="Cambria Math" panose="02040503050406030204" pitchFamily="18" charset="0"/>
                                    </a:rPr>
                                  </m:ctrlPr>
                                </m:radPr>
                                <m:deg/>
                                <m:e>
                                  <m:r>
                                    <a:rPr lang="es-MX" b="0" i="1" smtClean="0">
                                      <a:solidFill>
                                        <a:schemeClr val="bg1"/>
                                      </a:solidFill>
                                      <a:latin typeface="Cambria Math" panose="02040503050406030204" pitchFamily="18" charset="0"/>
                                    </a:rPr>
                                    <m:t>𝑛</m:t>
                                  </m:r>
                                </m:e>
                              </m:rad>
                            </m:den>
                          </m:f>
                        </m:den>
                      </m:f>
                      <m:r>
                        <a:rPr lang="es-MX" b="0" i="1" smtClean="0">
                          <a:solidFill>
                            <a:schemeClr val="bg1"/>
                          </a:solidFill>
                          <a:latin typeface="Cambria Math" panose="02040503050406030204" pitchFamily="18" charset="0"/>
                        </a:rPr>
                        <m:t>           </m:t>
                      </m:r>
                      <m:r>
                        <a:rPr lang="es-MX" b="0" i="1" smtClean="0">
                          <a:solidFill>
                            <a:schemeClr val="bg1"/>
                          </a:solidFill>
                          <a:latin typeface="Cambria Math" panose="02040503050406030204" pitchFamily="18" charset="0"/>
                        </a:rPr>
                        <m:t>𝑇</m:t>
                      </m:r>
                      <m:r>
                        <a:rPr lang="es-MX" b="0" i="1" smtClean="0">
                          <a:solidFill>
                            <a:schemeClr val="bg1"/>
                          </a:solidFill>
                          <a:latin typeface="Cambria Math" panose="02040503050406030204" pitchFamily="18" charset="0"/>
                          <a:ea typeface="Cambria Math" panose="02040503050406030204" pitchFamily="18" charset="0"/>
                        </a:rPr>
                        <m:t>~ </m:t>
                      </m:r>
                      <m:r>
                        <a:rPr lang="es-MX" b="0" i="1" smtClean="0">
                          <a:solidFill>
                            <a:schemeClr val="bg1"/>
                          </a:solidFill>
                          <a:latin typeface="Cambria Math" panose="02040503050406030204" pitchFamily="18" charset="0"/>
                          <a:ea typeface="Cambria Math" panose="02040503050406030204" pitchFamily="18" charset="0"/>
                        </a:rPr>
                        <m:t>𝑡</m:t>
                      </m:r>
                      <m:r>
                        <a:rPr lang="es-MX" b="0" i="1" smtClean="0">
                          <a:solidFill>
                            <a:schemeClr val="bg1"/>
                          </a:solidFill>
                          <a:latin typeface="Cambria Math" panose="02040503050406030204" pitchFamily="18" charset="0"/>
                          <a:ea typeface="Cambria Math" panose="02040503050406030204" pitchFamily="18" charset="0"/>
                        </a:rPr>
                        <m:t>−</m:t>
                      </m:r>
                      <m:r>
                        <a:rPr lang="es-MX" b="0" i="1" smtClean="0">
                          <a:solidFill>
                            <a:schemeClr val="bg1"/>
                          </a:solidFill>
                          <a:latin typeface="Cambria Math" panose="02040503050406030204" pitchFamily="18" charset="0"/>
                          <a:ea typeface="Cambria Math" panose="02040503050406030204" pitchFamily="18" charset="0"/>
                        </a:rPr>
                        <m:t>𝑆𝑡𝑢𝑑𝑒𝑛𝑡</m:t>
                      </m:r>
                      <m:r>
                        <a:rPr lang="es-MX" b="0" i="1" smtClean="0">
                          <a:solidFill>
                            <a:schemeClr val="bg1"/>
                          </a:solidFill>
                          <a:latin typeface="Cambria Math" panose="02040503050406030204" pitchFamily="18" charset="0"/>
                          <a:ea typeface="Cambria Math" panose="02040503050406030204" pitchFamily="18" charset="0"/>
                        </a:rPr>
                        <m:t> </m:t>
                      </m:r>
                      <m:r>
                        <a:rPr lang="es-MX" b="0" i="1" smtClean="0">
                          <a:solidFill>
                            <a:schemeClr val="bg1"/>
                          </a:solidFill>
                          <a:latin typeface="Cambria Math" panose="02040503050406030204" pitchFamily="18" charset="0"/>
                          <a:ea typeface="Cambria Math" panose="02040503050406030204" pitchFamily="18" charset="0"/>
                        </a:rPr>
                        <m:t>𝑐𝑜𝑛</m:t>
                      </m:r>
                      <m:r>
                        <a:rPr lang="es-MX" b="0" i="1" smtClean="0">
                          <a:solidFill>
                            <a:schemeClr val="bg1"/>
                          </a:solidFill>
                          <a:latin typeface="Cambria Math" panose="02040503050406030204" pitchFamily="18" charset="0"/>
                          <a:ea typeface="Cambria Math" panose="02040503050406030204" pitchFamily="18" charset="0"/>
                        </a:rPr>
                        <m:t> </m:t>
                      </m:r>
                      <m:r>
                        <a:rPr lang="es-MX" b="0" i="1" smtClean="0">
                          <a:solidFill>
                            <a:schemeClr val="bg1"/>
                          </a:solidFill>
                          <a:latin typeface="Cambria Math" panose="02040503050406030204" pitchFamily="18" charset="0"/>
                          <a:ea typeface="Cambria Math" panose="02040503050406030204" pitchFamily="18" charset="0"/>
                        </a:rPr>
                        <m:t>𝑛</m:t>
                      </m:r>
                      <m:r>
                        <a:rPr lang="es-MX" b="0" i="1" smtClean="0">
                          <a:solidFill>
                            <a:schemeClr val="bg1"/>
                          </a:solidFill>
                          <a:latin typeface="Cambria Math" panose="02040503050406030204" pitchFamily="18" charset="0"/>
                          <a:ea typeface="Cambria Math" panose="02040503050406030204" pitchFamily="18" charset="0"/>
                        </a:rPr>
                        <m:t>−1 </m:t>
                      </m:r>
                      <m:r>
                        <a:rPr lang="es-MX" b="0" i="1" smtClean="0">
                          <a:solidFill>
                            <a:schemeClr val="bg1"/>
                          </a:solidFill>
                          <a:latin typeface="Cambria Math" panose="02040503050406030204" pitchFamily="18" charset="0"/>
                          <a:ea typeface="Cambria Math" panose="02040503050406030204" pitchFamily="18" charset="0"/>
                        </a:rPr>
                        <m:t>𝑔𝑙</m:t>
                      </m:r>
                    </m:oMath>
                  </m:oMathPara>
                </a14:m>
                <a:endParaRPr lang="es-MX" dirty="0"/>
              </a:p>
            </p:txBody>
          </p:sp>
        </mc:Choice>
        <mc:Fallback xmlns="">
          <p:sp>
            <p:nvSpPr>
              <p:cNvPr id="21" name="CuadroTexto 20">
                <a:extLst>
                  <a:ext uri="{FF2B5EF4-FFF2-40B4-BE49-F238E27FC236}">
                    <a16:creationId xmlns:a16="http://schemas.microsoft.com/office/drawing/2014/main" id="{263153A1-D89D-67D9-3E59-EF2DBD085AE8}"/>
                  </a:ext>
                </a:extLst>
              </p:cNvPr>
              <p:cNvSpPr txBox="1">
                <a:spLocks noRot="1" noChangeAspect="1" noMove="1" noResize="1" noEditPoints="1" noAdjustHandles="1" noChangeArrowheads="1" noChangeShapeType="1" noTextEdit="1"/>
              </p:cNvSpPr>
              <p:nvPr/>
            </p:nvSpPr>
            <p:spPr>
              <a:xfrm>
                <a:off x="838686" y="5245275"/>
                <a:ext cx="4504888" cy="733662"/>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A72C99B-0957-0733-0F26-1F6954983BBA}"/>
                  </a:ext>
                </a:extLst>
              </p:cNvPr>
              <p:cNvSpPr txBox="1"/>
              <p:nvPr/>
            </p:nvSpPr>
            <p:spPr>
              <a:xfrm>
                <a:off x="6123296" y="1269683"/>
                <a:ext cx="5327176" cy="954044"/>
              </a:xfrm>
              <a:prstGeom prst="rect">
                <a:avLst/>
              </a:prstGeom>
              <a:noFill/>
              <a:ln>
                <a:solidFill>
                  <a:schemeClr val="tx1">
                    <a:lumMod val="85000"/>
                  </a:schemeClr>
                </a:solidFill>
              </a:ln>
            </p:spPr>
            <p:txBody>
              <a:bodyPr wrap="square" rtlCol="0">
                <a:spAutoFit/>
              </a:bodyPr>
              <a:lstStyle/>
              <a:p>
                <a:pPr lvl="0" algn="ju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El valor</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crítico </a:t>
                </a:r>
                <a14:m>
                  <m:oMath xmlns:m="http://schemas.openxmlformats.org/officeDocument/2006/math">
                    <m:sSub>
                      <m:sSubPr>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𝑡</m:t>
                        </m:r>
                      </m:e>
                      <m:sub>
                        <m:f>
                          <m:fPr>
                            <m:type m:val="skw"/>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−1</m:t>
                        </m:r>
                      </m:sub>
                    </m:sSub>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es un número tal </a:t>
                </a:r>
                <a:r>
                  <a:rPr kumimoji="0" lang="es-MX" sz="1800" b="1"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que la </a:t>
                </a: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probabilidad acumulada desde la cola superior </a:t>
                </a:r>
                <a:r>
                  <a:rPr kumimoji="0" lang="es-MX" sz="1800" b="1"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de la </a:t>
                </a: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distribución t-</a:t>
                </a:r>
                <a:r>
                  <a:rPr kumimoji="0" lang="es-MX"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Student</a:t>
                </a: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con n-1 grados de libertad es </a:t>
                </a:r>
                <a14:m>
                  <m:oMath xmlns:m="http://schemas.openxmlformats.org/officeDocument/2006/math">
                    <m:f>
                      <m:fPr>
                        <m:type m:val="skw"/>
                        <m:ctrlPr>
                          <a:rPr kumimoji="0" lang="es-MX" sz="1800" b="1" i="1" u="none" strike="noStrike" kern="1200" cap="none" spc="0" normalizeH="0" baseline="0" noProof="0" smtClean="0">
                            <a:ln>
                              <a:noFill/>
                            </a:ln>
                            <a:solidFill>
                              <a:schemeClr val="tx1"/>
                            </a:solidFill>
                            <a:effectLst/>
                            <a:uLnTx/>
                            <a:uFillTx/>
                            <a:latin typeface="Cambria Math" panose="02040503050406030204" pitchFamily="18" charset="0"/>
                            <a:cs typeface="Times New Roman" panose="02020603050405020304" pitchFamily="18" charset="0"/>
                          </a:rPr>
                        </m:ctrlPr>
                      </m:fPr>
                      <m:num>
                        <m:r>
                          <a:rPr kumimoji="0" lang="es-MX" sz="1800" b="1"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𝜶</m:t>
                        </m:r>
                      </m:num>
                      <m:den>
                        <m:r>
                          <a:rPr kumimoji="0" lang="es-MX" sz="1800" b="1" i="1" u="none" strike="noStrike" kern="1200" cap="none" spc="0" normalizeH="0" baseline="0" noProof="0" smtClean="0">
                            <a:ln>
                              <a:noFill/>
                            </a:ln>
                            <a:solidFill>
                              <a:schemeClr val="tx1"/>
                            </a:solidFill>
                            <a:effectLst/>
                            <a:uLnTx/>
                            <a:uFillTx/>
                            <a:latin typeface="Cambria Math" panose="02040503050406030204" pitchFamily="18" charset="0"/>
                            <a:cs typeface="Times New Roman" panose="02020603050405020304" pitchFamily="18" charset="0"/>
                          </a:rPr>
                          <m:t>𝟐</m:t>
                        </m:r>
                      </m:den>
                    </m:f>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mc:Choice>
        <mc:Fallback xmlns="">
          <p:sp>
            <p:nvSpPr>
              <p:cNvPr id="22" name="CuadroTexto 21">
                <a:extLst>
                  <a:ext uri="{FF2B5EF4-FFF2-40B4-BE49-F238E27FC236}">
                    <a16:creationId xmlns:a16="http://schemas.microsoft.com/office/drawing/2014/main" id="{AA72C99B-0957-0733-0F26-1F6954983BBA}"/>
                  </a:ext>
                </a:extLst>
              </p:cNvPr>
              <p:cNvSpPr txBox="1">
                <a:spLocks noRot="1" noChangeAspect="1" noMove="1" noResize="1" noEditPoints="1" noAdjustHandles="1" noChangeArrowheads="1" noChangeShapeType="1" noTextEdit="1"/>
              </p:cNvSpPr>
              <p:nvPr/>
            </p:nvSpPr>
            <p:spPr>
              <a:xfrm>
                <a:off x="6123296" y="1269683"/>
                <a:ext cx="5327176" cy="954044"/>
              </a:xfrm>
              <a:prstGeom prst="rect">
                <a:avLst/>
              </a:prstGeom>
              <a:blipFill>
                <a:blip r:embed="rId6"/>
                <a:stretch>
                  <a:fillRect l="-799" t="-18239" r="-8333" b="-6855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B7DE5075-9679-D276-AB4B-63039007D245}"/>
                  </a:ext>
                </a:extLst>
              </p:cNvPr>
              <p:cNvSpPr txBox="1"/>
              <p:nvPr/>
            </p:nvSpPr>
            <p:spPr>
              <a:xfrm>
                <a:off x="7695534" y="2340913"/>
                <a:ext cx="2109680" cy="4725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𝑃</m:t>
                      </m:r>
                      <m:d>
                        <m:dPr>
                          <m:ctrlPr>
                            <a:rPr lang="es-MX" b="0" i="1" smtClean="0">
                              <a:solidFill>
                                <a:schemeClr val="bg1"/>
                              </a:solidFill>
                              <a:latin typeface="Cambria Math" panose="02040503050406030204" pitchFamily="18" charset="0"/>
                            </a:rPr>
                          </m:ctrlPr>
                        </m:dPr>
                        <m:e>
                          <m:r>
                            <a:rPr lang="es-MX" b="0" i="1" smtClean="0">
                              <a:solidFill>
                                <a:schemeClr val="bg1"/>
                              </a:solidFill>
                              <a:latin typeface="Cambria Math" panose="02040503050406030204" pitchFamily="18" charset="0"/>
                            </a:rPr>
                            <m:t>𝑇</m:t>
                          </m:r>
                          <m:r>
                            <a:rPr lang="es-MX" b="0" i="1" smtClean="0">
                              <a:solidFill>
                                <a:schemeClr val="bg1"/>
                              </a:solidFill>
                              <a:latin typeface="Cambria Math" panose="02040503050406030204" pitchFamily="18" charset="0"/>
                              <a:ea typeface="Cambria Math" panose="020405030504060302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e>
                      </m:d>
                      <m:r>
                        <a:rPr lang="es-MX" b="0" i="1" smtClean="0">
                          <a:solidFill>
                            <a:schemeClr val="bg1"/>
                          </a:solidFill>
                          <a:latin typeface="Cambria Math" panose="02040503050406030204" pitchFamily="18" charset="0"/>
                        </a:rPr>
                        <m:t>=</m:t>
                      </m:r>
                      <m:f>
                        <m:fPr>
                          <m:ctrlPr>
                            <a:rPr lang="es-MX" b="0" i="1" smtClean="0">
                              <a:solidFill>
                                <a:schemeClr val="bg1"/>
                              </a:solidFill>
                              <a:latin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𝛼</m:t>
                          </m:r>
                        </m:num>
                        <m:den>
                          <m:r>
                            <a:rPr lang="es-MX" b="0" i="1" smtClean="0">
                              <a:solidFill>
                                <a:schemeClr val="bg1"/>
                              </a:solidFill>
                              <a:latin typeface="Cambria Math" panose="02040503050406030204" pitchFamily="18" charset="0"/>
                            </a:rPr>
                            <m:t>2</m:t>
                          </m:r>
                        </m:den>
                      </m:f>
                    </m:oMath>
                  </m:oMathPara>
                </a14:m>
                <a:endParaRPr lang="es-MX" dirty="0"/>
              </a:p>
            </p:txBody>
          </p:sp>
        </mc:Choice>
        <mc:Fallback xmlns="">
          <p:sp>
            <p:nvSpPr>
              <p:cNvPr id="23" name="CuadroTexto 22">
                <a:extLst>
                  <a:ext uri="{FF2B5EF4-FFF2-40B4-BE49-F238E27FC236}">
                    <a16:creationId xmlns:a16="http://schemas.microsoft.com/office/drawing/2014/main" id="{B7DE5075-9679-D276-AB4B-63039007D245}"/>
                  </a:ext>
                </a:extLst>
              </p:cNvPr>
              <p:cNvSpPr txBox="1">
                <a:spLocks noRot="1" noChangeAspect="1" noMove="1" noResize="1" noEditPoints="1" noAdjustHandles="1" noChangeArrowheads="1" noChangeShapeType="1" noTextEdit="1"/>
              </p:cNvSpPr>
              <p:nvPr/>
            </p:nvSpPr>
            <p:spPr>
              <a:xfrm>
                <a:off x="7695534" y="2340913"/>
                <a:ext cx="2109680" cy="472502"/>
              </a:xfrm>
              <a:prstGeom prst="rect">
                <a:avLst/>
              </a:prstGeom>
              <a:blipFill>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29E13668-48E9-C6C1-B6EB-16F4BE9A103F}"/>
                  </a:ext>
                </a:extLst>
              </p:cNvPr>
              <p:cNvSpPr txBox="1"/>
              <p:nvPr/>
            </p:nvSpPr>
            <p:spPr>
              <a:xfrm>
                <a:off x="7088476" y="2897336"/>
                <a:ext cx="3736472" cy="414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𝑃</m:t>
                      </m:r>
                      <m:d>
                        <m:dPr>
                          <m:ctrlPr>
                            <a:rPr lang="es-MX" b="0" i="1" smtClean="0">
                              <a:solidFill>
                                <a:schemeClr val="bg1"/>
                              </a:solidFill>
                              <a:latin typeface="Cambria Math" panose="02040503050406030204" pitchFamily="18" charset="0"/>
                            </a:rPr>
                          </m:ctrlPr>
                        </m:dPr>
                        <m:e>
                          <m:r>
                            <a:rPr lang="es-MX" b="0" i="1" smtClean="0">
                              <a:solidFill>
                                <a:schemeClr val="bg1"/>
                              </a:solidFill>
                              <a:latin typeface="Cambria Math" panose="020405030504060302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r>
                            <a:rPr lang="es-MX" b="0" i="1" smtClean="0">
                              <a:solidFill>
                                <a:schemeClr val="bg1"/>
                              </a:solidFill>
                              <a:latin typeface="Cambria Math" panose="02040503050406030204" pitchFamily="18" charset="0"/>
                              <a:ea typeface="Cambria Math" panose="02040503050406030204" pitchFamily="18" charset="0"/>
                            </a:rPr>
                            <m:t>≤</m:t>
                          </m:r>
                          <m:r>
                            <a:rPr lang="es-MX" b="0" i="1" smtClean="0">
                              <a:solidFill>
                                <a:schemeClr val="bg1"/>
                              </a:solidFill>
                              <a:latin typeface="Cambria Math" panose="02040503050406030204" pitchFamily="18" charset="0"/>
                              <a:ea typeface="Cambria Math" panose="02040503050406030204" pitchFamily="18" charset="0"/>
                            </a:rPr>
                            <m:t>𝑇</m:t>
                          </m:r>
                          <m:r>
                            <a:rPr lang="es-MX" i="1">
                              <a:solidFill>
                                <a:schemeClr val="bg1"/>
                              </a:solidFill>
                              <a:latin typeface="Cambria Math" panose="02040503050406030204" pitchFamily="18" charset="0"/>
                              <a:ea typeface="Cambria Math" panose="020405030504060302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e>
                      </m:d>
                      <m:r>
                        <a:rPr lang="es-MX" b="0" i="1" smtClean="0">
                          <a:solidFill>
                            <a:schemeClr val="bg1"/>
                          </a:solidFill>
                          <a:latin typeface="Cambria Math" panose="02040503050406030204" pitchFamily="18" charset="0"/>
                        </a:rPr>
                        <m:t>=1−</m:t>
                      </m:r>
                      <m:r>
                        <a:rPr lang="es-MX" b="0" i="1" smtClean="0">
                          <a:solidFill>
                            <a:schemeClr val="bg1"/>
                          </a:solidFill>
                          <a:latin typeface="Cambria Math" panose="02040503050406030204" pitchFamily="18" charset="0"/>
                          <a:ea typeface="Cambria Math" panose="02040503050406030204" pitchFamily="18" charset="0"/>
                        </a:rPr>
                        <m:t>𝛼</m:t>
                      </m:r>
                    </m:oMath>
                  </m:oMathPara>
                </a14:m>
                <a:endParaRPr lang="es-MX" dirty="0"/>
              </a:p>
            </p:txBody>
          </p:sp>
        </mc:Choice>
        <mc:Fallback xmlns="">
          <p:sp>
            <p:nvSpPr>
              <p:cNvPr id="24" name="CuadroTexto 23">
                <a:extLst>
                  <a:ext uri="{FF2B5EF4-FFF2-40B4-BE49-F238E27FC236}">
                    <a16:creationId xmlns:a16="http://schemas.microsoft.com/office/drawing/2014/main" id="{29E13668-48E9-C6C1-B6EB-16F4BE9A103F}"/>
                  </a:ext>
                </a:extLst>
              </p:cNvPr>
              <p:cNvSpPr txBox="1">
                <a:spLocks noRot="1" noChangeAspect="1" noMove="1" noResize="1" noEditPoints="1" noAdjustHandles="1" noChangeArrowheads="1" noChangeShapeType="1" noTextEdit="1"/>
              </p:cNvSpPr>
              <p:nvPr/>
            </p:nvSpPr>
            <p:spPr>
              <a:xfrm>
                <a:off x="7088476" y="2897336"/>
                <a:ext cx="3736472" cy="414537"/>
              </a:xfrm>
              <a:prstGeom prst="rect">
                <a:avLst/>
              </a:prstGeom>
              <a:blipFill>
                <a:blip r:embed="rId8"/>
                <a:stretch>
                  <a:fillRect l="-979" t="-67647" r="-326" b="-163235"/>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6F9BA01F-E3AE-4802-B718-3E5F783178C3}"/>
                  </a:ext>
                </a:extLst>
              </p:cNvPr>
              <p:cNvSpPr txBox="1"/>
              <p:nvPr/>
            </p:nvSpPr>
            <p:spPr>
              <a:xfrm>
                <a:off x="6123295" y="3409131"/>
                <a:ext cx="5327175" cy="923330"/>
              </a:xfrm>
              <a:prstGeom prst="rect">
                <a:avLst/>
              </a:prstGeom>
              <a:noFill/>
              <a:ln>
                <a:solidFill>
                  <a:schemeClr val="tx1">
                    <a:lumMod val="85000"/>
                  </a:schemeClr>
                </a:solidFill>
              </a:ln>
            </p:spPr>
            <p:txBody>
              <a:bodyPr wrap="square" rtlCol="0">
                <a:spAutoFit/>
              </a:bodyPr>
              <a:lstStyle/>
              <a:p>
                <a:pPr lvl="0" algn="ju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 desea encontrar un intervalo alrededor de la media muestral </a:t>
                </a:r>
                <a14:m>
                  <m:oMath xmlns:m="http://schemas.openxmlformats.org/officeDocument/2006/math">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que</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contenga la verdadera media poblacional </a:t>
                </a:r>
                <a14:m>
                  <m:oMath xmlns:m="http://schemas.openxmlformats.org/officeDocument/2006/math">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con una probabilidad de </a:t>
                </a:r>
                <a14:m>
                  <m:oMath xmlns:m="http://schemas.openxmlformats.org/officeDocument/2006/math">
                    <m:r>
                      <a:rPr lang="es-MX" i="1">
                        <a:solidFill>
                          <a:schemeClr val="bg1"/>
                        </a:solidFill>
                        <a:latin typeface="Cambria Math" panose="02040503050406030204" pitchFamily="18" charset="0"/>
                      </a:rPr>
                      <m:t>1−</m:t>
                    </m:r>
                    <m:r>
                      <a:rPr lang="es-MX" i="1">
                        <a:solidFill>
                          <a:schemeClr val="bg1"/>
                        </a:solidFill>
                        <a:latin typeface="Cambria Math" panose="02040503050406030204" pitchFamily="18" charset="0"/>
                        <a:ea typeface="Cambria Math" panose="02040503050406030204" pitchFamily="18" charset="0"/>
                      </a:rPr>
                      <m:t>𝛼</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mc:Choice>
        <mc:Fallback xmlns="">
          <p:sp>
            <p:nvSpPr>
              <p:cNvPr id="25" name="CuadroTexto 24">
                <a:extLst>
                  <a:ext uri="{FF2B5EF4-FFF2-40B4-BE49-F238E27FC236}">
                    <a16:creationId xmlns:a16="http://schemas.microsoft.com/office/drawing/2014/main" id="{6F9BA01F-E3AE-4802-B718-3E5F783178C3}"/>
                  </a:ext>
                </a:extLst>
              </p:cNvPr>
              <p:cNvSpPr txBox="1">
                <a:spLocks noRot="1" noChangeAspect="1" noMove="1" noResize="1" noEditPoints="1" noAdjustHandles="1" noChangeArrowheads="1" noChangeShapeType="1" noTextEdit="1"/>
              </p:cNvSpPr>
              <p:nvPr/>
            </p:nvSpPr>
            <p:spPr>
              <a:xfrm>
                <a:off x="6123295" y="3409131"/>
                <a:ext cx="5327175" cy="923330"/>
              </a:xfrm>
              <a:prstGeom prst="rect">
                <a:avLst/>
              </a:prstGeom>
              <a:blipFill>
                <a:blip r:embed="rId9"/>
                <a:stretch>
                  <a:fillRect l="-799" t="-2597" r="-913" b="-8442"/>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A4B49542-C5A8-31AA-187B-C5DA56442929}"/>
                  </a:ext>
                </a:extLst>
              </p:cNvPr>
              <p:cNvSpPr txBox="1"/>
              <p:nvPr/>
            </p:nvSpPr>
            <p:spPr>
              <a:xfrm>
                <a:off x="6930171" y="4429719"/>
                <a:ext cx="4053082" cy="8259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r>
                        <a:rPr lang="es-MX" b="0" i="1" smtClean="0">
                          <a:solidFill>
                            <a:schemeClr val="bg1"/>
                          </a:solidFill>
                          <a:latin typeface="Cambria Math" panose="02040503050406030204" pitchFamily="18" charset="0"/>
                          <a:ea typeface="Cambria Math" panose="02040503050406030204" pitchFamily="18" charset="0"/>
                        </a:rPr>
                        <m:t>≤</m:t>
                      </m:r>
                      <m:f>
                        <m:fPr>
                          <m:ctrlPr>
                            <a:rPr lang="es-MX" i="1">
                              <a:solidFill>
                                <a:schemeClr val="bg1"/>
                              </a:solidFill>
                              <a:latin typeface="Cambria Math" panose="02040503050406030204" pitchFamily="18" charset="0"/>
                            </a:rPr>
                          </m:ctrlPr>
                        </m:fPr>
                        <m:num>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num>
                        <m:den>
                          <m:f>
                            <m:fPr>
                              <m:type m:val="skw"/>
                              <m:ctrlPr>
                                <a:rPr lang="es-MX" i="1">
                                  <a:solidFill>
                                    <a:schemeClr val="bg1"/>
                                  </a:solidFill>
                                  <a:latin typeface="Cambria Math" panose="02040503050406030204" pitchFamily="18" charset="0"/>
                                </a:rPr>
                              </m:ctrlPr>
                            </m:fPr>
                            <m:num>
                              <m:r>
                                <a:rPr lang="es-MX" b="0" i="1" smtClean="0">
                                  <a:solidFill>
                                    <a:schemeClr val="bg1"/>
                                  </a:solidFill>
                                  <a:latin typeface="Cambria Math" panose="02040503050406030204" pitchFamily="18" charset="0"/>
                                </a:rPr>
                                <m:t>𝑠</m:t>
                              </m:r>
                            </m:num>
                            <m:den>
                              <m:rad>
                                <m:radPr>
                                  <m:degHide m:val="on"/>
                                  <m:ctrlPr>
                                    <a:rPr lang="es-MX" i="1">
                                      <a:solidFill>
                                        <a:schemeClr val="bg1"/>
                                      </a:solidFill>
                                      <a:latin typeface="Cambria Math" panose="02040503050406030204" pitchFamily="18" charset="0"/>
                                    </a:rPr>
                                  </m:ctrlPr>
                                </m:radPr>
                                <m:deg/>
                                <m:e>
                                  <m:r>
                                    <a:rPr lang="es-MX" i="1">
                                      <a:solidFill>
                                        <a:schemeClr val="bg1"/>
                                      </a:solidFill>
                                      <a:latin typeface="Cambria Math" panose="02040503050406030204" pitchFamily="18" charset="0"/>
                                    </a:rPr>
                                    <m:t>𝑛</m:t>
                                  </m:r>
                                </m:e>
                              </m:rad>
                            </m:den>
                          </m:f>
                        </m:den>
                      </m:f>
                      <m:r>
                        <a:rPr lang="es-MX" i="1">
                          <a:solidFill>
                            <a:schemeClr val="bg1"/>
                          </a:solidFill>
                          <a:latin typeface="Cambria Math" panose="02040503050406030204" pitchFamily="18" charset="0"/>
                          <a:ea typeface="Cambria Math" panose="020405030504060302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oMath>
                  </m:oMathPara>
                </a14:m>
                <a:endParaRPr lang="es-MX" dirty="0"/>
              </a:p>
            </p:txBody>
          </p:sp>
        </mc:Choice>
        <mc:Fallback xmlns="">
          <p:sp>
            <p:nvSpPr>
              <p:cNvPr id="27" name="CuadroTexto 26">
                <a:extLst>
                  <a:ext uri="{FF2B5EF4-FFF2-40B4-BE49-F238E27FC236}">
                    <a16:creationId xmlns:a16="http://schemas.microsoft.com/office/drawing/2014/main" id="{A4B49542-C5A8-31AA-187B-C5DA56442929}"/>
                  </a:ext>
                </a:extLst>
              </p:cNvPr>
              <p:cNvSpPr txBox="1">
                <a:spLocks noRot="1" noChangeAspect="1" noMove="1" noResize="1" noEditPoints="1" noAdjustHandles="1" noChangeArrowheads="1" noChangeShapeType="1" noTextEdit="1"/>
              </p:cNvSpPr>
              <p:nvPr/>
            </p:nvSpPr>
            <p:spPr>
              <a:xfrm>
                <a:off x="6930171" y="4429719"/>
                <a:ext cx="4053082" cy="825995"/>
              </a:xfrm>
              <a:prstGeom prst="rect">
                <a:avLst/>
              </a:prstGeom>
              <a:blipFill>
                <a:blip r:embed="rId10"/>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A3755103-939F-79E0-EEC8-A1C098E5378E}"/>
                  </a:ext>
                </a:extLst>
              </p:cNvPr>
              <p:cNvSpPr txBox="1"/>
              <p:nvPr/>
            </p:nvSpPr>
            <p:spPr>
              <a:xfrm>
                <a:off x="6785568" y="5162193"/>
                <a:ext cx="4477779" cy="6185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r>
                        <a:rPr lang="es-MX" i="1">
                          <a:solidFill>
                            <a:schemeClr val="bg1"/>
                          </a:solidFill>
                          <a:latin typeface="Cambria Math" panose="02040503050406030204" pitchFamily="18" charset="0"/>
                          <a:ea typeface="Cambria Math" panose="02040503050406030204" pitchFamily="18" charset="0"/>
                        </a:rPr>
                        <m:t>∙</m:t>
                      </m:r>
                      <m:f>
                        <m:fPr>
                          <m:ctrlPr>
                            <a:rPr lang="es-MX" i="1" smtClean="0">
                              <a:solidFill>
                                <a:schemeClr val="bg1"/>
                              </a:solidFill>
                              <a:latin typeface="Cambria Math" panose="02040503050406030204" pitchFamily="18" charset="0"/>
                              <a:ea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𝑠</m:t>
                          </m:r>
                        </m:num>
                        <m:den>
                          <m:rad>
                            <m:radPr>
                              <m:degHide m:val="on"/>
                              <m:ctrlPr>
                                <a:rPr lang="es-MX" i="1" smtClean="0">
                                  <a:solidFill>
                                    <a:schemeClr val="bg1"/>
                                  </a:solidFill>
                                  <a:latin typeface="Cambria Math" panose="02040503050406030204" pitchFamily="18" charset="0"/>
                                  <a:ea typeface="Cambria Math" panose="02040503050406030204" pitchFamily="18" charset="0"/>
                                </a:rPr>
                              </m:ctrlPr>
                            </m:radPr>
                            <m:deg/>
                            <m:e>
                              <m:r>
                                <a:rPr lang="es-MX" b="0" i="1" smtClean="0">
                                  <a:solidFill>
                                    <a:schemeClr val="bg1"/>
                                  </a:solidFill>
                                  <a:latin typeface="Cambria Math" panose="02040503050406030204" pitchFamily="18" charset="0"/>
                                  <a:ea typeface="Cambria Math" panose="02040503050406030204" pitchFamily="18" charset="0"/>
                                </a:rPr>
                                <m:t>𝑛</m:t>
                              </m:r>
                            </m:e>
                          </m:rad>
                        </m:den>
                      </m:f>
                      <m:r>
                        <a:rPr lang="es-MX" b="0" i="1" smtClean="0">
                          <a:solidFill>
                            <a:schemeClr val="bg1"/>
                          </a:solidFill>
                          <a:latin typeface="Cambria Math" panose="02040503050406030204" pitchFamily="18" charset="0"/>
                          <a:ea typeface="Cambria Math" panose="02040503050406030204" pitchFamily="18" charset="0"/>
                        </a:rPr>
                        <m:t>≤</m:t>
                      </m:r>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s-MX" i="1">
                          <a:solidFill>
                            <a:schemeClr val="bg1"/>
                          </a:solidFill>
                          <a:latin typeface="Cambria Math" panose="02040503050406030204" pitchFamily="18" charset="0"/>
                          <a:ea typeface="Cambria Math" panose="020405030504060302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r>
                        <a:rPr lang="es-MX" b="0" i="1" smtClean="0">
                          <a:solidFill>
                            <a:schemeClr val="bg1"/>
                          </a:solidFill>
                          <a:latin typeface="Cambria Math" panose="02040503050406030204" pitchFamily="18" charset="0"/>
                          <a:ea typeface="Cambria Math" panose="02040503050406030204" pitchFamily="18" charset="0"/>
                        </a:rPr>
                        <m:t>∙</m:t>
                      </m:r>
                      <m:f>
                        <m:fPr>
                          <m:ctrlPr>
                            <a:rPr lang="es-MX" i="1">
                              <a:solidFill>
                                <a:schemeClr val="bg1"/>
                              </a:solidFill>
                              <a:latin typeface="Cambria Math" panose="02040503050406030204" pitchFamily="18" charset="0"/>
                              <a:ea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𝑠</m:t>
                          </m:r>
                        </m:num>
                        <m:den>
                          <m:rad>
                            <m:radPr>
                              <m:degHide m:val="on"/>
                              <m:ctrlPr>
                                <a:rPr lang="es-MX" i="1">
                                  <a:solidFill>
                                    <a:schemeClr val="bg1"/>
                                  </a:solidFill>
                                  <a:latin typeface="Cambria Math" panose="02040503050406030204" pitchFamily="18" charset="0"/>
                                  <a:ea typeface="Cambria Math" panose="02040503050406030204" pitchFamily="18" charset="0"/>
                                </a:rPr>
                              </m:ctrlPr>
                            </m:radPr>
                            <m:deg/>
                            <m:e>
                              <m:r>
                                <a:rPr lang="es-MX" i="1">
                                  <a:solidFill>
                                    <a:schemeClr val="bg1"/>
                                  </a:solidFill>
                                  <a:latin typeface="Cambria Math" panose="02040503050406030204" pitchFamily="18" charset="0"/>
                                  <a:ea typeface="Cambria Math" panose="02040503050406030204" pitchFamily="18" charset="0"/>
                                </a:rPr>
                                <m:t>𝑛</m:t>
                              </m:r>
                            </m:e>
                          </m:rad>
                        </m:den>
                      </m:f>
                    </m:oMath>
                  </m:oMathPara>
                </a14:m>
                <a:endParaRPr lang="es-MX" dirty="0"/>
              </a:p>
            </p:txBody>
          </p:sp>
        </mc:Choice>
        <mc:Fallback xmlns="">
          <p:sp>
            <p:nvSpPr>
              <p:cNvPr id="29" name="CuadroTexto 28">
                <a:extLst>
                  <a:ext uri="{FF2B5EF4-FFF2-40B4-BE49-F238E27FC236}">
                    <a16:creationId xmlns:a16="http://schemas.microsoft.com/office/drawing/2014/main" id="{A3755103-939F-79E0-EEC8-A1C098E5378E}"/>
                  </a:ext>
                </a:extLst>
              </p:cNvPr>
              <p:cNvSpPr txBox="1">
                <a:spLocks noRot="1" noChangeAspect="1" noMove="1" noResize="1" noEditPoints="1" noAdjustHandles="1" noChangeArrowheads="1" noChangeShapeType="1" noTextEdit="1"/>
              </p:cNvSpPr>
              <p:nvPr/>
            </p:nvSpPr>
            <p:spPr>
              <a:xfrm>
                <a:off x="6785568" y="5162193"/>
                <a:ext cx="4477779" cy="618503"/>
              </a:xfrm>
              <a:prstGeom prst="rect">
                <a:avLst/>
              </a:prstGeom>
              <a:blipFill>
                <a:blip r:embed="rId11"/>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BB418C22-E419-3FA1-BE7C-673130012376}"/>
                  </a:ext>
                </a:extLst>
              </p:cNvPr>
              <p:cNvSpPr txBox="1"/>
              <p:nvPr/>
            </p:nvSpPr>
            <p:spPr>
              <a:xfrm>
                <a:off x="6767203" y="5848956"/>
                <a:ext cx="4947453" cy="6185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MX" i="1" smtClean="0">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b="0" i="1" smtClean="0">
                          <a:solidFill>
                            <a:schemeClr val="bg1"/>
                          </a:solidFill>
                          <a:latin typeface="Cambria Math" panose="020405030504060302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r>
                        <a:rPr lang="es-MX" i="1">
                          <a:solidFill>
                            <a:schemeClr val="bg1"/>
                          </a:solidFill>
                          <a:latin typeface="Cambria Math" panose="02040503050406030204" pitchFamily="18" charset="0"/>
                          <a:ea typeface="Cambria Math" panose="02040503050406030204" pitchFamily="18" charset="0"/>
                        </a:rPr>
                        <m:t>∙</m:t>
                      </m:r>
                      <m:f>
                        <m:fPr>
                          <m:ctrlPr>
                            <a:rPr lang="es-MX" i="1" smtClean="0">
                              <a:solidFill>
                                <a:schemeClr val="bg1"/>
                              </a:solidFill>
                              <a:latin typeface="Cambria Math" panose="02040503050406030204" pitchFamily="18" charset="0"/>
                              <a:ea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𝑠</m:t>
                          </m:r>
                        </m:num>
                        <m:den>
                          <m:rad>
                            <m:radPr>
                              <m:degHide m:val="on"/>
                              <m:ctrlPr>
                                <a:rPr lang="es-MX" i="1" smtClean="0">
                                  <a:solidFill>
                                    <a:schemeClr val="bg1"/>
                                  </a:solidFill>
                                  <a:latin typeface="Cambria Math" panose="02040503050406030204" pitchFamily="18" charset="0"/>
                                  <a:ea typeface="Cambria Math" panose="02040503050406030204" pitchFamily="18" charset="0"/>
                                </a:rPr>
                              </m:ctrlPr>
                            </m:radPr>
                            <m:deg/>
                            <m:e>
                              <m:r>
                                <a:rPr lang="es-MX" b="0" i="1" smtClean="0">
                                  <a:solidFill>
                                    <a:schemeClr val="bg1"/>
                                  </a:solidFill>
                                  <a:latin typeface="Cambria Math" panose="02040503050406030204" pitchFamily="18" charset="0"/>
                                  <a:ea typeface="Cambria Math" panose="02040503050406030204" pitchFamily="18" charset="0"/>
                                </a:rPr>
                                <m:t>𝑛</m:t>
                              </m:r>
                            </m:e>
                          </m:rad>
                        </m:den>
                      </m:f>
                      <m:r>
                        <a:rPr lang="es-MX" b="0" i="1" smtClean="0">
                          <a:solidFill>
                            <a:schemeClr val="bg1"/>
                          </a:solidFill>
                          <a:latin typeface="Cambria Math" panose="02040503050406030204" pitchFamily="18" charset="0"/>
                          <a:ea typeface="Cambria Math" panose="02040503050406030204" pitchFamily="18" charset="0"/>
                        </a:rPr>
                        <m:t>≤</m:t>
                      </m:r>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s-MX" i="1">
                          <a:solidFill>
                            <a:schemeClr val="bg1"/>
                          </a:solidFill>
                          <a:latin typeface="Cambria Math" panose="02040503050406030204" pitchFamily="18" charset="0"/>
                          <a:ea typeface="Cambria Math" panose="02040503050406030204" pitchFamily="18" charset="0"/>
                        </a:rPr>
                        <m:t>≤</m:t>
                      </m:r>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b="0" i="1" smtClean="0">
                          <a:solidFill>
                            <a:prstClr val="black"/>
                          </a:solidFill>
                          <a:latin typeface="Cambria Math" panose="02040503050406030204" pitchFamily="18" charset="0"/>
                          <a:cs typeface="Times New Roman" panose="020206030504050203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r>
                        <a:rPr lang="es-MX" b="0" i="1" smtClean="0">
                          <a:solidFill>
                            <a:schemeClr val="bg1"/>
                          </a:solidFill>
                          <a:latin typeface="Cambria Math" panose="02040503050406030204" pitchFamily="18" charset="0"/>
                          <a:ea typeface="Cambria Math" panose="02040503050406030204" pitchFamily="18" charset="0"/>
                        </a:rPr>
                        <m:t>∙</m:t>
                      </m:r>
                      <m:f>
                        <m:fPr>
                          <m:ctrlPr>
                            <a:rPr lang="es-MX" i="1">
                              <a:solidFill>
                                <a:schemeClr val="bg1"/>
                              </a:solidFill>
                              <a:latin typeface="Cambria Math" panose="02040503050406030204" pitchFamily="18" charset="0"/>
                              <a:ea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𝑠</m:t>
                          </m:r>
                        </m:num>
                        <m:den>
                          <m:rad>
                            <m:radPr>
                              <m:degHide m:val="on"/>
                              <m:ctrlPr>
                                <a:rPr lang="es-MX" i="1">
                                  <a:solidFill>
                                    <a:schemeClr val="bg1"/>
                                  </a:solidFill>
                                  <a:latin typeface="Cambria Math" panose="02040503050406030204" pitchFamily="18" charset="0"/>
                                  <a:ea typeface="Cambria Math" panose="02040503050406030204" pitchFamily="18" charset="0"/>
                                </a:rPr>
                              </m:ctrlPr>
                            </m:radPr>
                            <m:deg/>
                            <m:e>
                              <m:r>
                                <a:rPr lang="es-MX" i="1">
                                  <a:solidFill>
                                    <a:schemeClr val="bg1"/>
                                  </a:solidFill>
                                  <a:latin typeface="Cambria Math" panose="02040503050406030204" pitchFamily="18" charset="0"/>
                                  <a:ea typeface="Cambria Math" panose="02040503050406030204" pitchFamily="18" charset="0"/>
                                </a:rPr>
                                <m:t>𝑛</m:t>
                              </m:r>
                            </m:e>
                          </m:rad>
                        </m:den>
                      </m:f>
                    </m:oMath>
                  </m:oMathPara>
                </a14:m>
                <a:endParaRPr lang="es-MX" dirty="0"/>
              </a:p>
            </p:txBody>
          </p:sp>
        </mc:Choice>
        <mc:Fallback xmlns="">
          <p:sp>
            <p:nvSpPr>
              <p:cNvPr id="30" name="CuadroTexto 29">
                <a:extLst>
                  <a:ext uri="{FF2B5EF4-FFF2-40B4-BE49-F238E27FC236}">
                    <a16:creationId xmlns:a16="http://schemas.microsoft.com/office/drawing/2014/main" id="{BB418C22-E419-3FA1-BE7C-673130012376}"/>
                  </a:ext>
                </a:extLst>
              </p:cNvPr>
              <p:cNvSpPr txBox="1">
                <a:spLocks noRot="1" noChangeAspect="1" noMove="1" noResize="1" noEditPoints="1" noAdjustHandles="1" noChangeArrowheads="1" noChangeShapeType="1" noTextEdit="1"/>
              </p:cNvSpPr>
              <p:nvPr/>
            </p:nvSpPr>
            <p:spPr>
              <a:xfrm>
                <a:off x="6767203" y="5848956"/>
                <a:ext cx="4947453" cy="618503"/>
              </a:xfrm>
              <a:prstGeom prst="rect">
                <a:avLst/>
              </a:prstGeom>
              <a:blipFill>
                <a:blip r:embed="rId12"/>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43138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anim calcmode="lin" valueType="num">
                                      <p:cBhvr>
                                        <p:cTn id="22" dur="1000" fill="hold"/>
                                        <p:tgtEl>
                                          <p:spTgt spid="21"/>
                                        </p:tgtEl>
                                        <p:attrNameLst>
                                          <p:attrName>ppt_x</p:attrName>
                                        </p:attrNameLst>
                                      </p:cBhvr>
                                      <p:tavLst>
                                        <p:tav tm="0">
                                          <p:val>
                                            <p:strVal val="#ppt_x"/>
                                          </p:val>
                                        </p:tav>
                                        <p:tav tm="100000">
                                          <p:val>
                                            <p:strVal val="#ppt_x"/>
                                          </p:val>
                                        </p:tav>
                                      </p:tavLst>
                                    </p:anim>
                                    <p:anim calcmode="lin" valueType="num">
                                      <p:cBhvr>
                                        <p:cTn id="2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000"/>
                                        <p:tgtEl>
                                          <p:spTgt spid="22"/>
                                        </p:tgtEl>
                                      </p:cBhvr>
                                    </p:animEffect>
                                    <p:anim calcmode="lin" valueType="num">
                                      <p:cBhvr>
                                        <p:cTn id="29" dur="1000" fill="hold"/>
                                        <p:tgtEl>
                                          <p:spTgt spid="22"/>
                                        </p:tgtEl>
                                        <p:attrNameLst>
                                          <p:attrName>ppt_x</p:attrName>
                                        </p:attrNameLst>
                                      </p:cBhvr>
                                      <p:tavLst>
                                        <p:tav tm="0">
                                          <p:val>
                                            <p:strVal val="#ppt_x"/>
                                          </p:val>
                                        </p:tav>
                                        <p:tav tm="100000">
                                          <p:val>
                                            <p:strVal val="#ppt_x"/>
                                          </p:val>
                                        </p:tav>
                                      </p:tavLst>
                                    </p:anim>
                                    <p:anim calcmode="lin" valueType="num">
                                      <p:cBhvr>
                                        <p:cTn id="3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1000"/>
                                        <p:tgtEl>
                                          <p:spTgt spid="27"/>
                                        </p:tgtEl>
                                      </p:cBhvr>
                                    </p:animEffect>
                                    <p:anim calcmode="lin" valueType="num">
                                      <p:cBhvr>
                                        <p:cTn id="57" dur="1000" fill="hold"/>
                                        <p:tgtEl>
                                          <p:spTgt spid="27"/>
                                        </p:tgtEl>
                                        <p:attrNameLst>
                                          <p:attrName>ppt_x</p:attrName>
                                        </p:attrNameLst>
                                      </p:cBhvr>
                                      <p:tavLst>
                                        <p:tav tm="0">
                                          <p:val>
                                            <p:strVal val="#ppt_x"/>
                                          </p:val>
                                        </p:tav>
                                        <p:tav tm="100000">
                                          <p:val>
                                            <p:strVal val="#ppt_x"/>
                                          </p:val>
                                        </p:tav>
                                      </p:tavLst>
                                    </p:anim>
                                    <p:anim calcmode="lin" valueType="num">
                                      <p:cBhvr>
                                        <p:cTn id="5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1000"/>
                                        <p:tgtEl>
                                          <p:spTgt spid="29"/>
                                        </p:tgtEl>
                                      </p:cBhvr>
                                    </p:animEffect>
                                    <p:anim calcmode="lin" valueType="num">
                                      <p:cBhvr>
                                        <p:cTn id="64" dur="1000" fill="hold"/>
                                        <p:tgtEl>
                                          <p:spTgt spid="29"/>
                                        </p:tgtEl>
                                        <p:attrNameLst>
                                          <p:attrName>ppt_x</p:attrName>
                                        </p:attrNameLst>
                                      </p:cBhvr>
                                      <p:tavLst>
                                        <p:tav tm="0">
                                          <p:val>
                                            <p:strVal val="#ppt_x"/>
                                          </p:val>
                                        </p:tav>
                                        <p:tav tm="100000">
                                          <p:val>
                                            <p:strVal val="#ppt_x"/>
                                          </p:val>
                                        </p:tav>
                                      </p:tavLst>
                                    </p:anim>
                                    <p:anim calcmode="lin" valueType="num">
                                      <p:cBhvr>
                                        <p:cTn id="6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1000"/>
                                        <p:tgtEl>
                                          <p:spTgt spid="30"/>
                                        </p:tgtEl>
                                      </p:cBhvr>
                                    </p:animEffect>
                                    <p:anim calcmode="lin" valueType="num">
                                      <p:cBhvr>
                                        <p:cTn id="71" dur="1000" fill="hold"/>
                                        <p:tgtEl>
                                          <p:spTgt spid="30"/>
                                        </p:tgtEl>
                                        <p:attrNameLst>
                                          <p:attrName>ppt_x</p:attrName>
                                        </p:attrNameLst>
                                      </p:cBhvr>
                                      <p:tavLst>
                                        <p:tav tm="0">
                                          <p:val>
                                            <p:strVal val="#ppt_x"/>
                                          </p:val>
                                        </p:tav>
                                        <p:tav tm="100000">
                                          <p:val>
                                            <p:strVal val="#ppt_x"/>
                                          </p:val>
                                        </p:tav>
                                      </p:tavLst>
                                    </p:anim>
                                    <p:anim calcmode="lin" valueType="num">
                                      <p:cBhvr>
                                        <p:cTn id="72"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5" grpId="0" animBg="1"/>
      <p:bldP spid="21" grpId="0"/>
      <p:bldP spid="22" grpId="0" animBg="1"/>
      <p:bldP spid="23" grpId="0"/>
      <p:bldP spid="24" grpId="0"/>
      <p:bldP spid="25" grpId="0" animBg="1"/>
      <p:bldP spid="27" grpId="0"/>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ES" sz="2600" dirty="0">
                <a:latin typeface="Times New Roman" panose="02020603050405020304" pitchFamily="18" charset="0"/>
                <a:cs typeface="Times New Roman" panose="02020603050405020304" pitchFamily="18" charset="0"/>
              </a:rPr>
              <a:t>Margen de error e intervalo de confianza</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4655675" cy="1203215"/>
              </a:xfrm>
              <a:prstGeom prst="rect">
                <a:avLst/>
              </a:prstGeom>
              <a:noFill/>
              <a:ln>
                <a:solidFill>
                  <a:schemeClr val="tx1">
                    <a:lumMod val="85000"/>
                  </a:schemeClr>
                </a:solidFill>
              </a:ln>
            </p:spPr>
            <p:txBody>
              <a:bodyPr wrap="square" rtlCol="0">
                <a:spAutoFit/>
              </a:bodyPr>
              <a:lstStyle/>
              <a:p>
                <a:pPr algn="ctr"/>
                <a:r>
                  <a:rPr lang="es-MX" b="0" i="1" dirty="0">
                    <a:solidFill>
                      <a:schemeClr val="bg1"/>
                    </a:solidFill>
                    <a:latin typeface="Cambria Math" panose="02040503050406030204" pitchFamily="18" charset="0"/>
                    <a:cs typeface="Times New Roman" panose="02020603050405020304" pitchFamily="18" charset="0"/>
                  </a:rPr>
                  <a:t>Margen de Error</a:t>
                </a:r>
              </a:p>
              <a:p>
                <a:pPr algn="just"/>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cs typeface="Times New Roman" panose="02020603050405020304" pitchFamily="18" charset="0"/>
                        </a:rPr>
                        <m:t>𝐸</m:t>
                      </m:r>
                      <m:r>
                        <a:rPr lang="es-MX" b="0" i="1" smtClean="0">
                          <a:solidFill>
                            <a:schemeClr val="bg1"/>
                          </a:solidFill>
                          <a:latin typeface="Cambria Math" panose="02040503050406030204" pitchFamily="18" charset="0"/>
                          <a:cs typeface="Times New Roman" panose="020206030504050203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i="1">
                              <a:solidFill>
                                <a:prstClr val="black"/>
                              </a:solidFill>
                              <a:latin typeface="Cambria Math" panose="02040503050406030204" pitchFamily="18" charset="0"/>
                              <a:cs typeface="Times New Roman" panose="02020603050405020304" pitchFamily="18" charset="0"/>
                            </a:rPr>
                            <m:t>𝑡</m:t>
                          </m:r>
                        </m:e>
                        <m:sub>
                          <m:f>
                            <m:fPr>
                              <m:type m:val="skw"/>
                              <m:ctrlPr>
                                <a:rPr lang="es-MX" i="1">
                                  <a:solidFill>
                                    <a:prstClr val="black"/>
                                  </a:solidFill>
                                  <a:latin typeface="Cambria Math" panose="02040503050406030204" pitchFamily="18" charset="0"/>
                                  <a:cs typeface="Times New Roman" panose="02020603050405020304" pitchFamily="18" charset="0"/>
                                </a:rPr>
                              </m:ctrlPr>
                            </m:fPr>
                            <m:num>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i="1">
                                  <a:solidFill>
                                    <a:prstClr val="black"/>
                                  </a:solidFill>
                                  <a:latin typeface="Cambria Math" panose="02040503050406030204" pitchFamily="18" charset="0"/>
                                  <a:cs typeface="Times New Roman" panose="02020603050405020304" pitchFamily="18" charset="0"/>
                                </a:rPr>
                                <m:t>2</m:t>
                              </m:r>
                            </m:den>
                          </m:f>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cs typeface="Times New Roman" panose="02020603050405020304" pitchFamily="18" charset="0"/>
                            </a:rPr>
                            <m:t>𝑛</m:t>
                          </m:r>
                          <m:r>
                            <a:rPr lang="es-MX" i="1">
                              <a:solidFill>
                                <a:prstClr val="black"/>
                              </a:solidFill>
                              <a:latin typeface="Cambria Math" panose="02040503050406030204" pitchFamily="18" charset="0"/>
                              <a:cs typeface="Times New Roman" panose="02020603050405020304" pitchFamily="18" charset="0"/>
                            </a:rPr>
                            <m:t>−1</m:t>
                          </m:r>
                        </m:sub>
                      </m:sSub>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𝑠</m:t>
                          </m:r>
                        </m:num>
                        <m:den>
                          <m:rad>
                            <m:radPr>
                              <m:degHide m:val="on"/>
                              <m:ctrlP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𝑛</m:t>
                              </m:r>
                            </m:e>
                          </m:rad>
                        </m:den>
                      </m:f>
                    </m:oMath>
                  </m:oMathPara>
                </a14:m>
                <a:endParaRPr lang="es-MX" dirty="0">
                  <a:solidFill>
                    <a:schemeClr val="bg1"/>
                  </a:solidFill>
                  <a:latin typeface="Times New Roman" panose="02020603050405020304" pitchFamily="18" charset="0"/>
                  <a:cs typeface="Times New Roman" panose="02020603050405020304" pitchFamily="18" charset="0"/>
                </a:endParaRPr>
              </a:p>
              <a:p>
                <a:pPr algn="ctr"/>
                <a:r>
                  <a:rPr lang="es-MX" dirty="0">
                    <a:solidFill>
                      <a:schemeClr val="bg1"/>
                    </a:solidFill>
                    <a:latin typeface="Times New Roman" panose="02020603050405020304" pitchFamily="18" charset="0"/>
                    <a:cs typeface="Times New Roman" panose="02020603050405020304" pitchFamily="18" charset="0"/>
                  </a:rPr>
                  <a:t>Donde </a:t>
                </a:r>
                <a14:m>
                  <m:oMath xmlns:m="http://schemas.openxmlformats.org/officeDocument/2006/math">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𝑡</m:t>
                        </m:r>
                      </m:e>
                      <m:sub>
                        <m:f>
                          <m:fPr>
                            <m:type m:val="skw"/>
                            <m:ctrlPr>
                              <a:rPr lang="es-MX" i="1" smtClean="0">
                                <a:solidFill>
                                  <a:schemeClr val="bg1"/>
                                </a:solidFill>
                                <a:latin typeface="Cambria Math" panose="02040503050406030204" pitchFamily="18" charset="0"/>
                                <a:cs typeface="Times New Roman" panose="02020603050405020304" pitchFamily="18" charset="0"/>
                              </a:rPr>
                            </m:ctrlPr>
                          </m:fPr>
                          <m:num>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b="0" i="1" smtClean="0">
                                <a:solidFill>
                                  <a:schemeClr val="bg1"/>
                                </a:solidFill>
                                <a:latin typeface="Cambria Math" panose="02040503050406030204" pitchFamily="18" charset="0"/>
                                <a:cs typeface="Times New Roman" panose="02020603050405020304" pitchFamily="18" charset="0"/>
                              </a:rPr>
                              <m:t>2</m:t>
                            </m:r>
                          </m:den>
                        </m:f>
                      </m:sub>
                    </m:sSub>
                  </m:oMath>
                </a14:m>
                <a:r>
                  <a:rPr lang="es-MX" dirty="0">
                    <a:solidFill>
                      <a:schemeClr val="bg1"/>
                    </a:solidFill>
                    <a:latin typeface="Times New Roman" panose="02020603050405020304" pitchFamily="18" charset="0"/>
                    <a:cs typeface="Times New Roman" panose="02020603050405020304" pitchFamily="18" charset="0"/>
                  </a:rPr>
                  <a:t> tiene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𝑛</m:t>
                    </m:r>
                    <m:r>
                      <a:rPr lang="es-MX" i="1" dirty="0" smtClean="0">
                        <a:solidFill>
                          <a:schemeClr val="bg1"/>
                        </a:solidFill>
                        <a:latin typeface="Cambria Math" panose="02040503050406030204" pitchFamily="18" charset="0"/>
                        <a:cs typeface="Times New Roman" panose="02020603050405020304" pitchFamily="18" charset="0"/>
                      </a:rPr>
                      <m:t>−1</m:t>
                    </m:r>
                  </m:oMath>
                </a14:m>
                <a:r>
                  <a:rPr lang="es-MX" dirty="0">
                    <a:solidFill>
                      <a:schemeClr val="bg1"/>
                    </a:solidFill>
                    <a:latin typeface="Times New Roman" panose="02020603050405020304" pitchFamily="18" charset="0"/>
                    <a:cs typeface="Times New Roman" panose="02020603050405020304" pitchFamily="18" charset="0"/>
                  </a:rPr>
                  <a:t> grados de libertad</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4655675" cy="1203215"/>
              </a:xfrm>
              <a:prstGeom prst="rect">
                <a:avLst/>
              </a:prstGeom>
              <a:blipFill>
                <a:blip r:embed="rId3"/>
                <a:stretch>
                  <a:fillRect t="-3015" b="-39196"/>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FAE5368-CA82-A18C-7BBA-53BB71123C98}"/>
                  </a:ext>
                </a:extLst>
              </p:cNvPr>
              <p:cNvSpPr txBox="1"/>
              <p:nvPr/>
            </p:nvSpPr>
            <p:spPr>
              <a:xfrm>
                <a:off x="5619698" y="2311194"/>
                <a:ext cx="5084263" cy="954044"/>
              </a:xfrm>
              <a:prstGeom prst="rect">
                <a:avLst/>
              </a:prstGeom>
              <a:noFill/>
              <a:ln>
                <a:solidFill>
                  <a:schemeClr val="tx1">
                    <a:lumMod val="85000"/>
                  </a:schemeClr>
                </a:solidFill>
              </a:ln>
            </p:spPr>
            <p:txBody>
              <a:bodyPr wrap="square" rtlCol="0">
                <a:spAutoFit/>
              </a:bodyPr>
              <a:lstStyle/>
              <a:p>
                <a:pPr algn="ctr"/>
                <a:r>
                  <a:rPr lang="es-MX" b="0" i="1" dirty="0">
                    <a:solidFill>
                      <a:schemeClr val="bg1"/>
                    </a:solidFill>
                    <a:latin typeface="Cambria Math" panose="02040503050406030204" pitchFamily="18" charset="0"/>
                    <a:cs typeface="Times New Roman" panose="02020603050405020304" pitchFamily="18" charset="0"/>
                  </a:rPr>
                  <a:t>Intervalo de confianza para estimar </a:t>
                </a:r>
                <a14:m>
                  <m:oMath xmlns:m="http://schemas.openxmlformats.org/officeDocument/2006/math">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oMath>
                </a14:m>
                <a:endParaRPr lang="es-MX" b="0" i="1" dirty="0">
                  <a:solidFill>
                    <a:schemeClr val="bg1"/>
                  </a:solidFill>
                  <a:latin typeface="Cambria Math" panose="020405030504060302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acc>
                        <m:accPr>
                          <m:chr m:val="̅"/>
                          <m:ctrlPr>
                            <a:rPr lang="es-MX" b="0" i="1" smtClean="0">
                              <a:solidFill>
                                <a:schemeClr val="bg1"/>
                              </a:solidFill>
                              <a:latin typeface="Cambria Math" panose="02040503050406030204" pitchFamily="18" charset="0"/>
                              <a:cs typeface="Times New Roman" panose="02020603050405020304" pitchFamily="18" charset="0"/>
                            </a:rPr>
                          </m:ctrlPr>
                        </m:accPr>
                        <m:e>
                          <m:r>
                            <a:rPr lang="es-MX" b="0" i="1" smtClean="0">
                              <a:solidFill>
                                <a:schemeClr val="bg1"/>
                              </a:solidFill>
                              <a:latin typeface="Cambria Math" panose="02040503050406030204" pitchFamily="18" charset="0"/>
                              <a:cs typeface="Times New Roman" panose="02020603050405020304" pitchFamily="18" charset="0"/>
                            </a:rPr>
                            <m:t>𝑥</m:t>
                          </m:r>
                        </m:e>
                      </m:acc>
                      <m:r>
                        <a:rPr lang="es-MX" b="0" i="1" smtClean="0">
                          <a:solidFill>
                            <a:schemeClr val="bg1"/>
                          </a:solidFill>
                          <a:latin typeface="Cambria Math" panose="02040503050406030204" pitchFamily="18" charset="0"/>
                          <a:cs typeface="Times New Roman" panose="02020603050405020304" pitchFamily="18" charset="0"/>
                        </a:rPr>
                        <m:t>−</m:t>
                      </m:r>
                      <m:r>
                        <a:rPr lang="es-MX" b="0" i="1" smtClean="0">
                          <a:solidFill>
                            <a:schemeClr val="bg1"/>
                          </a:solidFill>
                          <a:latin typeface="Cambria Math" panose="02040503050406030204" pitchFamily="18" charset="0"/>
                          <a:cs typeface="Times New Roman" panose="02020603050405020304" pitchFamily="18" charset="0"/>
                        </a:rPr>
                        <m:t>𝐸</m:t>
                      </m:r>
                      <m:r>
                        <a:rPr lang="es-MX" b="0" i="1" smtClean="0">
                          <a:solidFill>
                            <a:schemeClr val="bg1"/>
                          </a:solidFill>
                          <a:latin typeface="Cambria Math" panose="02040503050406030204" pitchFamily="18" charset="0"/>
                          <a:cs typeface="Times New Roman" panose="02020603050405020304" pitchFamily="18" charset="0"/>
                        </a:rPr>
                        <m:t>&lt;</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𝜇</m:t>
                      </m:r>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&lt;</m:t>
                      </m:r>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cs typeface="Times New Roman" panose="02020603050405020304" pitchFamily="18" charset="0"/>
                            </a:rPr>
                            <m:t>𝑥</m:t>
                          </m:r>
                        </m:e>
                      </m:acc>
                      <m:r>
                        <a:rPr lang="es-MX" b="0" i="1" smtClean="0">
                          <a:solidFill>
                            <a:schemeClr val="bg1"/>
                          </a:solidFill>
                          <a:latin typeface="Cambria Math" panose="02040503050406030204" pitchFamily="18" charset="0"/>
                          <a:cs typeface="Times New Roman" panose="02020603050405020304" pitchFamily="18" charset="0"/>
                        </a:rPr>
                        <m:t>+</m:t>
                      </m:r>
                      <m:r>
                        <a:rPr lang="es-MX" i="1">
                          <a:solidFill>
                            <a:schemeClr val="bg1"/>
                          </a:solidFill>
                          <a:latin typeface="Cambria Math" panose="02040503050406030204" pitchFamily="18" charset="0"/>
                          <a:cs typeface="Times New Roman" panose="02020603050405020304" pitchFamily="18" charset="0"/>
                        </a:rPr>
                        <m:t>𝐸</m:t>
                      </m:r>
                    </m:oMath>
                  </m:oMathPara>
                </a14:m>
                <a:endParaRPr lang="es-MX" dirty="0">
                  <a:solidFill>
                    <a:schemeClr val="bg1"/>
                  </a:solidFill>
                  <a:latin typeface="Times New Roman" panose="02020603050405020304" pitchFamily="18" charset="0"/>
                  <a:cs typeface="Times New Roman" panose="02020603050405020304" pitchFamily="18" charset="0"/>
                </a:endParaRPr>
              </a:p>
              <a:p>
                <a:pPr algn="ctr"/>
                <a:r>
                  <a:rPr lang="es-MX" dirty="0">
                    <a:solidFill>
                      <a:schemeClr val="bg1"/>
                    </a:solidFill>
                    <a:latin typeface="Times New Roman" panose="02020603050405020304" pitchFamily="18" charset="0"/>
                    <a:cs typeface="Times New Roman" panose="02020603050405020304" pitchFamily="18" charset="0"/>
                  </a:rPr>
                  <a:t>Donde </a:t>
                </a:r>
                <a14:m>
                  <m:oMath xmlns:m="http://schemas.openxmlformats.org/officeDocument/2006/math">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𝑡</m:t>
                        </m:r>
                      </m:e>
                      <m:sub>
                        <m:f>
                          <m:fPr>
                            <m:type m:val="skw"/>
                            <m:ctrlPr>
                              <a:rPr lang="es-MX" i="1" smtClean="0">
                                <a:solidFill>
                                  <a:schemeClr val="bg1"/>
                                </a:solidFill>
                                <a:latin typeface="Cambria Math" panose="02040503050406030204" pitchFamily="18" charset="0"/>
                                <a:cs typeface="Times New Roman" panose="02020603050405020304" pitchFamily="18" charset="0"/>
                              </a:rPr>
                            </m:ctrlPr>
                          </m:fPr>
                          <m:num>
                            <m: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b="0" i="1" smtClean="0">
                                <a:solidFill>
                                  <a:schemeClr val="bg1"/>
                                </a:solidFill>
                                <a:latin typeface="Cambria Math" panose="02040503050406030204" pitchFamily="18" charset="0"/>
                                <a:cs typeface="Times New Roman" panose="02020603050405020304" pitchFamily="18" charset="0"/>
                              </a:rPr>
                              <m:t>2</m:t>
                            </m:r>
                          </m:den>
                        </m:f>
                      </m:sub>
                    </m:sSub>
                  </m:oMath>
                </a14:m>
                <a:r>
                  <a:rPr lang="es-MX" dirty="0">
                    <a:solidFill>
                      <a:schemeClr val="bg1"/>
                    </a:solidFill>
                    <a:latin typeface="Times New Roman" panose="02020603050405020304" pitchFamily="18" charset="0"/>
                    <a:cs typeface="Times New Roman" panose="02020603050405020304" pitchFamily="18" charset="0"/>
                  </a:rPr>
                  <a:t> tiene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𝑛</m:t>
                    </m:r>
                    <m:r>
                      <a:rPr lang="es-MX" i="1" dirty="0" smtClean="0">
                        <a:solidFill>
                          <a:schemeClr val="bg1"/>
                        </a:solidFill>
                        <a:latin typeface="Cambria Math" panose="02040503050406030204" pitchFamily="18" charset="0"/>
                        <a:cs typeface="Times New Roman" panose="02020603050405020304" pitchFamily="18" charset="0"/>
                      </a:rPr>
                      <m:t>−1</m:t>
                    </m:r>
                  </m:oMath>
                </a14:m>
                <a:r>
                  <a:rPr lang="es-MX" dirty="0">
                    <a:solidFill>
                      <a:schemeClr val="bg1"/>
                    </a:solidFill>
                    <a:latin typeface="Times New Roman" panose="02020603050405020304" pitchFamily="18" charset="0"/>
                    <a:cs typeface="Times New Roman" panose="02020603050405020304" pitchFamily="18" charset="0"/>
                  </a:rPr>
                  <a:t> grados de libertad</a:t>
                </a:r>
              </a:p>
            </p:txBody>
          </p:sp>
        </mc:Choice>
        <mc:Fallback xmlns="">
          <p:sp>
            <p:nvSpPr>
              <p:cNvPr id="6" name="CuadroTexto 5">
                <a:extLst>
                  <a:ext uri="{FF2B5EF4-FFF2-40B4-BE49-F238E27FC236}">
                    <a16:creationId xmlns:a16="http://schemas.microsoft.com/office/drawing/2014/main" id="{8FAE5368-CA82-A18C-7BBA-53BB71123C98}"/>
                  </a:ext>
                </a:extLst>
              </p:cNvPr>
              <p:cNvSpPr txBox="1">
                <a:spLocks noRot="1" noChangeAspect="1" noMove="1" noResize="1" noEditPoints="1" noAdjustHandles="1" noChangeArrowheads="1" noChangeShapeType="1" noTextEdit="1"/>
              </p:cNvSpPr>
              <p:nvPr/>
            </p:nvSpPr>
            <p:spPr>
              <a:xfrm>
                <a:off x="5619698" y="2311194"/>
                <a:ext cx="5084263" cy="954044"/>
              </a:xfrm>
              <a:prstGeom prst="rect">
                <a:avLst/>
              </a:prstGeom>
              <a:blipFill>
                <a:blip r:embed="rId4"/>
                <a:stretch>
                  <a:fillRect t="-3145" b="-49057"/>
                </a:stretch>
              </a:blipFill>
              <a:ln>
                <a:solidFill>
                  <a:schemeClr val="tx1">
                    <a:lumMod val="85000"/>
                  </a:schemeClr>
                </a:solidFill>
              </a:ln>
            </p:spPr>
            <p:txBody>
              <a:bodyPr/>
              <a:lstStyle/>
              <a:p>
                <a:r>
                  <a:rPr lang="es-MX">
                    <a:noFill/>
                  </a:rPr>
                  <a:t> </a:t>
                </a:r>
              </a:p>
            </p:txBody>
          </p:sp>
        </mc:Fallback>
      </mc:AlternateContent>
      <p:grpSp>
        <p:nvGrpSpPr>
          <p:cNvPr id="3" name="Grupo 2">
            <a:extLst>
              <a:ext uri="{FF2B5EF4-FFF2-40B4-BE49-F238E27FC236}">
                <a16:creationId xmlns:a16="http://schemas.microsoft.com/office/drawing/2014/main" id="{1A226351-32A3-B537-351B-3A85B9A0307A}"/>
              </a:ext>
            </a:extLst>
          </p:cNvPr>
          <p:cNvGrpSpPr/>
          <p:nvPr/>
        </p:nvGrpSpPr>
        <p:grpSpPr>
          <a:xfrm>
            <a:off x="2540338" y="129874"/>
            <a:ext cx="1101584" cy="901425"/>
            <a:chOff x="4557" y="292098"/>
            <a:chExt cx="1412697" cy="1802850"/>
          </a:xfrm>
        </p:grpSpPr>
        <p:sp>
          <p:nvSpPr>
            <p:cNvPr id="4" name="Rectángulo: esquinas redondeadas 3">
              <a:extLst>
                <a:ext uri="{FF2B5EF4-FFF2-40B4-BE49-F238E27FC236}">
                  <a16:creationId xmlns:a16="http://schemas.microsoft.com/office/drawing/2014/main" id="{E89A31CF-A9EC-8B99-B65A-4F8E489E0866}"/>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5" name="Rectángulo: esquinas redondeadas 4">
              <a:extLst>
                <a:ext uri="{FF2B5EF4-FFF2-40B4-BE49-F238E27FC236}">
                  <a16:creationId xmlns:a16="http://schemas.microsoft.com/office/drawing/2014/main" id="{DD577E36-CCBA-D1B0-44C7-8D6C105D57C5}"/>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7" name="Grupo 6">
            <a:extLst>
              <a:ext uri="{FF2B5EF4-FFF2-40B4-BE49-F238E27FC236}">
                <a16:creationId xmlns:a16="http://schemas.microsoft.com/office/drawing/2014/main" id="{4FB089E9-5C92-855C-7FC8-B3C342C7648A}"/>
              </a:ext>
            </a:extLst>
          </p:cNvPr>
          <p:cNvGrpSpPr/>
          <p:nvPr/>
        </p:nvGrpSpPr>
        <p:grpSpPr>
          <a:xfrm>
            <a:off x="4518114" y="129874"/>
            <a:ext cx="1101584" cy="901425"/>
            <a:chOff x="1982333" y="292098"/>
            <a:chExt cx="1412697" cy="1802850"/>
          </a:xfrm>
        </p:grpSpPr>
        <p:sp>
          <p:nvSpPr>
            <p:cNvPr id="8" name="Rectángulo: esquinas redondeadas 7">
              <a:extLst>
                <a:ext uri="{FF2B5EF4-FFF2-40B4-BE49-F238E27FC236}">
                  <a16:creationId xmlns:a16="http://schemas.microsoft.com/office/drawing/2014/main" id="{849689AF-9C87-845A-13DC-E83C26CDDD3B}"/>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9" name="Rectángulo: esquinas redondeadas 6">
              <a:extLst>
                <a:ext uri="{FF2B5EF4-FFF2-40B4-BE49-F238E27FC236}">
                  <a16:creationId xmlns:a16="http://schemas.microsoft.com/office/drawing/2014/main" id="{957F19ED-9A9C-CAE0-A38C-94E8A2D1B73E}"/>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0" name="Grupo 9">
            <a:extLst>
              <a:ext uri="{FF2B5EF4-FFF2-40B4-BE49-F238E27FC236}">
                <a16:creationId xmlns:a16="http://schemas.microsoft.com/office/drawing/2014/main" id="{7C57F56F-FD50-8AFD-C3AB-D0A1600BFD4E}"/>
              </a:ext>
            </a:extLst>
          </p:cNvPr>
          <p:cNvGrpSpPr/>
          <p:nvPr/>
        </p:nvGrpSpPr>
        <p:grpSpPr>
          <a:xfrm>
            <a:off x="6495890" y="129874"/>
            <a:ext cx="1101584" cy="901425"/>
            <a:chOff x="3960109" y="292098"/>
            <a:chExt cx="1412697" cy="1802850"/>
          </a:xfrm>
        </p:grpSpPr>
        <p:sp>
          <p:nvSpPr>
            <p:cNvPr id="11" name="Rectángulo: esquinas redondeadas 10">
              <a:extLst>
                <a:ext uri="{FF2B5EF4-FFF2-40B4-BE49-F238E27FC236}">
                  <a16:creationId xmlns:a16="http://schemas.microsoft.com/office/drawing/2014/main" id="{B9D55098-5117-49FF-7BB5-140B6B63D9D9}"/>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2" name="Rectángulo: esquinas redondeadas 8">
              <a:extLst>
                <a:ext uri="{FF2B5EF4-FFF2-40B4-BE49-F238E27FC236}">
                  <a16:creationId xmlns:a16="http://schemas.microsoft.com/office/drawing/2014/main" id="{8B367FC7-0225-C5E4-A09A-259F9D06DD6E}"/>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3" name="Grupo 12">
            <a:extLst>
              <a:ext uri="{FF2B5EF4-FFF2-40B4-BE49-F238E27FC236}">
                <a16:creationId xmlns:a16="http://schemas.microsoft.com/office/drawing/2014/main" id="{F14B4F4D-BD8F-D45A-1DA5-AA756636EA7D}"/>
              </a:ext>
            </a:extLst>
          </p:cNvPr>
          <p:cNvGrpSpPr/>
          <p:nvPr/>
        </p:nvGrpSpPr>
        <p:grpSpPr>
          <a:xfrm>
            <a:off x="8473666" y="129874"/>
            <a:ext cx="1101584" cy="901425"/>
            <a:chOff x="5937885" y="292098"/>
            <a:chExt cx="1412697" cy="1802850"/>
          </a:xfrm>
          <a:solidFill>
            <a:srgbClr val="FFC000"/>
          </a:solidFill>
        </p:grpSpPr>
        <p:sp>
          <p:nvSpPr>
            <p:cNvPr id="14" name="Rectángulo: esquinas redondeadas 13">
              <a:extLst>
                <a:ext uri="{FF2B5EF4-FFF2-40B4-BE49-F238E27FC236}">
                  <a16:creationId xmlns:a16="http://schemas.microsoft.com/office/drawing/2014/main" id="{C4111A46-CF54-BFB0-473B-E325AF4D2DBA}"/>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5" name="Rectángulo: esquinas redondeadas 10">
              <a:extLst>
                <a:ext uri="{FF2B5EF4-FFF2-40B4-BE49-F238E27FC236}">
                  <a16:creationId xmlns:a16="http://schemas.microsoft.com/office/drawing/2014/main" id="{7B1B0863-F754-34AE-64C0-79421FE94F83}"/>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7A1D9982-0ECE-782F-4D2C-1D3162395A61}"/>
                  </a:ext>
                </a:extLst>
              </p:cNvPr>
              <p:cNvSpPr txBox="1"/>
              <p:nvPr/>
            </p:nvSpPr>
            <p:spPr>
              <a:xfrm>
                <a:off x="964022" y="3749427"/>
                <a:ext cx="9739939" cy="646331"/>
              </a:xfrm>
              <a:prstGeom prst="rect">
                <a:avLst/>
              </a:prstGeom>
              <a:noFill/>
              <a:ln>
                <a:solidFill>
                  <a:schemeClr val="tx1">
                    <a:lumMod val="85000"/>
                  </a:schemeClr>
                </a:solidFill>
              </a:ln>
            </p:spPr>
            <p:txBody>
              <a:bodyPr wrap="square" rtlCol="0">
                <a:spAutoFit/>
              </a:bodyPr>
              <a:lstStyle/>
              <a:p>
                <a:pPr lvl="0" algn="just">
                  <a:defRPr/>
                </a:pPr>
                <a:r>
                  <a:rPr kumimoji="0" lang="es-MX"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Actividad</a:t>
                </a:r>
                <a:r>
                  <a:rPr kumimoji="0" lang="es-MX"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 </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Crea un código en R que estime el intervalo de confianza para la media poblacional </a:t>
                </a:r>
                <a14:m>
                  <m:oMath xmlns:m="http://schemas.openxmlformats.org/officeDocument/2006/math">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cuando no se conoce a la desviación estándar </a:t>
                </a:r>
                <a14:m>
                  <m:oMath xmlns:m="http://schemas.openxmlformats.org/officeDocument/2006/math">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oMath>
                </a14:m>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poblacional.</a:t>
                </a:r>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7A1D9982-0ECE-782F-4D2C-1D3162395A61}"/>
                  </a:ext>
                </a:extLst>
              </p:cNvPr>
              <p:cNvSpPr txBox="1">
                <a:spLocks noRot="1" noChangeAspect="1" noMove="1" noResize="1" noEditPoints="1" noAdjustHandles="1" noChangeArrowheads="1" noChangeShapeType="1" noTextEdit="1"/>
              </p:cNvSpPr>
              <p:nvPr/>
            </p:nvSpPr>
            <p:spPr>
              <a:xfrm>
                <a:off x="964022" y="3749427"/>
                <a:ext cx="9739939" cy="646331"/>
              </a:xfrm>
              <a:prstGeom prst="rect">
                <a:avLst/>
              </a:prstGeom>
              <a:blipFill>
                <a:blip r:embed="rId5"/>
                <a:stretch>
                  <a:fillRect l="-438" t="-3704" b="-12963"/>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1883546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circle(in)">
                                      <p:cBhvr>
                                        <p:cTn id="14" dur="2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6"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ES" sz="2600" dirty="0">
                <a:latin typeface="Times New Roman" panose="02020603050405020304" pitchFamily="18" charset="0"/>
                <a:cs typeface="Times New Roman" panose="02020603050405020304" pitchFamily="18" charset="0"/>
              </a:rPr>
              <a:t>Actividad 2: Discriminación por edad</a:t>
            </a:r>
          </a:p>
        </p:txBody>
      </p:sp>
      <p:sp>
        <p:nvSpPr>
          <p:cNvPr id="5" name="CuadroTexto 4">
            <a:extLst>
              <a:ext uri="{FF2B5EF4-FFF2-40B4-BE49-F238E27FC236}">
                <a16:creationId xmlns:a16="http://schemas.microsoft.com/office/drawing/2014/main" id="{82E76CE6-1BD0-79AE-A817-2A19743D9F79}"/>
              </a:ext>
            </a:extLst>
          </p:cNvPr>
          <p:cNvSpPr txBox="1"/>
          <p:nvPr/>
        </p:nvSpPr>
        <p:spPr>
          <a:xfrm>
            <a:off x="964022" y="2256331"/>
            <a:ext cx="9332916" cy="3139321"/>
          </a:xfrm>
          <a:prstGeom prst="rect">
            <a:avLst/>
          </a:prstGeom>
          <a:noFill/>
          <a:ln>
            <a:solidFill>
              <a:schemeClr val="tx1">
                <a:lumMod val="85000"/>
              </a:schemeClr>
            </a:solidFill>
          </a:ln>
        </p:spPr>
        <p:txBody>
          <a:bodyPr wrap="square" rtlCol="0">
            <a:spAutoFit/>
          </a:bodyPr>
          <a:lstStyle/>
          <a:p>
            <a:pPr algn="just"/>
            <a:r>
              <a:rPr lang="es-MX" dirty="0">
                <a:solidFill>
                  <a:schemeClr val="bg1"/>
                </a:solidFill>
                <a:latin typeface="Times New Roman" panose="02020603050405020304" pitchFamily="18" charset="0"/>
                <a:cs typeface="Times New Roman" panose="02020603050405020304" pitchFamily="18" charset="0"/>
              </a:rPr>
              <a:t>En la siguiente base de datos se incluyen las edades de solicitantes que no lograron un ascenso en su actual trabajo. </a:t>
            </a:r>
          </a:p>
          <a:p>
            <a:pPr algn="just"/>
            <a:endParaRPr lang="es-MX" dirty="0">
              <a:solidFill>
                <a:schemeClr val="bg1"/>
              </a:solidFill>
              <a:latin typeface="Times New Roman" panose="02020603050405020304" pitchFamily="18" charset="0"/>
              <a:cs typeface="Times New Roman" panose="02020603050405020304" pitchFamily="18" charset="0"/>
            </a:endParaRPr>
          </a:p>
          <a:p>
            <a:pPr algn="ctr"/>
            <a:r>
              <a:rPr lang="es-MX" dirty="0">
                <a:solidFill>
                  <a:schemeClr val="bg1"/>
                </a:solidFill>
                <a:latin typeface="Times New Roman" panose="02020603050405020304" pitchFamily="18" charset="0"/>
                <a:cs typeface="Times New Roman" panose="02020603050405020304" pitchFamily="18" charset="0"/>
              </a:rPr>
              <a:t>34, 37, 37, 38, 41, 42, 43, 44, 44, 45, 45, 45, 46, 48, 49, 53, 53, 54, 54, 55, 56, 57, 60</a:t>
            </a:r>
          </a:p>
          <a:p>
            <a:pPr algn="just"/>
            <a:endParaRPr lang="es-MX" dirty="0">
              <a:solidFill>
                <a:schemeClr val="bg1"/>
              </a:solidFill>
              <a:latin typeface="Times New Roman" panose="02020603050405020304" pitchFamily="18" charset="0"/>
              <a:cs typeface="Times New Roman" panose="02020603050405020304" pitchFamily="18" charset="0"/>
            </a:endParaRPr>
          </a:p>
          <a:p>
            <a:pPr algn="just"/>
            <a:r>
              <a:rPr lang="es-MX" dirty="0">
                <a:solidFill>
                  <a:schemeClr val="bg1"/>
                </a:solidFill>
                <a:latin typeface="Times New Roman" panose="02020603050405020304" pitchFamily="18" charset="0"/>
                <a:cs typeface="Times New Roman" panose="02020603050405020304" pitchFamily="18" charset="0"/>
              </a:rPr>
              <a:t>Existe el tema más importante de si ciertos solicitantes fueron víctimas de discriminación por edad, pero por ahora nos enfocaremos en el simple aspecto de utilizar esos valores como una muestra con el propósito de estimar la media de una población más grande. </a:t>
            </a:r>
          </a:p>
          <a:p>
            <a:pPr algn="just"/>
            <a:endParaRPr lang="es-MX" dirty="0">
              <a:solidFill>
                <a:schemeClr val="bg1"/>
              </a:solidFill>
              <a:latin typeface="Times New Roman" panose="02020603050405020304" pitchFamily="18" charset="0"/>
              <a:cs typeface="Times New Roman" panose="02020603050405020304" pitchFamily="18" charset="0"/>
            </a:endParaRPr>
          </a:p>
          <a:p>
            <a:pPr algn="just"/>
            <a:r>
              <a:rPr lang="es-MX" dirty="0">
                <a:solidFill>
                  <a:schemeClr val="bg1"/>
                </a:solidFill>
                <a:latin typeface="Times New Roman" panose="02020603050405020304" pitchFamily="18" charset="0"/>
                <a:cs typeface="Times New Roman" panose="02020603050405020304" pitchFamily="18" charset="0"/>
              </a:rPr>
              <a:t>Suponga que la muestra se obtuvo a través de un muestreo aleatorio simple y utilice los datos muestrales con un nivel de confianza al 95% para calcular el intervalo de confianza.  </a:t>
            </a:r>
          </a:p>
        </p:txBody>
      </p:sp>
    </p:spTree>
    <p:extLst>
      <p:ext uri="{BB962C8B-B14F-4D97-AF65-F5344CB8AC3E}">
        <p14:creationId xmlns:p14="http://schemas.microsoft.com/office/powerpoint/2010/main" val="1312910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Elección de la distribución apropiada</a:t>
            </a:r>
          </a:p>
        </p:txBody>
      </p:sp>
      <p:pic>
        <p:nvPicPr>
          <p:cNvPr id="8" name="Imagen 7"/>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778441" y="1890032"/>
            <a:ext cx="7000875" cy="4514850"/>
          </a:xfrm>
          <a:prstGeom prst="rect">
            <a:avLst/>
          </a:prstGeom>
        </p:spPr>
      </p:pic>
    </p:spTree>
    <p:extLst>
      <p:ext uri="{BB962C8B-B14F-4D97-AF65-F5344CB8AC3E}">
        <p14:creationId xmlns:p14="http://schemas.microsoft.com/office/powerpoint/2010/main" val="3216540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ES" sz="2600" dirty="0">
                    <a:latin typeface="Times New Roman" panose="02020603050405020304" pitchFamily="18" charset="0"/>
                    <a:cs typeface="Times New Roman" panose="02020603050405020304" pitchFamily="18" charset="0"/>
                  </a:rPr>
                  <a:t>Margen de Error </a:t>
                </a:r>
                <a14:m>
                  <m:oMath xmlns:m="http://schemas.openxmlformats.org/officeDocument/2006/math">
                    <m:r>
                      <a:rPr lang="es-ES" sz="2600" i="1" dirty="0" smtClean="0">
                        <a:latin typeface="Cambria Math" panose="02040503050406030204" pitchFamily="18" charset="0"/>
                        <a:cs typeface="Times New Roman" panose="02020603050405020304" pitchFamily="18" charset="0"/>
                      </a:rPr>
                      <m:t>𝐸</m:t>
                    </m:r>
                  </m:oMath>
                </a14:m>
                <a:r>
                  <a:rPr lang="es-ES" sz="2600" dirty="0">
                    <a:latin typeface="Times New Roman" panose="02020603050405020304" pitchFamily="18" charset="0"/>
                    <a:cs typeface="Times New Roman" panose="02020603050405020304" pitchFamily="18" charset="0"/>
                  </a:rPr>
                  <a:t> e intervalo de confianza para estimar </a:t>
                </a:r>
                <a14:m>
                  <m:oMath xmlns:m="http://schemas.openxmlformats.org/officeDocument/2006/math">
                    <m:r>
                      <a:rPr lang="es-ES" sz="2600" i="1" smtClean="0">
                        <a:latin typeface="Cambria Math" panose="02040503050406030204" pitchFamily="18" charset="0"/>
                        <a:ea typeface="Cambria Math" panose="02040503050406030204" pitchFamily="18" charset="0"/>
                        <a:cs typeface="Times New Roman" panose="02020603050405020304" pitchFamily="18" charset="0"/>
                      </a:rPr>
                      <m:t>𝝁</m:t>
                    </m:r>
                  </m:oMath>
                </a14:m>
                <a:r>
                  <a:rPr lang="es-ES" sz="2600" dirty="0">
                    <a:latin typeface="Times New Roman" panose="02020603050405020304" pitchFamily="18" charset="0"/>
                    <a:cs typeface="Times New Roman" panose="02020603050405020304" pitchFamily="18" charset="0"/>
                  </a:rPr>
                  <a:t> con </a:t>
                </a:r>
                <a14:m>
                  <m:oMath xmlns:m="http://schemas.openxmlformats.org/officeDocument/2006/math">
                    <m:r>
                      <a:rPr lang="es-ES" sz="2600" i="1">
                        <a:latin typeface="Cambria Math" panose="02040503050406030204" pitchFamily="18" charset="0"/>
                        <a:ea typeface="Cambria Math" panose="02040503050406030204" pitchFamily="18" charset="0"/>
                        <a:cs typeface="Times New Roman" panose="02020603050405020304" pitchFamily="18" charset="0"/>
                      </a:rPr>
                      <m:t>𝝈</m:t>
                    </m:r>
                  </m:oMath>
                </a14:m>
                <a:r>
                  <a:rPr lang="es-ES" sz="2600" dirty="0">
                    <a:latin typeface="Times New Roman" panose="02020603050405020304" pitchFamily="18" charset="0"/>
                    <a:cs typeface="Times New Roman" panose="02020603050405020304" pitchFamily="18" charset="0"/>
                  </a:rPr>
                  <a:t> desconocida</a:t>
                </a: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430" t="-39000" r="-2430" b="-33000"/>
                </a:stretch>
              </a:blipFill>
            </p:spPr>
            <p:txBody>
              <a:bodyPr/>
              <a:lstStyle/>
              <a:p>
                <a:r>
                  <a:rPr lang="es-MX">
                    <a:noFill/>
                  </a:rPr>
                  <a:t> </a:t>
                </a:r>
              </a:p>
            </p:txBody>
          </p:sp>
        </mc:Fallback>
      </mc:AlternateContent>
      <p:sp>
        <p:nvSpPr>
          <p:cNvPr id="5" name="CuadroTexto 4">
            <a:extLst>
              <a:ext uri="{FF2B5EF4-FFF2-40B4-BE49-F238E27FC236}">
                <a16:creationId xmlns:a16="http://schemas.microsoft.com/office/drawing/2014/main" id="{82E76CE6-1BD0-79AE-A817-2A19743D9F79}"/>
              </a:ext>
            </a:extLst>
          </p:cNvPr>
          <p:cNvSpPr txBox="1"/>
          <p:nvPr/>
        </p:nvSpPr>
        <p:spPr>
          <a:xfrm>
            <a:off x="964022" y="2256331"/>
            <a:ext cx="9332916" cy="923330"/>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b="1" dirty="0">
                <a:solidFill>
                  <a:schemeClr val="bg1"/>
                </a:solidFill>
                <a:latin typeface="Times New Roman" panose="02020603050405020304" pitchFamily="18" charset="0"/>
                <a:cs typeface="Times New Roman" panose="02020603050405020304" pitchFamily="18" charset="0"/>
              </a:rPr>
              <a:t>Actividad 3 : </a:t>
            </a:r>
            <a:r>
              <a:rPr lang="es-MX" dirty="0">
                <a:solidFill>
                  <a:schemeClr val="bg1"/>
                </a:solidFill>
                <a:latin typeface="Times New Roman" panose="02020603050405020304" pitchFamily="18" charset="0"/>
                <a:cs typeface="Times New Roman" panose="02020603050405020304" pitchFamily="18" charset="0"/>
              </a:rPr>
              <a:t>Una compañía de seguros de vida desea estimar la duración media de las pólizas de seguro de una categoría específica. Considera la base de datos “Base Pólizas” para calcular un intervalo de confianza del 95% para la duración media de todas las pólizas en esa categoría.</a:t>
            </a:r>
          </a:p>
        </p:txBody>
      </p:sp>
      <p:sp>
        <p:nvSpPr>
          <p:cNvPr id="6" name="CuadroTexto 5">
            <a:extLst>
              <a:ext uri="{FF2B5EF4-FFF2-40B4-BE49-F238E27FC236}">
                <a16:creationId xmlns:a16="http://schemas.microsoft.com/office/drawing/2014/main" id="{82E76CE6-1BD0-79AE-A817-2A19743D9F79}"/>
              </a:ext>
            </a:extLst>
          </p:cNvPr>
          <p:cNvSpPr txBox="1"/>
          <p:nvPr/>
        </p:nvSpPr>
        <p:spPr>
          <a:xfrm>
            <a:off x="964022" y="3824785"/>
            <a:ext cx="9332916" cy="1477328"/>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b="1" dirty="0">
                <a:solidFill>
                  <a:schemeClr val="bg1"/>
                </a:solidFill>
                <a:latin typeface="Times New Roman" panose="02020603050405020304" pitchFamily="18" charset="0"/>
                <a:cs typeface="Times New Roman" panose="02020603050405020304" pitchFamily="18" charset="0"/>
              </a:rPr>
              <a:t>Actividad 4 : </a:t>
            </a:r>
            <a:r>
              <a:rPr lang="es-MX" dirty="0">
                <a:solidFill>
                  <a:schemeClr val="bg1"/>
                </a:solidFill>
                <a:latin typeface="Times New Roman" panose="02020603050405020304" pitchFamily="18" charset="0"/>
                <a:cs typeface="Times New Roman" panose="02020603050405020304" pitchFamily="18" charset="0"/>
              </a:rPr>
              <a:t>Un asesor de estrategias de inversión gestiona una cartera de 500 inversionistas que invierten en bonos corporativos. Tiene por objetivo estimar el rendimiento promedio de esta cartera por lo que ha tomado una muestra aleatoria de 50 clientes y su respectiva tasa de rendimiento. Utiliza la base de datos “Tasas de Rendimiento” para calcular un intervalo de confianza del 90% para el rendimiento promedio de todos los bonos en la cartera.</a:t>
            </a:r>
          </a:p>
        </p:txBody>
      </p:sp>
    </p:spTree>
    <p:extLst>
      <p:ext uri="{BB962C8B-B14F-4D97-AF65-F5344CB8AC3E}">
        <p14:creationId xmlns:p14="http://schemas.microsoft.com/office/powerpoint/2010/main" val="345481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theme/theme1.xml><?xml version="1.0" encoding="utf-8"?>
<a:theme xmlns:a="http://schemas.openxmlformats.org/drawingml/2006/main" name="Tema1">
  <a:themeElements>
    <a:clrScheme name="Aspecto">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961</TotalTime>
  <Words>1136</Words>
  <Application>Microsoft Office PowerPoint</Application>
  <PresentationFormat>Panorámica</PresentationFormat>
  <Paragraphs>101</Paragraphs>
  <Slides>9</Slides>
  <Notes>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9</vt:i4>
      </vt:variant>
    </vt:vector>
  </HeadingPairs>
  <TitlesOfParts>
    <vt:vector size="17" baseType="lpstr">
      <vt:lpstr>Arial</vt:lpstr>
      <vt:lpstr>Calibri</vt:lpstr>
      <vt:lpstr>Cambria Math</vt:lpstr>
      <vt:lpstr>Franklin Gothic Book</vt:lpstr>
      <vt:lpstr>Franklin Gothic Demi</vt:lpstr>
      <vt:lpstr>Times New Roman</vt:lpstr>
      <vt:lpstr>Wingdings</vt:lpstr>
      <vt:lpstr>Tema1</vt:lpstr>
      <vt:lpstr>Sesión 11: Estimaciones para la media poblacional μ con σ desconocida</vt:lpstr>
      <vt:lpstr>Estimación de una media de población: σ desconocida</vt:lpstr>
      <vt:lpstr>Propiedades importantes de la distribución t-Student</vt:lpstr>
      <vt:lpstr>La distribución t de Student</vt:lpstr>
      <vt:lpstr>Margen de error</vt:lpstr>
      <vt:lpstr>Margen de error e intervalo de confianza</vt:lpstr>
      <vt:lpstr>Actividad 2: Discriminación por edad</vt:lpstr>
      <vt:lpstr>Elección de la distribución apropiada</vt:lpstr>
      <vt:lpstr>Margen de Error E e intervalo de confianza para estimar μ con σ desconocida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CORTES</cp:lastModifiedBy>
  <cp:revision>20</cp:revision>
  <dcterms:created xsi:type="dcterms:W3CDTF">2023-09-16T20:42:33Z</dcterms:created>
  <dcterms:modified xsi:type="dcterms:W3CDTF">2025-01-30T03:23:38Z</dcterms:modified>
</cp:coreProperties>
</file>