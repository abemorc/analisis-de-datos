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8" r:id="rId2"/>
    <p:sldId id="269" r:id="rId3"/>
    <p:sldId id="302" r:id="rId4"/>
    <p:sldId id="304" r:id="rId5"/>
    <p:sldId id="305" r:id="rId6"/>
    <p:sldId id="306" r:id="rId7"/>
    <p:sldId id="307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217B60-C802-4454-9EE0-CE1E717D8A05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MX"/>
        </a:p>
      </dgm:t>
    </dgm:pt>
    <mc:AlternateContent xmlns:mc="http://schemas.openxmlformats.org/markup-compatibility/2006" xmlns:a14="http://schemas.microsoft.com/office/drawing/2010/main">
      <mc:Choice Requires="a14">
        <dgm:pt modelId="{1815CD79-BA91-41CB-A6F5-651D5EBF3C24}">
          <dgm:prSet phldrT="[Texto]" custT="1"/>
          <dgm:spPr/>
          <dgm:t>
            <a:bodyPr/>
            <a:lstStyle/>
            <a:p>
              <a:r>
                <a:rPr lang="es-MX" sz="1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2. Calcular las probabilidades previas (</a:t>
              </a:r>
              <a:r>
                <a:rPr lang="es-MX" sz="14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prior </a:t>
              </a:r>
              <a:r>
                <a:rPr lang="es-MX" sz="1400" i="1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probabilities</a:t>
              </a:r>
              <a:r>
                <a:rPr lang="es-MX" sz="1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14:m>
                <m:oMath xmlns:m="http://schemas.openxmlformats.org/officeDocument/2006/math">
                  <m:sSub>
                    <m:sSubPr>
                      <m:ctrlPr>
                        <a:rPr lang="es-MX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m:ctrlPr>
                    </m:sSubPr>
                    <m:e>
                      <m:r>
                        <a:rPr lang="es-MX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e>
                    <m:sub>
                      <m:r>
                        <a:rPr lang="es-MX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𝑘</m:t>
                      </m:r>
                    </m:sub>
                  </m:sSub>
                </m:oMath>
              </a14:m>
              <a:r>
                <a:rPr lang="es-MX" sz="1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: la proporción esperada de observaciones que pertenecen a cada grupo.</a:t>
              </a:r>
              <a:endParaRPr lang="es-MX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1815CD79-BA91-41CB-A6F5-651D5EBF3C24}">
          <dgm:prSet phldrT="[Texto]" custT="1"/>
          <dgm:spPr/>
          <dgm:t>
            <a:bodyPr/>
            <a:lstStyle/>
            <a:p>
              <a:r>
                <a:rPr lang="es-MX" sz="1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2. Calcular las probabilidades previas (</a:t>
              </a:r>
              <a:r>
                <a:rPr lang="es-MX" sz="14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prior </a:t>
              </a:r>
              <a:r>
                <a:rPr lang="es-MX" sz="1400" i="1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probabilities</a:t>
              </a:r>
              <a:r>
                <a:rPr lang="es-MX" sz="1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es-MX" sz="1400" i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𝜋_𝑘</a:t>
              </a:r>
              <a:r>
                <a:rPr lang="es-MX" sz="1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: la proporción esperada de observaciones que pertenecen a cada grupo.</a:t>
              </a:r>
              <a:endParaRPr lang="es-MX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C1356002-31FF-4B0C-A73D-F9BC0C1340CC}" type="parTrans" cxnId="{46B5C82C-41D5-433A-B542-CCC905DF6255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4DE4519-235F-4904-B488-30A3EB8BED53}" type="sibTrans" cxnId="{46B5C82C-41D5-433A-B542-CCC905DF6255}">
      <dgm:prSet custT="1"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E372C3-C3FF-4DB3-871F-BEA7D2F6986E}">
      <dgm:prSet phldrT="[Texto]" custT="1"/>
      <dgm:spPr/>
      <dgm:t>
        <a:bodyPr/>
        <a:lstStyle/>
        <a:p>
          <a:r>
            <a:rPr lang="es-MX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3. Determinar si la varianza o matriz de covarianzas es homogénea en todos los grupos. De esto dependerá que se emplee LDA (Análisis discriminante línea) o (QDA Análisis discriminante cuadrático).</a:t>
          </a:r>
          <a:endParaRPr lang="es-MX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A3F7AE5-A567-45D0-AB11-4EB5F3553A05}" type="parTrans" cxnId="{B799510D-6A34-463A-9A1C-8E7752B34836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56484C-AACB-4195-851E-82FF032D7C85}" type="sibTrans" cxnId="{B799510D-6A34-463A-9A1C-8E7752B34836}">
      <dgm:prSet custT="1"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1D4AF8F-A471-40E1-A9A3-47001A66B74F}">
      <dgm:prSet phldrT="[Texto]" custT="1"/>
      <dgm:spPr/>
      <dgm:t>
        <a:bodyPr/>
        <a:lstStyle/>
        <a:p>
          <a:r>
            <a:rPr lang="es-MX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4. Estimar los parámetros del modelo.</a:t>
          </a:r>
          <a:endParaRPr lang="es-MX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AA5FCE3-1FF5-4A6E-B34A-660A2440B629}" type="parTrans" cxnId="{E932C487-D1E6-44BB-8E07-A01ED6A01255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744D705-FB49-459C-B01A-D031AA40DF7F}" type="sibTrans" cxnId="{E932C487-D1E6-44BB-8E07-A01ED6A01255}">
      <dgm:prSet custT="1"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4A2FD3-53EF-4C56-836F-59D4E85C8ADF}">
      <dgm:prSet phldrT="[Texto]" custT="1"/>
      <dgm:spPr/>
      <dgm:t>
        <a:bodyPr/>
        <a:lstStyle/>
        <a:p>
          <a:r>
            <a:rPr lang="es-MX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5. Calcular el resultado de la función discriminante. El resultado de esta determina a qué grupo se asigna cada observación.</a:t>
          </a:r>
          <a:endParaRPr lang="es-MX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4C82A4-3D83-417D-8212-E25D0BB71CD6}" type="parTrans" cxnId="{F12BB66D-CBD0-44DB-84F1-BAC73D6879AF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8BE44B-E775-478C-8A2F-008A256BAE21}" type="sibTrans" cxnId="{F12BB66D-CBD0-44DB-84F1-BAC73D6879AF}">
      <dgm:prSet custT="1"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4EA8B96-D2BF-43F8-B8BC-20D953A5AAEF}">
      <dgm:prSet phldrT="[Texto]" custT="1"/>
      <dgm:spPr/>
      <dgm:t>
        <a:bodyPr/>
        <a:lstStyle/>
        <a:p>
          <a:r>
            <a:rPr lang="es-MX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6. Generar la matriz de confusión para calcular la exactitud del modelo y la evaluación de errores de clasificación.</a:t>
          </a:r>
          <a:endParaRPr lang="es-MX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1483E13-EA60-43AF-85B5-70FD06C3563B}" type="parTrans" cxnId="{29FED984-CED5-4A7A-9B1A-A42A5C112428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AE8ACF1-10FD-45A7-8818-8219A0EC6A62}" type="sibTrans" cxnId="{29FED984-CED5-4A7A-9B1A-A42A5C112428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E67EE5-2EEF-4E64-9DF4-3BF1D08703E6}">
      <dgm:prSet phldrT="[Texto]" custT="1"/>
      <dgm:spPr/>
      <dgm:t>
        <a:bodyPr/>
        <a:lstStyle/>
        <a:p>
          <a:r>
            <a:rPr lang="es-MX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1. Disponer de un conjunto de datos de entrenamiento (training data) en el que se conoce a que grupo pertenece cada observación. Análisis Preliminar</a:t>
          </a:r>
        </a:p>
      </dgm:t>
    </dgm:pt>
    <dgm:pt modelId="{324CA13A-36EB-4C8F-87C8-540F3B21F5B1}" type="sibTrans" cxnId="{CB32083F-7286-4747-B3D9-CC1683D577B1}">
      <dgm:prSet custT="1"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A21866-1E12-41FB-ACDE-6170887749D8}" type="parTrans" cxnId="{CB32083F-7286-4747-B3D9-CC1683D577B1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0C50D0A-0DD9-4ABB-B176-5973EFFA20ED}" type="pres">
      <dgm:prSet presAssocID="{BB217B60-C802-4454-9EE0-CE1E717D8A05}" presName="Name0" presStyleCnt="0">
        <dgm:presLayoutVars>
          <dgm:dir/>
          <dgm:resizeHandles val="exact"/>
        </dgm:presLayoutVars>
      </dgm:prSet>
      <dgm:spPr/>
    </dgm:pt>
    <dgm:pt modelId="{7D075BA3-3F84-4D22-8BC8-9E5F39E92D84}" type="pres">
      <dgm:prSet presAssocID="{53E67EE5-2EEF-4E64-9DF4-3BF1D08703E6}" presName="node" presStyleLbl="node1" presStyleIdx="0" presStyleCnt="6" custScaleY="468833">
        <dgm:presLayoutVars>
          <dgm:bulletEnabled val="1"/>
        </dgm:presLayoutVars>
      </dgm:prSet>
      <dgm:spPr/>
    </dgm:pt>
    <dgm:pt modelId="{95068327-B731-4367-A66C-5EC491A5DE44}" type="pres">
      <dgm:prSet presAssocID="{324CA13A-36EB-4C8F-87C8-540F3B21F5B1}" presName="sibTrans" presStyleLbl="sibTrans2D1" presStyleIdx="0" presStyleCnt="5"/>
      <dgm:spPr/>
    </dgm:pt>
    <dgm:pt modelId="{8EE58943-EE4F-4595-A1A2-A4EDE34A1844}" type="pres">
      <dgm:prSet presAssocID="{324CA13A-36EB-4C8F-87C8-540F3B21F5B1}" presName="connectorText" presStyleLbl="sibTrans2D1" presStyleIdx="0" presStyleCnt="5"/>
      <dgm:spPr/>
    </dgm:pt>
    <dgm:pt modelId="{D1B5C0A0-99FE-4305-9A5E-EDB0A6457A91}" type="pres">
      <dgm:prSet presAssocID="{1815CD79-BA91-41CB-A6F5-651D5EBF3C24}" presName="node" presStyleLbl="node1" presStyleIdx="1" presStyleCnt="6" custScaleY="468833">
        <dgm:presLayoutVars>
          <dgm:bulletEnabled val="1"/>
        </dgm:presLayoutVars>
      </dgm:prSet>
      <dgm:spPr/>
    </dgm:pt>
    <dgm:pt modelId="{14D7F50C-3401-4B4D-9266-878E9800C20C}" type="pres">
      <dgm:prSet presAssocID="{24DE4519-235F-4904-B488-30A3EB8BED53}" presName="sibTrans" presStyleLbl="sibTrans2D1" presStyleIdx="1" presStyleCnt="5"/>
      <dgm:spPr/>
    </dgm:pt>
    <dgm:pt modelId="{489A7DD2-5CAE-4592-B146-CDE86DE204D7}" type="pres">
      <dgm:prSet presAssocID="{24DE4519-235F-4904-B488-30A3EB8BED53}" presName="connectorText" presStyleLbl="sibTrans2D1" presStyleIdx="1" presStyleCnt="5"/>
      <dgm:spPr/>
    </dgm:pt>
    <dgm:pt modelId="{32DC7390-D9A4-483A-9E6B-2879EBC99BF7}" type="pres">
      <dgm:prSet presAssocID="{E8E372C3-C3FF-4DB3-871F-BEA7D2F6986E}" presName="node" presStyleLbl="node1" presStyleIdx="2" presStyleCnt="6" custScaleY="468833">
        <dgm:presLayoutVars>
          <dgm:bulletEnabled val="1"/>
        </dgm:presLayoutVars>
      </dgm:prSet>
      <dgm:spPr/>
    </dgm:pt>
    <dgm:pt modelId="{974B4A71-F5F9-4387-8DF5-D533976714AE}" type="pres">
      <dgm:prSet presAssocID="{9E56484C-AACB-4195-851E-82FF032D7C85}" presName="sibTrans" presStyleLbl="sibTrans2D1" presStyleIdx="2" presStyleCnt="5"/>
      <dgm:spPr/>
    </dgm:pt>
    <dgm:pt modelId="{EC4D9D29-BA95-4FE0-8642-6DCB61A00B58}" type="pres">
      <dgm:prSet presAssocID="{9E56484C-AACB-4195-851E-82FF032D7C85}" presName="connectorText" presStyleLbl="sibTrans2D1" presStyleIdx="2" presStyleCnt="5"/>
      <dgm:spPr/>
    </dgm:pt>
    <dgm:pt modelId="{F41D3BE0-6CDF-4137-A4DC-1969575C891B}" type="pres">
      <dgm:prSet presAssocID="{51D4AF8F-A471-40E1-A9A3-47001A66B74F}" presName="node" presStyleLbl="node1" presStyleIdx="3" presStyleCnt="6" custScaleY="468833">
        <dgm:presLayoutVars>
          <dgm:bulletEnabled val="1"/>
        </dgm:presLayoutVars>
      </dgm:prSet>
      <dgm:spPr/>
    </dgm:pt>
    <dgm:pt modelId="{66DD8285-3CE2-43B5-863E-0DBF980E2603}" type="pres">
      <dgm:prSet presAssocID="{A744D705-FB49-459C-B01A-D031AA40DF7F}" presName="sibTrans" presStyleLbl="sibTrans2D1" presStyleIdx="3" presStyleCnt="5"/>
      <dgm:spPr/>
    </dgm:pt>
    <dgm:pt modelId="{AC7F075D-EC70-4B71-B9E0-7E712C8B80B2}" type="pres">
      <dgm:prSet presAssocID="{A744D705-FB49-459C-B01A-D031AA40DF7F}" presName="connectorText" presStyleLbl="sibTrans2D1" presStyleIdx="3" presStyleCnt="5"/>
      <dgm:spPr/>
    </dgm:pt>
    <dgm:pt modelId="{2536624C-9CD0-42B0-8187-0741943CCC54}" type="pres">
      <dgm:prSet presAssocID="{374A2FD3-53EF-4C56-836F-59D4E85C8ADF}" presName="node" presStyleLbl="node1" presStyleIdx="4" presStyleCnt="6" custScaleY="468833">
        <dgm:presLayoutVars>
          <dgm:bulletEnabled val="1"/>
        </dgm:presLayoutVars>
      </dgm:prSet>
      <dgm:spPr/>
    </dgm:pt>
    <dgm:pt modelId="{37DC76A5-BBF7-4541-887F-6066ADFEF270}" type="pres">
      <dgm:prSet presAssocID="{DB8BE44B-E775-478C-8A2F-008A256BAE21}" presName="sibTrans" presStyleLbl="sibTrans2D1" presStyleIdx="4" presStyleCnt="5"/>
      <dgm:spPr/>
    </dgm:pt>
    <dgm:pt modelId="{13713D6B-245C-43D1-AB7B-FADCA42FE695}" type="pres">
      <dgm:prSet presAssocID="{DB8BE44B-E775-478C-8A2F-008A256BAE21}" presName="connectorText" presStyleLbl="sibTrans2D1" presStyleIdx="4" presStyleCnt="5"/>
      <dgm:spPr/>
    </dgm:pt>
    <dgm:pt modelId="{30D71695-7AA9-4000-97CC-63682A387E77}" type="pres">
      <dgm:prSet presAssocID="{74EA8B96-D2BF-43F8-B8BC-20D953A5AAEF}" presName="node" presStyleLbl="node1" presStyleIdx="5" presStyleCnt="6" custScaleY="468833">
        <dgm:presLayoutVars>
          <dgm:bulletEnabled val="1"/>
        </dgm:presLayoutVars>
      </dgm:prSet>
      <dgm:spPr/>
    </dgm:pt>
  </dgm:ptLst>
  <dgm:cxnLst>
    <dgm:cxn modelId="{20A58F08-F954-44C5-A4B5-CF612C1A873E}" type="presOf" srcId="{9E56484C-AACB-4195-851E-82FF032D7C85}" destId="{EC4D9D29-BA95-4FE0-8642-6DCB61A00B58}" srcOrd="1" destOrd="0" presId="urn:microsoft.com/office/officeart/2005/8/layout/process1"/>
    <dgm:cxn modelId="{5C730A0A-2C33-4AB3-9E8F-191482080CFA}" type="presOf" srcId="{24DE4519-235F-4904-B488-30A3EB8BED53}" destId="{14D7F50C-3401-4B4D-9266-878E9800C20C}" srcOrd="0" destOrd="0" presId="urn:microsoft.com/office/officeart/2005/8/layout/process1"/>
    <dgm:cxn modelId="{B799510D-6A34-463A-9A1C-8E7752B34836}" srcId="{BB217B60-C802-4454-9EE0-CE1E717D8A05}" destId="{E8E372C3-C3FF-4DB3-871F-BEA7D2F6986E}" srcOrd="2" destOrd="0" parTransId="{3A3F7AE5-A567-45D0-AB11-4EB5F3553A05}" sibTransId="{9E56484C-AACB-4195-851E-82FF032D7C85}"/>
    <dgm:cxn modelId="{BBD42E14-00A2-4F8A-AC7A-3DB2B0272CBF}" type="presOf" srcId="{324CA13A-36EB-4C8F-87C8-540F3B21F5B1}" destId="{95068327-B731-4367-A66C-5EC491A5DE44}" srcOrd="0" destOrd="0" presId="urn:microsoft.com/office/officeart/2005/8/layout/process1"/>
    <dgm:cxn modelId="{95204519-0005-4FBD-A419-D2B88CD45271}" type="presOf" srcId="{324CA13A-36EB-4C8F-87C8-540F3B21F5B1}" destId="{8EE58943-EE4F-4595-A1A2-A4EDE34A1844}" srcOrd="1" destOrd="0" presId="urn:microsoft.com/office/officeart/2005/8/layout/process1"/>
    <dgm:cxn modelId="{2BE9FC19-863C-4965-96A9-27DB08674BB4}" type="presOf" srcId="{DB8BE44B-E775-478C-8A2F-008A256BAE21}" destId="{37DC76A5-BBF7-4541-887F-6066ADFEF270}" srcOrd="0" destOrd="0" presId="urn:microsoft.com/office/officeart/2005/8/layout/process1"/>
    <dgm:cxn modelId="{46B5C82C-41D5-433A-B542-CCC905DF6255}" srcId="{BB217B60-C802-4454-9EE0-CE1E717D8A05}" destId="{1815CD79-BA91-41CB-A6F5-651D5EBF3C24}" srcOrd="1" destOrd="0" parTransId="{C1356002-31FF-4B0C-A73D-F9BC0C1340CC}" sibTransId="{24DE4519-235F-4904-B488-30A3EB8BED53}"/>
    <dgm:cxn modelId="{CB32083F-7286-4747-B3D9-CC1683D577B1}" srcId="{BB217B60-C802-4454-9EE0-CE1E717D8A05}" destId="{53E67EE5-2EEF-4E64-9DF4-3BF1D08703E6}" srcOrd="0" destOrd="0" parTransId="{C2A21866-1E12-41FB-ACDE-6170887749D8}" sibTransId="{324CA13A-36EB-4C8F-87C8-540F3B21F5B1}"/>
    <dgm:cxn modelId="{C8A63B63-224B-43AC-86A0-F127AE434092}" type="presOf" srcId="{24DE4519-235F-4904-B488-30A3EB8BED53}" destId="{489A7DD2-5CAE-4592-B146-CDE86DE204D7}" srcOrd="1" destOrd="0" presId="urn:microsoft.com/office/officeart/2005/8/layout/process1"/>
    <dgm:cxn modelId="{F12BB66D-CBD0-44DB-84F1-BAC73D6879AF}" srcId="{BB217B60-C802-4454-9EE0-CE1E717D8A05}" destId="{374A2FD3-53EF-4C56-836F-59D4E85C8ADF}" srcOrd="4" destOrd="0" parTransId="{664C82A4-3D83-417D-8212-E25D0BB71CD6}" sibTransId="{DB8BE44B-E775-478C-8A2F-008A256BAE21}"/>
    <dgm:cxn modelId="{7C462450-CC0A-468A-8E7C-F516D1D6A991}" type="presOf" srcId="{74EA8B96-D2BF-43F8-B8BC-20D953A5AAEF}" destId="{30D71695-7AA9-4000-97CC-63682A387E77}" srcOrd="0" destOrd="0" presId="urn:microsoft.com/office/officeart/2005/8/layout/process1"/>
    <dgm:cxn modelId="{F6C1E351-B900-463B-903C-34FAF3FC3EFC}" type="presOf" srcId="{BB217B60-C802-4454-9EE0-CE1E717D8A05}" destId="{50C50D0A-0DD9-4ABB-B176-5973EFFA20ED}" srcOrd="0" destOrd="0" presId="urn:microsoft.com/office/officeart/2005/8/layout/process1"/>
    <dgm:cxn modelId="{29FED984-CED5-4A7A-9B1A-A42A5C112428}" srcId="{BB217B60-C802-4454-9EE0-CE1E717D8A05}" destId="{74EA8B96-D2BF-43F8-B8BC-20D953A5AAEF}" srcOrd="5" destOrd="0" parTransId="{D1483E13-EA60-43AF-85B5-70FD06C3563B}" sibTransId="{9AE8ACF1-10FD-45A7-8818-8219A0EC6A62}"/>
    <dgm:cxn modelId="{E932C487-D1E6-44BB-8E07-A01ED6A01255}" srcId="{BB217B60-C802-4454-9EE0-CE1E717D8A05}" destId="{51D4AF8F-A471-40E1-A9A3-47001A66B74F}" srcOrd="3" destOrd="0" parTransId="{CAA5FCE3-1FF5-4A6E-B34A-660A2440B629}" sibTransId="{A744D705-FB49-459C-B01A-D031AA40DF7F}"/>
    <dgm:cxn modelId="{C826848A-879B-4CDC-A731-4EBAF90D196C}" type="presOf" srcId="{DB8BE44B-E775-478C-8A2F-008A256BAE21}" destId="{13713D6B-245C-43D1-AB7B-FADCA42FE695}" srcOrd="1" destOrd="0" presId="urn:microsoft.com/office/officeart/2005/8/layout/process1"/>
    <dgm:cxn modelId="{CC344DB1-437E-4FB0-B535-237D6B4BA5C8}" type="presOf" srcId="{E8E372C3-C3FF-4DB3-871F-BEA7D2F6986E}" destId="{32DC7390-D9A4-483A-9E6B-2879EBC99BF7}" srcOrd="0" destOrd="0" presId="urn:microsoft.com/office/officeart/2005/8/layout/process1"/>
    <dgm:cxn modelId="{12CBC4B2-E56F-45C3-B0C0-350C89E09A2A}" type="presOf" srcId="{374A2FD3-53EF-4C56-836F-59D4E85C8ADF}" destId="{2536624C-9CD0-42B0-8187-0741943CCC54}" srcOrd="0" destOrd="0" presId="urn:microsoft.com/office/officeart/2005/8/layout/process1"/>
    <dgm:cxn modelId="{694758BB-AC75-4E98-87AF-8767244D4795}" type="presOf" srcId="{51D4AF8F-A471-40E1-A9A3-47001A66B74F}" destId="{F41D3BE0-6CDF-4137-A4DC-1969575C891B}" srcOrd="0" destOrd="0" presId="urn:microsoft.com/office/officeart/2005/8/layout/process1"/>
    <dgm:cxn modelId="{F86E87C8-6083-444D-8FCA-5B0D36EC63C7}" type="presOf" srcId="{A744D705-FB49-459C-B01A-D031AA40DF7F}" destId="{AC7F075D-EC70-4B71-B9E0-7E712C8B80B2}" srcOrd="1" destOrd="0" presId="urn:microsoft.com/office/officeart/2005/8/layout/process1"/>
    <dgm:cxn modelId="{65B744E6-51EA-46A7-AB64-D1B932A8D5D8}" type="presOf" srcId="{9E56484C-AACB-4195-851E-82FF032D7C85}" destId="{974B4A71-F5F9-4387-8DF5-D533976714AE}" srcOrd="0" destOrd="0" presId="urn:microsoft.com/office/officeart/2005/8/layout/process1"/>
    <dgm:cxn modelId="{DD1DF0E7-1560-49C1-ABF8-193A166B27CF}" type="presOf" srcId="{53E67EE5-2EEF-4E64-9DF4-3BF1D08703E6}" destId="{7D075BA3-3F84-4D22-8BC8-9E5F39E92D84}" srcOrd="0" destOrd="0" presId="urn:microsoft.com/office/officeart/2005/8/layout/process1"/>
    <dgm:cxn modelId="{6165F2EF-CEDA-4AE1-A06C-36956AA2CA11}" type="presOf" srcId="{A744D705-FB49-459C-B01A-D031AA40DF7F}" destId="{66DD8285-3CE2-43B5-863E-0DBF980E2603}" srcOrd="0" destOrd="0" presId="urn:microsoft.com/office/officeart/2005/8/layout/process1"/>
    <dgm:cxn modelId="{A5A1A0F1-D3EA-421E-8AC0-B8F06DB837A8}" type="presOf" srcId="{1815CD79-BA91-41CB-A6F5-651D5EBF3C24}" destId="{D1B5C0A0-99FE-4305-9A5E-EDB0A6457A91}" srcOrd="0" destOrd="0" presId="urn:microsoft.com/office/officeart/2005/8/layout/process1"/>
    <dgm:cxn modelId="{03410597-EDB8-4D73-B930-76CF16051928}" type="presParOf" srcId="{50C50D0A-0DD9-4ABB-B176-5973EFFA20ED}" destId="{7D075BA3-3F84-4D22-8BC8-9E5F39E92D84}" srcOrd="0" destOrd="0" presId="urn:microsoft.com/office/officeart/2005/8/layout/process1"/>
    <dgm:cxn modelId="{654B5AE6-0C78-411C-8F83-A053D2ADD454}" type="presParOf" srcId="{50C50D0A-0DD9-4ABB-B176-5973EFFA20ED}" destId="{95068327-B731-4367-A66C-5EC491A5DE44}" srcOrd="1" destOrd="0" presId="urn:microsoft.com/office/officeart/2005/8/layout/process1"/>
    <dgm:cxn modelId="{425DD1EB-2F2D-4415-9CA2-EDE57E80AA70}" type="presParOf" srcId="{95068327-B731-4367-A66C-5EC491A5DE44}" destId="{8EE58943-EE4F-4595-A1A2-A4EDE34A1844}" srcOrd="0" destOrd="0" presId="urn:microsoft.com/office/officeart/2005/8/layout/process1"/>
    <dgm:cxn modelId="{20E66B3C-23B0-4AED-87CD-170C9915CD5F}" type="presParOf" srcId="{50C50D0A-0DD9-4ABB-B176-5973EFFA20ED}" destId="{D1B5C0A0-99FE-4305-9A5E-EDB0A6457A91}" srcOrd="2" destOrd="0" presId="urn:microsoft.com/office/officeart/2005/8/layout/process1"/>
    <dgm:cxn modelId="{A0A22C03-1E2C-4222-A9BB-9A14B6AEA583}" type="presParOf" srcId="{50C50D0A-0DD9-4ABB-B176-5973EFFA20ED}" destId="{14D7F50C-3401-4B4D-9266-878E9800C20C}" srcOrd="3" destOrd="0" presId="urn:microsoft.com/office/officeart/2005/8/layout/process1"/>
    <dgm:cxn modelId="{E7C720BC-DE5E-4614-A982-159FE6186644}" type="presParOf" srcId="{14D7F50C-3401-4B4D-9266-878E9800C20C}" destId="{489A7DD2-5CAE-4592-B146-CDE86DE204D7}" srcOrd="0" destOrd="0" presId="urn:microsoft.com/office/officeart/2005/8/layout/process1"/>
    <dgm:cxn modelId="{62532E45-7ADE-4E31-A1DF-E925036E6F79}" type="presParOf" srcId="{50C50D0A-0DD9-4ABB-B176-5973EFFA20ED}" destId="{32DC7390-D9A4-483A-9E6B-2879EBC99BF7}" srcOrd="4" destOrd="0" presId="urn:microsoft.com/office/officeart/2005/8/layout/process1"/>
    <dgm:cxn modelId="{0CC7B83F-DABE-40C7-B27A-65EB4C27E9AB}" type="presParOf" srcId="{50C50D0A-0DD9-4ABB-B176-5973EFFA20ED}" destId="{974B4A71-F5F9-4387-8DF5-D533976714AE}" srcOrd="5" destOrd="0" presId="urn:microsoft.com/office/officeart/2005/8/layout/process1"/>
    <dgm:cxn modelId="{5EB95240-8AF6-469F-91B7-9EA64A7997B0}" type="presParOf" srcId="{974B4A71-F5F9-4387-8DF5-D533976714AE}" destId="{EC4D9D29-BA95-4FE0-8642-6DCB61A00B58}" srcOrd="0" destOrd="0" presId="urn:microsoft.com/office/officeart/2005/8/layout/process1"/>
    <dgm:cxn modelId="{E85E011B-4835-441E-88BC-93C479FBD821}" type="presParOf" srcId="{50C50D0A-0DD9-4ABB-B176-5973EFFA20ED}" destId="{F41D3BE0-6CDF-4137-A4DC-1969575C891B}" srcOrd="6" destOrd="0" presId="urn:microsoft.com/office/officeart/2005/8/layout/process1"/>
    <dgm:cxn modelId="{7ACB5838-8C31-4120-8EA0-031D2C7CA957}" type="presParOf" srcId="{50C50D0A-0DD9-4ABB-B176-5973EFFA20ED}" destId="{66DD8285-3CE2-43B5-863E-0DBF980E2603}" srcOrd="7" destOrd="0" presId="urn:microsoft.com/office/officeart/2005/8/layout/process1"/>
    <dgm:cxn modelId="{E7C2FCC1-D5A7-441B-9A88-5DE9B83ED23C}" type="presParOf" srcId="{66DD8285-3CE2-43B5-863E-0DBF980E2603}" destId="{AC7F075D-EC70-4B71-B9E0-7E712C8B80B2}" srcOrd="0" destOrd="0" presId="urn:microsoft.com/office/officeart/2005/8/layout/process1"/>
    <dgm:cxn modelId="{6EBA8094-9DA3-4B5A-831C-48823FB254E3}" type="presParOf" srcId="{50C50D0A-0DD9-4ABB-B176-5973EFFA20ED}" destId="{2536624C-9CD0-42B0-8187-0741943CCC54}" srcOrd="8" destOrd="0" presId="urn:microsoft.com/office/officeart/2005/8/layout/process1"/>
    <dgm:cxn modelId="{6BC05525-0E15-4D4B-A8F2-7A1F39A7DF32}" type="presParOf" srcId="{50C50D0A-0DD9-4ABB-B176-5973EFFA20ED}" destId="{37DC76A5-BBF7-4541-887F-6066ADFEF270}" srcOrd="9" destOrd="0" presId="urn:microsoft.com/office/officeart/2005/8/layout/process1"/>
    <dgm:cxn modelId="{A1442989-95F0-42CF-A2E0-11C7AFAD8359}" type="presParOf" srcId="{37DC76A5-BBF7-4541-887F-6066ADFEF270}" destId="{13713D6B-245C-43D1-AB7B-FADCA42FE695}" srcOrd="0" destOrd="0" presId="urn:microsoft.com/office/officeart/2005/8/layout/process1"/>
    <dgm:cxn modelId="{8CD9B64B-50F5-4E21-8125-0F9EF34F0C39}" type="presParOf" srcId="{50C50D0A-0DD9-4ABB-B176-5973EFFA20ED}" destId="{30D71695-7AA9-4000-97CC-63682A387E77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217B60-C802-4454-9EE0-CE1E717D8A05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MX"/>
        </a:p>
      </dgm:t>
    </dgm:pt>
    <dgm:pt modelId="{1815CD79-BA91-41CB-A6F5-651D5EBF3C24}">
      <dgm:prSet phldrT="[Texto]" custT="1"/>
      <dgm:spPr>
        <a:blipFill>
          <a:blip xmlns:r="http://schemas.openxmlformats.org/officeDocument/2006/relationships" r:embed="rId1"/>
          <a:stretch>
            <a:fillRect r="-3774"/>
          </a:stretch>
        </a:blipFill>
      </dgm:spPr>
      <dgm:t>
        <a:bodyPr/>
        <a:lstStyle/>
        <a:p>
          <a:r>
            <a:rPr lang="es-MX">
              <a:noFill/>
            </a:rPr>
            <a:t> </a:t>
          </a:r>
        </a:p>
      </dgm:t>
    </dgm:pt>
    <dgm:pt modelId="{C1356002-31FF-4B0C-A73D-F9BC0C1340CC}" type="parTrans" cxnId="{46B5C82C-41D5-433A-B542-CCC905DF6255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4DE4519-235F-4904-B488-30A3EB8BED53}" type="sibTrans" cxnId="{46B5C82C-41D5-433A-B542-CCC905DF6255}">
      <dgm:prSet custT="1"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E372C3-C3FF-4DB3-871F-BEA7D2F6986E}">
      <dgm:prSet phldrT="[Texto]" custT="1"/>
      <dgm:spPr/>
      <dgm:t>
        <a:bodyPr/>
        <a:lstStyle/>
        <a:p>
          <a:r>
            <a:rPr lang="es-MX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3. Determinar si la varianza o matriz de covarianzas es homogénea en todos los grupos. De esto dependerá que se emplee LDA (Análisis discriminante línea) o (QDA Análisis discriminante cuadrático).</a:t>
          </a:r>
          <a:endParaRPr lang="es-MX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A3F7AE5-A567-45D0-AB11-4EB5F3553A05}" type="parTrans" cxnId="{B799510D-6A34-463A-9A1C-8E7752B34836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56484C-AACB-4195-851E-82FF032D7C85}" type="sibTrans" cxnId="{B799510D-6A34-463A-9A1C-8E7752B34836}">
      <dgm:prSet custT="1"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1D4AF8F-A471-40E1-A9A3-47001A66B74F}">
      <dgm:prSet phldrT="[Texto]" custT="1"/>
      <dgm:spPr/>
      <dgm:t>
        <a:bodyPr/>
        <a:lstStyle/>
        <a:p>
          <a:r>
            <a:rPr lang="es-MX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4. Estimar los parámetros del modelo.</a:t>
          </a:r>
          <a:endParaRPr lang="es-MX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AA5FCE3-1FF5-4A6E-B34A-660A2440B629}" type="parTrans" cxnId="{E932C487-D1E6-44BB-8E07-A01ED6A01255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744D705-FB49-459C-B01A-D031AA40DF7F}" type="sibTrans" cxnId="{E932C487-D1E6-44BB-8E07-A01ED6A01255}">
      <dgm:prSet custT="1"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4A2FD3-53EF-4C56-836F-59D4E85C8ADF}">
      <dgm:prSet phldrT="[Texto]" custT="1"/>
      <dgm:spPr/>
      <dgm:t>
        <a:bodyPr/>
        <a:lstStyle/>
        <a:p>
          <a:r>
            <a:rPr lang="es-MX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5. Calcular el resultado de la función discriminante. El resultado de esta determina a qué grupo se asigna cada observación.</a:t>
          </a:r>
          <a:endParaRPr lang="es-MX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4C82A4-3D83-417D-8212-E25D0BB71CD6}" type="parTrans" cxnId="{F12BB66D-CBD0-44DB-84F1-BAC73D6879AF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8BE44B-E775-478C-8A2F-008A256BAE21}" type="sibTrans" cxnId="{F12BB66D-CBD0-44DB-84F1-BAC73D6879AF}">
      <dgm:prSet custT="1"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4EA8B96-D2BF-43F8-B8BC-20D953A5AAEF}">
      <dgm:prSet phldrT="[Texto]" custT="1"/>
      <dgm:spPr/>
      <dgm:t>
        <a:bodyPr/>
        <a:lstStyle/>
        <a:p>
          <a:r>
            <a:rPr lang="es-MX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6. Generar la matriz de confusión para calcular la exactitud del modelo y la evaluación de errores de clasificación.</a:t>
          </a:r>
          <a:endParaRPr lang="es-MX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1483E13-EA60-43AF-85B5-70FD06C3563B}" type="parTrans" cxnId="{29FED984-CED5-4A7A-9B1A-A42A5C112428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AE8ACF1-10FD-45A7-8818-8219A0EC6A62}" type="sibTrans" cxnId="{29FED984-CED5-4A7A-9B1A-A42A5C112428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E67EE5-2EEF-4E64-9DF4-3BF1D08703E6}">
      <dgm:prSet phldrT="[Texto]" custT="1"/>
      <dgm:spPr/>
      <dgm:t>
        <a:bodyPr/>
        <a:lstStyle/>
        <a:p>
          <a:r>
            <a:rPr lang="es-MX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1. Disponer de un conjunto de datos de entrenamiento (training data) en el que se conoce a que grupo pertenece cada observación. Análisis Preliminar</a:t>
          </a:r>
        </a:p>
      </dgm:t>
    </dgm:pt>
    <dgm:pt modelId="{324CA13A-36EB-4C8F-87C8-540F3B21F5B1}" type="sibTrans" cxnId="{CB32083F-7286-4747-B3D9-CC1683D577B1}">
      <dgm:prSet custT="1"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A21866-1E12-41FB-ACDE-6170887749D8}" type="parTrans" cxnId="{CB32083F-7286-4747-B3D9-CC1683D577B1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0C50D0A-0DD9-4ABB-B176-5973EFFA20ED}" type="pres">
      <dgm:prSet presAssocID="{BB217B60-C802-4454-9EE0-CE1E717D8A05}" presName="Name0" presStyleCnt="0">
        <dgm:presLayoutVars>
          <dgm:dir/>
          <dgm:resizeHandles val="exact"/>
        </dgm:presLayoutVars>
      </dgm:prSet>
      <dgm:spPr/>
    </dgm:pt>
    <dgm:pt modelId="{7D075BA3-3F84-4D22-8BC8-9E5F39E92D84}" type="pres">
      <dgm:prSet presAssocID="{53E67EE5-2EEF-4E64-9DF4-3BF1D08703E6}" presName="node" presStyleLbl="node1" presStyleIdx="0" presStyleCnt="6" custScaleY="468833">
        <dgm:presLayoutVars>
          <dgm:bulletEnabled val="1"/>
        </dgm:presLayoutVars>
      </dgm:prSet>
      <dgm:spPr/>
    </dgm:pt>
    <dgm:pt modelId="{95068327-B731-4367-A66C-5EC491A5DE44}" type="pres">
      <dgm:prSet presAssocID="{324CA13A-36EB-4C8F-87C8-540F3B21F5B1}" presName="sibTrans" presStyleLbl="sibTrans2D1" presStyleIdx="0" presStyleCnt="5"/>
      <dgm:spPr/>
    </dgm:pt>
    <dgm:pt modelId="{8EE58943-EE4F-4595-A1A2-A4EDE34A1844}" type="pres">
      <dgm:prSet presAssocID="{324CA13A-36EB-4C8F-87C8-540F3B21F5B1}" presName="connectorText" presStyleLbl="sibTrans2D1" presStyleIdx="0" presStyleCnt="5"/>
      <dgm:spPr/>
    </dgm:pt>
    <dgm:pt modelId="{D1B5C0A0-99FE-4305-9A5E-EDB0A6457A91}" type="pres">
      <dgm:prSet presAssocID="{1815CD79-BA91-41CB-A6F5-651D5EBF3C24}" presName="node" presStyleLbl="node1" presStyleIdx="1" presStyleCnt="6" custScaleY="468833">
        <dgm:presLayoutVars>
          <dgm:bulletEnabled val="1"/>
        </dgm:presLayoutVars>
      </dgm:prSet>
      <dgm:spPr/>
    </dgm:pt>
    <dgm:pt modelId="{14D7F50C-3401-4B4D-9266-878E9800C20C}" type="pres">
      <dgm:prSet presAssocID="{24DE4519-235F-4904-B488-30A3EB8BED53}" presName="sibTrans" presStyleLbl="sibTrans2D1" presStyleIdx="1" presStyleCnt="5"/>
      <dgm:spPr/>
    </dgm:pt>
    <dgm:pt modelId="{489A7DD2-5CAE-4592-B146-CDE86DE204D7}" type="pres">
      <dgm:prSet presAssocID="{24DE4519-235F-4904-B488-30A3EB8BED53}" presName="connectorText" presStyleLbl="sibTrans2D1" presStyleIdx="1" presStyleCnt="5"/>
      <dgm:spPr/>
    </dgm:pt>
    <dgm:pt modelId="{32DC7390-D9A4-483A-9E6B-2879EBC99BF7}" type="pres">
      <dgm:prSet presAssocID="{E8E372C3-C3FF-4DB3-871F-BEA7D2F6986E}" presName="node" presStyleLbl="node1" presStyleIdx="2" presStyleCnt="6" custScaleY="468833">
        <dgm:presLayoutVars>
          <dgm:bulletEnabled val="1"/>
        </dgm:presLayoutVars>
      </dgm:prSet>
      <dgm:spPr/>
    </dgm:pt>
    <dgm:pt modelId="{974B4A71-F5F9-4387-8DF5-D533976714AE}" type="pres">
      <dgm:prSet presAssocID="{9E56484C-AACB-4195-851E-82FF032D7C85}" presName="sibTrans" presStyleLbl="sibTrans2D1" presStyleIdx="2" presStyleCnt="5"/>
      <dgm:spPr/>
    </dgm:pt>
    <dgm:pt modelId="{EC4D9D29-BA95-4FE0-8642-6DCB61A00B58}" type="pres">
      <dgm:prSet presAssocID="{9E56484C-AACB-4195-851E-82FF032D7C85}" presName="connectorText" presStyleLbl="sibTrans2D1" presStyleIdx="2" presStyleCnt="5"/>
      <dgm:spPr/>
    </dgm:pt>
    <dgm:pt modelId="{F41D3BE0-6CDF-4137-A4DC-1969575C891B}" type="pres">
      <dgm:prSet presAssocID="{51D4AF8F-A471-40E1-A9A3-47001A66B74F}" presName="node" presStyleLbl="node1" presStyleIdx="3" presStyleCnt="6" custScaleY="468833">
        <dgm:presLayoutVars>
          <dgm:bulletEnabled val="1"/>
        </dgm:presLayoutVars>
      </dgm:prSet>
      <dgm:spPr/>
    </dgm:pt>
    <dgm:pt modelId="{66DD8285-3CE2-43B5-863E-0DBF980E2603}" type="pres">
      <dgm:prSet presAssocID="{A744D705-FB49-459C-B01A-D031AA40DF7F}" presName="sibTrans" presStyleLbl="sibTrans2D1" presStyleIdx="3" presStyleCnt="5"/>
      <dgm:spPr/>
    </dgm:pt>
    <dgm:pt modelId="{AC7F075D-EC70-4B71-B9E0-7E712C8B80B2}" type="pres">
      <dgm:prSet presAssocID="{A744D705-FB49-459C-B01A-D031AA40DF7F}" presName="connectorText" presStyleLbl="sibTrans2D1" presStyleIdx="3" presStyleCnt="5"/>
      <dgm:spPr/>
    </dgm:pt>
    <dgm:pt modelId="{2536624C-9CD0-42B0-8187-0741943CCC54}" type="pres">
      <dgm:prSet presAssocID="{374A2FD3-53EF-4C56-836F-59D4E85C8ADF}" presName="node" presStyleLbl="node1" presStyleIdx="4" presStyleCnt="6" custScaleY="468833">
        <dgm:presLayoutVars>
          <dgm:bulletEnabled val="1"/>
        </dgm:presLayoutVars>
      </dgm:prSet>
      <dgm:spPr/>
    </dgm:pt>
    <dgm:pt modelId="{37DC76A5-BBF7-4541-887F-6066ADFEF270}" type="pres">
      <dgm:prSet presAssocID="{DB8BE44B-E775-478C-8A2F-008A256BAE21}" presName="sibTrans" presStyleLbl="sibTrans2D1" presStyleIdx="4" presStyleCnt="5"/>
      <dgm:spPr/>
    </dgm:pt>
    <dgm:pt modelId="{13713D6B-245C-43D1-AB7B-FADCA42FE695}" type="pres">
      <dgm:prSet presAssocID="{DB8BE44B-E775-478C-8A2F-008A256BAE21}" presName="connectorText" presStyleLbl="sibTrans2D1" presStyleIdx="4" presStyleCnt="5"/>
      <dgm:spPr/>
    </dgm:pt>
    <dgm:pt modelId="{30D71695-7AA9-4000-97CC-63682A387E77}" type="pres">
      <dgm:prSet presAssocID="{74EA8B96-D2BF-43F8-B8BC-20D953A5AAEF}" presName="node" presStyleLbl="node1" presStyleIdx="5" presStyleCnt="6" custScaleY="468833">
        <dgm:presLayoutVars>
          <dgm:bulletEnabled val="1"/>
        </dgm:presLayoutVars>
      </dgm:prSet>
      <dgm:spPr/>
    </dgm:pt>
  </dgm:ptLst>
  <dgm:cxnLst>
    <dgm:cxn modelId="{20A58F08-F954-44C5-A4B5-CF612C1A873E}" type="presOf" srcId="{9E56484C-AACB-4195-851E-82FF032D7C85}" destId="{EC4D9D29-BA95-4FE0-8642-6DCB61A00B58}" srcOrd="1" destOrd="0" presId="urn:microsoft.com/office/officeart/2005/8/layout/process1"/>
    <dgm:cxn modelId="{5C730A0A-2C33-4AB3-9E8F-191482080CFA}" type="presOf" srcId="{24DE4519-235F-4904-B488-30A3EB8BED53}" destId="{14D7F50C-3401-4B4D-9266-878E9800C20C}" srcOrd="0" destOrd="0" presId="urn:microsoft.com/office/officeart/2005/8/layout/process1"/>
    <dgm:cxn modelId="{B799510D-6A34-463A-9A1C-8E7752B34836}" srcId="{BB217B60-C802-4454-9EE0-CE1E717D8A05}" destId="{E8E372C3-C3FF-4DB3-871F-BEA7D2F6986E}" srcOrd="2" destOrd="0" parTransId="{3A3F7AE5-A567-45D0-AB11-4EB5F3553A05}" sibTransId="{9E56484C-AACB-4195-851E-82FF032D7C85}"/>
    <dgm:cxn modelId="{BBD42E14-00A2-4F8A-AC7A-3DB2B0272CBF}" type="presOf" srcId="{324CA13A-36EB-4C8F-87C8-540F3B21F5B1}" destId="{95068327-B731-4367-A66C-5EC491A5DE44}" srcOrd="0" destOrd="0" presId="urn:microsoft.com/office/officeart/2005/8/layout/process1"/>
    <dgm:cxn modelId="{95204519-0005-4FBD-A419-D2B88CD45271}" type="presOf" srcId="{324CA13A-36EB-4C8F-87C8-540F3B21F5B1}" destId="{8EE58943-EE4F-4595-A1A2-A4EDE34A1844}" srcOrd="1" destOrd="0" presId="urn:microsoft.com/office/officeart/2005/8/layout/process1"/>
    <dgm:cxn modelId="{2BE9FC19-863C-4965-96A9-27DB08674BB4}" type="presOf" srcId="{DB8BE44B-E775-478C-8A2F-008A256BAE21}" destId="{37DC76A5-BBF7-4541-887F-6066ADFEF270}" srcOrd="0" destOrd="0" presId="urn:microsoft.com/office/officeart/2005/8/layout/process1"/>
    <dgm:cxn modelId="{46B5C82C-41D5-433A-B542-CCC905DF6255}" srcId="{BB217B60-C802-4454-9EE0-CE1E717D8A05}" destId="{1815CD79-BA91-41CB-A6F5-651D5EBF3C24}" srcOrd="1" destOrd="0" parTransId="{C1356002-31FF-4B0C-A73D-F9BC0C1340CC}" sibTransId="{24DE4519-235F-4904-B488-30A3EB8BED53}"/>
    <dgm:cxn modelId="{CB32083F-7286-4747-B3D9-CC1683D577B1}" srcId="{BB217B60-C802-4454-9EE0-CE1E717D8A05}" destId="{53E67EE5-2EEF-4E64-9DF4-3BF1D08703E6}" srcOrd="0" destOrd="0" parTransId="{C2A21866-1E12-41FB-ACDE-6170887749D8}" sibTransId="{324CA13A-36EB-4C8F-87C8-540F3B21F5B1}"/>
    <dgm:cxn modelId="{C8A63B63-224B-43AC-86A0-F127AE434092}" type="presOf" srcId="{24DE4519-235F-4904-B488-30A3EB8BED53}" destId="{489A7DD2-5CAE-4592-B146-CDE86DE204D7}" srcOrd="1" destOrd="0" presId="urn:microsoft.com/office/officeart/2005/8/layout/process1"/>
    <dgm:cxn modelId="{F12BB66D-CBD0-44DB-84F1-BAC73D6879AF}" srcId="{BB217B60-C802-4454-9EE0-CE1E717D8A05}" destId="{374A2FD3-53EF-4C56-836F-59D4E85C8ADF}" srcOrd="4" destOrd="0" parTransId="{664C82A4-3D83-417D-8212-E25D0BB71CD6}" sibTransId="{DB8BE44B-E775-478C-8A2F-008A256BAE21}"/>
    <dgm:cxn modelId="{7C462450-CC0A-468A-8E7C-F516D1D6A991}" type="presOf" srcId="{74EA8B96-D2BF-43F8-B8BC-20D953A5AAEF}" destId="{30D71695-7AA9-4000-97CC-63682A387E77}" srcOrd="0" destOrd="0" presId="urn:microsoft.com/office/officeart/2005/8/layout/process1"/>
    <dgm:cxn modelId="{F6C1E351-B900-463B-903C-34FAF3FC3EFC}" type="presOf" srcId="{BB217B60-C802-4454-9EE0-CE1E717D8A05}" destId="{50C50D0A-0DD9-4ABB-B176-5973EFFA20ED}" srcOrd="0" destOrd="0" presId="urn:microsoft.com/office/officeart/2005/8/layout/process1"/>
    <dgm:cxn modelId="{29FED984-CED5-4A7A-9B1A-A42A5C112428}" srcId="{BB217B60-C802-4454-9EE0-CE1E717D8A05}" destId="{74EA8B96-D2BF-43F8-B8BC-20D953A5AAEF}" srcOrd="5" destOrd="0" parTransId="{D1483E13-EA60-43AF-85B5-70FD06C3563B}" sibTransId="{9AE8ACF1-10FD-45A7-8818-8219A0EC6A62}"/>
    <dgm:cxn modelId="{E932C487-D1E6-44BB-8E07-A01ED6A01255}" srcId="{BB217B60-C802-4454-9EE0-CE1E717D8A05}" destId="{51D4AF8F-A471-40E1-A9A3-47001A66B74F}" srcOrd="3" destOrd="0" parTransId="{CAA5FCE3-1FF5-4A6E-B34A-660A2440B629}" sibTransId="{A744D705-FB49-459C-B01A-D031AA40DF7F}"/>
    <dgm:cxn modelId="{C826848A-879B-4CDC-A731-4EBAF90D196C}" type="presOf" srcId="{DB8BE44B-E775-478C-8A2F-008A256BAE21}" destId="{13713D6B-245C-43D1-AB7B-FADCA42FE695}" srcOrd="1" destOrd="0" presId="urn:microsoft.com/office/officeart/2005/8/layout/process1"/>
    <dgm:cxn modelId="{CC344DB1-437E-4FB0-B535-237D6B4BA5C8}" type="presOf" srcId="{E8E372C3-C3FF-4DB3-871F-BEA7D2F6986E}" destId="{32DC7390-D9A4-483A-9E6B-2879EBC99BF7}" srcOrd="0" destOrd="0" presId="urn:microsoft.com/office/officeart/2005/8/layout/process1"/>
    <dgm:cxn modelId="{12CBC4B2-E56F-45C3-B0C0-350C89E09A2A}" type="presOf" srcId="{374A2FD3-53EF-4C56-836F-59D4E85C8ADF}" destId="{2536624C-9CD0-42B0-8187-0741943CCC54}" srcOrd="0" destOrd="0" presId="urn:microsoft.com/office/officeart/2005/8/layout/process1"/>
    <dgm:cxn modelId="{694758BB-AC75-4E98-87AF-8767244D4795}" type="presOf" srcId="{51D4AF8F-A471-40E1-A9A3-47001A66B74F}" destId="{F41D3BE0-6CDF-4137-A4DC-1969575C891B}" srcOrd="0" destOrd="0" presId="urn:microsoft.com/office/officeart/2005/8/layout/process1"/>
    <dgm:cxn modelId="{F86E87C8-6083-444D-8FCA-5B0D36EC63C7}" type="presOf" srcId="{A744D705-FB49-459C-B01A-D031AA40DF7F}" destId="{AC7F075D-EC70-4B71-B9E0-7E712C8B80B2}" srcOrd="1" destOrd="0" presId="urn:microsoft.com/office/officeart/2005/8/layout/process1"/>
    <dgm:cxn modelId="{65B744E6-51EA-46A7-AB64-D1B932A8D5D8}" type="presOf" srcId="{9E56484C-AACB-4195-851E-82FF032D7C85}" destId="{974B4A71-F5F9-4387-8DF5-D533976714AE}" srcOrd="0" destOrd="0" presId="urn:microsoft.com/office/officeart/2005/8/layout/process1"/>
    <dgm:cxn modelId="{DD1DF0E7-1560-49C1-ABF8-193A166B27CF}" type="presOf" srcId="{53E67EE5-2EEF-4E64-9DF4-3BF1D08703E6}" destId="{7D075BA3-3F84-4D22-8BC8-9E5F39E92D84}" srcOrd="0" destOrd="0" presId="urn:microsoft.com/office/officeart/2005/8/layout/process1"/>
    <dgm:cxn modelId="{6165F2EF-CEDA-4AE1-A06C-36956AA2CA11}" type="presOf" srcId="{A744D705-FB49-459C-B01A-D031AA40DF7F}" destId="{66DD8285-3CE2-43B5-863E-0DBF980E2603}" srcOrd="0" destOrd="0" presId="urn:microsoft.com/office/officeart/2005/8/layout/process1"/>
    <dgm:cxn modelId="{A5A1A0F1-D3EA-421E-8AC0-B8F06DB837A8}" type="presOf" srcId="{1815CD79-BA91-41CB-A6F5-651D5EBF3C24}" destId="{D1B5C0A0-99FE-4305-9A5E-EDB0A6457A91}" srcOrd="0" destOrd="0" presId="urn:microsoft.com/office/officeart/2005/8/layout/process1"/>
    <dgm:cxn modelId="{03410597-EDB8-4D73-B930-76CF16051928}" type="presParOf" srcId="{50C50D0A-0DD9-4ABB-B176-5973EFFA20ED}" destId="{7D075BA3-3F84-4D22-8BC8-9E5F39E92D84}" srcOrd="0" destOrd="0" presId="urn:microsoft.com/office/officeart/2005/8/layout/process1"/>
    <dgm:cxn modelId="{654B5AE6-0C78-411C-8F83-A053D2ADD454}" type="presParOf" srcId="{50C50D0A-0DD9-4ABB-B176-5973EFFA20ED}" destId="{95068327-B731-4367-A66C-5EC491A5DE44}" srcOrd="1" destOrd="0" presId="urn:microsoft.com/office/officeart/2005/8/layout/process1"/>
    <dgm:cxn modelId="{425DD1EB-2F2D-4415-9CA2-EDE57E80AA70}" type="presParOf" srcId="{95068327-B731-4367-A66C-5EC491A5DE44}" destId="{8EE58943-EE4F-4595-A1A2-A4EDE34A1844}" srcOrd="0" destOrd="0" presId="urn:microsoft.com/office/officeart/2005/8/layout/process1"/>
    <dgm:cxn modelId="{20E66B3C-23B0-4AED-87CD-170C9915CD5F}" type="presParOf" srcId="{50C50D0A-0DD9-4ABB-B176-5973EFFA20ED}" destId="{D1B5C0A0-99FE-4305-9A5E-EDB0A6457A91}" srcOrd="2" destOrd="0" presId="urn:microsoft.com/office/officeart/2005/8/layout/process1"/>
    <dgm:cxn modelId="{A0A22C03-1E2C-4222-A9BB-9A14B6AEA583}" type="presParOf" srcId="{50C50D0A-0DD9-4ABB-B176-5973EFFA20ED}" destId="{14D7F50C-3401-4B4D-9266-878E9800C20C}" srcOrd="3" destOrd="0" presId="urn:microsoft.com/office/officeart/2005/8/layout/process1"/>
    <dgm:cxn modelId="{E7C720BC-DE5E-4614-A982-159FE6186644}" type="presParOf" srcId="{14D7F50C-3401-4B4D-9266-878E9800C20C}" destId="{489A7DD2-5CAE-4592-B146-CDE86DE204D7}" srcOrd="0" destOrd="0" presId="urn:microsoft.com/office/officeart/2005/8/layout/process1"/>
    <dgm:cxn modelId="{62532E45-7ADE-4E31-A1DF-E925036E6F79}" type="presParOf" srcId="{50C50D0A-0DD9-4ABB-B176-5973EFFA20ED}" destId="{32DC7390-D9A4-483A-9E6B-2879EBC99BF7}" srcOrd="4" destOrd="0" presId="urn:microsoft.com/office/officeart/2005/8/layout/process1"/>
    <dgm:cxn modelId="{0CC7B83F-DABE-40C7-B27A-65EB4C27E9AB}" type="presParOf" srcId="{50C50D0A-0DD9-4ABB-B176-5973EFFA20ED}" destId="{974B4A71-F5F9-4387-8DF5-D533976714AE}" srcOrd="5" destOrd="0" presId="urn:microsoft.com/office/officeart/2005/8/layout/process1"/>
    <dgm:cxn modelId="{5EB95240-8AF6-469F-91B7-9EA64A7997B0}" type="presParOf" srcId="{974B4A71-F5F9-4387-8DF5-D533976714AE}" destId="{EC4D9D29-BA95-4FE0-8642-6DCB61A00B58}" srcOrd="0" destOrd="0" presId="urn:microsoft.com/office/officeart/2005/8/layout/process1"/>
    <dgm:cxn modelId="{E85E011B-4835-441E-88BC-93C479FBD821}" type="presParOf" srcId="{50C50D0A-0DD9-4ABB-B176-5973EFFA20ED}" destId="{F41D3BE0-6CDF-4137-A4DC-1969575C891B}" srcOrd="6" destOrd="0" presId="urn:microsoft.com/office/officeart/2005/8/layout/process1"/>
    <dgm:cxn modelId="{7ACB5838-8C31-4120-8EA0-031D2C7CA957}" type="presParOf" srcId="{50C50D0A-0DD9-4ABB-B176-5973EFFA20ED}" destId="{66DD8285-3CE2-43B5-863E-0DBF980E2603}" srcOrd="7" destOrd="0" presId="urn:microsoft.com/office/officeart/2005/8/layout/process1"/>
    <dgm:cxn modelId="{E7C2FCC1-D5A7-441B-9A88-5DE9B83ED23C}" type="presParOf" srcId="{66DD8285-3CE2-43B5-863E-0DBF980E2603}" destId="{AC7F075D-EC70-4B71-B9E0-7E712C8B80B2}" srcOrd="0" destOrd="0" presId="urn:microsoft.com/office/officeart/2005/8/layout/process1"/>
    <dgm:cxn modelId="{6EBA8094-9DA3-4B5A-831C-48823FB254E3}" type="presParOf" srcId="{50C50D0A-0DD9-4ABB-B176-5973EFFA20ED}" destId="{2536624C-9CD0-42B0-8187-0741943CCC54}" srcOrd="8" destOrd="0" presId="urn:microsoft.com/office/officeart/2005/8/layout/process1"/>
    <dgm:cxn modelId="{6BC05525-0E15-4D4B-A8F2-7A1F39A7DF32}" type="presParOf" srcId="{50C50D0A-0DD9-4ABB-B176-5973EFFA20ED}" destId="{37DC76A5-BBF7-4541-887F-6066ADFEF270}" srcOrd="9" destOrd="0" presId="urn:microsoft.com/office/officeart/2005/8/layout/process1"/>
    <dgm:cxn modelId="{A1442989-95F0-42CF-A2E0-11C7AFAD8359}" type="presParOf" srcId="{37DC76A5-BBF7-4541-887F-6066ADFEF270}" destId="{13713D6B-245C-43D1-AB7B-FADCA42FE695}" srcOrd="0" destOrd="0" presId="urn:microsoft.com/office/officeart/2005/8/layout/process1"/>
    <dgm:cxn modelId="{8CD9B64B-50F5-4E21-8125-0F9EF34F0C39}" type="presParOf" srcId="{50C50D0A-0DD9-4ABB-B176-5973EFFA20ED}" destId="{30D71695-7AA9-4000-97CC-63682A387E77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075BA3-3F84-4D22-8BC8-9E5F39E92D84}">
      <dsp:nvSpPr>
        <dsp:cNvPr id="0" name=""/>
        <dsp:cNvSpPr/>
      </dsp:nvSpPr>
      <dsp:spPr>
        <a:xfrm>
          <a:off x="0" y="0"/>
          <a:ext cx="1282571" cy="306125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 Disponer de un conjunto de datos de entrenamiento (training data) en el que se conoce a que grupo pertenece cada observación. Análisis Preliminar</a:t>
          </a:r>
        </a:p>
      </dsp:txBody>
      <dsp:txXfrm>
        <a:off x="37565" y="37565"/>
        <a:ext cx="1207441" cy="2986122"/>
      </dsp:txXfrm>
    </dsp:sp>
    <dsp:sp modelId="{95068327-B731-4367-A66C-5EC491A5DE44}">
      <dsp:nvSpPr>
        <dsp:cNvPr id="0" name=""/>
        <dsp:cNvSpPr/>
      </dsp:nvSpPr>
      <dsp:spPr>
        <a:xfrm>
          <a:off x="1410828" y="1371587"/>
          <a:ext cx="271905" cy="3180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10828" y="1435202"/>
        <a:ext cx="190334" cy="190847"/>
      </dsp:txXfrm>
    </dsp:sp>
    <dsp:sp modelId="{D1B5C0A0-99FE-4305-9A5E-EDB0A6457A91}">
      <dsp:nvSpPr>
        <dsp:cNvPr id="0" name=""/>
        <dsp:cNvSpPr/>
      </dsp:nvSpPr>
      <dsp:spPr>
        <a:xfrm>
          <a:off x="1795599" y="0"/>
          <a:ext cx="1282571" cy="306125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2. Calcular las probabilidades previas (</a:t>
          </a:r>
          <a:r>
            <a:rPr lang="es-MX" sz="1400" i="1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prior </a:t>
          </a:r>
          <a:r>
            <a:rPr lang="es-MX" sz="1400" i="1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probabilities</a:t>
          </a:r>
          <a:r>
            <a:rPr lang="es-MX" sz="1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)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s-MX" sz="1400" i="1" kern="1200">
                      <a:effectLst/>
                      <a:latin typeface="Cambria Math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</m:ctrlPr>
                </m:sSubPr>
                <m:e>
                  <m:r>
                    <a:rPr lang="es-MX" sz="1400" i="1" kern="1200">
                      <a:effectLst/>
                      <a:latin typeface="Cambria Math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m:t>𝜋</m:t>
                  </m:r>
                </m:e>
                <m:sub>
                  <m:r>
                    <a:rPr lang="es-MX" sz="1400" i="1" kern="1200">
                      <a:effectLst/>
                      <a:latin typeface="Cambria Math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m:t>𝑘</m:t>
                  </m:r>
                </m:sub>
              </m:sSub>
            </m:oMath>
          </a14:m>
          <a:r>
            <a:rPr lang="es-MX" sz="1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: la proporción esperada de observaciones que pertenecen a cada grupo.</a:t>
          </a:r>
          <a:endParaRPr lang="es-MX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33164" y="37565"/>
        <a:ext cx="1207441" cy="2986122"/>
      </dsp:txXfrm>
    </dsp:sp>
    <dsp:sp modelId="{14D7F50C-3401-4B4D-9266-878E9800C20C}">
      <dsp:nvSpPr>
        <dsp:cNvPr id="0" name=""/>
        <dsp:cNvSpPr/>
      </dsp:nvSpPr>
      <dsp:spPr>
        <a:xfrm>
          <a:off x="3206427" y="1371587"/>
          <a:ext cx="271905" cy="3180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06427" y="1435202"/>
        <a:ext cx="190334" cy="190847"/>
      </dsp:txXfrm>
    </dsp:sp>
    <dsp:sp modelId="{32DC7390-D9A4-483A-9E6B-2879EBC99BF7}">
      <dsp:nvSpPr>
        <dsp:cNvPr id="0" name=""/>
        <dsp:cNvSpPr/>
      </dsp:nvSpPr>
      <dsp:spPr>
        <a:xfrm>
          <a:off x="3591199" y="0"/>
          <a:ext cx="1282571" cy="306125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3. Determinar si la varianza o matriz de covarianzas es homogénea en todos los grupos. De esto dependerá que se emplee LDA (Análisis discriminante línea) o (QDA Análisis discriminante cuadrático).</a:t>
          </a:r>
          <a:endParaRPr lang="es-MX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28764" y="37565"/>
        <a:ext cx="1207441" cy="2986122"/>
      </dsp:txXfrm>
    </dsp:sp>
    <dsp:sp modelId="{974B4A71-F5F9-4387-8DF5-D533976714AE}">
      <dsp:nvSpPr>
        <dsp:cNvPr id="0" name=""/>
        <dsp:cNvSpPr/>
      </dsp:nvSpPr>
      <dsp:spPr>
        <a:xfrm>
          <a:off x="5002027" y="1371587"/>
          <a:ext cx="271905" cy="3180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002027" y="1435202"/>
        <a:ext cx="190334" cy="190847"/>
      </dsp:txXfrm>
    </dsp:sp>
    <dsp:sp modelId="{F41D3BE0-6CDF-4137-A4DC-1969575C891B}">
      <dsp:nvSpPr>
        <dsp:cNvPr id="0" name=""/>
        <dsp:cNvSpPr/>
      </dsp:nvSpPr>
      <dsp:spPr>
        <a:xfrm>
          <a:off x="5386798" y="0"/>
          <a:ext cx="1282571" cy="306125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4. Estimar los parámetros del modelo.</a:t>
          </a:r>
          <a:endParaRPr lang="es-MX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24363" y="37565"/>
        <a:ext cx="1207441" cy="2986122"/>
      </dsp:txXfrm>
    </dsp:sp>
    <dsp:sp modelId="{66DD8285-3CE2-43B5-863E-0DBF980E2603}">
      <dsp:nvSpPr>
        <dsp:cNvPr id="0" name=""/>
        <dsp:cNvSpPr/>
      </dsp:nvSpPr>
      <dsp:spPr>
        <a:xfrm>
          <a:off x="6797626" y="1371587"/>
          <a:ext cx="271905" cy="3180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97626" y="1435202"/>
        <a:ext cx="190334" cy="190847"/>
      </dsp:txXfrm>
    </dsp:sp>
    <dsp:sp modelId="{2536624C-9CD0-42B0-8187-0741943CCC54}">
      <dsp:nvSpPr>
        <dsp:cNvPr id="0" name=""/>
        <dsp:cNvSpPr/>
      </dsp:nvSpPr>
      <dsp:spPr>
        <a:xfrm>
          <a:off x="7182398" y="0"/>
          <a:ext cx="1282571" cy="306125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5. Calcular el resultado de la función discriminante. El resultado de esta determina a qué grupo se asigna cada observación.</a:t>
          </a:r>
          <a:endParaRPr lang="es-MX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219963" y="37565"/>
        <a:ext cx="1207441" cy="2986122"/>
      </dsp:txXfrm>
    </dsp:sp>
    <dsp:sp modelId="{37DC76A5-BBF7-4541-887F-6066ADFEF270}">
      <dsp:nvSpPr>
        <dsp:cNvPr id="0" name=""/>
        <dsp:cNvSpPr/>
      </dsp:nvSpPr>
      <dsp:spPr>
        <a:xfrm>
          <a:off x="8593226" y="1371587"/>
          <a:ext cx="271905" cy="3180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593226" y="1435202"/>
        <a:ext cx="190334" cy="190847"/>
      </dsp:txXfrm>
    </dsp:sp>
    <dsp:sp modelId="{30D71695-7AA9-4000-97CC-63682A387E77}">
      <dsp:nvSpPr>
        <dsp:cNvPr id="0" name=""/>
        <dsp:cNvSpPr/>
      </dsp:nvSpPr>
      <dsp:spPr>
        <a:xfrm>
          <a:off x="8977997" y="0"/>
          <a:ext cx="1282571" cy="306125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6. Generar la matriz de confusión para calcular la exactitud del modelo y la evaluación de errores de clasificación.</a:t>
          </a:r>
          <a:endParaRPr lang="es-MX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015562" y="37565"/>
        <a:ext cx="1207441" cy="29861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06FD9-7C5A-4B1C-968A-BB507C3E1197}" type="datetimeFigureOut">
              <a:rPr lang="es-MX" smtClean="0"/>
              <a:t>03/06/2025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6384F-A249-4C3C-8731-5338BA85F77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0859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526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7424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4929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7938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7324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7395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855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669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Marcador de texto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Marcador de texto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arcador de texto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Marcador de texto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Marcador de texto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Marcador de texto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texto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FFE12A-8763-4EB7-9CEB-5B78076C5C21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 de junio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3954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5086BA-4771-4251-A1A0-95AEDDEBD7A7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 de junio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5347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>
          <p15:clr>
            <a:srgbClr val="FBAE40"/>
          </p15:clr>
        </p15:guide>
        <p15:guide id="7" orient="horz" pos="1440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0272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71012B1-809A-45CE-9FED-46D08DC8C42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99CD11-04C6-421F-AE19-E5D29CCF776B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 de junio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B6FA27-6601-4107-A3C9-808CB44302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365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tabla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820299-DC87-4039-A7B5-9AC50CF7A216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 de junio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274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“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5614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72" name="Marcador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3" name="Marcador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4" name="Marcador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5" name="Marcador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6" name="Marcador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7" name="Marcador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8" name="Marcador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9" name="Marcador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EA095D-F9AB-465B-A2BC-526B797F4865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 de junio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81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cala de tiemp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96" name="Marcador de texto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97" name="Marcador de texto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2" name="Marcador de texto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3" name="Marcador de texto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ES" noProof="0"/>
              <a:t>Haga clic para editar </a:t>
            </a:r>
          </a:p>
        </p:txBody>
      </p:sp>
      <p:sp>
        <p:nvSpPr>
          <p:cNvPr id="106" name="Marcador de texto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7" name="Marcador de texto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ES" noProof="0"/>
              <a:t>Haga clic para editar </a:t>
            </a:r>
          </a:p>
        </p:txBody>
      </p:sp>
      <p:sp>
        <p:nvSpPr>
          <p:cNvPr id="108" name="Marcador de texto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9" name="Marcador de texto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DC2552-C347-4C3D-8C92-4A6981227C0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D83C0-D2D5-496F-A305-9D3513BEF95B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 de junio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B7C35C-F3E4-4522-8711-16E4F9052C2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4D6BAD-56F4-42F1-A2B3-FDB73364FD4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6042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14D182-A7DD-4F7B-B207-262854316ED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69136C-C4B2-45F2-BCFC-515A0853BD43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 de junio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B29252-5D0B-4B9D-9FBD-8EC0929FE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B4FEF6-E217-4110-BBF5-C4B77ADC8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0947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contenido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0FA07F3-F8E4-4505-85EC-22734AC687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6AC6E8-C089-4970-88B6-A9DF4F2A5ECC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 de junio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165D22-FEF5-4F30-8822-5D2378806A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40F86B-3DA3-4708-AAF5-387BA115C4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617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>
          <p15:clr>
            <a:srgbClr val="FBAE40"/>
          </p15:clr>
        </p15:guide>
        <p15:guide id="11" pos="2880">
          <p15:clr>
            <a:srgbClr val="FBAE40"/>
          </p15:clr>
        </p15:guide>
        <p15:guide id="12" orient="horz" pos="17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texto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texto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053CBC-2B39-42EE-A9ED-10AB05B9208E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 de junio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3941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0417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F5E43A-1348-4597-A2F5-11856AA9D9CF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 de junio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1" name="Marcador de pie de página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32" name="Marcador de posición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155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0213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</p:spPr>
        <p:txBody>
          <a:bodyPr rtlCol="0"/>
          <a:lstStyle/>
          <a:p>
            <a:pPr algn="ctr" rtl="0"/>
            <a:r>
              <a:rPr lang="es-E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del Discriminante Lineal (LDA)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rtlCol="0"/>
          <a:lstStyle/>
          <a:p>
            <a:pPr algn="ctr" rtl="0"/>
            <a:r>
              <a:rPr lang="es-ES" dirty="0">
                <a:solidFill>
                  <a:schemeClr val="bg1"/>
                </a:solidFill>
                <a:latin typeface="+mj-lt"/>
              </a:rPr>
              <a:t>Mtro. David Nexticapan Cortes</a:t>
            </a:r>
            <a:endParaRPr lang="es-ES" dirty="0">
              <a:solidFill>
                <a:schemeClr val="bg1"/>
              </a:solidFill>
            </a:endParaRPr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5271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MX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Teorema de Bayes</a:t>
            </a:r>
            <a:endParaRPr lang="es-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77887F-BB86-8BB4-8E75-761FE414B5F2}"/>
              </a:ext>
            </a:extLst>
          </p:cNvPr>
          <p:cNvSpPr txBox="1"/>
          <p:nvPr/>
        </p:nvSpPr>
        <p:spPr>
          <a:xfrm>
            <a:off x="964022" y="2353304"/>
            <a:ext cx="9332916" cy="961482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Considere dos eventos A y B, el teorema de Bayes establece que la probabilidad de que B ocurra habiendo ocurrido A es igual a la probabilidad de que A y B ocurran al mismo tiempo dividida entre la probabilidad de que ocurra A.</a:t>
            </a:r>
            <a:endParaRPr lang="es-MX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6B96095-D504-EA72-16D9-434076A80E45}"/>
                  </a:ext>
                </a:extLst>
              </p:cNvPr>
              <p:cNvSpPr txBox="1"/>
              <p:nvPr/>
            </p:nvSpPr>
            <p:spPr>
              <a:xfrm>
                <a:off x="4669698" y="3635980"/>
                <a:ext cx="1921564" cy="669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  <m:r>
                        <a:rPr lang="es-MX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d>
                        </m:num>
                        <m:den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6B96095-D504-EA72-16D9-434076A80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698" y="3635980"/>
                <a:ext cx="1921564" cy="6690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135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MX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Teorema de Bayes para clasificación</a:t>
            </a:r>
            <a:endParaRPr lang="es-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B77887F-BB86-8BB4-8E75-761FE414B5F2}"/>
                  </a:ext>
                </a:extLst>
              </p:cNvPr>
              <p:cNvSpPr txBox="1"/>
              <p:nvPr/>
            </p:nvSpPr>
            <p:spPr>
              <a:xfrm>
                <a:off x="964022" y="2353304"/>
                <a:ext cx="9332916" cy="646331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Suponga que se desea clasificar una nueva observación en una de las </a:t>
                </a:r>
                <a14:m>
                  <m:oMath xmlns:m="http://schemas.openxmlformats.org/officeDocument/2006/math">
                    <m:r>
                      <a:rPr lang="es-MX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clases de una variable cualitativa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siendo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 partir de un solo predictor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B77887F-BB86-8BB4-8E75-761FE414B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2353304"/>
                <a:ext cx="9332916" cy="646331"/>
              </a:xfrm>
              <a:prstGeom prst="rect">
                <a:avLst/>
              </a:prstGeom>
              <a:blipFill>
                <a:blip r:embed="rId3"/>
                <a:stretch>
                  <a:fillRect l="-457" t="-3704" r="-522" b="-12963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9ED3114-053C-09A2-46BB-531BA7FF1DD2}"/>
                  </a:ext>
                </a:extLst>
              </p:cNvPr>
              <p:cNvSpPr txBox="1"/>
              <p:nvPr/>
            </p:nvSpPr>
            <p:spPr>
              <a:xfrm>
                <a:off x="964022" y="3212035"/>
                <a:ext cx="9332916" cy="1858201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 lvl="0" indent="-342900" algn="just">
                  <a:lnSpc>
                    <a:spcPct val="107000"/>
                  </a:lnSpc>
                  <a:buFont typeface="Wingdings" panose="05000000000000000000" pitchFamily="2" charset="2"/>
                  <a:buChar char=""/>
                </a:pPr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Se define como </a:t>
                </a:r>
                <a:r>
                  <a:rPr lang="es-MX" b="1" i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prior </a:t>
                </a:r>
                <a:r>
                  <a:rPr lang="es-MX" b="1" i="1" kern="100" dirty="0" err="1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probability</a:t>
                </a:r>
                <a:r>
                  <a:rPr lang="es-MX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la probabilidad de que una observación aleatoria pertenezca a la las </a:t>
                </a:r>
                <a14:m>
                  <m:oMath xmlns:m="http://schemas.openxmlformats.org/officeDocument/2006/math"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s-MX" sz="1600" kern="100" dirty="0">
                  <a:solidFill>
                    <a:schemeClr val="bg1"/>
                  </a:solidFill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07000"/>
                  </a:lnSpc>
                  <a:buFont typeface="Wingdings" panose="05000000000000000000" pitchFamily="2" charset="2"/>
                  <a:buChar char=""/>
                </a:pPr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Se 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como la función de densidad de probabilidad condicional de </a:t>
                </a:r>
                <a14:m>
                  <m:oMath xmlns:m="http://schemas.openxmlformats.org/officeDocument/2006/math"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para una observación que pertenece a la clase </a:t>
                </a:r>
                <a14:m>
                  <m:oMath xmlns:m="http://schemas.openxmlformats.org/officeDocument/2006/math"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s-MX" sz="1600" kern="100" dirty="0">
                  <a:solidFill>
                    <a:schemeClr val="bg1"/>
                  </a:solidFill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"/>
                </a:pPr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Se define como </a:t>
                </a:r>
                <a:r>
                  <a:rPr lang="es-MX" b="1" i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posterior </a:t>
                </a:r>
                <a:r>
                  <a:rPr lang="es-MX" b="1" i="1" kern="100" dirty="0" err="1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probability</a:t>
                </a:r>
                <a:r>
                  <a:rPr lang="es-MX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la probabilidad de que una observación pertenezca a la clase </a:t>
                </a:r>
                <a14:m>
                  <m:oMath xmlns:m="http://schemas.openxmlformats.org/officeDocument/2006/math"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siendo </a:t>
                </a:r>
                <a14:m>
                  <m:oMath xmlns:m="http://schemas.openxmlformats.org/officeDocument/2006/math"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el valor del predictor. </a:t>
                </a:r>
                <a:endParaRPr lang="es-MX" sz="1600" kern="100" dirty="0">
                  <a:solidFill>
                    <a:schemeClr val="bg1"/>
                  </a:solidFill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9ED3114-053C-09A2-46BB-531BA7FF1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3212035"/>
                <a:ext cx="9332916" cy="1858201"/>
              </a:xfrm>
              <a:prstGeom prst="rect">
                <a:avLst/>
              </a:prstGeom>
              <a:blipFill>
                <a:blip r:embed="rId4"/>
                <a:stretch>
                  <a:fillRect l="-326" t="-1629" r="-522" b="-3583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986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MX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Teorema de Bayes para clasificación</a:t>
            </a:r>
            <a:endParaRPr lang="es-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77887F-BB86-8BB4-8E75-761FE414B5F2}"/>
              </a:ext>
            </a:extLst>
          </p:cNvPr>
          <p:cNvSpPr txBox="1"/>
          <p:nvPr/>
        </p:nvSpPr>
        <p:spPr>
          <a:xfrm>
            <a:off x="964022" y="2353304"/>
            <a:ext cx="9332916" cy="376385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kern="1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Aplicando el teorema de Bayes se pueden conocer la </a:t>
            </a:r>
            <a:r>
              <a:rPr lang="es-MX" b="1" i="1" kern="1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posterior </a:t>
            </a:r>
            <a:r>
              <a:rPr lang="es-MX" b="1" i="1" kern="100" dirty="0" err="1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probability</a:t>
            </a:r>
            <a:r>
              <a:rPr lang="es-MX" b="1" kern="1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MX" kern="1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para cada clase: </a:t>
            </a:r>
            <a:endParaRPr lang="es-MX" sz="1600" kern="100" dirty="0">
              <a:solidFill>
                <a:schemeClr val="bg1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9C571BF-AF38-EB51-D5A4-CBAA2309B1CB}"/>
                  </a:ext>
                </a:extLst>
              </p:cNvPr>
              <p:cNvSpPr txBox="1"/>
              <p:nvPr/>
            </p:nvSpPr>
            <p:spPr>
              <a:xfrm>
                <a:off x="964021" y="3936080"/>
                <a:ext cx="4336849" cy="25887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𝑌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| 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1800" b="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800" b="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MX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s-MX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r>
                                <a:rPr lang="es-MX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s-MX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s-MX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s-MX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  <m:r>
                                <a:rPr lang="es-MX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s-MX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s-MX" i="1" kern="1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s-MX" b="0" i="1" kern="1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s-MX" b="0" i="1" kern="10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kern="10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  <m:r>
                                <a:rPr lang="es-MX" b="0" i="1" kern="10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s-MX" b="0" i="1" kern="10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</m:d>
                        </m:num>
                        <m:den>
                          <m:r>
                            <a:rPr lang="es-MX" sz="1800" b="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s-MX" sz="1800" b="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s-MX" sz="1800" b="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s-MX" sz="1800" b="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s-MX" sz="1800" b="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s-MX" sz="1800" b="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a:rPr lang="es-MX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=</m:t>
                                  </m:r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|</m:t>
                                  </m:r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=</m:t>
                                  </m:r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s-MX" sz="1800" i="1" kern="100" dirty="0">
                  <a:solidFill>
                    <a:schemeClr val="bg1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s-MX" sz="1600" kern="1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9C571BF-AF38-EB51-D5A4-CBAA2309B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1" y="3936080"/>
                <a:ext cx="4336849" cy="25887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C7BD337-1637-5F80-DA32-0A0C6F131684}"/>
                  </a:ext>
                </a:extLst>
              </p:cNvPr>
              <p:cNvSpPr txBox="1"/>
              <p:nvPr/>
            </p:nvSpPr>
            <p:spPr>
              <a:xfrm>
                <a:off x="5678557" y="4128312"/>
                <a:ext cx="4618381" cy="2204258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La clasificación con menor error (clasificación de Bayes) se consigue asignando la observación a aquel grupo que maximice la </a:t>
                </a:r>
                <a:r>
                  <a:rPr lang="es-MX" i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posterior </a:t>
                </a:r>
                <a:r>
                  <a:rPr lang="es-MX" i="1" kern="100" dirty="0" err="1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probability</a:t>
                </a:r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Dado que el denominador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es igual para todas las clases, se asignará cada observación a aquel grupo para el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sea mayor. </a:t>
                </a:r>
                <a:endParaRPr lang="es-MX" sz="1600" kern="100" dirty="0">
                  <a:solidFill>
                    <a:schemeClr val="bg1"/>
                  </a:solidFill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C7BD337-1637-5F80-DA32-0A0C6F131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557" y="4128312"/>
                <a:ext cx="4618381" cy="2204258"/>
              </a:xfrm>
              <a:prstGeom prst="rect">
                <a:avLst/>
              </a:prstGeom>
              <a:blipFill>
                <a:blip r:embed="rId4"/>
                <a:stretch>
                  <a:fillRect l="-7246" t="-1099" r="-1054" b="-2747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60FF08C1-58AF-064F-36DF-982584D62379}"/>
                  </a:ext>
                </a:extLst>
              </p:cNvPr>
              <p:cNvSpPr txBox="1"/>
              <p:nvPr/>
            </p:nvSpPr>
            <p:spPr>
              <a:xfrm>
                <a:off x="964021" y="2962441"/>
                <a:ext cx="9332915" cy="669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𝑝𝑒𝑟𝑡𝑒𝑛𝑒𝑐𝑒𝑟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𝑙𝑎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𝑐𝑙𝑎𝑠𝑒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| 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𝑣𝑎𝑙𝑜𝑟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𝑜𝑏𝑠𝑒𝑟𝑣𝑎𝑑𝑜</m:t>
                          </m:r>
                        </m:e>
                      </m:d>
                      <m:r>
                        <a:rPr lang="es-MX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𝑝𝑒𝑟𝑡𝑒𝑛𝑒𝑐𝑒𝑟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𝑙𝑎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𝑐𝑙𝑎𝑠𝑒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𝑜𝑏𝑠𝑒𝑟𝑣𝑎𝑟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𝑜𝑏𝑠𝑒𝑟𝑣𝑎𝑟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60FF08C1-58AF-064F-36DF-982584D62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1" y="2962441"/>
                <a:ext cx="9332915" cy="6690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720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3" grpId="0" animBg="1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MX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Teorema de Bayes para clasificación</a:t>
            </a:r>
            <a:endParaRPr lang="es-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B77887F-BB86-8BB4-8E75-761FE414B5F2}"/>
                  </a:ext>
                </a:extLst>
              </p:cNvPr>
              <p:cNvSpPr txBox="1"/>
              <p:nvPr/>
            </p:nvSpPr>
            <p:spPr>
              <a:xfrm>
                <a:off x="964022" y="2353304"/>
                <a:ext cx="9332916" cy="1254318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Para que la clasificación de Bayes sea posible, se necesita conocer la probabilidad poblacional de que una observación cualquiera pertenezca a cada clase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y la probabilidad poblacional de que una observación que pertenece a la clase </a:t>
                </a:r>
                <a14:m>
                  <m:oMath xmlns:m="http://schemas.openxmlformats.org/officeDocument/2006/math"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adquiera el valor </a:t>
                </a:r>
                <a14:m>
                  <m:oMath xmlns:m="http://schemas.openxmlformats.org/officeDocument/2006/math"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en el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s-MX" sz="1600" kern="100" dirty="0">
                    <a:solidFill>
                      <a:schemeClr val="bg1"/>
                    </a:solidFill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B77887F-BB86-8BB4-8E75-761FE414B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2353304"/>
                <a:ext cx="9332916" cy="1254318"/>
              </a:xfrm>
              <a:prstGeom prst="rect">
                <a:avLst/>
              </a:prstGeom>
              <a:blipFill>
                <a:blip r:embed="rId3"/>
                <a:stretch>
                  <a:fillRect l="-457" t="-1923" r="-1566" b="-53365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1642782D-E9A1-4459-4600-F0396AAC12CC}"/>
              </a:ext>
            </a:extLst>
          </p:cNvPr>
          <p:cNvSpPr txBox="1"/>
          <p:nvPr/>
        </p:nvSpPr>
        <p:spPr>
          <a:xfrm>
            <a:off x="964022" y="3843841"/>
            <a:ext cx="9332916" cy="672748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kern="1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 la práctica, estos parámetros deben ser estimados a partir de la muestra. Como consecuencia, el clasificador LDA obtenido se aproxima al clasificador de Bayes pero no es igual.</a:t>
            </a:r>
            <a:endParaRPr lang="es-MX" sz="1600" kern="100" dirty="0">
              <a:solidFill>
                <a:schemeClr val="bg1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CFAF281C-F488-1B32-631A-18CF5C8608D9}"/>
                  </a:ext>
                </a:extLst>
              </p:cNvPr>
              <p:cNvSpPr txBox="1"/>
              <p:nvPr/>
            </p:nvSpPr>
            <p:spPr>
              <a:xfrm>
                <a:off x="964022" y="4752808"/>
                <a:ext cx="9332916" cy="487313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En el caso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la estimación suele ser sencilla ya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e>
                        </m:acc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s-MX" sz="1600" kern="100" dirty="0">
                  <a:solidFill>
                    <a:schemeClr val="bg1"/>
                  </a:solidFill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CFAF281C-F488-1B32-631A-18CF5C860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4752808"/>
                <a:ext cx="9332916" cy="487313"/>
              </a:xfrm>
              <a:prstGeom prst="rect">
                <a:avLst/>
              </a:prstGeom>
              <a:blipFill>
                <a:blip r:embed="rId4"/>
                <a:stretch>
                  <a:fillRect l="-457" b="-4878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721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MX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Teorema de Bayes para clasificación</a:t>
            </a:r>
            <a:endParaRPr lang="es-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34DA5F7B-E4B9-596C-694E-9F46D783174C}"/>
                  </a:ext>
                </a:extLst>
              </p:cNvPr>
              <p:cNvSpPr txBox="1"/>
              <p:nvPr/>
            </p:nvSpPr>
            <p:spPr>
              <a:xfrm>
                <a:off x="602977" y="2129910"/>
                <a:ext cx="4890052" cy="1265475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La estimación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no es tan directa. Si se considera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se distribuye normalmente en las K clases, entonces se puede estimar su valor a partir de la ecuación.</a:t>
                </a:r>
                <a:endParaRPr lang="es-MX" sz="1600" kern="100" dirty="0">
                  <a:solidFill>
                    <a:schemeClr val="bg1"/>
                  </a:solidFill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34DA5F7B-E4B9-596C-694E-9F46D7831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977" y="2129910"/>
                <a:ext cx="4890052" cy="1265475"/>
              </a:xfrm>
              <a:prstGeom prst="rect">
                <a:avLst/>
              </a:prstGeom>
              <a:blipFill>
                <a:blip r:embed="rId3"/>
                <a:stretch>
                  <a:fillRect l="-995" t="-1905" r="-871" b="-5714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937C779-035F-79D0-E0D2-B19405AA8145}"/>
                  </a:ext>
                </a:extLst>
              </p:cNvPr>
              <p:cNvSpPr txBox="1"/>
              <p:nvPr/>
            </p:nvSpPr>
            <p:spPr>
              <a:xfrm>
                <a:off x="1524003" y="3380922"/>
                <a:ext cx="3048000" cy="8056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MX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sSup>
                        <m:sSup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MX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Sup>
                                <m:sSubSupPr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s-MX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sSup>
                            <m:sSup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s-MX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MX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s-MX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s-MX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937C779-035F-79D0-E0D2-B19405AA8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3" y="3380922"/>
                <a:ext cx="3048000" cy="8056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80C8993-5E6C-6CBC-F7D4-F89CBD6EC601}"/>
                  </a:ext>
                </a:extLst>
              </p:cNvPr>
              <p:cNvSpPr txBox="1"/>
              <p:nvPr/>
            </p:nvSpPr>
            <p:spPr>
              <a:xfrm>
                <a:off x="602977" y="4186592"/>
                <a:ext cx="4890052" cy="982320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Además, si se asume que la varianza es constante en todos los grupos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=…=</m:t>
                    </m:r>
                    <m:sSubSup>
                      <m:sSubSup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  <m:sup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entonces:</a:t>
                </a:r>
                <a:endParaRPr lang="es-MX" sz="1600" kern="100" dirty="0">
                  <a:solidFill>
                    <a:schemeClr val="bg1"/>
                  </a:solidFill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80C8993-5E6C-6CBC-F7D4-F89CBD6EC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977" y="4186592"/>
                <a:ext cx="4890052" cy="982320"/>
              </a:xfrm>
              <a:prstGeom prst="rect">
                <a:avLst/>
              </a:prstGeom>
              <a:blipFill>
                <a:blip r:embed="rId5"/>
                <a:stretch>
                  <a:fillRect l="-995" t="-3067" r="-871" b="-7362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A140B55C-8350-7D34-58C7-C6B7E2B3BE25}"/>
                  </a:ext>
                </a:extLst>
              </p:cNvPr>
              <p:cNvSpPr txBox="1"/>
              <p:nvPr/>
            </p:nvSpPr>
            <p:spPr>
              <a:xfrm>
                <a:off x="602977" y="5198622"/>
                <a:ext cx="4996069" cy="9989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MX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s-MX" sz="1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MX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MX" sz="1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s-MX" sz="1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s-MX" sz="1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MX" sz="1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den>
                      </m:f>
                      <m:r>
                        <a:rPr lang="es-MX" sz="1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>
                            <m:fPr>
                              <m:ctrlP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MX" sz="14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𝜋𝜎</m:t>
                                  </m:r>
                                </m:e>
                              </m:rad>
                            </m:den>
                          </m:f>
                          <m:sSup>
                            <m:sSupPr>
                              <m:ctrlP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MX" sz="1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sz="1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MX" sz="14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MX" sz="14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s-MX" sz="1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MX" sz="1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s-MX" sz="1400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sSup>
                                <m:sSupPr>
                                  <m:ctrlP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MX" sz="1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MX" sz="1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s-MX" sz="1400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s-MX" sz="1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MX" sz="1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s-MX" sz="1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s-MX" sz="14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MX" sz="1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MX" sz="14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s-MX" sz="1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s-MX" sz="1400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s-MX" sz="1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𝜋𝜎</m:t>
                                      </m:r>
                                    </m:e>
                                  </m:rad>
                                </m:den>
                              </m:f>
                              <m:sSup>
                                <m:sSupPr>
                                  <m:ctrlP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s-MX" sz="14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MX" sz="1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f>
                                    <m:fPr>
                                      <m:ctrlPr>
                                        <a:rPr lang="es-MX" sz="1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MX" sz="1400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s-MX" sz="1400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es-MX" sz="1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MX" sz="1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s-MX" sz="1400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s-MX" sz="1400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s-MX" sz="1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MX" sz="1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MX" sz="1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s-MX" sz="1400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s-MX" sz="14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MX" sz="14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s-MX" sz="14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MX" sz="1400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s-MX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A140B55C-8350-7D34-58C7-C6B7E2B3B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977" y="5198622"/>
                <a:ext cx="4996069" cy="998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CF62ACB0-A9F8-E308-074B-3D22D47EF8F4}"/>
              </a:ext>
            </a:extLst>
          </p:cNvPr>
          <p:cNvSpPr txBox="1"/>
          <p:nvPr/>
        </p:nvSpPr>
        <p:spPr>
          <a:xfrm>
            <a:off x="6394173" y="2168634"/>
            <a:ext cx="4890052" cy="672748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kern="1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Esta ecuación se simplifica aún más mediante una transformación logarítmica de sus dos términos:</a:t>
            </a:r>
            <a:endParaRPr lang="es-MX" sz="1600" kern="100" dirty="0">
              <a:solidFill>
                <a:schemeClr val="bg1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B4BEE02D-CA24-8728-8F4E-BCE58A119131}"/>
                  </a:ext>
                </a:extLst>
              </p:cNvPr>
              <p:cNvSpPr txBox="1"/>
              <p:nvPr/>
            </p:nvSpPr>
            <p:spPr>
              <a:xfrm>
                <a:off x="6592955" y="3029848"/>
                <a:ext cx="4492487" cy="9702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</m:acc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MX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MX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s-MX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s-MX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MX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MX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s-MX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s-MX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MX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MX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B4BEE02D-CA24-8728-8F4E-BCE58A119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955" y="3029848"/>
                <a:ext cx="4492487" cy="970266"/>
              </a:xfrm>
              <a:prstGeom prst="rect">
                <a:avLst/>
              </a:prstGeom>
              <a:blipFill>
                <a:blip r:embed="rId7"/>
                <a:stretch>
                  <a:fillRect t="-43396" b="-1132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uadroTexto 16">
            <a:extLst>
              <a:ext uri="{FF2B5EF4-FFF2-40B4-BE49-F238E27FC236}">
                <a16:creationId xmlns:a16="http://schemas.microsoft.com/office/drawing/2014/main" id="{88814438-30E5-EAB4-76CC-8E303EC9CF0F}"/>
              </a:ext>
            </a:extLst>
          </p:cNvPr>
          <p:cNvSpPr txBox="1"/>
          <p:nvPr/>
        </p:nvSpPr>
        <p:spPr>
          <a:xfrm>
            <a:off x="6400798" y="4186592"/>
            <a:ext cx="4890052" cy="969111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kern="1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término lineal en el nombre Análisis Discriminante Lineal se debe al hecho de que la función discriminatoria es lineal respecto de x.</a:t>
            </a:r>
            <a:endParaRPr lang="es-MX" sz="1600" kern="100" dirty="0">
              <a:solidFill>
                <a:schemeClr val="bg1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107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1" grpId="0" animBg="1"/>
      <p:bldP spid="13" grpId="0"/>
      <p:bldP spid="14" grpId="0" animBg="1"/>
      <p:bldP spid="16" grpId="0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MX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Pasos para realizar un LDA</a:t>
            </a:r>
            <a:endParaRPr lang="es-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Diagrama 2">
                <a:extLst>
                  <a:ext uri="{FF2B5EF4-FFF2-40B4-BE49-F238E27FC236}">
                    <a16:creationId xmlns:a16="http://schemas.microsoft.com/office/drawing/2014/main" id="{3569BBCC-EC4E-890C-26C8-1DF9694FA44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798397932"/>
                  </p:ext>
                </p:extLst>
              </p:nvPr>
            </p:nvGraphicFramePr>
            <p:xfrm>
              <a:off x="964022" y="2584174"/>
              <a:ext cx="10260569" cy="306125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3" name="Diagrama 2">
                <a:extLst>
                  <a:ext uri="{FF2B5EF4-FFF2-40B4-BE49-F238E27FC236}">
                    <a16:creationId xmlns:a16="http://schemas.microsoft.com/office/drawing/2014/main" id="{3569BBCC-EC4E-890C-26C8-1DF9694FA44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798397932"/>
                  </p:ext>
                </p:extLst>
              </p:nvPr>
            </p:nvGraphicFramePr>
            <p:xfrm>
              <a:off x="964022" y="2584174"/>
              <a:ext cx="10260569" cy="306125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729811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Naranja amarillo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32_TF78853419_Win32.potx" id="{F85094AE-F951-45B6-B003-F9F3B4BD38C5}" vid="{E124D037-8587-41C3-AB02-2A120C8407E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1865</TotalTime>
  <Words>642</Words>
  <Application>Microsoft Office PowerPoint</Application>
  <PresentationFormat>Panorámica</PresentationFormat>
  <Paragraphs>42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6" baseType="lpstr">
      <vt:lpstr>Aptos</vt:lpstr>
      <vt:lpstr>Arial</vt:lpstr>
      <vt:lpstr>Calibri</vt:lpstr>
      <vt:lpstr>Cambria Math</vt:lpstr>
      <vt:lpstr>Franklin Gothic Book</vt:lpstr>
      <vt:lpstr>Franklin Gothic Demi</vt:lpstr>
      <vt:lpstr>Times New Roman</vt:lpstr>
      <vt:lpstr>Wingdings</vt:lpstr>
      <vt:lpstr>Tema1</vt:lpstr>
      <vt:lpstr>Análisis del Discriminante Lineal (LDA)</vt:lpstr>
      <vt:lpstr>Teorema de Bayes</vt:lpstr>
      <vt:lpstr>Teorema de Bayes para clasificación</vt:lpstr>
      <vt:lpstr>Teorema de Bayes para clasificación</vt:lpstr>
      <vt:lpstr>Teorema de Bayes para clasificación</vt:lpstr>
      <vt:lpstr>Teorema de Bayes para clasificación</vt:lpstr>
      <vt:lpstr>Pasos para realizar un LDA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7: Estimaciones para la media poblacional μ</dc:title>
  <dc:creator>David Nexticapan Cortes</dc:creator>
  <cp:lastModifiedBy>DAVID NEXTICAPAN - CORTES</cp:lastModifiedBy>
  <cp:revision>67</cp:revision>
  <dcterms:created xsi:type="dcterms:W3CDTF">2023-09-16T20:42:33Z</dcterms:created>
  <dcterms:modified xsi:type="dcterms:W3CDTF">2025-06-03T15:08:01Z</dcterms:modified>
</cp:coreProperties>
</file>