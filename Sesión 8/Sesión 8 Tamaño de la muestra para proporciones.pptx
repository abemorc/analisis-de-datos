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62" r:id="rId2"/>
    <p:sldId id="257" r:id="rId3"/>
    <p:sldId id="258" r:id="rId4"/>
    <p:sldId id="259" r:id="rId5"/>
    <p:sldId id="260" r:id="rId6"/>
    <p:sldId id="263" r:id="rId7"/>
    <p:sldId id="264" r:id="rId8"/>
    <p:sldId id="266" r:id="rId9"/>
    <p:sldId id="265"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7149A3-7884-48F4-A595-C6E70909320A}" type="datetimeFigureOut">
              <a:rPr lang="es-MX" smtClean="0"/>
              <a:t>24/01/2025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CD9CE-EB9F-4F76-A33E-D52452DD4BEF}" type="slidenum">
              <a:rPr lang="es-MX" smtClean="0"/>
              <a:t>‹Nº›</a:t>
            </a:fld>
            <a:endParaRPr lang="es-MX"/>
          </a:p>
        </p:txBody>
      </p:sp>
    </p:spTree>
    <p:extLst>
      <p:ext uri="{BB962C8B-B14F-4D97-AF65-F5344CB8AC3E}">
        <p14:creationId xmlns:p14="http://schemas.microsoft.com/office/powerpoint/2010/main" val="292497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0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0695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0784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641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2149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097707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1481831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2862266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3354853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1535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2653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829230751"/>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14911683"/>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59159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168592718"/>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7110477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4321457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8051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8393897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2418772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9526983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881125449"/>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4067397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6.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7.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0.png"/><Relationship Id="rId7" Type="http://schemas.openxmlformats.org/officeDocument/2006/relationships/diagramQuickStyle" Target="../diagrams/quickStyle4.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41.pn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3.png"/><Relationship Id="rId7" Type="http://schemas.openxmlformats.org/officeDocument/2006/relationships/diagramQuickStyle" Target="../diagrams/quickStyle5.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2.png"/><Relationship Id="rId9" Type="http://schemas.microsoft.com/office/2007/relationships/diagramDrawing" Target="../diagrams/drawing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1.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4.png"/><Relationship Id="rId7" Type="http://schemas.openxmlformats.org/officeDocument/2006/relationships/diagramQuickStyle" Target="../diagrams/quickStyle7.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43.png"/><Relationship Id="rId9" Type="http://schemas.microsoft.com/office/2007/relationships/diagramDrawing" Target="../diagrams/drawing7.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30.png"/><Relationship Id="rId7" Type="http://schemas.openxmlformats.org/officeDocument/2006/relationships/diagramQuickStyle" Target="../diagrams/quickStyle8.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45.png"/><Relationship Id="rId9" Type="http://schemas.microsoft.com/office/2007/relationships/diagramDrawing" Target="../diagrams/drawin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903304" y="2116182"/>
            <a:ext cx="6955321" cy="1514019"/>
          </a:xfrm>
        </p:spPr>
        <p:txBody>
          <a:bodyPr rtlCol="0"/>
          <a:lstStyle/>
          <a:p>
            <a:pPr algn="ctr"/>
            <a:r>
              <a:rPr lang="es-ES" sz="4400" dirty="0">
                <a:latin typeface="Times New Roman" panose="02020603050405020304" pitchFamily="18" charset="0"/>
                <a:cs typeface="Times New Roman" panose="02020603050405020304" pitchFamily="18" charset="0"/>
              </a:rPr>
              <a:t>Sesión 8: </a:t>
            </a:r>
            <a:r>
              <a:rPr lang="es-MX" sz="4400" dirty="0">
                <a:latin typeface="Times New Roman" panose="02020603050405020304" pitchFamily="18" charset="0"/>
                <a:cs typeface="Times New Roman" panose="02020603050405020304" pitchFamily="18" charset="0"/>
              </a:rPr>
              <a:t>Tamaño de la muestra para proporciones</a:t>
            </a:r>
            <a:endParaRPr lang="es-ES" sz="4400" dirty="0">
              <a:latin typeface="Times New Roman" panose="02020603050405020304" pitchFamily="18" charset="0"/>
              <a:cs typeface="Times New Roman" panose="02020603050405020304" pitchFamily="18" charset="0"/>
            </a:endParaRP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Times New Roman" panose="02020603050405020304" pitchFamily="18" charset="0"/>
                <a:cs typeface="Times New Roman" panose="02020603050405020304" pitchFamily="18" charset="0"/>
              </a:rPr>
              <a:t>Mtro. David Nexticapan Cortes</a:t>
            </a:r>
          </a:p>
          <a:p>
            <a:pPr rtl="0"/>
            <a:endParaRPr lang="es-E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510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Determinación del tamaño muestral</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9770239" cy="584775"/>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 que se requiere reunir datos muestrales con el objetivo de estimar alguna proporción de la población. ¿Cómo sabemos </a:t>
            </a:r>
            <a:r>
              <a:rPr kumimoji="0" lang="es-MX" sz="16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cuántos</a:t>
            </a: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elementos muestrales deben obtenerse?</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4E08495-5E3B-956C-0C42-FDD4190CA97A}"/>
                  </a:ext>
                </a:extLst>
              </p:cNvPr>
              <p:cNvSpPr txBox="1"/>
              <p:nvPr/>
            </p:nvSpPr>
            <p:spPr>
              <a:xfrm>
                <a:off x="964021" y="3001054"/>
                <a:ext cx="9770239" cy="2210605"/>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Utilizando la fórmula para el margen de error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luego despejando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obtenemos la fórmula para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rad>
                        <m:radPr>
                          <m:degHide m:val="on"/>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radPr>
                        <m:deg/>
                        <m:e>
                          <m:f>
                            <m:f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𝑞</m:t>
                                  </m:r>
                                </m:e>
                              </m:acc>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den>
                          </m:f>
                        </m:e>
                      </m:rad>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𝑒𝑛𝑡𝑜𝑛𝑐𝑒𝑠</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d>
                        <m:dPr>
                          <m:begChr m:val="{"/>
                          <m:end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m>
                            <m:mPr>
                              <m:mcs>
                                <m:mc>
                                  <m:mcPr>
                                    <m:count m:val="1"/>
                                    <m:mcJc m:val="center"/>
                                  </m:mcPr>
                                </m:mc>
                              </m:mcs>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mPr>
                            <m:m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m:t>
                                </m:r>
                                <m:f>
                                  <m:f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d>
                                          <m:d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e>
                                        </m:d>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𝑞</m:t>
                                        </m:r>
                                      </m:e>
                                    </m:acc>
                                  </m:num>
                                  <m:den>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𝐸</m:t>
                                        </m:r>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den>
                                </m:f>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𝑐𝑢𝑎𝑛𝑑𝑜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𝑠𝑒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𝑐𝑜𝑛𝑜𝑐𝑒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𝑢𝑛</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𝑒𝑠𝑡𝑖𝑚𝑎𝑑𝑜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e>
                            </m:mr>
                            <m:m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m:t>
                                </m:r>
                                <m:f>
                                  <m:f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d>
                                          <m:d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e>
                                        </m:d>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0.25</m:t>
                                    </m:r>
                                  </m:num>
                                  <m:den>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𝐸</m:t>
                                        </m:r>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den>
                                </m:f>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𝑐𝑢𝑎𝑛𝑑𝑜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𝑠𝑒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𝑐𝑜𝑛𝑜𝑐𝑒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𝑢𝑛</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𝑒𝑠𝑡𝑖𝑚𝑎𝑑𝑜</m:t>
                                </m:r>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e>
                            </m:mr>
                          </m:m>
                        </m:e>
                      </m:d>
                    </m:oMath>
                  </m:oMathPara>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B4E08495-5E3B-956C-0C42-FDD4190CA97A}"/>
                  </a:ext>
                </a:extLst>
              </p:cNvPr>
              <p:cNvSpPr txBox="1">
                <a:spLocks noRot="1" noChangeAspect="1" noMove="1" noResize="1" noEditPoints="1" noAdjustHandles="1" noChangeArrowheads="1" noChangeShapeType="1" noTextEdit="1"/>
              </p:cNvSpPr>
              <p:nvPr/>
            </p:nvSpPr>
            <p:spPr>
              <a:xfrm>
                <a:off x="964021" y="3001054"/>
                <a:ext cx="9770239" cy="2210605"/>
              </a:xfrm>
              <a:prstGeom prst="rect">
                <a:avLst/>
              </a:prstGeom>
              <a:blipFill>
                <a:blip r:embed="rId3"/>
                <a:stretch>
                  <a:fillRect l="-312" t="-1096"/>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D47C08C-6F29-5631-9EAF-0138521F3451}"/>
                  </a:ext>
                </a:extLst>
              </p:cNvPr>
              <p:cNvSpPr txBox="1"/>
              <p:nvPr/>
            </p:nvSpPr>
            <p:spPr>
              <a:xfrm>
                <a:off x="964021" y="5461069"/>
                <a:ext cx="9770239" cy="830997"/>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Utilice la primera fórmula cuando se puedan hacer estimaciones razonables de </a:t>
                </a:r>
                <a14:m>
                  <m:oMath xmlns:m="http://schemas.openxmlformats.org/officeDocument/2006/math">
                    <m:acc>
                      <m:accPr>
                        <m:chr m:val="̂"/>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usando muestras previas, un estudio piloto o el conocimiento experto de alguna persona. Cuando esto no sea posible, utilice la segunda fórmula. </a:t>
                </a:r>
              </a:p>
            </p:txBody>
          </p:sp>
        </mc:Choice>
        <mc:Fallback xmlns="">
          <p:sp>
            <p:nvSpPr>
              <p:cNvPr id="7" name="CuadroTexto 6">
                <a:extLst>
                  <a:ext uri="{FF2B5EF4-FFF2-40B4-BE49-F238E27FC236}">
                    <a16:creationId xmlns:a16="http://schemas.microsoft.com/office/drawing/2014/main" id="{DD47C08C-6F29-5631-9EAF-0138521F3451}"/>
                  </a:ext>
                </a:extLst>
              </p:cNvPr>
              <p:cNvSpPr txBox="1">
                <a:spLocks noRot="1" noChangeAspect="1" noMove="1" noResize="1" noEditPoints="1" noAdjustHandles="1" noChangeArrowheads="1" noChangeShapeType="1" noTextEdit="1"/>
              </p:cNvSpPr>
              <p:nvPr/>
            </p:nvSpPr>
            <p:spPr>
              <a:xfrm>
                <a:off x="964021" y="5461069"/>
                <a:ext cx="9770239" cy="830997"/>
              </a:xfrm>
              <a:prstGeom prst="rect">
                <a:avLst/>
              </a:prstGeom>
              <a:blipFill>
                <a:blip r:embed="rId4"/>
                <a:stretch>
                  <a:fillRect l="-187" t="-1449" r="-312" b="-7971"/>
                </a:stretch>
              </a:blipFill>
              <a:ln>
                <a:solidFill>
                  <a:schemeClr val="tx1">
                    <a:lumMod val="85000"/>
                  </a:schemeClr>
                </a:solidFill>
              </a:ln>
            </p:spPr>
            <p:txBody>
              <a:bodyPr/>
              <a:lstStyle/>
              <a:p>
                <a:r>
                  <a:rPr lang="es-MX">
                    <a:noFill/>
                  </a:rPr>
                  <a:t> </a:t>
                </a:r>
              </a:p>
            </p:txBody>
          </p:sp>
        </mc:Fallback>
      </mc:AlternateContent>
      <p:graphicFrame>
        <p:nvGraphicFramePr>
          <p:cNvPr id="17" name="Diagrama 16">
            <a:extLst>
              <a:ext uri="{FF2B5EF4-FFF2-40B4-BE49-F238E27FC236}">
                <a16:creationId xmlns:a16="http://schemas.microsoft.com/office/drawing/2014/main" id="{49D56C8A-5630-A062-5F81-51652E33471F}"/>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1892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1</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5503038" cy="4278094"/>
          </a:xfrm>
          <a:prstGeom prst="rect">
            <a:avLst/>
          </a:prstGeom>
          <a:noFill/>
          <a:ln>
            <a:solidFill>
              <a:schemeClr val="tx1">
                <a:lumMod val="85000"/>
              </a:schemeClr>
            </a:solidFill>
          </a:ln>
        </p:spPr>
        <p:txBody>
          <a:bodyPr wrap="square" rtlCol="0">
            <a:spAutoFit/>
          </a:bodyPr>
          <a:lstStyle/>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Un equipo de investigadores está llevando a cabo un estudio para determinar la proporción de pacientes con diabetes tipo 2 que logran controlar su nivel de glucosa en sangre dentro de los límites recomendados mediante un nuevo enfoque de tratamiento dietético. </a:t>
            </a:r>
          </a:p>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Para ello, necesitan calcular el tamaño de la muestra necesario. ¿Cuántos pacientes con diabetes tipo 2 seleccionados al azar deben incluir en el estudio para obtener una estimación precisa de la proporción de pacientes que logran controlar su glucosa en sangre con este nuevo enfoque? </a:t>
            </a:r>
          </a:p>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Supongamos que los investigadores desean tener una confianza del 95% de que el porcentaje obtenido en la muestra esté dentro de dos puntos porcentuales del porcentaje real de pacientes que logran controlar su glucosa en sangre en la población de pacientes con diabetes tipo 2 en general.</a:t>
            </a:r>
            <a:endParaRPr kumimoji="0" lang="es-MX"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761875854"/>
                  </p:ext>
                </p:extLst>
              </p:nvPr>
            </p:nvGraphicFramePr>
            <p:xfrm>
              <a:off x="6467061" y="3179343"/>
              <a:ext cx="5420138" cy="2292626"/>
            </p:xfrm>
            <a:graphic>
              <a:graphicData uri="http://schemas.openxmlformats.org/drawingml/2006/table">
                <a:tbl>
                  <a:tblPr firstRow="1" bandRow="1">
                    <a:tableStyleId>{B301B821-A1FF-4177-AEE7-76D212191A09}</a:tableStyleId>
                  </a:tblPr>
                  <a:tblGrid>
                    <a:gridCol w="1974573">
                      <a:extLst>
                        <a:ext uri="{9D8B030D-6E8A-4147-A177-3AD203B41FA5}">
                          <a16:colId xmlns:a16="http://schemas.microsoft.com/office/drawing/2014/main" val="3666898410"/>
                        </a:ext>
                      </a:extLst>
                    </a:gridCol>
                    <a:gridCol w="3445565">
                      <a:extLst>
                        <a:ext uri="{9D8B030D-6E8A-4147-A177-3AD203B41FA5}">
                          <a16:colId xmlns:a16="http://schemas.microsoft.com/office/drawing/2014/main" val="1384386878"/>
                        </a:ext>
                      </a:extLst>
                    </a:gridCol>
                  </a:tblGrid>
                  <a:tr h="418995">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1873631">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=1−0.5=0.5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=0.02</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∙0.25</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m:t>
                                        </m:r>
                                        <m:r>
                                          <a:rPr lang="es-MX" b="0" i="1" smtClean="0">
                                            <a:latin typeface="Cambria Math" panose="02040503050406030204" pitchFamily="18" charset="0"/>
                                          </a:rPr>
                                          <m:t>2</m:t>
                                        </m:r>
                                      </m:e>
                                      <m:sup>
                                        <m:r>
                                          <a:rPr lang="es-MX" b="0" smtClean="0">
                                            <a:latin typeface="Cambria Math" panose="02040503050406030204" pitchFamily="18" charset="0"/>
                                          </a:rPr>
                                          <m:t>2</m:t>
                                        </m:r>
                                      </m:sup>
                                    </m:sSup>
                                  </m:den>
                                </m:f>
                                <m:r>
                                  <a:rPr lang="es-MX" b="0" smtClean="0">
                                    <a:latin typeface="Cambria Math" panose="02040503050406030204" pitchFamily="18" charset="0"/>
                                  </a:rPr>
                                  <m:t>=</m:t>
                                </m:r>
                                <m:r>
                                  <a:rPr lang="es-MX" b="0" i="0" smtClean="0">
                                    <a:latin typeface="Cambria Math" panose="02040503050406030204" pitchFamily="18" charset="0"/>
                                  </a:rPr>
                                  <m:t>2,401</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2,401 pacientes con diabetes tipo 2.</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761875854"/>
                  </p:ext>
                </p:extLst>
              </p:nvPr>
            </p:nvGraphicFramePr>
            <p:xfrm>
              <a:off x="6467061" y="3179343"/>
              <a:ext cx="5420138" cy="2292626"/>
            </p:xfrm>
            <a:graphic>
              <a:graphicData uri="http://schemas.openxmlformats.org/drawingml/2006/table">
                <a:tbl>
                  <a:tblPr firstRow="1" bandRow="1">
                    <a:tableStyleId>{B301B821-A1FF-4177-AEE7-76D212191A09}</a:tableStyleId>
                  </a:tblPr>
                  <a:tblGrid>
                    <a:gridCol w="1974573">
                      <a:extLst>
                        <a:ext uri="{9D8B030D-6E8A-4147-A177-3AD203B41FA5}">
                          <a16:colId xmlns:a16="http://schemas.microsoft.com/office/drawing/2014/main" val="3666898410"/>
                        </a:ext>
                      </a:extLst>
                    </a:gridCol>
                    <a:gridCol w="3445565">
                      <a:extLst>
                        <a:ext uri="{9D8B030D-6E8A-4147-A177-3AD203B41FA5}">
                          <a16:colId xmlns:a16="http://schemas.microsoft.com/office/drawing/2014/main" val="1384386878"/>
                        </a:ext>
                      </a:extLst>
                    </a:gridCol>
                  </a:tblGrid>
                  <a:tr h="418995">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1873631">
                    <a:tc>
                      <a:txBody>
                        <a:bodyPr/>
                        <a:lstStyle/>
                        <a:p>
                          <a:endParaRPr lang="es-MX"/>
                        </a:p>
                      </a:txBody>
                      <a:tcPr>
                        <a:blipFill>
                          <a:blip r:embed="rId3"/>
                          <a:stretch>
                            <a:fillRect l="-309" t="-24026" r="-175617" b="-649"/>
                          </a:stretch>
                        </a:blipFill>
                      </a:tcPr>
                    </a:tc>
                    <a:tc>
                      <a:txBody>
                        <a:bodyPr/>
                        <a:lstStyle/>
                        <a:p>
                          <a:endParaRPr lang="es-MX"/>
                        </a:p>
                      </a:txBody>
                      <a:tcPr>
                        <a:blipFill>
                          <a:blip r:embed="rId3"/>
                          <a:stretch>
                            <a:fillRect l="-57420" t="-24026" r="-530" b="-649"/>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6" name="Diagrama 15">
            <a:extLst>
              <a:ext uri="{FF2B5EF4-FFF2-40B4-BE49-F238E27FC236}">
                <a16:creationId xmlns:a16="http://schemas.microsoft.com/office/drawing/2014/main" id="{BDB5B9CF-322B-FFDA-160E-3E5943671EF3}"/>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818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2</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2862322"/>
              </a:xfrm>
              <a:prstGeom prst="rect">
                <a:avLst/>
              </a:prstGeom>
              <a:noFill/>
              <a:ln>
                <a:solidFill>
                  <a:schemeClr val="tx1">
                    <a:lumMod val="85000"/>
                  </a:schemeClr>
                </a:solidFill>
              </a:ln>
            </p:spPr>
            <p:txBody>
              <a:bodyPr wrap="square" rtlCol="0">
                <a:spAutoFit/>
              </a:bodyPr>
              <a:lstStyle/>
              <a:p>
                <a:pPr marL="285750" lvl="0" indent="-285750" algn="just">
                  <a:buFont typeface="Arial" panose="020B0604020202020204" pitchFamily="34" charset="0"/>
                  <a:buChar char="•"/>
                  <a:defRPr/>
                </a:pPr>
                <a:r>
                  <a:rPr lang="es-MX" dirty="0">
                    <a:solidFill>
                      <a:prstClr val="black"/>
                    </a:solidFill>
                    <a:latin typeface="Times New Roman" panose="02020603050405020304" pitchFamily="18" charset="0"/>
                    <a:cs typeface="Times New Roman" panose="02020603050405020304" pitchFamily="18" charset="0"/>
                  </a:rPr>
                  <a:t>En un mundo cada vez más conectado digitalmente, las formas en que nos comunicamos han experimentado cambios significativos debido al uso de la tecnología. Supongamos que un sociólogo está interesado en determinar el porcentaje actual de hogares en México que utilizan WhatsApp como su principal medio de comunicación. ¿Cuántos hogares deben ser encuestados para tener una confianza del 95% de que el porcentaje obtenido en la muestra no difiere en más de 4 puntos porcentuales del porcentaje real en la población?</a:t>
                </a:r>
              </a:p>
              <a:p>
                <a:pPr lvl="0" algn="just">
                  <a:defRPr/>
                </a:pPr>
                <a:endParaRPr kumimoji="0" lang="es-MX" sz="1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800100" marR="0" lvl="1"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Utilice el siguiente resultado de un estudio piloto: en 2022, el 37% de los mexicanos usaban WhatsApp como medio principal de comunicación. </a:t>
                </a:r>
              </a:p>
              <a:p>
                <a:pPr marL="800100" marR="0" lvl="1"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 que no tenemos información previa que sugiera un posible valor de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2862322"/>
              </a:xfrm>
              <a:prstGeom prst="rect">
                <a:avLst/>
              </a:prstGeom>
              <a:blipFill>
                <a:blip r:embed="rId3"/>
                <a:stretch>
                  <a:fillRect l="-326" t="-1062" r="-522" b="-2335"/>
                </a:stretch>
              </a:blipFill>
              <a:ln>
                <a:solidFill>
                  <a:schemeClr val="tx1">
                    <a:lumMod val="85000"/>
                  </a:schemeClr>
                </a:solidFill>
              </a:ln>
            </p:spPr>
            <p:txBody>
              <a:bodyPr/>
              <a:lstStyle/>
              <a:p>
                <a:r>
                  <a:rPr lang="es-MX">
                    <a:noFill/>
                  </a:rPr>
                  <a:t> </a:t>
                </a:r>
              </a:p>
            </p:txBody>
          </p:sp>
        </mc:Fallback>
      </mc:AlternateContent>
      <p:graphicFrame>
        <p:nvGraphicFramePr>
          <p:cNvPr id="15" name="Diagrama 14">
            <a:extLst>
              <a:ext uri="{FF2B5EF4-FFF2-40B4-BE49-F238E27FC236}">
                <a16:creationId xmlns:a16="http://schemas.microsoft.com/office/drawing/2014/main" id="{7A0A267D-1BB0-C819-5E38-8DCE997B6091}"/>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1008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2 (Solución)</a:t>
            </a:r>
          </a:p>
        </p:txBody>
      </p:sp>
      <mc:AlternateContent xmlns:mc="http://schemas.openxmlformats.org/markup-compatibility/2006" xmlns:a14="http://schemas.microsoft.com/office/drawing/2010/main">
        <mc:Choice Requires="a14">
          <p:graphicFrame>
            <p:nvGraphicFramePr>
              <p:cNvPr id="3" name="Tabla 4">
                <a:extLst>
                  <a:ext uri="{FF2B5EF4-FFF2-40B4-BE49-F238E27FC236}">
                    <a16:creationId xmlns:a16="http://schemas.microsoft.com/office/drawing/2014/main" id="{77E9462B-1CF9-B5C2-7E8A-FCC8F9788D01}"/>
                  </a:ext>
                </a:extLst>
              </p:cNvPr>
              <p:cNvGraphicFramePr>
                <a:graphicFrameLocks noGrp="1"/>
              </p:cNvGraphicFramePr>
              <p:nvPr/>
            </p:nvGraphicFramePr>
            <p:xfrm>
              <a:off x="964022" y="4543776"/>
              <a:ext cx="9332916" cy="1996642"/>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b)</a:t>
                          </a:r>
                        </a:p>
                      </a:txBody>
                      <a:tcPr/>
                    </a:tc>
                    <a:extLst>
                      <a:ext uri="{0D108BD9-81ED-4DB2-BD59-A6C34878D82A}">
                        <a16:rowId xmlns:a16="http://schemas.microsoft.com/office/drawing/2014/main" val="3484769395"/>
                      </a:ext>
                    </a:extLst>
                  </a:tr>
                  <a:tr h="531824">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=1−0.5=0.5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=0.04</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∙0.25</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0.04</m:t>
                                        </m:r>
                                      </m:e>
                                      <m:sup>
                                        <m:r>
                                          <a:rPr lang="es-MX" b="0" smtClean="0">
                                            <a:latin typeface="Cambria Math" panose="02040503050406030204" pitchFamily="18" charset="0"/>
                                          </a:rPr>
                                          <m:t>2</m:t>
                                        </m:r>
                                      </m:sup>
                                    </m:sSup>
                                  </m:den>
                                </m:f>
                                <m:r>
                                  <a:rPr lang="es-MX" b="0" smtClean="0">
                                    <a:latin typeface="Cambria Math" panose="02040503050406030204" pitchFamily="18" charset="0"/>
                                  </a:rPr>
                                  <m:t>=600.25</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601 hogares seleccionados al azar. </a:t>
                          </a:r>
                        </a:p>
                      </a:txBody>
                      <a:tcPr/>
                    </a:tc>
                    <a:extLst>
                      <a:ext uri="{0D108BD9-81ED-4DB2-BD59-A6C34878D82A}">
                        <a16:rowId xmlns:a16="http://schemas.microsoft.com/office/drawing/2014/main" val="1208785535"/>
                      </a:ext>
                    </a:extLst>
                  </a:tr>
                </a:tbl>
              </a:graphicData>
            </a:graphic>
          </p:graphicFrame>
        </mc:Choice>
        <mc:Fallback xmlns="">
          <p:graphicFrame>
            <p:nvGraphicFramePr>
              <p:cNvPr id="3" name="Tabla 4">
                <a:extLst>
                  <a:ext uri="{FF2B5EF4-FFF2-40B4-BE49-F238E27FC236}">
                    <a16:creationId xmlns:a16="http://schemas.microsoft.com/office/drawing/2014/main" id="{77E9462B-1CF9-B5C2-7E8A-FCC8F9788D01}"/>
                  </a:ext>
                </a:extLst>
              </p:cNvPr>
              <p:cNvGraphicFramePr>
                <a:graphicFrameLocks noGrp="1"/>
              </p:cNvGraphicFramePr>
              <p:nvPr>
                <p:extLst>
                  <p:ext uri="{D42A27DB-BD31-4B8C-83A1-F6EECF244321}">
                    <p14:modId xmlns:p14="http://schemas.microsoft.com/office/powerpoint/2010/main" val="833458289"/>
                  </p:ext>
                </p:extLst>
              </p:nvPr>
            </p:nvGraphicFramePr>
            <p:xfrm>
              <a:off x="964022" y="4543776"/>
              <a:ext cx="9332916" cy="2003627"/>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b)</a:t>
                          </a:r>
                        </a:p>
                      </a:txBody>
                      <a:tcPr/>
                    </a:tc>
                    <a:extLst>
                      <a:ext uri="{0D108BD9-81ED-4DB2-BD59-A6C34878D82A}">
                        <a16:rowId xmlns:a16="http://schemas.microsoft.com/office/drawing/2014/main" val="3484769395"/>
                      </a:ext>
                    </a:extLst>
                  </a:tr>
                  <a:tr h="1471803">
                    <a:tc>
                      <a:txBody>
                        <a:bodyPr/>
                        <a:lstStyle/>
                        <a:p>
                          <a:endParaRPr lang="es-MX"/>
                        </a:p>
                      </a:txBody>
                      <a:tcPr>
                        <a:blipFill>
                          <a:blip r:embed="rId3"/>
                          <a:stretch>
                            <a:fillRect l="-246" t="-38430" r="-276904" b="-9504"/>
                          </a:stretch>
                        </a:blipFill>
                      </a:tcPr>
                    </a:tc>
                    <a:tc>
                      <a:txBody>
                        <a:bodyPr/>
                        <a:lstStyle/>
                        <a:p>
                          <a:endParaRPr lang="es-MX"/>
                        </a:p>
                      </a:txBody>
                      <a:tcPr>
                        <a:blipFill>
                          <a:blip r:embed="rId3"/>
                          <a:stretch>
                            <a:fillRect l="-36267" t="-38430" r="-178" b="-9504"/>
                          </a:stretch>
                        </a:blipFill>
                      </a:tcPr>
                    </a:tc>
                    <a:extLst>
                      <a:ext uri="{0D108BD9-81ED-4DB2-BD59-A6C34878D82A}">
                        <a16:rowId xmlns:a16="http://schemas.microsoft.com/office/drawing/2014/main" val="120878553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AA3844AB-4CE5-5BD4-21E2-08F5460E650D}"/>
                  </a:ext>
                </a:extLst>
              </p:cNvPr>
              <p:cNvGraphicFramePr>
                <a:graphicFrameLocks noGrp="1"/>
              </p:cNvGraphicFramePr>
              <p:nvPr/>
            </p:nvGraphicFramePr>
            <p:xfrm>
              <a:off x="964022" y="2314224"/>
              <a:ext cx="9332916" cy="1996642"/>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a)</a:t>
                          </a:r>
                        </a:p>
                      </a:txBody>
                      <a:tcPr/>
                    </a:tc>
                    <a:extLst>
                      <a:ext uri="{0D108BD9-81ED-4DB2-BD59-A6C34878D82A}">
                        <a16:rowId xmlns:a16="http://schemas.microsoft.com/office/drawing/2014/main" val="3484769395"/>
                      </a:ext>
                    </a:extLst>
                  </a:tr>
                  <a:tr h="531824">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=0.37</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=1−0.37=0.63</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=0.04</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∙0.37∙0.63</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0.04</m:t>
                                        </m:r>
                                      </m:e>
                                      <m:sup>
                                        <m:r>
                                          <a:rPr lang="es-MX" b="0" smtClean="0">
                                            <a:latin typeface="Cambria Math" panose="02040503050406030204" pitchFamily="18" charset="0"/>
                                          </a:rPr>
                                          <m:t>2</m:t>
                                        </m:r>
                                      </m:sup>
                                    </m:sSup>
                                  </m:den>
                                </m:f>
                                <m:r>
                                  <a:rPr lang="es-MX" b="0" smtClean="0">
                                    <a:latin typeface="Cambria Math" panose="02040503050406030204" pitchFamily="18" charset="0"/>
                                  </a:rPr>
                                  <m:t>=559.6</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560 hogares seleccionados al azar. </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AA3844AB-4CE5-5BD4-21E2-08F5460E650D}"/>
                  </a:ext>
                </a:extLst>
              </p:cNvPr>
              <p:cNvGraphicFramePr>
                <a:graphicFrameLocks noGrp="1"/>
              </p:cNvGraphicFramePr>
              <p:nvPr>
                <p:extLst>
                  <p:ext uri="{D42A27DB-BD31-4B8C-83A1-F6EECF244321}">
                    <p14:modId xmlns:p14="http://schemas.microsoft.com/office/powerpoint/2010/main" val="4124287222"/>
                  </p:ext>
                </p:extLst>
              </p:nvPr>
            </p:nvGraphicFramePr>
            <p:xfrm>
              <a:off x="964022" y="2314224"/>
              <a:ext cx="9332916" cy="2003627"/>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a)</a:t>
                          </a:r>
                        </a:p>
                      </a:txBody>
                      <a:tcPr/>
                    </a:tc>
                    <a:extLst>
                      <a:ext uri="{0D108BD9-81ED-4DB2-BD59-A6C34878D82A}">
                        <a16:rowId xmlns:a16="http://schemas.microsoft.com/office/drawing/2014/main" val="3484769395"/>
                      </a:ext>
                    </a:extLst>
                  </a:tr>
                  <a:tr h="1471803">
                    <a:tc>
                      <a:txBody>
                        <a:bodyPr/>
                        <a:lstStyle/>
                        <a:p>
                          <a:endParaRPr lang="es-MX"/>
                        </a:p>
                      </a:txBody>
                      <a:tcPr>
                        <a:blipFill>
                          <a:blip r:embed="rId4"/>
                          <a:stretch>
                            <a:fillRect l="-246" t="-38430" r="-276904" b="-9504"/>
                          </a:stretch>
                        </a:blipFill>
                      </a:tcPr>
                    </a:tc>
                    <a:tc>
                      <a:txBody>
                        <a:bodyPr/>
                        <a:lstStyle/>
                        <a:p>
                          <a:endParaRPr lang="es-MX"/>
                        </a:p>
                      </a:txBody>
                      <a:tcPr>
                        <a:blipFill>
                          <a:blip r:embed="rId4"/>
                          <a:stretch>
                            <a:fillRect l="-36267" t="-38430" r="-178" b="-9504"/>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7" name="Diagrama 16">
            <a:extLst>
              <a:ext uri="{FF2B5EF4-FFF2-40B4-BE49-F238E27FC236}">
                <a16:creationId xmlns:a16="http://schemas.microsoft.com/office/drawing/2014/main" id="{D9393244-3BC2-B482-7D31-BAA5BE491816}"/>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87448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9770238" cy="610863"/>
          </a:xfrm>
        </p:spPr>
        <p:txBody>
          <a:bodyPr rtlCol="0">
            <a:noAutofit/>
          </a:bodyPr>
          <a:lstStyle/>
          <a:p>
            <a:pPr algn="just" rtl="0"/>
            <a:r>
              <a:rPr lang="es-ES" sz="2800" dirty="0">
                <a:latin typeface="Times New Roman" panose="02020603050405020304" pitchFamily="18" charset="0"/>
                <a:cs typeface="Times New Roman" panose="02020603050405020304" pitchFamily="18" charset="0"/>
              </a:rPr>
              <a:t>Intervalo de confianza y tamaño muestral con N conocida</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9770239" cy="584775"/>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Cuando tenemos una población con tamaño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𝑁</m:t>
                    </m:r>
                  </m:oMath>
                </a14:m>
                <a:r>
                  <a:rPr lang="es-MX" sz="1600" dirty="0">
                    <a:solidFill>
                      <a:schemeClr val="bg1"/>
                    </a:solidFill>
                    <a:latin typeface="Times New Roman" panose="02020603050405020304" pitchFamily="18" charset="0"/>
                    <a:cs typeface="Times New Roman" panose="02020603050405020304" pitchFamily="18" charset="0"/>
                  </a:rPr>
                  <a:t>, y el muestreo aleatorio se hace sin reemplazo, modificamos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𝐸</m:t>
                    </m:r>
                  </m:oMath>
                </a14:m>
                <a:r>
                  <a:rPr lang="es-MX" sz="1600" dirty="0">
                    <a:solidFill>
                      <a:schemeClr val="bg1"/>
                    </a:solidFill>
                    <a:latin typeface="Times New Roman" panose="02020603050405020304" pitchFamily="18" charset="0"/>
                    <a:cs typeface="Times New Roman" panose="02020603050405020304" pitchFamily="18" charset="0"/>
                  </a:rPr>
                  <a:t> para incluir el </a:t>
                </a:r>
                <a:r>
                  <a:rPr lang="es-MX" sz="1600" b="1" i="1" dirty="0">
                    <a:solidFill>
                      <a:schemeClr val="bg1"/>
                    </a:solidFill>
                    <a:latin typeface="Times New Roman" panose="02020603050405020304" pitchFamily="18" charset="0"/>
                    <a:cs typeface="Times New Roman" panose="02020603050405020304" pitchFamily="18" charset="0"/>
                  </a:rPr>
                  <a:t>factor de corrección por población finita </a:t>
                </a:r>
                <a:r>
                  <a:rPr lang="es-MX" sz="1600" dirty="0">
                    <a:solidFill>
                      <a:schemeClr val="bg1"/>
                    </a:solidFill>
                    <a:latin typeface="Times New Roman" panose="02020603050405020304" pitchFamily="18" charset="0"/>
                    <a:cs typeface="Times New Roman" panose="02020603050405020304" pitchFamily="18" charset="0"/>
                  </a:rPr>
                  <a:t>que se presenta a continuación:</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166869"/>
                <a:ext cx="9770239" cy="584775"/>
              </a:xfrm>
              <a:prstGeom prst="rect">
                <a:avLst/>
              </a:prstGeom>
              <a:blipFill>
                <a:blip r:embed="rId3"/>
                <a:stretch>
                  <a:fillRect l="-187" t="-2041" b="-11224"/>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21D6785-DDF1-79AC-AAC5-FE658872DA04}"/>
                  </a:ext>
                </a:extLst>
              </p:cNvPr>
              <p:cNvSpPr txBox="1"/>
              <p:nvPr/>
            </p:nvSpPr>
            <p:spPr>
              <a:xfrm>
                <a:off x="3045726" y="3429000"/>
                <a:ext cx="6100548" cy="9141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bg1"/>
                          </a:solidFill>
                          <a:latin typeface="Cambria Math" panose="02040503050406030204" pitchFamily="18" charset="0"/>
                          <a:cs typeface="Times New Roman" panose="02020603050405020304" pitchFamily="18" charset="0"/>
                        </a:rPr>
                        <m:t>𝐸</m:t>
                      </m:r>
                      <m:r>
                        <a:rPr lang="es-MX" sz="1800" b="0" i="1" smtClean="0">
                          <a:solidFill>
                            <a:schemeClr val="bg1"/>
                          </a:solidFill>
                          <a:latin typeface="Cambria Math" panose="02040503050406030204" pitchFamily="18" charset="0"/>
                          <a:cs typeface="Times New Roman" panose="02020603050405020304" pitchFamily="18" charset="0"/>
                        </a:rPr>
                        <m:t>=</m:t>
                      </m:r>
                      <m:sSub>
                        <m:sSubPr>
                          <m:ctrlPr>
                            <a:rPr lang="es-MX" sz="1800" b="0" i="1" smtClean="0">
                              <a:solidFill>
                                <a:schemeClr val="bg1"/>
                              </a:solidFill>
                              <a:latin typeface="Cambria Math" panose="02040503050406030204" pitchFamily="18" charset="0"/>
                              <a:cs typeface="Times New Roman" panose="02020603050405020304" pitchFamily="18" charset="0"/>
                            </a:rPr>
                          </m:ctrlPr>
                        </m:sSubPr>
                        <m:e>
                          <m:r>
                            <a:rPr lang="es-MX" sz="1800" b="0" i="1" smtClean="0">
                              <a:solidFill>
                                <a:schemeClr val="bg1"/>
                              </a:solidFill>
                              <a:latin typeface="Cambria Math" panose="02040503050406030204" pitchFamily="18" charset="0"/>
                              <a:cs typeface="Times New Roman" panose="02020603050405020304" pitchFamily="18" charset="0"/>
                            </a:rPr>
                            <m:t>𝑧</m:t>
                          </m:r>
                        </m:e>
                        <m:sub>
                          <m:f>
                            <m:fPr>
                              <m:type m:val="skw"/>
                              <m:ctrlPr>
                                <a:rPr lang="es-MX" sz="1800" b="0" i="1" smtClean="0">
                                  <a:solidFill>
                                    <a:schemeClr val="bg1"/>
                                  </a:solidFill>
                                  <a:latin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800" b="0" i="1" smtClean="0">
                                  <a:solidFill>
                                    <a:schemeClr val="bg1"/>
                                  </a:solidFill>
                                  <a:latin typeface="Cambria Math" panose="02040503050406030204" pitchFamily="18" charset="0"/>
                                  <a:cs typeface="Times New Roman" panose="02020603050405020304" pitchFamily="18" charset="0"/>
                                </a:rPr>
                                <m:t>2</m:t>
                              </m:r>
                            </m:den>
                          </m:f>
                        </m:sub>
                      </m:sSub>
                      <m:rad>
                        <m:radPr>
                          <m:degHide m:val="on"/>
                          <m:ctrlPr>
                            <a:rPr lang="es-MX" sz="1800" b="0" i="1" smtClean="0">
                              <a:solidFill>
                                <a:schemeClr val="bg1"/>
                              </a:solidFill>
                              <a:latin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cs typeface="Times New Roman" panose="02020603050405020304" pitchFamily="18" charset="0"/>
                                </a:rPr>
                              </m:ctrlPr>
                            </m:fPr>
                            <m:num>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𝑝</m:t>
                                  </m:r>
                                </m:e>
                              </m:acc>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𝑞</m:t>
                                  </m:r>
                                </m:e>
                              </m:acc>
                            </m:num>
                            <m:den>
                              <m:r>
                                <a:rPr lang="es-MX" sz="1800" b="0" i="1" smtClean="0">
                                  <a:solidFill>
                                    <a:schemeClr val="bg1"/>
                                  </a:solidFill>
                                  <a:latin typeface="Cambria Math" panose="02040503050406030204" pitchFamily="18" charset="0"/>
                                  <a:cs typeface="Times New Roman" panose="02020603050405020304" pitchFamily="18" charset="0"/>
                                </a:rPr>
                                <m:t>𝑛</m:t>
                              </m:r>
                            </m:den>
                          </m:f>
                        </m:e>
                      </m:rad>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num>
                            <m:den>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den>
                          </m:f>
                        </m:e>
                      </m:rad>
                      <m:r>
                        <a:rPr lang="es-MX" sz="1800" b="0" i="1" smtClean="0">
                          <a:solidFill>
                            <a:schemeClr val="bg1"/>
                          </a:solidFill>
                          <a:latin typeface="Cambria Math" panose="02040503050406030204" pitchFamily="18" charset="0"/>
                          <a:cs typeface="Times New Roman" panose="02020603050405020304" pitchFamily="18" charset="0"/>
                        </a:rPr>
                        <m:t> </m:t>
                      </m:r>
                    </m:oMath>
                  </m:oMathPara>
                </a14:m>
                <a:endParaRPr lang="es-MX" dirty="0"/>
              </a:p>
            </p:txBody>
          </p:sp>
        </mc:Choice>
        <mc:Fallback xmlns="">
          <p:sp>
            <p:nvSpPr>
              <p:cNvPr id="17" name="CuadroTexto 16">
                <a:extLst>
                  <a:ext uri="{FF2B5EF4-FFF2-40B4-BE49-F238E27FC236}">
                    <a16:creationId xmlns:a16="http://schemas.microsoft.com/office/drawing/2014/main" id="{721D6785-DDF1-79AC-AAC5-FE658872DA04}"/>
                  </a:ext>
                </a:extLst>
              </p:cNvPr>
              <p:cNvSpPr txBox="1">
                <a:spLocks noRot="1" noChangeAspect="1" noMove="1" noResize="1" noEditPoints="1" noAdjustHandles="1" noChangeArrowheads="1" noChangeShapeType="1" noTextEdit="1"/>
              </p:cNvSpPr>
              <p:nvPr/>
            </p:nvSpPr>
            <p:spPr>
              <a:xfrm>
                <a:off x="3045726" y="3429000"/>
                <a:ext cx="6100548" cy="914161"/>
              </a:xfrm>
              <a:prstGeom prst="rect">
                <a:avLst/>
              </a:prstGeom>
              <a:blipFill>
                <a:blip r:embed="rId4"/>
                <a:stretch>
                  <a:fillRect/>
                </a:stretch>
              </a:blipFill>
            </p:spPr>
            <p:txBody>
              <a:bodyPr/>
              <a:lstStyle/>
              <a:p>
                <a:r>
                  <a:rPr lang="es-MX">
                    <a:noFill/>
                  </a:rPr>
                  <a:t> </a:t>
                </a:r>
              </a:p>
            </p:txBody>
          </p:sp>
        </mc:Fallback>
      </mc:AlternateContent>
      <p:graphicFrame>
        <p:nvGraphicFramePr>
          <p:cNvPr id="18" name="Diagrama 17">
            <a:extLst>
              <a:ext uri="{FF2B5EF4-FFF2-40B4-BE49-F238E27FC236}">
                <a16:creationId xmlns:a16="http://schemas.microsoft.com/office/drawing/2014/main" id="{2FD01E5D-A725-8421-E87F-1B2A0FFB06AB}"/>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9998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1</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200329"/>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Un investigador está estudiando la proporción de votantes en un municipio de 10,000 personas que planean votar por el candidato A en una próxima elección municipal. Has encuestado a 500 votantes de los cuales 300 han votado por este candidato y deseas calcular un intervalo de confianza al 95% para la proporción de votantes que apoyan al candidato.</a:t>
            </a:r>
          </a:p>
        </p:txBody>
      </p:sp>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119756096"/>
                  </p:ext>
                </p:extLst>
              </p:nvPr>
            </p:nvGraphicFramePr>
            <p:xfrm>
              <a:off x="964023" y="3429000"/>
              <a:ext cx="9332916" cy="2887028"/>
            </p:xfrm>
            <a:graphic>
              <a:graphicData uri="http://schemas.openxmlformats.org/drawingml/2006/table">
                <a:tbl>
                  <a:tblPr firstRow="1" bandRow="1">
                    <a:tableStyleId>{B301B821-A1FF-4177-AEE7-76D212191A09}</a:tableStyleId>
                  </a:tblPr>
                  <a:tblGrid>
                    <a:gridCol w="1967436">
                      <a:extLst>
                        <a:ext uri="{9D8B030D-6E8A-4147-A177-3AD203B41FA5}">
                          <a16:colId xmlns:a16="http://schemas.microsoft.com/office/drawing/2014/main" val="3666898410"/>
                        </a:ext>
                      </a:extLst>
                    </a:gridCol>
                    <a:gridCol w="3630706">
                      <a:extLst>
                        <a:ext uri="{9D8B030D-6E8A-4147-A177-3AD203B41FA5}">
                          <a16:colId xmlns:a16="http://schemas.microsoft.com/office/drawing/2014/main" val="1384386878"/>
                        </a:ext>
                      </a:extLst>
                    </a:gridCol>
                    <a:gridCol w="3734774">
                      <a:extLst>
                        <a:ext uri="{9D8B030D-6E8A-4147-A177-3AD203B41FA5}">
                          <a16:colId xmlns:a16="http://schemas.microsoft.com/office/drawing/2014/main" val="1317499482"/>
                        </a:ext>
                      </a:extLst>
                    </a:gridCol>
                  </a:tblGrid>
                  <a:tr h="0">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tc>
                      <a:txBody>
                        <a:bodyPr/>
                        <a:lstStyle/>
                        <a:p>
                          <a:pPr algn="ctr"/>
                          <a:r>
                            <a:rPr lang="es-MX" dirty="0">
                              <a:latin typeface="Times New Roman" panose="02020603050405020304" pitchFamily="18" charset="0"/>
                              <a:cs typeface="Times New Roman" panose="02020603050405020304" pitchFamily="18" charset="0"/>
                            </a:rPr>
                            <a:t>Interpretación</a:t>
                          </a:r>
                        </a:p>
                      </a:txBody>
                      <a:tcPr/>
                    </a:tc>
                    <a:extLst>
                      <a:ext uri="{0D108BD9-81ED-4DB2-BD59-A6C34878D82A}">
                        <a16:rowId xmlns:a16="http://schemas.microsoft.com/office/drawing/2014/main" val="3484769395"/>
                      </a:ext>
                    </a:extLst>
                  </a:tr>
                  <a:tr h="531824">
                    <a:tc>
                      <a:txBody>
                        <a:bodyPr/>
                        <a:lstStyle/>
                        <a:p>
                          <a:pPr algn="just"/>
                          <a:endParaRPr lang="es-MX" sz="1600" i="1"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𝑝</m:t>
                                    </m:r>
                                  </m:e>
                                </m:acc>
                                <m:r>
                                  <a:rPr lang="es-MX" sz="1600" b="0"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300</m:t>
                                    </m:r>
                                  </m:num>
                                  <m:den>
                                    <m:r>
                                      <a:rPr lang="es-MX" sz="1600" b="0" i="1" smtClean="0">
                                        <a:latin typeface="Cambria Math" panose="02040503050406030204" pitchFamily="18" charset="0"/>
                                      </a:rPr>
                                      <m:t>500</m:t>
                                    </m:r>
                                  </m:den>
                                </m:f>
                                <m:r>
                                  <a:rPr lang="es-MX" sz="1600" b="0" i="1" smtClean="0">
                                    <a:latin typeface="Cambria Math" panose="02040503050406030204" pitchFamily="18" charset="0"/>
                                  </a:rPr>
                                  <m:t>=0.6</m:t>
                                </m:r>
                              </m:oMath>
                            </m:oMathPara>
                          </a14:m>
                          <a:endParaRPr lang="es-MX" sz="1600" dirty="0">
                            <a:latin typeface="Times New Roman" panose="02020603050405020304" pitchFamily="18" charset="0"/>
                            <a:cs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𝑞</m:t>
                                    </m:r>
                                  </m:e>
                                </m:acc>
                                <m:r>
                                  <a:rPr lang="es-MX" sz="1600" b="0" smtClean="0">
                                    <a:latin typeface="Cambria Math" panose="02040503050406030204" pitchFamily="18" charset="0"/>
                                  </a:rPr>
                                  <m:t>=1−0</m:t>
                                </m:r>
                                <m:r>
                                  <a:rPr lang="es-MX" sz="1600" b="0" i="0" smtClean="0">
                                    <a:latin typeface="Cambria Math" panose="02040503050406030204" pitchFamily="18" charset="0"/>
                                  </a:rPr>
                                  <m:t>.6</m:t>
                                </m:r>
                                <m:r>
                                  <a:rPr lang="es-MX" sz="1600" b="0" smtClean="0">
                                    <a:latin typeface="Cambria Math" panose="02040503050406030204" pitchFamily="18" charset="0"/>
                                  </a:rPr>
                                  <m:t>=0.</m:t>
                                </m:r>
                                <m:r>
                                  <a:rPr lang="es-MX" sz="1600" b="0" i="0" smtClean="0">
                                    <a:latin typeface="Cambria Math" panose="02040503050406030204" pitchFamily="18" charset="0"/>
                                  </a:rPr>
                                  <m:t>4</m:t>
                                </m:r>
                              </m:oMath>
                            </m:oMathPara>
                          </a14:m>
                          <a:endParaRPr lang="es-MX" sz="1600" b="0" dirty="0">
                            <a:latin typeface="Times New Roman" panose="02020603050405020304" pitchFamily="18" charset="0"/>
                            <a:cs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s-MX" sz="1600" i="1" smtClean="0">
                                        <a:latin typeface="Cambria Math" panose="02040503050406030204" pitchFamily="18" charset="0"/>
                                      </a:rPr>
                                    </m:ctrlPr>
                                  </m:sSubPr>
                                  <m:e>
                                    <m:r>
                                      <a:rPr lang="es-MX" sz="1600" b="0" smtClean="0">
                                        <a:latin typeface="Cambria Math" panose="02040503050406030204" pitchFamily="18" charset="0"/>
                                      </a:rPr>
                                      <m:t>𝑧</m:t>
                                    </m:r>
                                  </m:e>
                                  <m:sub>
                                    <m:f>
                                      <m:fPr>
                                        <m:type m:val="skw"/>
                                        <m:ctrlPr>
                                          <a:rPr lang="es-MX" sz="1600" i="1" smtClean="0">
                                            <a:latin typeface="Cambria Math" panose="02040503050406030204" pitchFamily="18" charset="0"/>
                                          </a:rPr>
                                        </m:ctrlPr>
                                      </m:fPr>
                                      <m:num>
                                        <m:r>
                                          <a:rPr lang="es-MX" sz="1600" smtClean="0">
                                            <a:latin typeface="Cambria Math" panose="02040503050406030204" pitchFamily="18" charset="0"/>
                                          </a:rPr>
                                          <m:t>𝛼</m:t>
                                        </m:r>
                                      </m:num>
                                      <m:den>
                                        <m:r>
                                          <a:rPr lang="es-MX" sz="1600" b="0" smtClean="0">
                                            <a:latin typeface="Cambria Math" panose="02040503050406030204" pitchFamily="18" charset="0"/>
                                          </a:rPr>
                                          <m:t>2</m:t>
                                        </m:r>
                                      </m:den>
                                    </m:f>
                                  </m:sub>
                                </m:sSub>
                                <m:r>
                                  <a:rPr lang="es-MX" sz="1600" b="0" smtClean="0">
                                    <a:latin typeface="Cambria Math" panose="02040503050406030204" pitchFamily="18" charset="0"/>
                                  </a:rPr>
                                  <m:t>=</m:t>
                                </m:r>
                                <m:r>
                                  <a:rPr lang="es-MX" sz="1600" b="0" i="0" smtClean="0">
                                    <a:latin typeface="Cambria Math" panose="02040503050406030204" pitchFamily="18" charset="0"/>
                                  </a:rPr>
                                  <m:t>1.96</m:t>
                                </m:r>
                              </m:oMath>
                            </m:oMathPara>
                          </a14:m>
                          <a:endParaRPr lang="es-MX" sz="1600" dirty="0">
                            <a:latin typeface="Times New Roman" panose="02020603050405020304" pitchFamily="18" charset="0"/>
                            <a:cs typeface="Times New Roman" panose="02020603050405020304" pitchFamily="18" charset="0"/>
                          </a:endParaRPr>
                        </a:p>
                      </a:txBody>
                      <a:tcPr/>
                    </a:tc>
                    <a:tc>
                      <a:txBody>
                        <a:bodyPr/>
                        <a:lstStyle/>
                        <a:p>
                          <a:endParaRPr lang="es-MX" sz="1600" b="0" i="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s-MX" sz="1600" b="0" i="0" smtClean="0">
                                    <a:latin typeface="Cambria Math" panose="02040503050406030204" pitchFamily="18" charset="0"/>
                                  </a:rPr>
                                  <m:t>E</m:t>
                                </m:r>
                                <m:r>
                                  <a:rPr lang="es-MX" sz="1600" b="0" i="0" smtClean="0">
                                    <a:latin typeface="Cambria Math" panose="02040503050406030204" pitchFamily="18" charset="0"/>
                                  </a:rPr>
                                  <m:t>=</m:t>
                                </m:r>
                                <m:r>
                                  <a:rPr lang="es-MX" sz="1600" b="0" i="1" smtClean="0">
                                    <a:latin typeface="Cambria Math" panose="02040503050406030204" pitchFamily="18" charset="0"/>
                                  </a:rPr>
                                  <m:t>1.96</m:t>
                                </m:r>
                                <m:r>
                                  <a:rPr lang="es-MX" sz="1600" b="0" i="1" smtClean="0">
                                    <a:latin typeface="Cambria Math" panose="02040503050406030204" pitchFamily="18" charset="0"/>
                                    <a:ea typeface="Cambria Math" panose="02040503050406030204" pitchFamily="18" charset="0"/>
                                  </a:rPr>
                                  <m:t>∙</m:t>
                                </m:r>
                                <m:rad>
                                  <m:radPr>
                                    <m:degHide m:val="on"/>
                                    <m:ctrlPr>
                                      <a:rPr lang="es-MX" sz="1600" b="0" i="1" smtClean="0">
                                        <a:latin typeface="Cambria Math" panose="02040503050406030204" pitchFamily="18" charset="0"/>
                                        <a:ea typeface="Cambria Math" panose="02040503050406030204" pitchFamily="18" charset="0"/>
                                      </a:rPr>
                                    </m:ctrlPr>
                                  </m:radPr>
                                  <m:deg/>
                                  <m:e>
                                    <m:f>
                                      <m:fPr>
                                        <m:ctrlPr>
                                          <a:rPr lang="es-MX" sz="1600" b="0" i="1" smtClean="0">
                                            <a:latin typeface="Cambria Math" panose="02040503050406030204" pitchFamily="18" charset="0"/>
                                            <a:ea typeface="Cambria Math" panose="02040503050406030204" pitchFamily="18" charset="0"/>
                                          </a:rPr>
                                        </m:ctrlPr>
                                      </m:fPr>
                                      <m:num>
                                        <m:r>
                                          <a:rPr lang="es-MX" sz="1600" b="0" i="1" smtClean="0">
                                            <a:latin typeface="Cambria Math" panose="02040503050406030204" pitchFamily="18" charset="0"/>
                                            <a:ea typeface="Cambria Math" panose="02040503050406030204" pitchFamily="18" charset="0"/>
                                          </a:rPr>
                                          <m:t>0.6∙0.4</m:t>
                                        </m:r>
                                      </m:num>
                                      <m:den>
                                        <m:r>
                                          <a:rPr lang="es-MX" sz="1600" b="0" i="1" smtClean="0">
                                            <a:latin typeface="Cambria Math" panose="02040503050406030204" pitchFamily="18" charset="0"/>
                                            <a:ea typeface="Cambria Math" panose="02040503050406030204" pitchFamily="18" charset="0"/>
                                          </a:rPr>
                                          <m:t>500</m:t>
                                        </m:r>
                                      </m:den>
                                    </m:f>
                                  </m:e>
                                </m:rad>
                                <m:r>
                                  <a:rPr lang="es-MX" sz="1600" b="0" i="1" smtClean="0">
                                    <a:latin typeface="Cambria Math" panose="02040503050406030204" pitchFamily="18" charset="0"/>
                                    <a:ea typeface="Cambria Math" panose="02040503050406030204" pitchFamily="18" charset="0"/>
                                  </a:rPr>
                                  <m:t>∙</m:t>
                                </m:r>
                                <m:rad>
                                  <m:radPr>
                                    <m:degHide m:val="on"/>
                                    <m:ctrlPr>
                                      <a:rPr lang="es-MX" sz="1600" b="0" i="1" smtClean="0">
                                        <a:latin typeface="Cambria Math" panose="02040503050406030204" pitchFamily="18" charset="0"/>
                                        <a:ea typeface="Cambria Math" panose="02040503050406030204" pitchFamily="18" charset="0"/>
                                      </a:rPr>
                                    </m:ctrlPr>
                                  </m:radPr>
                                  <m:deg/>
                                  <m:e>
                                    <m:f>
                                      <m:fPr>
                                        <m:ctrlPr>
                                          <a:rPr lang="es-MX" sz="1600" b="0" i="1" smtClean="0">
                                            <a:latin typeface="Cambria Math" panose="02040503050406030204" pitchFamily="18" charset="0"/>
                                            <a:ea typeface="Cambria Math" panose="02040503050406030204" pitchFamily="18" charset="0"/>
                                          </a:rPr>
                                        </m:ctrlPr>
                                      </m:fPr>
                                      <m:num>
                                        <m:r>
                                          <a:rPr lang="es-MX" sz="1600" b="0" i="1" smtClean="0">
                                            <a:latin typeface="Cambria Math" panose="02040503050406030204" pitchFamily="18" charset="0"/>
                                            <a:ea typeface="Cambria Math" panose="02040503050406030204" pitchFamily="18" charset="0"/>
                                          </a:rPr>
                                          <m:t>10000−500</m:t>
                                        </m:r>
                                      </m:num>
                                      <m:den>
                                        <m:r>
                                          <a:rPr lang="es-MX" sz="1600" b="0" i="1" smtClean="0">
                                            <a:latin typeface="Cambria Math" panose="02040503050406030204" pitchFamily="18" charset="0"/>
                                            <a:ea typeface="Cambria Math" panose="02040503050406030204" pitchFamily="18" charset="0"/>
                                          </a:rPr>
                                          <m:t>10000−1</m:t>
                                        </m:r>
                                      </m:den>
                                    </m:f>
                                  </m:e>
                                </m:rad>
                                <m:r>
                                  <a:rPr lang="es-MX" sz="1600" b="0" smtClean="0">
                                    <a:latin typeface="Cambria Math" panose="02040503050406030204" pitchFamily="18" charset="0"/>
                                  </a:rPr>
                                  <m:t>=</m:t>
                                </m:r>
                                <m:r>
                                  <a:rPr lang="es-MX" sz="1600" b="0" i="0" smtClean="0">
                                    <a:latin typeface="Cambria Math" panose="02040503050406030204" pitchFamily="18" charset="0"/>
                                  </a:rPr>
                                  <m:t>0.042</m:t>
                                </m:r>
                              </m:oMath>
                            </m:oMathPara>
                          </a14:m>
                          <a:endParaRPr lang="es-MX" sz="1600" dirty="0">
                            <a:latin typeface="Times New Roman" panose="02020603050405020304" pitchFamily="18" charset="0"/>
                            <a:cs typeface="Times New Roman" panose="02020603050405020304" pitchFamily="18" charset="0"/>
                          </a:endParaRPr>
                        </a:p>
                        <a:p>
                          <a:endParaRPr lang="es-MX" sz="160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𝑝</m:t>
                                    </m:r>
                                  </m:e>
                                </m:acc>
                                <m:r>
                                  <a:rPr lang="es-MX" sz="1600" b="0" i="1" smtClean="0">
                                    <a:latin typeface="Cambria Math" panose="02040503050406030204" pitchFamily="18" charset="0"/>
                                  </a:rPr>
                                  <m:t>−</m:t>
                                </m:r>
                                <m:r>
                                  <a:rPr lang="es-MX" sz="1600" b="0" i="1" smtClean="0">
                                    <a:latin typeface="Cambria Math" panose="02040503050406030204" pitchFamily="18" charset="0"/>
                                  </a:rPr>
                                  <m:t>𝐸</m:t>
                                </m:r>
                                <m:r>
                                  <a:rPr lang="es-MX" sz="1600" b="0" i="1" smtClean="0">
                                    <a:latin typeface="Cambria Math" panose="02040503050406030204" pitchFamily="18" charset="0"/>
                                  </a:rPr>
                                  <m:t>&lt;</m:t>
                                </m:r>
                                <m:r>
                                  <a:rPr lang="es-MX" sz="1600" b="0" i="1" smtClean="0">
                                    <a:latin typeface="Cambria Math" panose="02040503050406030204" pitchFamily="18" charset="0"/>
                                  </a:rPr>
                                  <m:t>𝑝</m:t>
                                </m:r>
                                <m:r>
                                  <a:rPr lang="es-MX" sz="1600" b="0" i="1" smtClean="0">
                                    <a:latin typeface="Cambria Math" panose="02040503050406030204" pitchFamily="18" charset="0"/>
                                  </a:rPr>
                                  <m:t>&lt;</m:t>
                                </m:r>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𝑝</m:t>
                                    </m:r>
                                  </m:e>
                                </m:acc>
                                <m:r>
                                  <a:rPr lang="es-MX" sz="1600" b="0" i="1" smtClean="0">
                                    <a:latin typeface="Cambria Math" panose="02040503050406030204" pitchFamily="18" charset="0"/>
                                  </a:rPr>
                                  <m:t>+</m:t>
                                </m:r>
                                <m:r>
                                  <a:rPr lang="es-MX" sz="1600" b="0" i="1" smtClean="0">
                                    <a:latin typeface="Cambria Math" panose="02040503050406030204" pitchFamily="18" charset="0"/>
                                  </a:rPr>
                                  <m:t>𝐸</m:t>
                                </m:r>
                              </m:oMath>
                            </m:oMathPara>
                          </a14:m>
                          <a:endParaRPr lang="es-MX" sz="1600" b="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Times New Roman" panose="02020603050405020304" pitchFamily="18" charset="0"/>
                                  </a:rPr>
                                  <m:t>0.60−0.042&lt;</m:t>
                                </m:r>
                                <m:r>
                                  <a:rPr lang="es-MX" sz="1600" b="0" i="1" smtClean="0">
                                    <a:latin typeface="Cambria Math" panose="02040503050406030204" pitchFamily="18" charset="0"/>
                                    <a:cs typeface="Times New Roman" panose="02020603050405020304" pitchFamily="18" charset="0"/>
                                  </a:rPr>
                                  <m:t>𝑝</m:t>
                                </m:r>
                                <m:r>
                                  <a:rPr lang="es-MX" sz="1600" b="0" i="1" smtClean="0">
                                    <a:latin typeface="Cambria Math" panose="02040503050406030204" pitchFamily="18" charset="0"/>
                                    <a:cs typeface="Times New Roman" panose="02020603050405020304" pitchFamily="18" charset="0"/>
                                  </a:rPr>
                                  <m:t>&lt;0.60+0.042</m:t>
                                </m:r>
                              </m:oMath>
                            </m:oMathPara>
                          </a14:m>
                          <a:endParaRPr lang="es-MX" sz="16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Times New Roman" panose="02020603050405020304" pitchFamily="18" charset="0"/>
                                  </a:rPr>
                                  <m:t>0.558&lt;</m:t>
                                </m:r>
                                <m:r>
                                  <a:rPr lang="es-MX" sz="1600" b="0" i="1" smtClean="0">
                                    <a:latin typeface="Cambria Math" panose="02040503050406030204" pitchFamily="18" charset="0"/>
                                    <a:cs typeface="Times New Roman" panose="02020603050405020304" pitchFamily="18" charset="0"/>
                                  </a:rPr>
                                  <m:t>𝑝</m:t>
                                </m:r>
                                <m:r>
                                  <a:rPr lang="es-MX" sz="1600" b="0" i="1" smtClean="0">
                                    <a:latin typeface="Cambria Math" panose="02040503050406030204" pitchFamily="18" charset="0"/>
                                    <a:cs typeface="Times New Roman" panose="02020603050405020304" pitchFamily="18" charset="0"/>
                                  </a:rPr>
                                  <m:t>&lt;0.642</m:t>
                                </m:r>
                              </m:oMath>
                            </m:oMathPara>
                          </a14:m>
                          <a:endParaRPr lang="es-MX" sz="1600" dirty="0">
                            <a:latin typeface="Times New Roman" panose="02020603050405020304" pitchFamily="18" charset="0"/>
                            <a:cs typeface="Times New Roman" panose="02020603050405020304" pitchFamily="18" charset="0"/>
                          </a:endParaRPr>
                        </a:p>
                        <a:p>
                          <a:pPr algn="ct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a:latin typeface="Times New Roman" panose="02020603050405020304" pitchFamily="18" charset="0"/>
                              <a:cs typeface="Times New Roman" panose="02020603050405020304" pitchFamily="18" charset="0"/>
                            </a:rPr>
                            <a:t>“Tenemos una confianza del 95% de que el intervalo de </a:t>
                          </a:r>
                          <a14:m>
                            <m:oMath xmlns:m="http://schemas.openxmlformats.org/officeDocument/2006/math">
                              <m:d>
                                <m:dPr>
                                  <m:ctrlPr>
                                    <a:rPr lang="es-MX" sz="1600" i="1" smtClean="0">
                                      <a:latin typeface="Cambria Math" panose="02040503050406030204" pitchFamily="18" charset="0"/>
                                      <a:cs typeface="Times New Roman" panose="02020603050405020304" pitchFamily="18" charset="0"/>
                                    </a:rPr>
                                  </m:ctrlPr>
                                </m:dPr>
                                <m:e>
                                  <m:r>
                                    <a:rPr lang="es-MX" sz="1600" b="0" i="1" smtClean="0">
                                      <a:latin typeface="Cambria Math" panose="02040503050406030204" pitchFamily="18" charset="0"/>
                                      <a:cs typeface="Times New Roman" panose="02020603050405020304" pitchFamily="18" charset="0"/>
                                    </a:rPr>
                                    <m:t>0.558 , 0.642</m:t>
                                  </m:r>
                                </m:e>
                              </m:d>
                            </m:oMath>
                          </a14:m>
                          <a:r>
                            <a:rPr lang="es-MX" sz="1600" dirty="0">
                              <a:latin typeface="Times New Roman" panose="02020603050405020304" pitchFamily="18" charset="0"/>
                              <a:cs typeface="Times New Roman" panose="02020603050405020304" pitchFamily="18" charset="0"/>
                            </a:rPr>
                            <a:t> realmente contiene el valor verdadero de 𝑝”. Esto significa que, si seleccionamos muchas muestras diferentes de tamaño 500 y construimos los intervalos de confianza correspondientes, el 95% de ellos incluirían realmente el valor de la proporción poblacional 𝑝.</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119756096"/>
                  </p:ext>
                </p:extLst>
              </p:nvPr>
            </p:nvGraphicFramePr>
            <p:xfrm>
              <a:off x="964023" y="3429000"/>
              <a:ext cx="9332916" cy="2887028"/>
            </p:xfrm>
            <a:graphic>
              <a:graphicData uri="http://schemas.openxmlformats.org/drawingml/2006/table">
                <a:tbl>
                  <a:tblPr firstRow="1" bandRow="1">
                    <a:tableStyleId>{B301B821-A1FF-4177-AEE7-76D212191A09}</a:tableStyleId>
                  </a:tblPr>
                  <a:tblGrid>
                    <a:gridCol w="1967436">
                      <a:extLst>
                        <a:ext uri="{9D8B030D-6E8A-4147-A177-3AD203B41FA5}">
                          <a16:colId xmlns:a16="http://schemas.microsoft.com/office/drawing/2014/main" val="3666898410"/>
                        </a:ext>
                      </a:extLst>
                    </a:gridCol>
                    <a:gridCol w="3630706">
                      <a:extLst>
                        <a:ext uri="{9D8B030D-6E8A-4147-A177-3AD203B41FA5}">
                          <a16:colId xmlns:a16="http://schemas.microsoft.com/office/drawing/2014/main" val="1384386878"/>
                        </a:ext>
                      </a:extLst>
                    </a:gridCol>
                    <a:gridCol w="3734774">
                      <a:extLst>
                        <a:ext uri="{9D8B030D-6E8A-4147-A177-3AD203B41FA5}">
                          <a16:colId xmlns:a16="http://schemas.microsoft.com/office/drawing/2014/main" val="1317499482"/>
                        </a:ext>
                      </a:extLst>
                    </a:gridCol>
                  </a:tblGrid>
                  <a:tr h="365760">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tc>
                      <a:txBody>
                        <a:bodyPr/>
                        <a:lstStyle/>
                        <a:p>
                          <a:pPr algn="ctr"/>
                          <a:r>
                            <a:rPr lang="es-MX" dirty="0">
                              <a:latin typeface="Times New Roman" panose="02020603050405020304" pitchFamily="18" charset="0"/>
                              <a:cs typeface="Times New Roman" panose="02020603050405020304" pitchFamily="18" charset="0"/>
                            </a:rPr>
                            <a:t>Interpretación</a:t>
                          </a:r>
                        </a:p>
                      </a:txBody>
                      <a:tcPr/>
                    </a:tc>
                    <a:extLst>
                      <a:ext uri="{0D108BD9-81ED-4DB2-BD59-A6C34878D82A}">
                        <a16:rowId xmlns:a16="http://schemas.microsoft.com/office/drawing/2014/main" val="3484769395"/>
                      </a:ext>
                    </a:extLst>
                  </a:tr>
                  <a:tr h="2521268">
                    <a:tc>
                      <a:txBody>
                        <a:bodyPr/>
                        <a:lstStyle/>
                        <a:p>
                          <a:endParaRPr lang="es-MX"/>
                        </a:p>
                      </a:txBody>
                      <a:tcPr>
                        <a:blipFill>
                          <a:blip r:embed="rId3"/>
                          <a:stretch>
                            <a:fillRect l="-310" t="-15663" r="-374923" b="-482"/>
                          </a:stretch>
                        </a:blipFill>
                      </a:tcPr>
                    </a:tc>
                    <a:tc>
                      <a:txBody>
                        <a:bodyPr/>
                        <a:lstStyle/>
                        <a:p>
                          <a:endParaRPr lang="es-MX"/>
                        </a:p>
                      </a:txBody>
                      <a:tcPr>
                        <a:blipFill>
                          <a:blip r:embed="rId3"/>
                          <a:stretch>
                            <a:fillRect l="-54362" t="-15663" r="-103188" b="-482"/>
                          </a:stretch>
                        </a:blipFill>
                      </a:tcPr>
                    </a:tc>
                    <a:tc>
                      <a:txBody>
                        <a:bodyPr/>
                        <a:lstStyle/>
                        <a:p>
                          <a:endParaRPr lang="es-MX"/>
                        </a:p>
                      </a:txBody>
                      <a:tcPr>
                        <a:blipFill>
                          <a:blip r:embed="rId3"/>
                          <a:stretch>
                            <a:fillRect l="-150082" t="-15663" r="-326" b="-482"/>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6" name="Diagrama 15">
            <a:extLst>
              <a:ext uri="{FF2B5EF4-FFF2-40B4-BE49-F238E27FC236}">
                <a16:creationId xmlns:a16="http://schemas.microsoft.com/office/drawing/2014/main" id="{74B15F27-6DCD-793F-1955-8193F1889725}"/>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1847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9770238" cy="610863"/>
          </a:xfrm>
        </p:spPr>
        <p:txBody>
          <a:bodyPr rtlCol="0">
            <a:noAutofit/>
          </a:bodyPr>
          <a:lstStyle/>
          <a:p>
            <a:pPr algn="just" rtl="0"/>
            <a:r>
              <a:rPr lang="es-ES" sz="2800" dirty="0">
                <a:latin typeface="Times New Roman" panose="02020603050405020304" pitchFamily="18" charset="0"/>
                <a:cs typeface="Times New Roman" panose="02020603050405020304" pitchFamily="18" charset="0"/>
              </a:rPr>
              <a:t>Intervalo de confianza y tamaño muestral con N conocida</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9770239" cy="830997"/>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Cuando tenemos una población de tamaño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𝑁</m:t>
                    </m:r>
                  </m:oMath>
                </a14:m>
                <a:r>
                  <a:rPr lang="es-MX" sz="1600" dirty="0">
                    <a:solidFill>
                      <a:schemeClr val="bg1"/>
                    </a:solidFill>
                    <a:latin typeface="Times New Roman" panose="02020603050405020304" pitchFamily="18" charset="0"/>
                    <a:cs typeface="Times New Roman" panose="02020603050405020304" pitchFamily="18" charset="0"/>
                  </a:rPr>
                  <a:t>, y el muestreo se hace sin reemplazo, modificamos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𝐸</m:t>
                    </m:r>
                  </m:oMath>
                </a14:m>
                <a:r>
                  <a:rPr lang="es-MX" sz="1600" dirty="0">
                    <a:solidFill>
                      <a:schemeClr val="bg1"/>
                    </a:solidFill>
                    <a:latin typeface="Times New Roman" panose="02020603050405020304" pitchFamily="18" charset="0"/>
                    <a:cs typeface="Times New Roman" panose="02020603050405020304" pitchFamily="18" charset="0"/>
                  </a:rPr>
                  <a:t> para incluir el </a:t>
                </a:r>
                <a:r>
                  <a:rPr lang="es-MX" sz="1600" b="1" i="1" dirty="0">
                    <a:solidFill>
                      <a:schemeClr val="bg1"/>
                    </a:solidFill>
                    <a:latin typeface="Times New Roman" panose="02020603050405020304" pitchFamily="18" charset="0"/>
                    <a:cs typeface="Times New Roman" panose="02020603050405020304" pitchFamily="18" charset="0"/>
                  </a:rPr>
                  <a:t>factor de corrección por población finita </a:t>
                </a:r>
                <a:r>
                  <a:rPr lang="es-MX" sz="1600" dirty="0">
                    <a:solidFill>
                      <a:schemeClr val="bg1"/>
                    </a:solidFill>
                    <a:latin typeface="Times New Roman" panose="02020603050405020304" pitchFamily="18" charset="0"/>
                    <a:cs typeface="Times New Roman" panose="02020603050405020304" pitchFamily="18" charset="0"/>
                  </a:rPr>
                  <a:t>que se presenta a continuación y despejando </a:t>
                </a:r>
                <a:r>
                  <a:rPr lang="es-MX" sz="1600" i="1" dirty="0">
                    <a:solidFill>
                      <a:schemeClr val="bg1"/>
                    </a:solidFill>
                    <a:latin typeface="Times New Roman" panose="02020603050405020304" pitchFamily="18" charset="0"/>
                    <a:cs typeface="Times New Roman" panose="02020603050405020304" pitchFamily="18" charset="0"/>
                  </a:rPr>
                  <a:t>n</a:t>
                </a:r>
                <a:r>
                  <a:rPr lang="es-MX" sz="1600" dirty="0">
                    <a:solidFill>
                      <a:schemeClr val="bg1"/>
                    </a:solidFill>
                    <a:latin typeface="Times New Roman" panose="02020603050405020304" pitchFamily="18" charset="0"/>
                    <a:cs typeface="Times New Roman" panose="02020603050405020304" pitchFamily="18" charset="0"/>
                  </a:rPr>
                  <a:t> para obtener así el resultado del tamaño de muestra. </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166869"/>
                <a:ext cx="9770239" cy="830997"/>
              </a:xfrm>
              <a:prstGeom prst="rect">
                <a:avLst/>
              </a:prstGeom>
              <a:blipFill>
                <a:blip r:embed="rId3"/>
                <a:stretch>
                  <a:fillRect l="-187" t="-1439" r="-312" b="-7194"/>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4E08495-5E3B-956C-0C42-FDD4190CA97A}"/>
                  </a:ext>
                </a:extLst>
              </p:cNvPr>
              <p:cNvSpPr txBox="1"/>
              <p:nvPr/>
            </p:nvSpPr>
            <p:spPr>
              <a:xfrm>
                <a:off x="964022" y="3323784"/>
                <a:ext cx="9770239" cy="2160463"/>
              </a:xfrm>
              <a:prstGeom prst="rect">
                <a:avLst/>
              </a:prstGeom>
              <a:noFill/>
              <a:ln>
                <a:solidFill>
                  <a:schemeClr val="tx1">
                    <a:lumMod val="85000"/>
                  </a:schemeClr>
                </a:solidFill>
              </a:ln>
            </p:spPr>
            <p:txBody>
              <a:bodyPr wrap="square" rtlCol="0">
                <a:spAutoFit/>
              </a:bodyPr>
              <a:lstStyle/>
              <a:p>
                <a:pPr algn="just"/>
                <a14:m>
                  <m:oMathPara xmlns:m="http://schemas.openxmlformats.org/officeDocument/2006/math">
                    <m:oMathParaPr>
                      <m:jc m:val="centerGroup"/>
                    </m:oMathParaPr>
                    <m:oMath xmlns:m="http://schemas.openxmlformats.org/officeDocument/2006/math">
                      <m:r>
                        <a:rPr lang="es-MX" sz="1800" b="0" i="1" smtClean="0">
                          <a:solidFill>
                            <a:schemeClr val="bg1"/>
                          </a:solidFill>
                          <a:latin typeface="Cambria Math" panose="02040503050406030204" pitchFamily="18" charset="0"/>
                          <a:cs typeface="Times New Roman" panose="02020603050405020304" pitchFamily="18" charset="0"/>
                        </a:rPr>
                        <m:t>𝐸</m:t>
                      </m:r>
                      <m:r>
                        <a:rPr lang="es-MX" sz="1800" b="0" i="1" smtClean="0">
                          <a:solidFill>
                            <a:schemeClr val="bg1"/>
                          </a:solidFill>
                          <a:latin typeface="Cambria Math" panose="02040503050406030204" pitchFamily="18" charset="0"/>
                          <a:cs typeface="Times New Roman" panose="02020603050405020304" pitchFamily="18" charset="0"/>
                        </a:rPr>
                        <m:t>=</m:t>
                      </m:r>
                      <m:sSub>
                        <m:sSubPr>
                          <m:ctrlPr>
                            <a:rPr lang="es-MX" sz="1800" b="0" i="1" smtClean="0">
                              <a:solidFill>
                                <a:schemeClr val="bg1"/>
                              </a:solidFill>
                              <a:latin typeface="Cambria Math" panose="02040503050406030204" pitchFamily="18" charset="0"/>
                              <a:cs typeface="Times New Roman" panose="02020603050405020304" pitchFamily="18" charset="0"/>
                            </a:rPr>
                          </m:ctrlPr>
                        </m:sSubPr>
                        <m:e>
                          <m:r>
                            <a:rPr lang="es-MX" sz="1800" b="0" i="1" smtClean="0">
                              <a:solidFill>
                                <a:schemeClr val="bg1"/>
                              </a:solidFill>
                              <a:latin typeface="Cambria Math" panose="02040503050406030204" pitchFamily="18" charset="0"/>
                              <a:cs typeface="Times New Roman" panose="02020603050405020304" pitchFamily="18" charset="0"/>
                            </a:rPr>
                            <m:t>𝑧</m:t>
                          </m:r>
                        </m:e>
                        <m:sub>
                          <m:f>
                            <m:fPr>
                              <m:type m:val="skw"/>
                              <m:ctrlPr>
                                <a:rPr lang="es-MX" sz="1800" b="0" i="1" smtClean="0">
                                  <a:solidFill>
                                    <a:schemeClr val="bg1"/>
                                  </a:solidFill>
                                  <a:latin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800" b="0" i="1" smtClean="0">
                                  <a:solidFill>
                                    <a:schemeClr val="bg1"/>
                                  </a:solidFill>
                                  <a:latin typeface="Cambria Math" panose="02040503050406030204" pitchFamily="18" charset="0"/>
                                  <a:cs typeface="Times New Roman" panose="02020603050405020304" pitchFamily="18" charset="0"/>
                                </a:rPr>
                                <m:t>2</m:t>
                              </m:r>
                            </m:den>
                          </m:f>
                        </m:sub>
                      </m:sSub>
                      <m:rad>
                        <m:radPr>
                          <m:degHide m:val="on"/>
                          <m:ctrlPr>
                            <a:rPr lang="es-MX" sz="1800" b="0" i="1" smtClean="0">
                              <a:solidFill>
                                <a:schemeClr val="bg1"/>
                              </a:solidFill>
                              <a:latin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cs typeface="Times New Roman" panose="02020603050405020304" pitchFamily="18" charset="0"/>
                                </a:rPr>
                              </m:ctrlPr>
                            </m:fPr>
                            <m:num>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𝑝</m:t>
                                  </m:r>
                                </m:e>
                              </m:acc>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𝑞</m:t>
                                  </m:r>
                                </m:e>
                              </m:acc>
                            </m:num>
                            <m:den>
                              <m:r>
                                <a:rPr lang="es-MX" sz="1800" b="0" i="1" smtClean="0">
                                  <a:solidFill>
                                    <a:schemeClr val="bg1"/>
                                  </a:solidFill>
                                  <a:latin typeface="Cambria Math" panose="02040503050406030204" pitchFamily="18" charset="0"/>
                                  <a:cs typeface="Times New Roman" panose="02020603050405020304" pitchFamily="18" charset="0"/>
                                </a:rPr>
                                <m:t>𝑛</m:t>
                              </m:r>
                            </m:den>
                          </m:f>
                        </m:e>
                      </m:rad>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num>
                            <m:den>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den>
                          </m:f>
                        </m:e>
                      </m:rad>
                      <m:r>
                        <a:rPr lang="es-MX" sz="1800" b="0" i="1" smtClean="0">
                          <a:solidFill>
                            <a:schemeClr val="bg1"/>
                          </a:solidFill>
                          <a:latin typeface="Cambria Math" panose="02040503050406030204" pitchFamily="18" charset="0"/>
                          <a:cs typeface="Times New Roman" panose="02020603050405020304" pitchFamily="18" charset="0"/>
                        </a:rPr>
                        <m:t> </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s-MX" sz="1800" b="0" i="1" smtClean="0">
                              <a:solidFill>
                                <a:schemeClr val="bg1"/>
                              </a:solidFill>
                              <a:latin typeface="Cambria Math" panose="02040503050406030204" pitchFamily="18" charset="0"/>
                              <a:cs typeface="Times New Roman" panose="02020603050405020304" pitchFamily="18" charset="0"/>
                            </a:rPr>
                          </m:ctrlPr>
                        </m:dPr>
                        <m:e>
                          <m:m>
                            <m:mPr>
                              <m:mcs>
                                <m:mc>
                                  <m:mcPr>
                                    <m:count m:val="1"/>
                                    <m:mcJc m:val="center"/>
                                  </m:mcPr>
                                </m:mc>
                              </m:mcs>
                              <m:ctrlPr>
                                <a:rPr lang="es-MX" sz="1800" b="0" i="1" smtClean="0">
                                  <a:solidFill>
                                    <a:schemeClr val="bg1"/>
                                  </a:solidFill>
                                  <a:latin typeface="Cambria Math" panose="02040503050406030204" pitchFamily="18" charset="0"/>
                                  <a:cs typeface="Times New Roman" panose="02020603050405020304" pitchFamily="18" charset="0"/>
                                </a:rPr>
                              </m:ctrlPr>
                            </m:mPr>
                            <m:mr>
                              <m:e>
                                <m:r>
                                  <a:rPr lang="es-MX" i="1" dirty="0">
                                    <a:solidFill>
                                      <a:schemeClr val="bg1"/>
                                    </a:solidFill>
                                    <a:latin typeface="Cambria Math" panose="02040503050406030204" pitchFamily="18" charset="0"/>
                                    <a:cs typeface="Times New Roman" panose="02020603050405020304" pitchFamily="18" charset="0"/>
                                  </a:rPr>
                                  <m:t>𝑛</m:t>
                                </m:r>
                                <m:r>
                                  <a:rPr lang="es-MX" i="1" dirty="0">
                                    <a:solidFill>
                                      <a:schemeClr val="bg1"/>
                                    </a:solidFill>
                                    <a:latin typeface="Cambria Math" panose="02040503050406030204" pitchFamily="18" charset="0"/>
                                    <a:cs typeface="Times New Roman" panose="02020603050405020304" pitchFamily="18" charset="0"/>
                                  </a:rPr>
                                  <m:t>=</m:t>
                                </m:r>
                                <m:f>
                                  <m:fPr>
                                    <m:ctrlPr>
                                      <a:rPr lang="es-MX" i="1" dirty="0">
                                        <a:solidFill>
                                          <a:schemeClr val="bg1"/>
                                        </a:solidFill>
                                        <a:latin typeface="Cambria Math" panose="02040503050406030204" pitchFamily="18" charset="0"/>
                                        <a:cs typeface="Times New Roman" panose="02020603050405020304" pitchFamily="18" charset="0"/>
                                      </a:rPr>
                                    </m:ctrlPr>
                                  </m:fPr>
                                  <m:num>
                                    <m:sSup>
                                      <m:sSupPr>
                                        <m:ctrlPr>
                                          <a:rPr lang="es-MX" i="1" dirty="0">
                                            <a:solidFill>
                                              <a:schemeClr val="bg1"/>
                                            </a:solidFill>
                                            <a:latin typeface="Cambria Math" panose="02040503050406030204" pitchFamily="18" charset="0"/>
                                            <a:cs typeface="Times New Roman" panose="02020603050405020304" pitchFamily="18" charset="0"/>
                                          </a:rPr>
                                        </m:ctrlPr>
                                      </m:sSupPr>
                                      <m:e>
                                        <m:d>
                                          <m:dPr>
                                            <m:ctrlPr>
                                              <a:rPr lang="es-MX" i="1" dirty="0">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𝑧</m:t>
                                                </m:r>
                                              </m:e>
                                              <m:sub>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schemeClr val="bg1"/>
                                                        </a:solidFill>
                                                        <a:latin typeface="Cambria Math" panose="02040503050406030204" pitchFamily="18" charset="0"/>
                                                        <a:cs typeface="Times New Roman" panose="02020603050405020304" pitchFamily="18" charset="0"/>
                                                      </a:rPr>
                                                      <m:t>2</m:t>
                                                    </m:r>
                                                  </m:den>
                                                </m:f>
                                              </m:sub>
                                            </m:sSub>
                                          </m:e>
                                        </m:d>
                                      </m:e>
                                      <m:sup>
                                        <m:r>
                                          <a:rPr lang="es-MX" i="1" dirty="0">
                                            <a:solidFill>
                                              <a:schemeClr val="bg1"/>
                                            </a:solidFill>
                                            <a:latin typeface="Cambria Math" panose="02040503050406030204" pitchFamily="18" charset="0"/>
                                            <a:cs typeface="Times New Roman" panose="02020603050405020304" pitchFamily="18" charset="0"/>
                                          </a:rPr>
                                          <m:t>2</m:t>
                                        </m:r>
                                      </m:sup>
                                    </m:sSup>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𝑝</m:t>
                                        </m:r>
                                      </m:e>
                                    </m:acc>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𝑞</m:t>
                                        </m:r>
                                      </m:e>
                                    </m:acc>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num>
                                  <m:den>
                                    <m:sSup>
                                      <m:sSupPr>
                                        <m:ctrlPr>
                                          <a:rPr lang="es-MX" i="1" dirty="0">
                                            <a:solidFill>
                                              <a:schemeClr val="bg1"/>
                                            </a:solidFill>
                                            <a:latin typeface="Cambria Math" panose="02040503050406030204" pitchFamily="18" charset="0"/>
                                            <a:cs typeface="Times New Roman" panose="02020603050405020304" pitchFamily="18" charset="0"/>
                                          </a:rPr>
                                        </m:ctrlPr>
                                      </m:sSupPr>
                                      <m:e>
                                        <m:sSup>
                                          <m:sSupPr>
                                            <m:ctrlPr>
                                              <a:rPr lang="es-MX" i="1" dirty="0">
                                                <a:solidFill>
                                                  <a:schemeClr val="bg1"/>
                                                </a:solidFill>
                                                <a:latin typeface="Cambria Math" panose="02040503050406030204" pitchFamily="18" charset="0"/>
                                                <a:cs typeface="Times New Roman" panose="02020603050405020304" pitchFamily="18" charset="0"/>
                                              </a:rPr>
                                            </m:ctrlPr>
                                          </m:sSupPr>
                                          <m:e>
                                            <m:d>
                                              <m:dPr>
                                                <m:ctrlPr>
                                                  <a:rPr lang="es-MX" i="1" dirty="0">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𝑧</m:t>
                                                    </m:r>
                                                  </m:e>
                                                  <m:sub>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schemeClr val="bg1"/>
                                                            </a:solidFill>
                                                            <a:latin typeface="Cambria Math" panose="02040503050406030204" pitchFamily="18" charset="0"/>
                                                            <a:cs typeface="Times New Roman" panose="02020603050405020304" pitchFamily="18" charset="0"/>
                                                          </a:rPr>
                                                          <m:t>2</m:t>
                                                        </m:r>
                                                      </m:den>
                                                    </m:f>
                                                  </m:sub>
                                                </m:sSub>
                                              </m:e>
                                            </m:d>
                                          </m:e>
                                          <m:sup>
                                            <m:r>
                                              <a:rPr lang="es-MX" i="1" dirty="0">
                                                <a:solidFill>
                                                  <a:schemeClr val="bg1"/>
                                                </a:solidFill>
                                                <a:latin typeface="Cambria Math" panose="02040503050406030204" pitchFamily="18" charset="0"/>
                                                <a:cs typeface="Times New Roman" panose="02020603050405020304" pitchFamily="18" charset="0"/>
                                              </a:rPr>
                                              <m:t>2</m:t>
                                            </m:r>
                                          </m:sup>
                                        </m:sSup>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𝑝</m:t>
                                            </m:r>
                                          </m:e>
                                        </m:acc>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𝑞</m:t>
                                            </m:r>
                                          </m:e>
                                        </m:acc>
                                        <m:r>
                                          <a:rPr lang="es-MX" b="0" i="1" smtClean="0">
                                            <a:solidFill>
                                              <a:schemeClr val="bg1"/>
                                            </a:solidFill>
                                            <a:latin typeface="Cambria Math" panose="02040503050406030204" pitchFamily="18" charset="0"/>
                                            <a:cs typeface="Times New Roman" panose="02020603050405020304" pitchFamily="18" charset="0"/>
                                          </a:rPr>
                                          <m:t>+</m:t>
                                        </m:r>
                                        <m:d>
                                          <m:dPr>
                                            <m:ctrlPr>
                                              <a:rPr lang="es-MX" b="0" i="1" smtClean="0">
                                                <a:solidFill>
                                                  <a:schemeClr val="bg1"/>
                                                </a:solidFill>
                                                <a:latin typeface="Cambria Math" panose="02040503050406030204" pitchFamily="18" charset="0"/>
                                                <a:cs typeface="Times New Roman" panose="02020603050405020304" pitchFamily="18" charset="0"/>
                                              </a:rPr>
                                            </m:ctrlPr>
                                          </m:dPr>
                                          <m:e>
                                            <m:r>
                                              <a:rPr lang="es-MX" b="0" i="1" smtClean="0">
                                                <a:solidFill>
                                                  <a:schemeClr val="bg1"/>
                                                </a:solidFill>
                                                <a:latin typeface="Cambria Math" panose="02040503050406030204" pitchFamily="18" charset="0"/>
                                                <a:cs typeface="Times New Roman" panose="02020603050405020304" pitchFamily="18" charset="0"/>
                                              </a:rPr>
                                              <m:t>𝑁</m:t>
                                            </m:r>
                                            <m:r>
                                              <a:rPr lang="es-MX" b="0" i="1" smtClean="0">
                                                <a:solidFill>
                                                  <a:schemeClr val="bg1"/>
                                                </a:solidFill>
                                                <a:latin typeface="Cambria Math" panose="02040503050406030204" pitchFamily="18" charset="0"/>
                                                <a:cs typeface="Times New Roman" panose="02020603050405020304" pitchFamily="18" charset="0"/>
                                              </a:rPr>
                                              <m:t>−1</m:t>
                                            </m:r>
                                          </m:e>
                                        </m:d>
                                        <m:r>
                                          <a:rPr lang="es-MX" i="1" dirty="0">
                                            <a:solidFill>
                                              <a:schemeClr val="bg1"/>
                                            </a:solidFill>
                                            <a:latin typeface="Cambria Math" panose="02040503050406030204" pitchFamily="18" charset="0"/>
                                            <a:cs typeface="Times New Roman" panose="02020603050405020304" pitchFamily="18" charset="0"/>
                                          </a:rPr>
                                          <m:t>𝐸</m:t>
                                        </m:r>
                                      </m:e>
                                      <m:sup>
                                        <m:r>
                                          <a:rPr lang="es-MX" i="1" dirty="0">
                                            <a:solidFill>
                                              <a:schemeClr val="bg1"/>
                                            </a:solidFill>
                                            <a:latin typeface="Cambria Math" panose="02040503050406030204" pitchFamily="18" charset="0"/>
                                            <a:cs typeface="Times New Roman" panose="02020603050405020304" pitchFamily="18" charset="0"/>
                                          </a:rPr>
                                          <m:t>2</m:t>
                                        </m:r>
                                      </m:sup>
                                    </m:sSup>
                                  </m:den>
                                </m:f>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𝑐𝑢𝑎𝑛𝑑𝑜</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𝑠𝑒</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𝑐𝑜𝑛𝑜𝑐𝑒</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𝑢𝑛</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𝑒𝑠𝑡𝑖𝑚𝑎𝑑𝑜</m:t>
                                </m:r>
                                <m:r>
                                  <a:rPr lang="es-MX" b="0" i="1" dirty="0" smtClean="0">
                                    <a:solidFill>
                                      <a:schemeClr val="bg1"/>
                                    </a:solidFill>
                                    <a:latin typeface="Cambria Math" panose="02040503050406030204" pitchFamily="18" charset="0"/>
                                    <a:cs typeface="Times New Roman" panose="02020603050405020304" pitchFamily="18" charset="0"/>
                                  </a:rPr>
                                  <m:t> </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𝑝</m:t>
                                    </m:r>
                                  </m:e>
                                </m:acc>
                              </m:e>
                            </m:mr>
                            <m:mr>
                              <m:e>
                                <m:r>
                                  <a:rPr lang="es-MX" i="1" dirty="0">
                                    <a:solidFill>
                                      <a:schemeClr val="bg1"/>
                                    </a:solidFill>
                                    <a:latin typeface="Cambria Math" panose="02040503050406030204" pitchFamily="18" charset="0"/>
                                    <a:cs typeface="Times New Roman" panose="02020603050405020304" pitchFamily="18" charset="0"/>
                                  </a:rPr>
                                  <m:t>𝑛</m:t>
                                </m:r>
                                <m:r>
                                  <a:rPr lang="es-MX" i="1" dirty="0">
                                    <a:solidFill>
                                      <a:schemeClr val="bg1"/>
                                    </a:solidFill>
                                    <a:latin typeface="Cambria Math" panose="02040503050406030204" pitchFamily="18" charset="0"/>
                                    <a:cs typeface="Times New Roman" panose="02020603050405020304" pitchFamily="18" charset="0"/>
                                  </a:rPr>
                                  <m:t>=</m:t>
                                </m:r>
                                <m:f>
                                  <m:fPr>
                                    <m:ctrlPr>
                                      <a:rPr lang="es-MX" i="1" dirty="0">
                                        <a:solidFill>
                                          <a:schemeClr val="bg1"/>
                                        </a:solidFill>
                                        <a:latin typeface="Cambria Math" panose="02040503050406030204" pitchFamily="18" charset="0"/>
                                        <a:cs typeface="Times New Roman" panose="02020603050405020304" pitchFamily="18" charset="0"/>
                                      </a:rPr>
                                    </m:ctrlPr>
                                  </m:fPr>
                                  <m:num>
                                    <m:sSup>
                                      <m:sSupPr>
                                        <m:ctrlPr>
                                          <a:rPr lang="es-MX" i="1" dirty="0">
                                            <a:solidFill>
                                              <a:schemeClr val="bg1"/>
                                            </a:solidFill>
                                            <a:latin typeface="Cambria Math" panose="02040503050406030204" pitchFamily="18" charset="0"/>
                                            <a:cs typeface="Times New Roman" panose="02020603050405020304" pitchFamily="18" charset="0"/>
                                          </a:rPr>
                                        </m:ctrlPr>
                                      </m:sSupPr>
                                      <m:e>
                                        <m:d>
                                          <m:dPr>
                                            <m:ctrlPr>
                                              <a:rPr lang="es-MX" i="1" dirty="0">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𝑧</m:t>
                                                </m:r>
                                              </m:e>
                                              <m:sub>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schemeClr val="bg1"/>
                                                        </a:solidFill>
                                                        <a:latin typeface="Cambria Math" panose="02040503050406030204" pitchFamily="18" charset="0"/>
                                                        <a:cs typeface="Times New Roman" panose="02020603050405020304" pitchFamily="18" charset="0"/>
                                                      </a:rPr>
                                                      <m:t>2</m:t>
                                                    </m:r>
                                                  </m:den>
                                                </m:f>
                                              </m:sub>
                                            </m:sSub>
                                          </m:e>
                                        </m:d>
                                      </m:e>
                                      <m:sup>
                                        <m:r>
                                          <a:rPr lang="es-MX" i="1" dirty="0">
                                            <a:solidFill>
                                              <a:schemeClr val="bg1"/>
                                            </a:solidFill>
                                            <a:latin typeface="Cambria Math" panose="02040503050406030204" pitchFamily="18" charset="0"/>
                                            <a:cs typeface="Times New Roman" panose="02020603050405020304" pitchFamily="18" charset="0"/>
                                          </a:rPr>
                                          <m:t>2</m:t>
                                        </m:r>
                                      </m:sup>
                                    </m:sSup>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m:t>
                                    </m:r>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num>
                                  <m:den>
                                    <m:sSup>
                                      <m:sSupPr>
                                        <m:ctrlPr>
                                          <a:rPr lang="es-MX" i="1" dirty="0">
                                            <a:solidFill>
                                              <a:schemeClr val="bg1"/>
                                            </a:solidFill>
                                            <a:latin typeface="Cambria Math" panose="02040503050406030204" pitchFamily="18" charset="0"/>
                                            <a:cs typeface="Times New Roman" panose="02020603050405020304" pitchFamily="18" charset="0"/>
                                          </a:rPr>
                                        </m:ctrlPr>
                                      </m:sSupPr>
                                      <m:e>
                                        <m:sSup>
                                          <m:sSupPr>
                                            <m:ctrlPr>
                                              <a:rPr lang="es-MX" i="1" dirty="0">
                                                <a:solidFill>
                                                  <a:schemeClr val="bg1"/>
                                                </a:solidFill>
                                                <a:latin typeface="Cambria Math" panose="02040503050406030204" pitchFamily="18" charset="0"/>
                                                <a:cs typeface="Times New Roman" panose="02020603050405020304" pitchFamily="18" charset="0"/>
                                              </a:rPr>
                                            </m:ctrlPr>
                                          </m:sSupPr>
                                          <m:e>
                                            <m:d>
                                              <m:dPr>
                                                <m:ctrlPr>
                                                  <a:rPr lang="es-MX" i="1" dirty="0">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𝑧</m:t>
                                                    </m:r>
                                                  </m:e>
                                                  <m:sub>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schemeClr val="bg1"/>
                                                            </a:solidFill>
                                                            <a:latin typeface="Cambria Math" panose="02040503050406030204" pitchFamily="18" charset="0"/>
                                                            <a:cs typeface="Times New Roman" panose="02020603050405020304" pitchFamily="18" charset="0"/>
                                                          </a:rPr>
                                                          <m:t>2</m:t>
                                                        </m:r>
                                                      </m:den>
                                                    </m:f>
                                                  </m:sub>
                                                </m:sSub>
                                              </m:e>
                                            </m:d>
                                          </m:e>
                                          <m:sup>
                                            <m:r>
                                              <a:rPr lang="es-MX" i="1" dirty="0">
                                                <a:solidFill>
                                                  <a:schemeClr val="bg1"/>
                                                </a:solidFill>
                                                <a:latin typeface="Cambria Math" panose="02040503050406030204" pitchFamily="18" charset="0"/>
                                                <a:cs typeface="Times New Roman" panose="02020603050405020304" pitchFamily="18" charset="0"/>
                                              </a:rPr>
                                              <m:t>2</m:t>
                                            </m:r>
                                          </m:sup>
                                        </m:sSup>
                                        <m:r>
                                          <a:rPr lang="es-MX"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m:t>
                                        </m:r>
                                        <m:r>
                                          <a:rPr lang="es-MX" i="1">
                                            <a:solidFill>
                                              <a:schemeClr val="bg1"/>
                                            </a:solidFill>
                                            <a:latin typeface="Cambria Math" panose="02040503050406030204" pitchFamily="18" charset="0"/>
                                            <a:cs typeface="Times New Roman" panose="02020603050405020304" pitchFamily="18" charset="0"/>
                                          </a:rPr>
                                          <m:t>+</m:t>
                                        </m:r>
                                        <m:d>
                                          <m:dPr>
                                            <m:ctrlPr>
                                              <a:rPr lang="es-MX" i="1">
                                                <a:solidFill>
                                                  <a:schemeClr val="bg1"/>
                                                </a:solidFill>
                                                <a:latin typeface="Cambria Math" panose="02040503050406030204" pitchFamily="18" charset="0"/>
                                                <a:cs typeface="Times New Roman" panose="02020603050405020304" pitchFamily="18" charset="0"/>
                                              </a:rPr>
                                            </m:ctrlPr>
                                          </m:dPr>
                                          <m:e>
                                            <m:r>
                                              <a:rPr lang="es-MX" i="1">
                                                <a:solidFill>
                                                  <a:schemeClr val="bg1"/>
                                                </a:solidFill>
                                                <a:latin typeface="Cambria Math" panose="02040503050406030204" pitchFamily="18" charset="0"/>
                                                <a:cs typeface="Times New Roman" panose="02020603050405020304" pitchFamily="18" charset="0"/>
                                              </a:rPr>
                                              <m:t>𝑁</m:t>
                                            </m:r>
                                            <m:r>
                                              <a:rPr lang="es-MX" i="1">
                                                <a:solidFill>
                                                  <a:schemeClr val="bg1"/>
                                                </a:solidFill>
                                                <a:latin typeface="Cambria Math" panose="02040503050406030204" pitchFamily="18" charset="0"/>
                                                <a:cs typeface="Times New Roman" panose="02020603050405020304" pitchFamily="18" charset="0"/>
                                              </a:rPr>
                                              <m:t>−1</m:t>
                                            </m:r>
                                          </m:e>
                                        </m:d>
                                        <m:r>
                                          <a:rPr lang="es-MX" i="1" dirty="0">
                                            <a:solidFill>
                                              <a:schemeClr val="bg1"/>
                                            </a:solidFill>
                                            <a:latin typeface="Cambria Math" panose="02040503050406030204" pitchFamily="18" charset="0"/>
                                            <a:cs typeface="Times New Roman" panose="02020603050405020304" pitchFamily="18" charset="0"/>
                                          </a:rPr>
                                          <m:t>𝐸</m:t>
                                        </m:r>
                                      </m:e>
                                      <m:sup>
                                        <m:r>
                                          <a:rPr lang="es-MX" i="1" dirty="0">
                                            <a:solidFill>
                                              <a:schemeClr val="bg1"/>
                                            </a:solidFill>
                                            <a:latin typeface="Cambria Math" panose="02040503050406030204" pitchFamily="18" charset="0"/>
                                            <a:cs typeface="Times New Roman" panose="02020603050405020304" pitchFamily="18" charset="0"/>
                                          </a:rPr>
                                          <m:t>2</m:t>
                                        </m:r>
                                      </m:sup>
                                    </m:sSup>
                                  </m:den>
                                </m:f>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𝑐𝑢𝑎𝑛𝑑𝑜</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𝑛𝑜</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𝑠𝑒</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𝑐𝑜𝑛𝑜𝑐𝑒</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𝑢𝑛</m:t>
                                </m:r>
                                <m:r>
                                  <a:rPr lang="es-MX" b="0" i="1" dirty="0" smtClean="0">
                                    <a:solidFill>
                                      <a:schemeClr val="bg1"/>
                                    </a:solidFill>
                                    <a:latin typeface="Cambria Math" panose="02040503050406030204" pitchFamily="18" charset="0"/>
                                    <a:cs typeface="Times New Roman" panose="02020603050405020304" pitchFamily="18" charset="0"/>
                                  </a:rPr>
                                  <m:t> </m:t>
                                </m:r>
                                <m:r>
                                  <a:rPr lang="es-MX" b="0" i="1" dirty="0" smtClean="0">
                                    <a:solidFill>
                                      <a:schemeClr val="bg1"/>
                                    </a:solidFill>
                                    <a:latin typeface="Cambria Math" panose="02040503050406030204" pitchFamily="18" charset="0"/>
                                    <a:cs typeface="Times New Roman" panose="02020603050405020304" pitchFamily="18" charset="0"/>
                                  </a:rPr>
                                  <m:t>𝑒𝑠𝑡𝑖𝑚𝑎𝑑𝑜</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b="0" i="1" smtClean="0">
                                        <a:solidFill>
                                          <a:schemeClr val="bg1"/>
                                        </a:solidFill>
                                        <a:latin typeface="Cambria Math" panose="02040503050406030204" pitchFamily="18" charset="0"/>
                                        <a:cs typeface="Times New Roman" panose="02020603050405020304" pitchFamily="18" charset="0"/>
                                      </a:rPr>
                                      <m:t> </m:t>
                                    </m:r>
                                    <m:r>
                                      <a:rPr lang="es-MX" i="1">
                                        <a:solidFill>
                                          <a:schemeClr val="bg1"/>
                                        </a:solidFill>
                                        <a:latin typeface="Cambria Math" panose="02040503050406030204" pitchFamily="18" charset="0"/>
                                        <a:cs typeface="Times New Roman" panose="02020603050405020304" pitchFamily="18" charset="0"/>
                                      </a:rPr>
                                      <m:t>𝑝</m:t>
                                    </m:r>
                                  </m:e>
                                </m:acc>
                              </m:e>
                            </m:mr>
                          </m:m>
                        </m:e>
                      </m:d>
                    </m:oMath>
                  </m:oMathPara>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B4E08495-5E3B-956C-0C42-FDD4190CA97A}"/>
                  </a:ext>
                </a:extLst>
              </p:cNvPr>
              <p:cNvSpPr txBox="1">
                <a:spLocks noRot="1" noChangeAspect="1" noMove="1" noResize="1" noEditPoints="1" noAdjustHandles="1" noChangeArrowheads="1" noChangeShapeType="1" noTextEdit="1"/>
              </p:cNvSpPr>
              <p:nvPr/>
            </p:nvSpPr>
            <p:spPr>
              <a:xfrm>
                <a:off x="964022" y="3323784"/>
                <a:ext cx="9770239" cy="2160463"/>
              </a:xfrm>
              <a:prstGeom prst="rect">
                <a:avLst/>
              </a:prstGeom>
              <a:blipFill>
                <a:blip r:embed="rId4"/>
                <a:stretch>
                  <a:fillRect/>
                </a:stretch>
              </a:blipFill>
              <a:ln>
                <a:solidFill>
                  <a:schemeClr val="tx1">
                    <a:lumMod val="85000"/>
                  </a:schemeClr>
                </a:solidFill>
              </a:ln>
            </p:spPr>
            <p:txBody>
              <a:bodyPr/>
              <a:lstStyle/>
              <a:p>
                <a:r>
                  <a:rPr lang="es-MX">
                    <a:noFill/>
                  </a:rPr>
                  <a:t> </a:t>
                </a:r>
              </a:p>
            </p:txBody>
          </p:sp>
        </mc:Fallback>
      </mc:AlternateContent>
      <p:graphicFrame>
        <p:nvGraphicFramePr>
          <p:cNvPr id="16" name="Diagrama 15">
            <a:extLst>
              <a:ext uri="{FF2B5EF4-FFF2-40B4-BE49-F238E27FC236}">
                <a16:creationId xmlns:a16="http://schemas.microsoft.com/office/drawing/2014/main" id="{67D66AE1-BB9D-2394-A6AE-9AD9ABD9D7AC}"/>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6436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2</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200329"/>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“Cierta” universidad desea conocer la situación de empleabilidad de sus egresados y para tal fin proyecta realizar una encuesta. A la fecha, ha graduado a 720 estudiantes de la licenciatura en actuaria. Determine el tamaño de la muestra requerido, con un error del </a:t>
                </a:r>
                <a14:m>
                  <m:oMath xmlns:m="http://schemas.openxmlformats.org/officeDocument/2006/math">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5% y una confianza del 95%</a:t>
                </a:r>
                <a:r>
                  <a:rPr lang="es-MX" b="1" dirty="0">
                    <a:solidFill>
                      <a:schemeClr val="bg1"/>
                    </a:solidFill>
                    <a:latin typeface="Times New Roman" panose="02020603050405020304" pitchFamily="18" charset="0"/>
                    <a:cs typeface="Times New Roman" panose="02020603050405020304" pitchFamily="18" charset="0"/>
                  </a:rPr>
                  <a:t> </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1200329"/>
              </a:xfrm>
              <a:prstGeom prst="rect">
                <a:avLst/>
              </a:prstGeom>
              <a:blipFill>
                <a:blip r:embed="rId3"/>
                <a:stretch>
                  <a:fillRect l="-326" t="-2513" r="-522" b="-653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nvGraphicFramePr>
            <p:xfrm>
              <a:off x="964023" y="3429000"/>
              <a:ext cx="9332916" cy="3061335"/>
            </p:xfrm>
            <a:graphic>
              <a:graphicData uri="http://schemas.openxmlformats.org/drawingml/2006/table">
                <a:tbl>
                  <a:tblPr firstRow="1" bandRow="1">
                    <a:tableStyleId>{B301B821-A1FF-4177-AEE7-76D212191A09}</a:tableStyleId>
                  </a:tblPr>
                  <a:tblGrid>
                    <a:gridCol w="3280002">
                      <a:extLst>
                        <a:ext uri="{9D8B030D-6E8A-4147-A177-3AD203B41FA5}">
                          <a16:colId xmlns:a16="http://schemas.microsoft.com/office/drawing/2014/main" val="3666898410"/>
                        </a:ext>
                      </a:extLst>
                    </a:gridCol>
                    <a:gridCol w="6052914">
                      <a:extLst>
                        <a:ext uri="{9D8B030D-6E8A-4147-A177-3AD203B41FA5}">
                          <a16:colId xmlns:a16="http://schemas.microsoft.com/office/drawing/2014/main" val="1384386878"/>
                        </a:ext>
                      </a:extLst>
                    </a:gridCol>
                  </a:tblGrid>
                  <a:tr h="0">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531824">
                    <a:tc>
                      <a:txBody>
                        <a:bodyPr/>
                        <a:lstStyle/>
                        <a:p>
                          <a:pPr algn="just"/>
                          <a14:m>
                            <m:oMathPara xmlns:m="http://schemas.openxmlformats.org/officeDocument/2006/math">
                              <m:oMathParaPr>
                                <m:jc m:val="centerGroup"/>
                              </m:oMathParaPr>
                              <m:oMath xmlns:m="http://schemas.openxmlformats.org/officeDocument/2006/math">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𝑝</m:t>
                                    </m:r>
                                  </m:e>
                                </m:acc>
                                <m:r>
                                  <a:rPr lang="es-MX" sz="1600" b="0" i="1" smtClean="0">
                                    <a:latin typeface="Cambria Math" panose="02040503050406030204" pitchFamily="18" charset="0"/>
                                  </a:rPr>
                                  <m:t>=0.5</m:t>
                                </m:r>
                              </m:oMath>
                            </m:oMathPara>
                          </a14:m>
                          <a:endParaRPr lang="es-MX" sz="1600" dirty="0">
                            <a:latin typeface="Times New Roman" panose="02020603050405020304" pitchFamily="18" charset="0"/>
                            <a:cs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acc>
                                  <m:accPr>
                                    <m:chr m:val="̂"/>
                                    <m:ctrlPr>
                                      <a:rPr lang="es-MX" sz="1600" i="1" smtClean="0">
                                        <a:latin typeface="Cambria Math" panose="02040503050406030204" pitchFamily="18" charset="0"/>
                                      </a:rPr>
                                    </m:ctrlPr>
                                  </m:accPr>
                                  <m:e>
                                    <m:r>
                                      <a:rPr lang="es-MX" sz="1600" b="0" smtClean="0">
                                        <a:latin typeface="Cambria Math" panose="02040503050406030204" pitchFamily="18" charset="0"/>
                                      </a:rPr>
                                      <m:t>𝑞</m:t>
                                    </m:r>
                                  </m:e>
                                </m:acc>
                                <m:r>
                                  <a:rPr lang="es-MX" sz="1600" b="0" smtClean="0">
                                    <a:latin typeface="Cambria Math" panose="02040503050406030204" pitchFamily="18" charset="0"/>
                                  </a:rPr>
                                  <m:t>=1−0.</m:t>
                                </m:r>
                                <m:r>
                                  <a:rPr lang="es-MX" sz="1600" b="0" i="0" smtClean="0">
                                    <a:latin typeface="Cambria Math" panose="02040503050406030204" pitchFamily="18" charset="0"/>
                                  </a:rPr>
                                  <m:t>5</m:t>
                                </m:r>
                                <m:r>
                                  <a:rPr lang="es-MX" sz="1600" b="0" smtClean="0">
                                    <a:latin typeface="Cambria Math" panose="02040503050406030204" pitchFamily="18" charset="0"/>
                                  </a:rPr>
                                  <m:t>=0.5</m:t>
                                </m:r>
                              </m:oMath>
                            </m:oMathPara>
                          </a14:m>
                          <a:endParaRPr lang="es-MX" sz="1600" b="0" dirty="0">
                            <a:latin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s-MX" sz="1600" i="1" smtClean="0">
                                        <a:latin typeface="Cambria Math" panose="02040503050406030204" pitchFamily="18" charset="0"/>
                                      </a:rPr>
                                    </m:ctrlPr>
                                  </m:sSubPr>
                                  <m:e>
                                    <m:r>
                                      <a:rPr lang="es-MX" sz="1600" b="0" smtClean="0">
                                        <a:latin typeface="Cambria Math" panose="02040503050406030204" pitchFamily="18" charset="0"/>
                                      </a:rPr>
                                      <m:t>𝑧</m:t>
                                    </m:r>
                                  </m:e>
                                  <m:sub>
                                    <m:f>
                                      <m:fPr>
                                        <m:type m:val="skw"/>
                                        <m:ctrlPr>
                                          <a:rPr lang="es-MX" sz="1600" i="1" smtClean="0">
                                            <a:latin typeface="Cambria Math" panose="02040503050406030204" pitchFamily="18" charset="0"/>
                                          </a:rPr>
                                        </m:ctrlPr>
                                      </m:fPr>
                                      <m:num>
                                        <m:r>
                                          <a:rPr lang="es-MX" sz="1600" smtClean="0">
                                            <a:latin typeface="Cambria Math" panose="02040503050406030204" pitchFamily="18" charset="0"/>
                                          </a:rPr>
                                          <m:t>𝛼</m:t>
                                        </m:r>
                                      </m:num>
                                      <m:den>
                                        <m:r>
                                          <a:rPr lang="es-MX" sz="1600" b="0" smtClean="0">
                                            <a:latin typeface="Cambria Math" panose="02040503050406030204" pitchFamily="18" charset="0"/>
                                          </a:rPr>
                                          <m:t>2</m:t>
                                        </m:r>
                                      </m:den>
                                    </m:f>
                                  </m:sub>
                                </m:sSub>
                                <m:r>
                                  <a:rPr lang="es-MX" sz="1600" b="0" smtClean="0">
                                    <a:latin typeface="Cambria Math" panose="02040503050406030204" pitchFamily="18" charset="0"/>
                                  </a:rPr>
                                  <m:t>=</m:t>
                                </m:r>
                                <m:r>
                                  <a:rPr lang="es-MX" sz="1600" b="0" i="0" smtClean="0">
                                    <a:latin typeface="Cambria Math" panose="02040503050406030204" pitchFamily="18" charset="0"/>
                                  </a:rPr>
                                  <m:t>1.96</m:t>
                                </m:r>
                              </m:oMath>
                            </m:oMathPara>
                          </a14:m>
                          <a:endParaRPr lang="es-MX" sz="1600" dirty="0">
                            <a:latin typeface="Times New Roman" panose="02020603050405020304" pitchFamily="18" charset="0"/>
                            <a:cs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Times New Roman" panose="02020603050405020304" pitchFamily="18" charset="0"/>
                                  </a:rPr>
                                  <m:t>𝑁</m:t>
                                </m:r>
                                <m:r>
                                  <a:rPr lang="es-MX" sz="1600" b="0" i="1" smtClean="0">
                                    <a:latin typeface="Cambria Math" panose="02040503050406030204" pitchFamily="18" charset="0"/>
                                    <a:cs typeface="Times New Roman" panose="02020603050405020304" pitchFamily="18" charset="0"/>
                                  </a:rPr>
                                  <m:t>=720</m:t>
                                </m:r>
                              </m:oMath>
                            </m:oMathPara>
                          </a14:m>
                          <a:endParaRPr lang="es-MX" sz="1600" dirty="0">
                            <a:latin typeface="Times New Roman" panose="02020603050405020304" pitchFamily="18" charset="0"/>
                            <a:cs typeface="Times New Roman" panose="02020603050405020304" pitchFamily="18" charset="0"/>
                          </a:endParaRPr>
                        </a:p>
                        <a:p>
                          <a:pPr algn="just"/>
                          <a:endParaRPr lang="es-MX" sz="1600" dirty="0">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Times New Roman" panose="02020603050405020304" pitchFamily="18" charset="0"/>
                                  </a:rPr>
                                  <m:t>𝐸</m:t>
                                </m:r>
                                <m:r>
                                  <a:rPr lang="es-MX" sz="1600" b="0" i="1" smtClean="0">
                                    <a:latin typeface="Cambria Math" panose="02040503050406030204" pitchFamily="18" charset="0"/>
                                    <a:cs typeface="Times New Roman" panose="02020603050405020304" pitchFamily="18" charset="0"/>
                                  </a:rPr>
                                  <m:t>=0.05</m:t>
                                </m:r>
                              </m:oMath>
                            </m:oMathPara>
                          </a14:m>
                          <a:endParaRPr lang="es-MX" sz="160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𝑛</m:t>
                                </m:r>
                                <m:r>
                                  <a:rPr lang="es-MX" sz="1600" i="1" dirty="0" smtClean="0">
                                    <a:solidFill>
                                      <a:schemeClr val="bg1"/>
                                    </a:solidFill>
                                    <a:latin typeface="Cambria Math" panose="02040503050406030204" pitchFamily="18" charset="0"/>
                                    <a:cs typeface="Times New Roman" panose="02020603050405020304" pitchFamily="18" charset="0"/>
                                  </a:rPr>
                                  <m:t>=</m:t>
                                </m:r>
                                <m:f>
                                  <m:fPr>
                                    <m:ctrlPr>
                                      <a:rPr lang="es-MX" sz="1600" i="1" dirty="0">
                                        <a:solidFill>
                                          <a:schemeClr val="bg1"/>
                                        </a:solidFill>
                                        <a:latin typeface="Cambria Math" panose="02040503050406030204" pitchFamily="18" charset="0"/>
                                        <a:cs typeface="Times New Roman" panose="02020603050405020304" pitchFamily="18" charset="0"/>
                                      </a:rPr>
                                    </m:ctrlPr>
                                  </m:fPr>
                                  <m:num>
                                    <m:sSup>
                                      <m:sSupPr>
                                        <m:ctrlPr>
                                          <a:rPr lang="es-MX" sz="1600" i="1" dirty="0">
                                            <a:solidFill>
                                              <a:schemeClr val="bg1"/>
                                            </a:solidFill>
                                            <a:latin typeface="Cambria Math" panose="02040503050406030204" pitchFamily="18" charset="0"/>
                                            <a:cs typeface="Times New Roman" panose="02020603050405020304" pitchFamily="18" charset="0"/>
                                          </a:rPr>
                                        </m:ctrlPr>
                                      </m:sSupPr>
                                      <m:e>
                                        <m:d>
                                          <m:dPr>
                                            <m:ctrlPr>
                                              <a:rPr lang="es-MX" sz="1600" i="1" dirty="0">
                                                <a:solidFill>
                                                  <a:schemeClr val="bg1"/>
                                                </a:solidFill>
                                                <a:latin typeface="Cambria Math" panose="02040503050406030204" pitchFamily="18" charset="0"/>
                                                <a:cs typeface="Times New Roman" panose="02020603050405020304" pitchFamily="18" charset="0"/>
                                              </a:rPr>
                                            </m:ctrlPr>
                                          </m:dPr>
                                          <m:e>
                                            <m:sSub>
                                              <m:sSubPr>
                                                <m:ctrlPr>
                                                  <a:rPr lang="es-MX" sz="1600" i="1">
                                                    <a:solidFill>
                                                      <a:schemeClr val="bg1"/>
                                                    </a:solidFill>
                                                    <a:latin typeface="Cambria Math" panose="02040503050406030204" pitchFamily="18" charset="0"/>
                                                    <a:cs typeface="Times New Roman" panose="02020603050405020304" pitchFamily="18" charset="0"/>
                                                  </a:rPr>
                                                </m:ctrlPr>
                                              </m:sSubPr>
                                              <m:e>
                                                <m:r>
                                                  <a:rPr lang="es-MX" sz="1600" i="1">
                                                    <a:solidFill>
                                                      <a:schemeClr val="bg1"/>
                                                    </a:solidFill>
                                                    <a:latin typeface="Cambria Math" panose="02040503050406030204" pitchFamily="18" charset="0"/>
                                                    <a:cs typeface="Times New Roman" panose="02020603050405020304" pitchFamily="18" charset="0"/>
                                                  </a:rPr>
                                                  <m:t>𝑧</m:t>
                                                </m:r>
                                              </m:e>
                                              <m:sub>
                                                <m:f>
                                                  <m:fPr>
                                                    <m:type m:val="skw"/>
                                                    <m:ctrlPr>
                                                      <a:rPr lang="es-MX" sz="1600" i="1">
                                                        <a:solidFill>
                                                          <a:schemeClr val="bg1"/>
                                                        </a:solidFill>
                                                        <a:latin typeface="Cambria Math" panose="02040503050406030204" pitchFamily="18" charset="0"/>
                                                        <a:cs typeface="Times New Roman" panose="02020603050405020304" pitchFamily="18" charset="0"/>
                                                      </a:rPr>
                                                    </m:ctrlPr>
                                                  </m:fPr>
                                                  <m:num>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600" i="1">
                                                        <a:solidFill>
                                                          <a:schemeClr val="bg1"/>
                                                        </a:solidFill>
                                                        <a:latin typeface="Cambria Math" panose="02040503050406030204" pitchFamily="18" charset="0"/>
                                                        <a:cs typeface="Times New Roman" panose="02020603050405020304" pitchFamily="18" charset="0"/>
                                                      </a:rPr>
                                                      <m:t>2</m:t>
                                                    </m:r>
                                                  </m:den>
                                                </m:f>
                                              </m:sub>
                                            </m:sSub>
                                          </m:e>
                                        </m:d>
                                      </m:e>
                                      <m:sup>
                                        <m:r>
                                          <a:rPr lang="es-MX" sz="1600" i="1" dirty="0">
                                            <a:solidFill>
                                              <a:schemeClr val="bg1"/>
                                            </a:solidFill>
                                            <a:latin typeface="Cambria Math" panose="02040503050406030204" pitchFamily="18" charset="0"/>
                                            <a:cs typeface="Times New Roman" panose="02020603050405020304" pitchFamily="18" charset="0"/>
                                          </a:rPr>
                                          <m:t>2</m:t>
                                        </m:r>
                                      </m:sup>
                                    </m:sSup>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num>
                                  <m:den>
                                    <m:sSup>
                                      <m:sSupPr>
                                        <m:ctrlPr>
                                          <a:rPr lang="es-MX" sz="1600" i="1" dirty="0">
                                            <a:solidFill>
                                              <a:schemeClr val="bg1"/>
                                            </a:solidFill>
                                            <a:latin typeface="Cambria Math" panose="02040503050406030204" pitchFamily="18" charset="0"/>
                                            <a:cs typeface="Times New Roman" panose="02020603050405020304" pitchFamily="18" charset="0"/>
                                          </a:rPr>
                                        </m:ctrlPr>
                                      </m:sSupPr>
                                      <m:e>
                                        <m:sSup>
                                          <m:sSupPr>
                                            <m:ctrlPr>
                                              <a:rPr lang="es-MX" sz="1600" i="1" dirty="0">
                                                <a:solidFill>
                                                  <a:schemeClr val="bg1"/>
                                                </a:solidFill>
                                                <a:latin typeface="Cambria Math" panose="02040503050406030204" pitchFamily="18" charset="0"/>
                                                <a:cs typeface="Times New Roman" panose="02020603050405020304" pitchFamily="18" charset="0"/>
                                              </a:rPr>
                                            </m:ctrlPr>
                                          </m:sSupPr>
                                          <m:e>
                                            <m:d>
                                              <m:dPr>
                                                <m:ctrlPr>
                                                  <a:rPr lang="es-MX" sz="1600" i="1" dirty="0">
                                                    <a:solidFill>
                                                      <a:schemeClr val="bg1"/>
                                                    </a:solidFill>
                                                    <a:latin typeface="Cambria Math" panose="02040503050406030204" pitchFamily="18" charset="0"/>
                                                    <a:cs typeface="Times New Roman" panose="02020603050405020304" pitchFamily="18" charset="0"/>
                                                  </a:rPr>
                                                </m:ctrlPr>
                                              </m:dPr>
                                              <m:e>
                                                <m:sSub>
                                                  <m:sSubPr>
                                                    <m:ctrlPr>
                                                      <a:rPr lang="es-MX" sz="1600" i="1">
                                                        <a:solidFill>
                                                          <a:schemeClr val="bg1"/>
                                                        </a:solidFill>
                                                        <a:latin typeface="Cambria Math" panose="02040503050406030204" pitchFamily="18" charset="0"/>
                                                        <a:cs typeface="Times New Roman" panose="02020603050405020304" pitchFamily="18" charset="0"/>
                                                      </a:rPr>
                                                    </m:ctrlPr>
                                                  </m:sSubPr>
                                                  <m:e>
                                                    <m:r>
                                                      <a:rPr lang="es-MX" sz="1600" i="1">
                                                        <a:solidFill>
                                                          <a:schemeClr val="bg1"/>
                                                        </a:solidFill>
                                                        <a:latin typeface="Cambria Math" panose="02040503050406030204" pitchFamily="18" charset="0"/>
                                                        <a:cs typeface="Times New Roman" panose="02020603050405020304" pitchFamily="18" charset="0"/>
                                                      </a:rPr>
                                                      <m:t>𝑧</m:t>
                                                    </m:r>
                                                  </m:e>
                                                  <m:sub>
                                                    <m:f>
                                                      <m:fPr>
                                                        <m:type m:val="skw"/>
                                                        <m:ctrlPr>
                                                          <a:rPr lang="es-MX" sz="1600" i="1">
                                                            <a:solidFill>
                                                              <a:schemeClr val="bg1"/>
                                                            </a:solidFill>
                                                            <a:latin typeface="Cambria Math" panose="02040503050406030204" pitchFamily="18" charset="0"/>
                                                            <a:cs typeface="Times New Roman" panose="02020603050405020304" pitchFamily="18" charset="0"/>
                                                          </a:rPr>
                                                        </m:ctrlPr>
                                                      </m:fPr>
                                                      <m:num>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600" i="1">
                                                            <a:solidFill>
                                                              <a:schemeClr val="bg1"/>
                                                            </a:solidFill>
                                                            <a:latin typeface="Cambria Math" panose="02040503050406030204" pitchFamily="18" charset="0"/>
                                                            <a:cs typeface="Times New Roman" panose="02020603050405020304" pitchFamily="18" charset="0"/>
                                                          </a:rPr>
                                                          <m:t>2</m:t>
                                                        </m:r>
                                                      </m:den>
                                                    </m:f>
                                                  </m:sub>
                                                </m:sSub>
                                              </m:e>
                                            </m:d>
                                          </m:e>
                                          <m:sup>
                                            <m:r>
                                              <a:rPr lang="es-MX" sz="1600" i="1" dirty="0">
                                                <a:solidFill>
                                                  <a:schemeClr val="bg1"/>
                                                </a:solidFill>
                                                <a:latin typeface="Cambria Math" panose="02040503050406030204" pitchFamily="18" charset="0"/>
                                                <a:cs typeface="Times New Roman" panose="02020603050405020304" pitchFamily="18" charset="0"/>
                                              </a:rPr>
                                              <m:t>2</m:t>
                                            </m:r>
                                          </m:sup>
                                        </m:sSup>
                                        <m:r>
                                          <a:rPr lang="es-MX" sz="1600"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b="0"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m:t>
                                        </m:r>
                                        <m:r>
                                          <a:rPr lang="es-MX" sz="1600" i="1">
                                            <a:solidFill>
                                              <a:schemeClr val="bg1"/>
                                            </a:solidFill>
                                            <a:latin typeface="Cambria Math" panose="02040503050406030204" pitchFamily="18" charset="0"/>
                                            <a:cs typeface="Times New Roman" panose="02020603050405020304" pitchFamily="18" charset="0"/>
                                          </a:rPr>
                                          <m:t>+</m:t>
                                        </m:r>
                                        <m:d>
                                          <m:dPr>
                                            <m:ctrlPr>
                                              <a:rPr lang="es-MX" sz="1600" i="1">
                                                <a:solidFill>
                                                  <a:schemeClr val="bg1"/>
                                                </a:solidFill>
                                                <a:latin typeface="Cambria Math" panose="02040503050406030204" pitchFamily="18" charset="0"/>
                                                <a:cs typeface="Times New Roman" panose="02020603050405020304" pitchFamily="18" charset="0"/>
                                              </a:rPr>
                                            </m:ctrlPr>
                                          </m:dPr>
                                          <m:e>
                                            <m:r>
                                              <a:rPr lang="es-MX" sz="1600" i="1">
                                                <a:solidFill>
                                                  <a:schemeClr val="bg1"/>
                                                </a:solidFill>
                                                <a:latin typeface="Cambria Math" panose="02040503050406030204" pitchFamily="18" charset="0"/>
                                                <a:cs typeface="Times New Roman" panose="02020603050405020304" pitchFamily="18" charset="0"/>
                                              </a:rPr>
                                              <m:t>𝑁</m:t>
                                            </m:r>
                                            <m:r>
                                              <a:rPr lang="es-MX" sz="1600" i="1">
                                                <a:solidFill>
                                                  <a:schemeClr val="bg1"/>
                                                </a:solidFill>
                                                <a:latin typeface="Cambria Math" panose="02040503050406030204" pitchFamily="18" charset="0"/>
                                                <a:cs typeface="Times New Roman" panose="02020603050405020304" pitchFamily="18" charset="0"/>
                                              </a:rPr>
                                              <m:t>−1</m:t>
                                            </m:r>
                                          </m:e>
                                        </m:d>
                                        <m:r>
                                          <a:rPr lang="es-MX" sz="1600" i="1" dirty="0">
                                            <a:solidFill>
                                              <a:schemeClr val="bg1"/>
                                            </a:solidFill>
                                            <a:latin typeface="Cambria Math" panose="02040503050406030204" pitchFamily="18" charset="0"/>
                                            <a:cs typeface="Times New Roman" panose="02020603050405020304" pitchFamily="18" charset="0"/>
                                          </a:rPr>
                                          <m:t>𝐸</m:t>
                                        </m:r>
                                      </m:e>
                                      <m:sup>
                                        <m:r>
                                          <a:rPr lang="es-MX" sz="1600" i="1" dirty="0">
                                            <a:solidFill>
                                              <a:schemeClr val="bg1"/>
                                            </a:solidFill>
                                            <a:latin typeface="Cambria Math" panose="02040503050406030204" pitchFamily="18" charset="0"/>
                                            <a:cs typeface="Times New Roman" panose="02020603050405020304" pitchFamily="18" charset="0"/>
                                          </a:rPr>
                                          <m:t>2</m:t>
                                        </m:r>
                                      </m:sup>
                                    </m:sSup>
                                  </m:den>
                                </m:f>
                              </m:oMath>
                            </m:oMathPara>
                          </a14:m>
                          <a:endParaRPr lang="es-MX" sz="1600" dirty="0">
                            <a:latin typeface="Times New Roman" panose="02020603050405020304" pitchFamily="18" charset="0"/>
                            <a:cs typeface="Times New Roman" panose="02020603050405020304" pitchFamily="18" charset="0"/>
                          </a:endParaRPr>
                        </a:p>
                        <a:p>
                          <a:endParaRPr lang="es-MX" sz="1600" i="1" dirty="0">
                            <a:solidFill>
                              <a:schemeClr val="bg1"/>
                            </a:solidFill>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𝑛</m:t>
                                </m:r>
                                <m:r>
                                  <a:rPr lang="es-MX" sz="1600" i="1" dirty="0" smtClean="0">
                                    <a:solidFill>
                                      <a:schemeClr val="bg1"/>
                                    </a:solidFill>
                                    <a:latin typeface="Cambria Math" panose="02040503050406030204" pitchFamily="18" charset="0"/>
                                    <a:cs typeface="Times New Roman" panose="02020603050405020304" pitchFamily="18" charset="0"/>
                                  </a:rPr>
                                  <m:t>=</m:t>
                                </m:r>
                                <m:f>
                                  <m:fPr>
                                    <m:ctrlPr>
                                      <a:rPr lang="es-MX" sz="1600" i="1" dirty="0">
                                        <a:solidFill>
                                          <a:schemeClr val="bg1"/>
                                        </a:solidFill>
                                        <a:latin typeface="Cambria Math" panose="02040503050406030204" pitchFamily="18" charset="0"/>
                                        <a:cs typeface="Times New Roman" panose="02020603050405020304" pitchFamily="18" charset="0"/>
                                      </a:rPr>
                                    </m:ctrlPr>
                                  </m:fPr>
                                  <m:num>
                                    <m:sSup>
                                      <m:sSupPr>
                                        <m:ctrlPr>
                                          <a:rPr lang="es-MX" sz="1600" i="1" dirty="0">
                                            <a:solidFill>
                                              <a:schemeClr val="bg1"/>
                                            </a:solidFill>
                                            <a:latin typeface="Cambria Math" panose="02040503050406030204" pitchFamily="18" charset="0"/>
                                            <a:cs typeface="Times New Roman" panose="02020603050405020304" pitchFamily="18" charset="0"/>
                                          </a:rPr>
                                        </m:ctrlPr>
                                      </m:sSupPr>
                                      <m:e>
                                        <m:d>
                                          <m:dPr>
                                            <m:ctrlPr>
                                              <a:rPr lang="es-MX" sz="1600" i="1" dirty="0">
                                                <a:solidFill>
                                                  <a:schemeClr val="bg1"/>
                                                </a:solidFill>
                                                <a:latin typeface="Cambria Math" panose="02040503050406030204" pitchFamily="18" charset="0"/>
                                                <a:cs typeface="Times New Roman" panose="02020603050405020304" pitchFamily="18" charset="0"/>
                                              </a:rPr>
                                            </m:ctrlPr>
                                          </m:dPr>
                                          <m:e>
                                            <m:r>
                                              <a:rPr lang="es-MX" sz="1600" b="0" i="1" dirty="0" smtClean="0">
                                                <a:solidFill>
                                                  <a:schemeClr val="bg1"/>
                                                </a:solidFill>
                                                <a:latin typeface="Cambria Math" panose="02040503050406030204" pitchFamily="18" charset="0"/>
                                                <a:cs typeface="Times New Roman" panose="02020603050405020304" pitchFamily="18" charset="0"/>
                                              </a:rPr>
                                              <m:t>1.96</m:t>
                                            </m:r>
                                          </m:e>
                                        </m:d>
                                      </m:e>
                                      <m:sup>
                                        <m:r>
                                          <a:rPr lang="es-MX" sz="1600" i="1" dirty="0">
                                            <a:solidFill>
                                              <a:schemeClr val="bg1"/>
                                            </a:solidFill>
                                            <a:latin typeface="Cambria Math" panose="02040503050406030204" pitchFamily="18" charset="0"/>
                                            <a:cs typeface="Times New Roman" panose="02020603050405020304" pitchFamily="18" charset="0"/>
                                          </a:rPr>
                                          <m:t>2</m:t>
                                        </m:r>
                                      </m:sup>
                                    </m:sSup>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0.25∙720</m:t>
                                    </m:r>
                                  </m:num>
                                  <m:den>
                                    <m:sSup>
                                      <m:sSupPr>
                                        <m:ctrlPr>
                                          <a:rPr lang="es-MX" sz="1600" i="1" dirty="0">
                                            <a:solidFill>
                                              <a:schemeClr val="bg1"/>
                                            </a:solidFill>
                                            <a:latin typeface="Cambria Math" panose="02040503050406030204" pitchFamily="18" charset="0"/>
                                            <a:cs typeface="Times New Roman" panose="02020603050405020304" pitchFamily="18" charset="0"/>
                                          </a:rPr>
                                        </m:ctrlPr>
                                      </m:sSupPr>
                                      <m:e>
                                        <m:sSup>
                                          <m:sSupPr>
                                            <m:ctrlPr>
                                              <a:rPr lang="es-MX" sz="1600" i="1" dirty="0">
                                                <a:solidFill>
                                                  <a:schemeClr val="bg1"/>
                                                </a:solidFill>
                                                <a:latin typeface="Cambria Math" panose="02040503050406030204" pitchFamily="18" charset="0"/>
                                                <a:cs typeface="Times New Roman" panose="02020603050405020304" pitchFamily="18" charset="0"/>
                                              </a:rPr>
                                            </m:ctrlPr>
                                          </m:sSupPr>
                                          <m:e>
                                            <m:d>
                                              <m:dPr>
                                                <m:ctrlPr>
                                                  <a:rPr lang="es-MX" sz="1600" i="1" dirty="0">
                                                    <a:solidFill>
                                                      <a:schemeClr val="bg1"/>
                                                    </a:solidFill>
                                                    <a:latin typeface="Cambria Math" panose="02040503050406030204" pitchFamily="18" charset="0"/>
                                                    <a:cs typeface="Times New Roman" panose="02020603050405020304" pitchFamily="18" charset="0"/>
                                                  </a:rPr>
                                                </m:ctrlPr>
                                              </m:dPr>
                                              <m:e>
                                                <m:r>
                                                  <a:rPr lang="es-MX" sz="1600" b="0" i="1" dirty="0" smtClean="0">
                                                    <a:solidFill>
                                                      <a:schemeClr val="bg1"/>
                                                    </a:solidFill>
                                                    <a:latin typeface="Cambria Math" panose="02040503050406030204" pitchFamily="18" charset="0"/>
                                                    <a:cs typeface="Times New Roman" panose="02020603050405020304" pitchFamily="18" charset="0"/>
                                                  </a:rPr>
                                                  <m:t>1.96</m:t>
                                                </m:r>
                                              </m:e>
                                            </m:d>
                                          </m:e>
                                          <m:sup>
                                            <m:r>
                                              <a:rPr lang="es-MX" sz="1600" i="1" dirty="0">
                                                <a:solidFill>
                                                  <a:schemeClr val="bg1"/>
                                                </a:solidFill>
                                                <a:latin typeface="Cambria Math" panose="02040503050406030204" pitchFamily="18" charset="0"/>
                                                <a:cs typeface="Times New Roman" panose="02020603050405020304" pitchFamily="18" charset="0"/>
                                              </a:rPr>
                                              <m:t>2</m:t>
                                            </m:r>
                                          </m:sup>
                                        </m:sSup>
                                        <m:r>
                                          <a:rPr lang="es-MX" sz="1600"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b="0" i="1" dirty="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0.25</m:t>
                                        </m:r>
                                        <m:r>
                                          <a:rPr lang="es-MX" sz="1600" i="1">
                                            <a:solidFill>
                                              <a:schemeClr val="bg1"/>
                                            </a:solidFill>
                                            <a:latin typeface="Cambria Math" panose="02040503050406030204" pitchFamily="18" charset="0"/>
                                            <a:cs typeface="Times New Roman" panose="02020603050405020304" pitchFamily="18" charset="0"/>
                                          </a:rPr>
                                          <m:t>+</m:t>
                                        </m:r>
                                        <m:d>
                                          <m:dPr>
                                            <m:ctrlPr>
                                              <a:rPr lang="es-MX" sz="1600" i="1">
                                                <a:solidFill>
                                                  <a:schemeClr val="bg1"/>
                                                </a:solidFill>
                                                <a:latin typeface="Cambria Math" panose="02040503050406030204" pitchFamily="18" charset="0"/>
                                                <a:cs typeface="Times New Roman" panose="02020603050405020304" pitchFamily="18" charset="0"/>
                                              </a:rPr>
                                            </m:ctrlPr>
                                          </m:dPr>
                                          <m:e>
                                            <m:r>
                                              <a:rPr lang="es-MX" sz="1600" b="0" i="1" smtClean="0">
                                                <a:solidFill>
                                                  <a:schemeClr val="bg1"/>
                                                </a:solidFill>
                                                <a:latin typeface="Cambria Math" panose="02040503050406030204" pitchFamily="18" charset="0"/>
                                                <a:cs typeface="Times New Roman" panose="02020603050405020304" pitchFamily="18" charset="0"/>
                                              </a:rPr>
                                              <m:t>720</m:t>
                                            </m:r>
                                            <m:r>
                                              <a:rPr lang="es-MX" sz="1600" i="1">
                                                <a:solidFill>
                                                  <a:schemeClr val="bg1"/>
                                                </a:solidFill>
                                                <a:latin typeface="Cambria Math" panose="02040503050406030204" pitchFamily="18" charset="0"/>
                                                <a:cs typeface="Times New Roman" panose="02020603050405020304" pitchFamily="18" charset="0"/>
                                              </a:rPr>
                                              <m:t>−1</m:t>
                                            </m:r>
                                          </m:e>
                                        </m:d>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b="0" i="1" smtClean="0">
                                            <a:solidFill>
                                              <a:schemeClr val="bg1"/>
                                            </a:solidFill>
                                            <a:latin typeface="Cambria Math" panose="02040503050406030204" pitchFamily="18" charset="0"/>
                                            <a:cs typeface="Times New Roman" panose="02020603050405020304" pitchFamily="18" charset="0"/>
                                          </a:rPr>
                                          <m:t>0.05</m:t>
                                        </m:r>
                                      </m:e>
                                      <m:sup>
                                        <m:r>
                                          <a:rPr lang="es-MX" sz="1600" i="1" dirty="0">
                                            <a:solidFill>
                                              <a:schemeClr val="bg1"/>
                                            </a:solidFill>
                                            <a:latin typeface="Cambria Math" panose="02040503050406030204" pitchFamily="18" charset="0"/>
                                            <a:cs typeface="Times New Roman" panose="02020603050405020304" pitchFamily="18" charset="0"/>
                                          </a:rPr>
                                          <m:t>2</m:t>
                                        </m:r>
                                      </m:sup>
                                    </m:sSup>
                                  </m:den>
                                </m:f>
                              </m:oMath>
                            </m:oMathPara>
                          </a14:m>
                          <a:endParaRPr lang="es-MX" sz="1600" dirty="0">
                            <a:latin typeface="Times New Roman" panose="02020603050405020304" pitchFamily="18" charset="0"/>
                            <a:cs typeface="Times New Roman" panose="02020603050405020304" pitchFamily="18" charset="0"/>
                          </a:endParaRPr>
                        </a:p>
                        <a:p>
                          <a:endParaRPr lang="es-MX" sz="16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Times New Roman" panose="02020603050405020304" pitchFamily="18" charset="0"/>
                                  </a:rPr>
                                  <m:t>𝑛</m:t>
                                </m:r>
                                <m:r>
                                  <a:rPr lang="es-MX" sz="1600" b="0" i="1" smtClean="0">
                                    <a:latin typeface="Cambria Math" panose="02040503050406030204" pitchFamily="18" charset="0"/>
                                    <a:cs typeface="Times New Roman" panose="02020603050405020304" pitchFamily="18" charset="0"/>
                                  </a:rPr>
                                  <m:t>=250.72</m:t>
                                </m:r>
                              </m:oMath>
                            </m:oMathPara>
                          </a14:m>
                          <a:endParaRPr lang="es-MX" sz="1600" dirty="0">
                            <a:latin typeface="Times New Roman" panose="02020603050405020304" pitchFamily="18" charset="0"/>
                            <a:cs typeface="Times New Roman" panose="02020603050405020304" pitchFamily="18" charset="0"/>
                          </a:endParaRPr>
                        </a:p>
                        <a:p>
                          <a:pPr algn="ctr"/>
                          <a:r>
                            <a:rPr lang="es-MX" sz="1600" dirty="0">
                              <a:latin typeface="Times New Roman" panose="02020603050405020304" pitchFamily="18" charset="0"/>
                              <a:cs typeface="Times New Roman" panose="02020603050405020304" pitchFamily="18" charset="0"/>
                            </a:rPr>
                            <a:t>Se necesita una muestra de 251 egresados para llevar a cabo esta investigación.</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4096808047"/>
                  </p:ext>
                </p:extLst>
              </p:nvPr>
            </p:nvGraphicFramePr>
            <p:xfrm>
              <a:off x="964023" y="3429000"/>
              <a:ext cx="9332916" cy="3061335"/>
            </p:xfrm>
            <a:graphic>
              <a:graphicData uri="http://schemas.openxmlformats.org/drawingml/2006/table">
                <a:tbl>
                  <a:tblPr firstRow="1" bandRow="1">
                    <a:tableStyleId>{B301B821-A1FF-4177-AEE7-76D212191A09}</a:tableStyleId>
                  </a:tblPr>
                  <a:tblGrid>
                    <a:gridCol w="3280002">
                      <a:extLst>
                        <a:ext uri="{9D8B030D-6E8A-4147-A177-3AD203B41FA5}">
                          <a16:colId xmlns:a16="http://schemas.microsoft.com/office/drawing/2014/main" val="3666898410"/>
                        </a:ext>
                      </a:extLst>
                    </a:gridCol>
                    <a:gridCol w="6052914">
                      <a:extLst>
                        <a:ext uri="{9D8B030D-6E8A-4147-A177-3AD203B41FA5}">
                          <a16:colId xmlns:a16="http://schemas.microsoft.com/office/drawing/2014/main" val="1384386878"/>
                        </a:ext>
                      </a:extLst>
                    </a:gridCol>
                  </a:tblGrid>
                  <a:tr h="365760">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2695575">
                    <a:tc>
                      <a:txBody>
                        <a:bodyPr/>
                        <a:lstStyle/>
                        <a:p>
                          <a:endParaRPr lang="es-MX"/>
                        </a:p>
                      </a:txBody>
                      <a:tcPr>
                        <a:blipFill>
                          <a:blip r:embed="rId4"/>
                          <a:stretch>
                            <a:fillRect l="-186" t="-14673" r="-185130" b="-2709"/>
                          </a:stretch>
                        </a:blipFill>
                      </a:tcPr>
                    </a:tc>
                    <a:tc>
                      <a:txBody>
                        <a:bodyPr/>
                        <a:lstStyle/>
                        <a:p>
                          <a:endParaRPr lang="es-MX"/>
                        </a:p>
                      </a:txBody>
                      <a:tcPr>
                        <a:blipFill>
                          <a:blip r:embed="rId4"/>
                          <a:stretch>
                            <a:fillRect l="-54225" t="-14673" r="-201" b="-2709"/>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6" name="Diagrama 15">
            <a:extLst>
              <a:ext uri="{FF2B5EF4-FFF2-40B4-BE49-F238E27FC236}">
                <a16:creationId xmlns:a16="http://schemas.microsoft.com/office/drawing/2014/main" id="{D0BA2A70-D257-368D-DB2D-F775C87F75A1}"/>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5826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TotalTime>
  <Words>1174</Words>
  <Application>Microsoft Office PowerPoint</Application>
  <PresentationFormat>Panorámica</PresentationFormat>
  <Paragraphs>177</Paragraphs>
  <Slides>9</Slides>
  <Notes>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9</vt:i4>
      </vt:variant>
    </vt:vector>
  </HeadingPairs>
  <TitlesOfParts>
    <vt:vector size="17" baseType="lpstr">
      <vt:lpstr>Arial</vt:lpstr>
      <vt:lpstr>Calibri</vt:lpstr>
      <vt:lpstr>Cambria Math</vt:lpstr>
      <vt:lpstr>Franklin Gothic Book</vt:lpstr>
      <vt:lpstr>Franklin Gothic Demi</vt:lpstr>
      <vt:lpstr>Times New Roman</vt:lpstr>
      <vt:lpstr>Wingdings</vt:lpstr>
      <vt:lpstr>Tema1</vt:lpstr>
      <vt:lpstr>Sesión 8: Tamaño de la muestra para proporciones</vt:lpstr>
      <vt:lpstr>Determinación del tamaño muestral</vt:lpstr>
      <vt:lpstr>Ejemplo 1</vt:lpstr>
      <vt:lpstr>Ejemplo 2</vt:lpstr>
      <vt:lpstr>Ejemplo 2 (Solución)</vt:lpstr>
      <vt:lpstr>Intervalo de confianza y tamaño muestral con N conocida</vt:lpstr>
      <vt:lpstr>Ejemplo 1</vt:lpstr>
      <vt:lpstr>Intervalo de confianza y tamaño muestral con N conocida</vt:lpstr>
      <vt:lpstr>Ejemplo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6: Determinación del tamaño de la muestra para proporciones</dc:title>
  <dc:creator>David Nexticapan Cortes</dc:creator>
  <cp:lastModifiedBy>DAVID NEXTICAPAN CORTES</cp:lastModifiedBy>
  <cp:revision>18</cp:revision>
  <dcterms:created xsi:type="dcterms:W3CDTF">2023-09-10T16:03:29Z</dcterms:created>
  <dcterms:modified xsi:type="dcterms:W3CDTF">2025-01-25T03:05:04Z</dcterms:modified>
</cp:coreProperties>
</file>