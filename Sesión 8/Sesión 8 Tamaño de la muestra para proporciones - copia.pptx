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62" r:id="rId2"/>
    <p:sldId id="257" r:id="rId3"/>
    <p:sldId id="258" r:id="rId4"/>
    <p:sldId id="259" r:id="rId5"/>
    <p:sldId id="260" r:id="rId6"/>
    <p:sldId id="263" r:id="rId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4B8FB8-4D96-4DB2-8396-7A518DA952A5}" type="doc">
      <dgm:prSet loTypeId="urn:microsoft.com/office/officeart/2005/8/layout/process1" loCatId="process" qsTypeId="urn:microsoft.com/office/officeart/2005/8/quickstyle/simple1" qsCatId="simple" csTypeId="urn:microsoft.com/office/officeart/2005/8/colors/accent1_1" csCatId="accent1" phldr="1"/>
      <dgm:spPr/>
      <dgm:t>
        <a:bodyPr/>
        <a:lstStyle/>
        <a:p>
          <a:endParaRPr lang="es-MX"/>
        </a:p>
      </dgm:t>
    </dgm:pt>
    <dgm:pt modelId="{2FEABBC7-72BC-4C90-8329-2E452E508446}">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3</a:t>
          </a:r>
        </a:p>
        <a:p>
          <a:r>
            <a:rPr lang="es-MX" dirty="0">
              <a:latin typeface="Times New Roman" panose="02020603050405020304" pitchFamily="18" charset="0"/>
              <a:cs typeface="Times New Roman" panose="02020603050405020304" pitchFamily="18" charset="0"/>
            </a:rPr>
            <a:t>Selección de las técnicas de muestreo</a:t>
          </a:r>
        </a:p>
      </dgm:t>
    </dgm:pt>
    <dgm:pt modelId="{8EFC9DAF-2524-4A3A-9521-EC6816073CF7}" type="par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3A27EAE9-BE6F-4D19-8940-FFEDEC2DDB07}" type="sibTrans" cxnId="{BA4FFC71-4DB8-4EAE-B90D-F5627A62DBF3}">
      <dgm:prSet/>
      <dgm:spPr/>
      <dgm:t>
        <a:bodyPr/>
        <a:lstStyle/>
        <a:p>
          <a:endParaRPr lang="es-MX">
            <a:latin typeface="Times New Roman" panose="02020603050405020304" pitchFamily="18" charset="0"/>
            <a:cs typeface="Times New Roman" panose="02020603050405020304" pitchFamily="18" charset="0"/>
          </a:endParaRPr>
        </a:p>
      </dgm:t>
    </dgm:pt>
    <dgm:pt modelId="{59C938ED-35F9-4788-9A28-FB1F1F407902}">
      <dgm:prSet phldrT="[Texto]"/>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4</a:t>
          </a:r>
        </a:p>
        <a:p>
          <a:r>
            <a:rPr lang="es-MX" dirty="0">
              <a:latin typeface="Times New Roman" panose="02020603050405020304" pitchFamily="18" charset="0"/>
              <a:cs typeface="Times New Roman" panose="02020603050405020304" pitchFamily="18" charset="0"/>
            </a:rPr>
            <a:t>Determinación del tamaño de la muestra</a:t>
          </a:r>
        </a:p>
      </dgm:t>
    </dgm:pt>
    <dgm:pt modelId="{ACE7BD5D-E950-4E05-98D3-C79C604B7F56}" type="par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4129F329-28EC-4E89-A866-ECB552B767BB}" type="sibTrans" cxnId="{38FE7D9D-DE4F-4A2F-A1E2-B654B32E58D6}">
      <dgm:prSet/>
      <dgm:spPr/>
      <dgm:t>
        <a:bodyPr/>
        <a:lstStyle/>
        <a:p>
          <a:endParaRPr lang="es-MX">
            <a:latin typeface="Times New Roman" panose="02020603050405020304" pitchFamily="18" charset="0"/>
            <a:cs typeface="Times New Roman" panose="02020603050405020304" pitchFamily="18" charset="0"/>
          </a:endParaRPr>
        </a:p>
      </dgm:t>
    </dgm:pt>
    <dgm:pt modelId="{C2E512C4-33B5-4718-902D-91932D03496F}">
      <dgm:prSet phldrT="[Texto]"/>
      <dgm:spPr/>
      <dgm:t>
        <a:bodyPr/>
        <a:lstStyle/>
        <a:p>
          <a:r>
            <a:rPr lang="es-MX" b="1" dirty="0">
              <a:latin typeface="Times New Roman" panose="02020603050405020304" pitchFamily="18" charset="0"/>
              <a:cs typeface="Times New Roman" panose="02020603050405020304" pitchFamily="18" charset="0"/>
            </a:rPr>
            <a:t>ETAPA 5</a:t>
          </a:r>
        </a:p>
        <a:p>
          <a:r>
            <a:rPr lang="es-MX" dirty="0">
              <a:latin typeface="Times New Roman" panose="02020603050405020304" pitchFamily="18" charset="0"/>
              <a:cs typeface="Times New Roman" panose="02020603050405020304" pitchFamily="18" charset="0"/>
            </a:rPr>
            <a:t>Ejecución del proceso de muestreo</a:t>
          </a:r>
        </a:p>
      </dgm:t>
    </dgm:pt>
    <dgm:pt modelId="{02DCD470-163C-4174-870A-A8B1219FDC4F}" type="par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A617AFE4-DB8C-40B5-B865-FDBA5FFA2A31}" type="sibTrans" cxnId="{F7AEBD03-0B94-40B6-A4F6-76F2F373D142}">
      <dgm:prSet/>
      <dgm:spPr/>
      <dgm:t>
        <a:bodyPr/>
        <a:lstStyle/>
        <a:p>
          <a:endParaRPr lang="es-MX">
            <a:latin typeface="Times New Roman" panose="02020603050405020304" pitchFamily="18" charset="0"/>
            <a:cs typeface="Times New Roman" panose="02020603050405020304" pitchFamily="18" charset="0"/>
          </a:endParaRPr>
        </a:p>
      </dgm:t>
    </dgm:pt>
    <dgm:pt modelId="{DF205024-46E5-4650-ADD2-EEE5DEF652ED}">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2</a:t>
          </a:r>
        </a:p>
        <a:p>
          <a:r>
            <a:rPr lang="es-MX" dirty="0">
              <a:latin typeface="Times New Roman" panose="02020603050405020304" pitchFamily="18" charset="0"/>
              <a:cs typeface="Times New Roman" panose="02020603050405020304" pitchFamily="18" charset="0"/>
            </a:rPr>
            <a:t>Delimitar a la población</a:t>
          </a:r>
        </a:p>
      </dgm:t>
    </dgm:pt>
    <dgm:pt modelId="{533C0090-30DA-4185-970C-9F37A6DDF891}" type="par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25DB5797-81F4-4847-9348-D17A2691323E}" type="sibTrans" cxnId="{6D5BF4E3-B859-4165-983C-C8941645F432}">
      <dgm:prSet/>
      <dgm:spPr/>
      <dgm:t>
        <a:bodyPr/>
        <a:lstStyle/>
        <a:p>
          <a:endParaRPr lang="es-MX">
            <a:latin typeface="Times New Roman" panose="02020603050405020304" pitchFamily="18" charset="0"/>
            <a:cs typeface="Times New Roman" panose="02020603050405020304" pitchFamily="18" charset="0"/>
          </a:endParaRPr>
        </a:p>
      </dgm:t>
    </dgm:pt>
    <dgm:pt modelId="{00717164-F10F-4470-9C20-8CF14B87E8A1}">
      <dgm:prSet/>
      <dgm:spPr>
        <a:solidFill>
          <a:srgbClr val="FFC000"/>
        </a:solidFill>
      </dgm:spPr>
      <dgm:t>
        <a:bodyPr/>
        <a:lstStyle/>
        <a:p>
          <a:r>
            <a:rPr lang="es-MX" b="1" dirty="0">
              <a:latin typeface="Times New Roman" panose="02020603050405020304" pitchFamily="18" charset="0"/>
              <a:cs typeface="Times New Roman" panose="02020603050405020304" pitchFamily="18" charset="0"/>
            </a:rPr>
            <a:t>ETAPA 1</a:t>
          </a:r>
        </a:p>
        <a:p>
          <a:r>
            <a:rPr lang="es-MX" dirty="0">
              <a:latin typeface="Times New Roman" panose="02020603050405020304" pitchFamily="18" charset="0"/>
              <a:cs typeface="Times New Roman" panose="02020603050405020304" pitchFamily="18" charset="0"/>
            </a:rPr>
            <a:t>Definición de la población objetivo</a:t>
          </a:r>
        </a:p>
      </dgm:t>
    </dgm:pt>
    <dgm:pt modelId="{53F9A364-7E44-46FC-ADF8-336B49A2765C}" type="par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A955DE56-74A3-4BE1-B28A-3A16BBD27368}" type="sibTrans" cxnId="{BFA32903-08B9-49C9-90DE-E322137B589E}">
      <dgm:prSet/>
      <dgm:spPr/>
      <dgm:t>
        <a:bodyPr/>
        <a:lstStyle/>
        <a:p>
          <a:endParaRPr lang="es-MX">
            <a:latin typeface="Times New Roman" panose="02020603050405020304" pitchFamily="18" charset="0"/>
            <a:cs typeface="Times New Roman" panose="02020603050405020304" pitchFamily="18" charset="0"/>
          </a:endParaRPr>
        </a:p>
      </dgm:t>
    </dgm:pt>
    <dgm:pt modelId="{58A02B60-B1CB-4D5C-AD9B-EB3314D5B8E2}" type="pres">
      <dgm:prSet presAssocID="{8D4B8FB8-4D96-4DB2-8396-7A518DA952A5}" presName="Name0" presStyleCnt="0">
        <dgm:presLayoutVars>
          <dgm:dir/>
          <dgm:resizeHandles val="exact"/>
        </dgm:presLayoutVars>
      </dgm:prSet>
      <dgm:spPr/>
    </dgm:pt>
    <dgm:pt modelId="{45F11E4B-3DF5-4A6B-86E6-41F6FF193A51}" type="pres">
      <dgm:prSet presAssocID="{00717164-F10F-4470-9C20-8CF14B87E8A1}" presName="node" presStyleLbl="node1" presStyleIdx="0" presStyleCnt="5" custScaleY="212696">
        <dgm:presLayoutVars>
          <dgm:bulletEnabled val="1"/>
        </dgm:presLayoutVars>
      </dgm:prSet>
      <dgm:spPr/>
    </dgm:pt>
    <dgm:pt modelId="{780A6D60-D483-4FB4-878D-2845761925AB}" type="pres">
      <dgm:prSet presAssocID="{A955DE56-74A3-4BE1-B28A-3A16BBD27368}" presName="sibTrans" presStyleLbl="sibTrans2D1" presStyleIdx="0" presStyleCnt="4"/>
      <dgm:spPr/>
    </dgm:pt>
    <dgm:pt modelId="{8172D192-CCC3-4C94-8B29-C91D2AC79AC7}" type="pres">
      <dgm:prSet presAssocID="{A955DE56-74A3-4BE1-B28A-3A16BBD27368}" presName="connectorText" presStyleLbl="sibTrans2D1" presStyleIdx="0" presStyleCnt="4"/>
      <dgm:spPr/>
    </dgm:pt>
    <dgm:pt modelId="{BD0F0E9D-E747-4DB0-944A-8C7D1F06770B}" type="pres">
      <dgm:prSet presAssocID="{DF205024-46E5-4650-ADD2-EEE5DEF652ED}" presName="node" presStyleLbl="node1" presStyleIdx="1" presStyleCnt="5" custScaleY="212696">
        <dgm:presLayoutVars>
          <dgm:bulletEnabled val="1"/>
        </dgm:presLayoutVars>
      </dgm:prSet>
      <dgm:spPr/>
    </dgm:pt>
    <dgm:pt modelId="{38C8C8B3-6D67-4777-A142-33625D08B54C}" type="pres">
      <dgm:prSet presAssocID="{25DB5797-81F4-4847-9348-D17A2691323E}" presName="sibTrans" presStyleLbl="sibTrans2D1" presStyleIdx="1" presStyleCnt="4"/>
      <dgm:spPr/>
    </dgm:pt>
    <dgm:pt modelId="{44272282-7890-4534-A927-F447EE26F567}" type="pres">
      <dgm:prSet presAssocID="{25DB5797-81F4-4847-9348-D17A2691323E}" presName="connectorText" presStyleLbl="sibTrans2D1" presStyleIdx="1" presStyleCnt="4"/>
      <dgm:spPr/>
    </dgm:pt>
    <dgm:pt modelId="{4A67FA9A-0857-440C-8D66-6BD1D1A85671}" type="pres">
      <dgm:prSet presAssocID="{2FEABBC7-72BC-4C90-8329-2E452E508446}" presName="node" presStyleLbl="node1" presStyleIdx="2" presStyleCnt="5" custScaleY="212696">
        <dgm:presLayoutVars>
          <dgm:bulletEnabled val="1"/>
        </dgm:presLayoutVars>
      </dgm:prSet>
      <dgm:spPr/>
    </dgm:pt>
    <dgm:pt modelId="{0EBB4721-4C77-49D1-98FE-64AB257BF717}" type="pres">
      <dgm:prSet presAssocID="{3A27EAE9-BE6F-4D19-8940-FFEDEC2DDB07}" presName="sibTrans" presStyleLbl="sibTrans2D1" presStyleIdx="2" presStyleCnt="4"/>
      <dgm:spPr/>
    </dgm:pt>
    <dgm:pt modelId="{DE61F73F-ED5E-4246-B7C5-98D145999D7F}" type="pres">
      <dgm:prSet presAssocID="{3A27EAE9-BE6F-4D19-8940-FFEDEC2DDB07}" presName="connectorText" presStyleLbl="sibTrans2D1" presStyleIdx="2" presStyleCnt="4"/>
      <dgm:spPr/>
    </dgm:pt>
    <dgm:pt modelId="{1FE44AEB-33A1-4763-9049-C83D6F60AA50}" type="pres">
      <dgm:prSet presAssocID="{59C938ED-35F9-4788-9A28-FB1F1F407902}" presName="node" presStyleLbl="node1" presStyleIdx="3" presStyleCnt="5" custScaleY="212696">
        <dgm:presLayoutVars>
          <dgm:bulletEnabled val="1"/>
        </dgm:presLayoutVars>
      </dgm:prSet>
      <dgm:spPr/>
    </dgm:pt>
    <dgm:pt modelId="{F6F65DB2-C3FA-4B28-B5E4-7467DA156C6D}" type="pres">
      <dgm:prSet presAssocID="{4129F329-28EC-4E89-A866-ECB552B767BB}" presName="sibTrans" presStyleLbl="sibTrans2D1" presStyleIdx="3" presStyleCnt="4"/>
      <dgm:spPr/>
    </dgm:pt>
    <dgm:pt modelId="{AC6F192D-6DB8-4474-A126-F148A5E71F56}" type="pres">
      <dgm:prSet presAssocID="{4129F329-28EC-4E89-A866-ECB552B767BB}" presName="connectorText" presStyleLbl="sibTrans2D1" presStyleIdx="3" presStyleCnt="4"/>
      <dgm:spPr/>
    </dgm:pt>
    <dgm:pt modelId="{EFE0D648-8C7B-42B4-BA55-792B8B019758}" type="pres">
      <dgm:prSet presAssocID="{C2E512C4-33B5-4718-902D-91932D03496F}" presName="node" presStyleLbl="node1" presStyleIdx="4" presStyleCnt="5" custScaleY="212696">
        <dgm:presLayoutVars>
          <dgm:bulletEnabled val="1"/>
        </dgm:presLayoutVars>
      </dgm:prSet>
      <dgm:spPr/>
    </dgm:pt>
  </dgm:ptLst>
  <dgm:cxnLst>
    <dgm:cxn modelId="{BFA32903-08B9-49C9-90DE-E322137B589E}" srcId="{8D4B8FB8-4D96-4DB2-8396-7A518DA952A5}" destId="{00717164-F10F-4470-9C20-8CF14B87E8A1}" srcOrd="0" destOrd="0" parTransId="{53F9A364-7E44-46FC-ADF8-336B49A2765C}" sibTransId="{A955DE56-74A3-4BE1-B28A-3A16BBD27368}"/>
    <dgm:cxn modelId="{F7AEBD03-0B94-40B6-A4F6-76F2F373D142}" srcId="{8D4B8FB8-4D96-4DB2-8396-7A518DA952A5}" destId="{C2E512C4-33B5-4718-902D-91932D03496F}" srcOrd="4" destOrd="0" parTransId="{02DCD470-163C-4174-870A-A8B1219FDC4F}" sibTransId="{A617AFE4-DB8C-40B5-B865-FDBA5FFA2A31}"/>
    <dgm:cxn modelId="{84F90218-C9AF-47DF-A769-E31330B89475}" type="presOf" srcId="{59C938ED-35F9-4788-9A28-FB1F1F407902}" destId="{1FE44AEB-33A1-4763-9049-C83D6F60AA50}" srcOrd="0" destOrd="0" presId="urn:microsoft.com/office/officeart/2005/8/layout/process1"/>
    <dgm:cxn modelId="{0424491C-8A12-4649-A852-B14C4FE9C2C2}" type="presOf" srcId="{DF205024-46E5-4650-ADD2-EEE5DEF652ED}" destId="{BD0F0E9D-E747-4DB0-944A-8C7D1F06770B}" srcOrd="0" destOrd="0" presId="urn:microsoft.com/office/officeart/2005/8/layout/process1"/>
    <dgm:cxn modelId="{F00DAD27-609C-40BB-B596-BE3CD2E4264A}" type="presOf" srcId="{8D4B8FB8-4D96-4DB2-8396-7A518DA952A5}" destId="{58A02B60-B1CB-4D5C-AD9B-EB3314D5B8E2}" srcOrd="0" destOrd="0" presId="urn:microsoft.com/office/officeart/2005/8/layout/process1"/>
    <dgm:cxn modelId="{31A97662-1FD5-49F7-BB4F-9BE80127D2C5}" type="presOf" srcId="{25DB5797-81F4-4847-9348-D17A2691323E}" destId="{38C8C8B3-6D67-4777-A142-33625D08B54C}" srcOrd="0" destOrd="0" presId="urn:microsoft.com/office/officeart/2005/8/layout/process1"/>
    <dgm:cxn modelId="{CBD0404E-7673-4B82-AC2D-6EA8D979B1A3}" type="presOf" srcId="{4129F329-28EC-4E89-A866-ECB552B767BB}" destId="{AC6F192D-6DB8-4474-A126-F148A5E71F56}" srcOrd="1" destOrd="0" presId="urn:microsoft.com/office/officeart/2005/8/layout/process1"/>
    <dgm:cxn modelId="{598FF850-2AA6-4155-8D5E-A88FE7E40891}" type="presOf" srcId="{A955DE56-74A3-4BE1-B28A-3A16BBD27368}" destId="{8172D192-CCC3-4C94-8B29-C91D2AC79AC7}" srcOrd="1" destOrd="0" presId="urn:microsoft.com/office/officeart/2005/8/layout/process1"/>
    <dgm:cxn modelId="{BA4FFC71-4DB8-4EAE-B90D-F5627A62DBF3}" srcId="{8D4B8FB8-4D96-4DB2-8396-7A518DA952A5}" destId="{2FEABBC7-72BC-4C90-8329-2E452E508446}" srcOrd="2" destOrd="0" parTransId="{8EFC9DAF-2524-4A3A-9521-EC6816073CF7}" sibTransId="{3A27EAE9-BE6F-4D19-8940-FFEDEC2DDB07}"/>
    <dgm:cxn modelId="{4F711475-6796-4981-9DD7-1719E5F7249F}" type="presOf" srcId="{3A27EAE9-BE6F-4D19-8940-FFEDEC2DDB07}" destId="{0EBB4721-4C77-49D1-98FE-64AB257BF717}" srcOrd="0" destOrd="0" presId="urn:microsoft.com/office/officeart/2005/8/layout/process1"/>
    <dgm:cxn modelId="{38FE7D9D-DE4F-4A2F-A1E2-B654B32E58D6}" srcId="{8D4B8FB8-4D96-4DB2-8396-7A518DA952A5}" destId="{59C938ED-35F9-4788-9A28-FB1F1F407902}" srcOrd="3" destOrd="0" parTransId="{ACE7BD5D-E950-4E05-98D3-C79C604B7F56}" sibTransId="{4129F329-28EC-4E89-A866-ECB552B767BB}"/>
    <dgm:cxn modelId="{AF3431A6-4EE0-4BC2-A4FC-9105D09024DE}" type="presOf" srcId="{00717164-F10F-4470-9C20-8CF14B87E8A1}" destId="{45F11E4B-3DF5-4A6B-86E6-41F6FF193A51}" srcOrd="0" destOrd="0" presId="urn:microsoft.com/office/officeart/2005/8/layout/process1"/>
    <dgm:cxn modelId="{28875FAC-2561-4BC1-AEC4-D5349EBC904B}" type="presOf" srcId="{3A27EAE9-BE6F-4D19-8940-FFEDEC2DDB07}" destId="{DE61F73F-ED5E-4246-B7C5-98D145999D7F}" srcOrd="1" destOrd="0" presId="urn:microsoft.com/office/officeart/2005/8/layout/process1"/>
    <dgm:cxn modelId="{36F9C9B8-C601-41D7-A031-B5D41E770087}" type="presOf" srcId="{25DB5797-81F4-4847-9348-D17A2691323E}" destId="{44272282-7890-4534-A927-F447EE26F567}" srcOrd="1" destOrd="0" presId="urn:microsoft.com/office/officeart/2005/8/layout/process1"/>
    <dgm:cxn modelId="{CC7B96BE-F75C-49CF-8956-E90B2D274B46}" type="presOf" srcId="{2FEABBC7-72BC-4C90-8329-2E452E508446}" destId="{4A67FA9A-0857-440C-8D66-6BD1D1A85671}" srcOrd="0" destOrd="0" presId="urn:microsoft.com/office/officeart/2005/8/layout/process1"/>
    <dgm:cxn modelId="{C257EACF-9A64-4A31-907C-31DE762F04F1}" type="presOf" srcId="{4129F329-28EC-4E89-A866-ECB552B767BB}" destId="{F6F65DB2-C3FA-4B28-B5E4-7467DA156C6D}" srcOrd="0" destOrd="0" presId="urn:microsoft.com/office/officeart/2005/8/layout/process1"/>
    <dgm:cxn modelId="{06A908E2-8425-4EC9-80AD-F4280314086E}" type="presOf" srcId="{C2E512C4-33B5-4718-902D-91932D03496F}" destId="{EFE0D648-8C7B-42B4-BA55-792B8B019758}" srcOrd="0" destOrd="0" presId="urn:microsoft.com/office/officeart/2005/8/layout/process1"/>
    <dgm:cxn modelId="{6D5BF4E3-B859-4165-983C-C8941645F432}" srcId="{8D4B8FB8-4D96-4DB2-8396-7A518DA952A5}" destId="{DF205024-46E5-4650-ADD2-EEE5DEF652ED}" srcOrd="1" destOrd="0" parTransId="{533C0090-30DA-4185-970C-9F37A6DDF891}" sibTransId="{25DB5797-81F4-4847-9348-D17A2691323E}"/>
    <dgm:cxn modelId="{BD1D8AE7-8906-4C10-B944-52BAD0AC1FC6}" type="presOf" srcId="{A955DE56-74A3-4BE1-B28A-3A16BBD27368}" destId="{780A6D60-D483-4FB4-878D-2845761925AB}" srcOrd="0" destOrd="0" presId="urn:microsoft.com/office/officeart/2005/8/layout/process1"/>
    <dgm:cxn modelId="{A63F5B4A-1E6D-4391-9439-DB89A570B0EF}" type="presParOf" srcId="{58A02B60-B1CB-4D5C-AD9B-EB3314D5B8E2}" destId="{45F11E4B-3DF5-4A6B-86E6-41F6FF193A51}" srcOrd="0" destOrd="0" presId="urn:microsoft.com/office/officeart/2005/8/layout/process1"/>
    <dgm:cxn modelId="{4BA57D06-037D-4D4D-A37C-70802B2F5D1F}" type="presParOf" srcId="{58A02B60-B1CB-4D5C-AD9B-EB3314D5B8E2}" destId="{780A6D60-D483-4FB4-878D-2845761925AB}" srcOrd="1" destOrd="0" presId="urn:microsoft.com/office/officeart/2005/8/layout/process1"/>
    <dgm:cxn modelId="{2650C2CA-96B6-46F6-98E9-F06D511EC66D}" type="presParOf" srcId="{780A6D60-D483-4FB4-878D-2845761925AB}" destId="{8172D192-CCC3-4C94-8B29-C91D2AC79AC7}" srcOrd="0" destOrd="0" presId="urn:microsoft.com/office/officeart/2005/8/layout/process1"/>
    <dgm:cxn modelId="{4ED22BAB-5D58-467F-BA05-E655771CC0DB}" type="presParOf" srcId="{58A02B60-B1CB-4D5C-AD9B-EB3314D5B8E2}" destId="{BD0F0E9D-E747-4DB0-944A-8C7D1F06770B}" srcOrd="2" destOrd="0" presId="urn:microsoft.com/office/officeart/2005/8/layout/process1"/>
    <dgm:cxn modelId="{E5C8C692-3D4B-45E6-AE60-DDE4D9F6A54A}" type="presParOf" srcId="{58A02B60-B1CB-4D5C-AD9B-EB3314D5B8E2}" destId="{38C8C8B3-6D67-4777-A142-33625D08B54C}" srcOrd="3" destOrd="0" presId="urn:microsoft.com/office/officeart/2005/8/layout/process1"/>
    <dgm:cxn modelId="{AF6D5314-E067-462F-A007-9255415BF939}" type="presParOf" srcId="{38C8C8B3-6D67-4777-A142-33625D08B54C}" destId="{44272282-7890-4534-A927-F447EE26F567}" srcOrd="0" destOrd="0" presId="urn:microsoft.com/office/officeart/2005/8/layout/process1"/>
    <dgm:cxn modelId="{E106CB2C-1720-417F-A7CF-95D645CF21D9}" type="presParOf" srcId="{58A02B60-B1CB-4D5C-AD9B-EB3314D5B8E2}" destId="{4A67FA9A-0857-440C-8D66-6BD1D1A85671}" srcOrd="4" destOrd="0" presId="urn:microsoft.com/office/officeart/2005/8/layout/process1"/>
    <dgm:cxn modelId="{5DCC2EE9-C81D-44AF-9CED-F8CDA57CA394}" type="presParOf" srcId="{58A02B60-B1CB-4D5C-AD9B-EB3314D5B8E2}" destId="{0EBB4721-4C77-49D1-98FE-64AB257BF717}" srcOrd="5" destOrd="0" presId="urn:microsoft.com/office/officeart/2005/8/layout/process1"/>
    <dgm:cxn modelId="{A5345AD1-4D2F-40AD-8494-A7687B39505C}" type="presParOf" srcId="{0EBB4721-4C77-49D1-98FE-64AB257BF717}" destId="{DE61F73F-ED5E-4246-B7C5-98D145999D7F}" srcOrd="0" destOrd="0" presId="urn:microsoft.com/office/officeart/2005/8/layout/process1"/>
    <dgm:cxn modelId="{96100422-E12C-4970-B07F-175BDA928F35}" type="presParOf" srcId="{58A02B60-B1CB-4D5C-AD9B-EB3314D5B8E2}" destId="{1FE44AEB-33A1-4763-9049-C83D6F60AA50}" srcOrd="6" destOrd="0" presId="urn:microsoft.com/office/officeart/2005/8/layout/process1"/>
    <dgm:cxn modelId="{2EB73109-8566-4874-B2FE-1CC1B899DEFF}" type="presParOf" srcId="{58A02B60-B1CB-4D5C-AD9B-EB3314D5B8E2}" destId="{F6F65DB2-C3FA-4B28-B5E4-7467DA156C6D}" srcOrd="7" destOrd="0" presId="urn:microsoft.com/office/officeart/2005/8/layout/process1"/>
    <dgm:cxn modelId="{0BCF4A8E-6081-4773-8841-31228692F0D4}" type="presParOf" srcId="{F6F65DB2-C3FA-4B28-B5E4-7467DA156C6D}" destId="{AC6F192D-6DB8-4474-A126-F148A5E71F56}" srcOrd="0" destOrd="0" presId="urn:microsoft.com/office/officeart/2005/8/layout/process1"/>
    <dgm:cxn modelId="{72CDF0F7-BFE3-43E0-8F1C-055071C2E4A0}" type="presParOf" srcId="{58A02B60-B1CB-4D5C-AD9B-EB3314D5B8E2}" destId="{EFE0D648-8C7B-42B4-BA55-792B8B019758}" srcOrd="8" destOrd="0" presId="urn:microsoft.com/office/officeart/2005/8/layout/process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11E4B-3DF5-4A6B-86E6-41F6FF193A51}">
      <dsp:nvSpPr>
        <dsp:cNvPr id="0" name=""/>
        <dsp:cNvSpPr/>
      </dsp:nvSpPr>
      <dsp:spPr>
        <a:xfrm>
          <a:off x="5539"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1</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Definición de la población objetivo</a:t>
          </a:r>
        </a:p>
      </dsp:txBody>
      <dsp:txXfrm>
        <a:off x="25535" y="19996"/>
        <a:ext cx="1677395" cy="642738"/>
      </dsp:txXfrm>
    </dsp:sp>
    <dsp:sp modelId="{780A6D60-D483-4FB4-878D-2845761925AB}">
      <dsp:nvSpPr>
        <dsp:cNvPr id="0" name=""/>
        <dsp:cNvSpPr/>
      </dsp:nvSpPr>
      <dsp:spPr>
        <a:xfrm>
          <a:off x="1894666"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1894666" y="213590"/>
        <a:ext cx="254860" cy="255548"/>
      </dsp:txXfrm>
    </dsp:sp>
    <dsp:sp modelId="{BD0F0E9D-E747-4DB0-944A-8C7D1F06770B}">
      <dsp:nvSpPr>
        <dsp:cNvPr id="0" name=""/>
        <dsp:cNvSpPr/>
      </dsp:nvSpPr>
      <dsp:spPr>
        <a:xfrm>
          <a:off x="2409882"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2</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Delimitar a la población</a:t>
          </a:r>
        </a:p>
      </dsp:txBody>
      <dsp:txXfrm>
        <a:off x="2429878" y="19996"/>
        <a:ext cx="1677395" cy="642738"/>
      </dsp:txXfrm>
    </dsp:sp>
    <dsp:sp modelId="{38C8C8B3-6D67-4777-A142-33625D08B54C}">
      <dsp:nvSpPr>
        <dsp:cNvPr id="0" name=""/>
        <dsp:cNvSpPr/>
      </dsp:nvSpPr>
      <dsp:spPr>
        <a:xfrm>
          <a:off x="4299009"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4299009" y="213590"/>
        <a:ext cx="254860" cy="255548"/>
      </dsp:txXfrm>
    </dsp:sp>
    <dsp:sp modelId="{4A67FA9A-0857-440C-8D66-6BD1D1A85671}">
      <dsp:nvSpPr>
        <dsp:cNvPr id="0" name=""/>
        <dsp:cNvSpPr/>
      </dsp:nvSpPr>
      <dsp:spPr>
        <a:xfrm>
          <a:off x="4814225"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3</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Selección de las técnicas de muestreo</a:t>
          </a:r>
        </a:p>
      </dsp:txBody>
      <dsp:txXfrm>
        <a:off x="4834221" y="19996"/>
        <a:ext cx="1677395" cy="642738"/>
      </dsp:txXfrm>
    </dsp:sp>
    <dsp:sp modelId="{0EBB4721-4C77-49D1-98FE-64AB257BF717}">
      <dsp:nvSpPr>
        <dsp:cNvPr id="0" name=""/>
        <dsp:cNvSpPr/>
      </dsp:nvSpPr>
      <dsp:spPr>
        <a:xfrm>
          <a:off x="6703352"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6703352" y="213590"/>
        <a:ext cx="254860" cy="255548"/>
      </dsp:txXfrm>
    </dsp:sp>
    <dsp:sp modelId="{1FE44AEB-33A1-4763-9049-C83D6F60AA50}">
      <dsp:nvSpPr>
        <dsp:cNvPr id="0" name=""/>
        <dsp:cNvSpPr/>
      </dsp:nvSpPr>
      <dsp:spPr>
        <a:xfrm>
          <a:off x="7218568" y="0"/>
          <a:ext cx="1717387" cy="682730"/>
        </a:xfrm>
        <a:prstGeom prst="roundRect">
          <a:avLst>
            <a:gd name="adj" fmla="val 10000"/>
          </a:avLst>
        </a:prstGeom>
        <a:solidFill>
          <a:srgbClr val="FFC000"/>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4</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Determinación del tamaño de la muestra</a:t>
          </a:r>
        </a:p>
      </dsp:txBody>
      <dsp:txXfrm>
        <a:off x="7238564" y="19996"/>
        <a:ext cx="1677395" cy="642738"/>
      </dsp:txXfrm>
    </dsp:sp>
    <dsp:sp modelId="{F6F65DB2-C3FA-4B28-B5E4-7467DA156C6D}">
      <dsp:nvSpPr>
        <dsp:cNvPr id="0" name=""/>
        <dsp:cNvSpPr/>
      </dsp:nvSpPr>
      <dsp:spPr>
        <a:xfrm>
          <a:off x="9107694" y="128408"/>
          <a:ext cx="364086" cy="4259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MX" sz="1000" kern="1200">
            <a:latin typeface="Times New Roman" panose="02020603050405020304" pitchFamily="18" charset="0"/>
            <a:cs typeface="Times New Roman" panose="02020603050405020304" pitchFamily="18" charset="0"/>
          </a:endParaRPr>
        </a:p>
      </dsp:txBody>
      <dsp:txXfrm>
        <a:off x="9107694" y="213590"/>
        <a:ext cx="254860" cy="255548"/>
      </dsp:txXfrm>
    </dsp:sp>
    <dsp:sp modelId="{EFE0D648-8C7B-42B4-BA55-792B8B019758}">
      <dsp:nvSpPr>
        <dsp:cNvPr id="0" name=""/>
        <dsp:cNvSpPr/>
      </dsp:nvSpPr>
      <dsp:spPr>
        <a:xfrm>
          <a:off x="9622911" y="0"/>
          <a:ext cx="1717387" cy="682730"/>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Times New Roman" panose="02020603050405020304" pitchFamily="18" charset="0"/>
              <a:cs typeface="Times New Roman" panose="02020603050405020304" pitchFamily="18" charset="0"/>
            </a:rPr>
            <a:t>ETAPA 5</a:t>
          </a:r>
        </a:p>
        <a:p>
          <a:pPr marL="0" lvl="0" indent="0" algn="ctr" defTabSz="533400">
            <a:lnSpc>
              <a:spcPct val="90000"/>
            </a:lnSpc>
            <a:spcBef>
              <a:spcPct val="0"/>
            </a:spcBef>
            <a:spcAft>
              <a:spcPct val="35000"/>
            </a:spcAft>
            <a:buNone/>
          </a:pPr>
          <a:r>
            <a:rPr lang="es-MX" sz="1200" kern="1200" dirty="0">
              <a:latin typeface="Times New Roman" panose="02020603050405020304" pitchFamily="18" charset="0"/>
              <a:cs typeface="Times New Roman" panose="02020603050405020304" pitchFamily="18" charset="0"/>
            </a:rPr>
            <a:t>Ejecución del proceso de muestreo</a:t>
          </a:r>
        </a:p>
      </dsp:txBody>
      <dsp:txXfrm>
        <a:off x="9642907" y="19996"/>
        <a:ext cx="1677395" cy="64273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7149A3-7884-48F4-A595-C6E70909320A}" type="datetimeFigureOut">
              <a:rPr lang="es-MX" smtClean="0"/>
              <a:t>21/08/2024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5CD9CE-EB9F-4F76-A33E-D52452DD4BEF}" type="slidenum">
              <a:rPr lang="es-MX" smtClean="0"/>
              <a:t>‹Nº›</a:t>
            </a:fld>
            <a:endParaRPr lang="es-MX"/>
          </a:p>
        </p:txBody>
      </p:sp>
    </p:spTree>
    <p:extLst>
      <p:ext uri="{BB962C8B-B14F-4D97-AF65-F5344CB8AC3E}">
        <p14:creationId xmlns:p14="http://schemas.microsoft.com/office/powerpoint/2010/main" val="2924972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7081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0695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0784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641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2149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2097707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1535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26535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829230751"/>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14911683"/>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59159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168592718"/>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7110477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4321457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805199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8393897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2418772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9526983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881125449"/>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 de agosto de 2024</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4067397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6.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7.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0.png"/><Relationship Id="rId7" Type="http://schemas.openxmlformats.org/officeDocument/2006/relationships/diagramQuickStyle" Target="../diagrams/quickStyle4.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41.pn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42.png"/><Relationship Id="rId7" Type="http://schemas.openxmlformats.org/officeDocument/2006/relationships/diagramQuickStyle" Target="../diagrams/quickStyle5.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png"/><Relationship Id="rId9" Type="http://schemas.microsoft.com/office/2007/relationships/diagramDrawing" Target="../diagrams/drawin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4903304" y="2116182"/>
            <a:ext cx="6955321" cy="1514019"/>
          </a:xfrm>
        </p:spPr>
        <p:txBody>
          <a:bodyPr rtlCol="0"/>
          <a:lstStyle/>
          <a:p>
            <a:pPr algn="ctr"/>
            <a:r>
              <a:rPr lang="es-ES" sz="4400" dirty="0">
                <a:latin typeface="Times New Roman" panose="02020603050405020304" pitchFamily="18" charset="0"/>
                <a:cs typeface="Times New Roman" panose="02020603050405020304" pitchFamily="18" charset="0"/>
              </a:rPr>
              <a:t>Sesión 8: </a:t>
            </a:r>
            <a:r>
              <a:rPr lang="es-MX" sz="4400" dirty="0">
                <a:latin typeface="Times New Roman" panose="02020603050405020304" pitchFamily="18" charset="0"/>
                <a:cs typeface="Times New Roman" panose="02020603050405020304" pitchFamily="18" charset="0"/>
              </a:rPr>
              <a:t>Tamaño de la muestra para proporciones</a:t>
            </a:r>
            <a:endParaRPr lang="es-ES" sz="4400" dirty="0">
              <a:latin typeface="Times New Roman" panose="02020603050405020304" pitchFamily="18" charset="0"/>
              <a:cs typeface="Times New Roman" panose="02020603050405020304" pitchFamily="18" charset="0"/>
            </a:endParaRP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Times New Roman" panose="02020603050405020304" pitchFamily="18" charset="0"/>
                <a:cs typeface="Times New Roman" panose="02020603050405020304" pitchFamily="18" charset="0"/>
              </a:rPr>
              <a:t>Mtro. David Nexticapan Cortes</a:t>
            </a:r>
          </a:p>
          <a:p>
            <a:pPr rtl="0"/>
            <a:endParaRPr lang="es-E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510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Determinación del tamaño muestral</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9770239" cy="584775"/>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 que se requiere reunir datos muestrales con el objetivo de estimar alguna proporción de la población. ¿Cómo sabemos </a:t>
            </a:r>
            <a:r>
              <a:rPr kumimoji="0" lang="es-MX" sz="16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cuántos</a:t>
            </a: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elementos muestrales deben obtenerse?</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B4E08495-5E3B-956C-0C42-FDD4190CA97A}"/>
                  </a:ext>
                </a:extLst>
              </p:cNvPr>
              <p:cNvSpPr txBox="1"/>
              <p:nvPr/>
            </p:nvSpPr>
            <p:spPr>
              <a:xfrm>
                <a:off x="964021" y="3001054"/>
                <a:ext cx="9770239" cy="2210605"/>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Utilizando la fórmula para el margen de error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luego despejando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obtenemos la fórmula para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rad>
                        <m:radPr>
                          <m:degHide m:val="on"/>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radPr>
                        <m:deg/>
                        <m:e>
                          <m:f>
                            <m:f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𝑞</m:t>
                                  </m:r>
                                </m:e>
                              </m:acc>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den>
                          </m:f>
                        </m:e>
                      </m:rad>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𝑒𝑛𝑡𝑜𝑛𝑐𝑒𝑠</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d>
                        <m:dPr>
                          <m:begChr m:val="{"/>
                          <m:end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m>
                            <m:mPr>
                              <m:mcs>
                                <m:mc>
                                  <m:mcPr>
                                    <m:count m:val="1"/>
                                    <m:mcJc m:val="center"/>
                                  </m:mcPr>
                                </m:mc>
                              </m:mcs>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mPr>
                            <m:m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m:t>
                                </m:r>
                                <m:f>
                                  <m:f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d>
                                          <m:d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e>
                                        </m:d>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𝑞</m:t>
                                        </m:r>
                                      </m:e>
                                    </m:acc>
                                  </m:num>
                                  <m:den>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𝐸</m:t>
                                        </m:r>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den>
                                </m:f>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𝑐𝑢𝑎𝑛𝑑𝑜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𝑠𝑒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𝑐𝑜𝑛𝑜𝑐𝑒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𝑢𝑛</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𝑒𝑠𝑡𝑖𝑚𝑎𝑑𝑜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e>
                            </m:mr>
                            <m:m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m:t>
                                </m:r>
                                <m:f>
                                  <m:f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d>
                                          <m:d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e>
                                        </m:d>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0.25</m:t>
                                    </m:r>
                                  </m:num>
                                  <m:den>
                                    <m:sSup>
                                      <m:sSupPr>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𝐸</m:t>
                                        </m:r>
                                      </m:e>
                                      <m:sup>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den>
                                </m:f>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𝑐𝑢𝑎𝑛𝑑𝑜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𝑛𝑜</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𝑠𝑒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𝑐𝑜𝑛𝑜𝑐𝑒</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𝑢𝑛</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𝑒𝑠𝑡𝑖𝑚𝑎𝑑𝑜</m:t>
                                </m:r>
                                <m:acc>
                                  <m:accPr>
                                    <m:chr m:val="̂"/>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e>
                            </m:mr>
                          </m:m>
                        </m:e>
                      </m:d>
                    </m:oMath>
                  </m:oMathPara>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B4E08495-5E3B-956C-0C42-FDD4190CA97A}"/>
                  </a:ext>
                </a:extLst>
              </p:cNvPr>
              <p:cNvSpPr txBox="1">
                <a:spLocks noRot="1" noChangeAspect="1" noMove="1" noResize="1" noEditPoints="1" noAdjustHandles="1" noChangeArrowheads="1" noChangeShapeType="1" noTextEdit="1"/>
              </p:cNvSpPr>
              <p:nvPr/>
            </p:nvSpPr>
            <p:spPr>
              <a:xfrm>
                <a:off x="964021" y="3001054"/>
                <a:ext cx="9770239" cy="2210605"/>
              </a:xfrm>
              <a:prstGeom prst="rect">
                <a:avLst/>
              </a:prstGeom>
              <a:blipFill>
                <a:blip r:embed="rId3"/>
                <a:stretch>
                  <a:fillRect l="-312" t="-1096"/>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D47C08C-6F29-5631-9EAF-0138521F3451}"/>
                  </a:ext>
                </a:extLst>
              </p:cNvPr>
              <p:cNvSpPr txBox="1"/>
              <p:nvPr/>
            </p:nvSpPr>
            <p:spPr>
              <a:xfrm>
                <a:off x="964021" y="5461069"/>
                <a:ext cx="9770239" cy="830997"/>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Utilice la primera fórmula cuando se puedan hacer estimaciones razonables de </a:t>
                </a:r>
                <a14:m>
                  <m:oMath xmlns:m="http://schemas.openxmlformats.org/officeDocument/2006/math">
                    <m:acc>
                      <m:accPr>
                        <m:chr m:val="̂"/>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usando muestras previas, un estudio piloto o el conocimiento experto de alguna persona. Cuando esto no sea posible, utilice la segunda fórmula. </a:t>
                </a:r>
              </a:p>
            </p:txBody>
          </p:sp>
        </mc:Choice>
        <mc:Fallback xmlns="">
          <p:sp>
            <p:nvSpPr>
              <p:cNvPr id="7" name="CuadroTexto 6">
                <a:extLst>
                  <a:ext uri="{FF2B5EF4-FFF2-40B4-BE49-F238E27FC236}">
                    <a16:creationId xmlns:a16="http://schemas.microsoft.com/office/drawing/2014/main" id="{DD47C08C-6F29-5631-9EAF-0138521F3451}"/>
                  </a:ext>
                </a:extLst>
              </p:cNvPr>
              <p:cNvSpPr txBox="1">
                <a:spLocks noRot="1" noChangeAspect="1" noMove="1" noResize="1" noEditPoints="1" noAdjustHandles="1" noChangeArrowheads="1" noChangeShapeType="1" noTextEdit="1"/>
              </p:cNvSpPr>
              <p:nvPr/>
            </p:nvSpPr>
            <p:spPr>
              <a:xfrm>
                <a:off x="964021" y="5461069"/>
                <a:ext cx="9770239" cy="830997"/>
              </a:xfrm>
              <a:prstGeom prst="rect">
                <a:avLst/>
              </a:prstGeom>
              <a:blipFill>
                <a:blip r:embed="rId4"/>
                <a:stretch>
                  <a:fillRect l="-187" t="-1449" r="-312" b="-7971"/>
                </a:stretch>
              </a:blipFill>
              <a:ln>
                <a:solidFill>
                  <a:schemeClr val="tx1">
                    <a:lumMod val="85000"/>
                  </a:schemeClr>
                </a:solidFill>
              </a:ln>
            </p:spPr>
            <p:txBody>
              <a:bodyPr/>
              <a:lstStyle/>
              <a:p>
                <a:r>
                  <a:rPr lang="es-MX">
                    <a:noFill/>
                  </a:rPr>
                  <a:t> </a:t>
                </a:r>
              </a:p>
            </p:txBody>
          </p:sp>
        </mc:Fallback>
      </mc:AlternateContent>
      <p:graphicFrame>
        <p:nvGraphicFramePr>
          <p:cNvPr id="17" name="Diagrama 16">
            <a:extLst>
              <a:ext uri="{FF2B5EF4-FFF2-40B4-BE49-F238E27FC236}">
                <a16:creationId xmlns:a16="http://schemas.microsoft.com/office/drawing/2014/main" id="{49D56C8A-5630-A062-5F81-51652E33471F}"/>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1892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circle(in)">
                                      <p:cBhvr>
                                        <p:cTn id="1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1</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5503038" cy="4278094"/>
          </a:xfrm>
          <a:prstGeom prst="rect">
            <a:avLst/>
          </a:prstGeom>
          <a:noFill/>
          <a:ln>
            <a:solidFill>
              <a:schemeClr val="tx1">
                <a:lumMod val="85000"/>
              </a:schemeClr>
            </a:solidFill>
          </a:ln>
        </p:spPr>
        <p:txBody>
          <a:bodyPr wrap="square" rtlCol="0">
            <a:spAutoFit/>
          </a:bodyPr>
          <a:lstStyle/>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Un equipo de investigadores está llevando a cabo un estudio para determinar la proporción de pacientes con diabetes tipo 2 que logran controlar su nivel de glucosa en sangre dentro de los límites recomendados mediante un nuevo enfoque de tratamiento dietético. </a:t>
            </a:r>
          </a:p>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Para ello, necesitan calcular el tamaño de la muestra necesario. ¿Cuántos pacientes con diabetes tipo 2 seleccionados al azar deben incluir en el estudio para obtener una estimación precisa de la proporción de pacientes que logran controlar su glucosa en sangre con este nuevo enfoque? </a:t>
            </a:r>
          </a:p>
          <a:p>
            <a:pPr marL="285750" lvl="0" indent="-285750" algn="just">
              <a:buFont typeface="Arial" panose="020B0604020202020204" pitchFamily="34" charset="0"/>
              <a:buChar char="•"/>
              <a:defRPr/>
            </a:pPr>
            <a:r>
              <a:rPr lang="es-MX" sz="1600" dirty="0">
                <a:solidFill>
                  <a:prstClr val="black"/>
                </a:solidFill>
                <a:latin typeface="Times New Roman" panose="02020603050405020304" pitchFamily="18" charset="0"/>
                <a:cs typeface="Times New Roman" panose="02020603050405020304" pitchFamily="18" charset="0"/>
              </a:rPr>
              <a:t>Supongamos que los investigadores desean tener una confianza del 95% de que el porcentaje obtenido en la muestra esté dentro de dos puntos porcentuales del porcentaje real de pacientes que logran controlar su glucosa en sangre en la población de pacientes con diabetes tipo 2 en general.</a:t>
            </a:r>
            <a:endParaRPr kumimoji="0" lang="es-MX"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761875854"/>
                  </p:ext>
                </p:extLst>
              </p:nvPr>
            </p:nvGraphicFramePr>
            <p:xfrm>
              <a:off x="6467061" y="3179343"/>
              <a:ext cx="5420138" cy="2292626"/>
            </p:xfrm>
            <a:graphic>
              <a:graphicData uri="http://schemas.openxmlformats.org/drawingml/2006/table">
                <a:tbl>
                  <a:tblPr firstRow="1" bandRow="1">
                    <a:tableStyleId>{B301B821-A1FF-4177-AEE7-76D212191A09}</a:tableStyleId>
                  </a:tblPr>
                  <a:tblGrid>
                    <a:gridCol w="1974573">
                      <a:extLst>
                        <a:ext uri="{9D8B030D-6E8A-4147-A177-3AD203B41FA5}">
                          <a16:colId xmlns:a16="http://schemas.microsoft.com/office/drawing/2014/main" val="3666898410"/>
                        </a:ext>
                      </a:extLst>
                    </a:gridCol>
                    <a:gridCol w="3445565">
                      <a:extLst>
                        <a:ext uri="{9D8B030D-6E8A-4147-A177-3AD203B41FA5}">
                          <a16:colId xmlns:a16="http://schemas.microsoft.com/office/drawing/2014/main" val="1384386878"/>
                        </a:ext>
                      </a:extLst>
                    </a:gridCol>
                  </a:tblGrid>
                  <a:tr h="418995">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1873631">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=1−0.5=0.5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=0.02</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∙0.25</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m:t>
                                        </m:r>
                                        <m:r>
                                          <a:rPr lang="es-MX" b="0" i="1" smtClean="0">
                                            <a:latin typeface="Cambria Math" panose="02040503050406030204" pitchFamily="18" charset="0"/>
                                          </a:rPr>
                                          <m:t>2</m:t>
                                        </m:r>
                                      </m:e>
                                      <m:sup>
                                        <m:r>
                                          <a:rPr lang="es-MX" b="0" smtClean="0">
                                            <a:latin typeface="Cambria Math" panose="02040503050406030204" pitchFamily="18" charset="0"/>
                                          </a:rPr>
                                          <m:t>2</m:t>
                                        </m:r>
                                      </m:sup>
                                    </m:sSup>
                                  </m:den>
                                </m:f>
                                <m:r>
                                  <a:rPr lang="es-MX" b="0" smtClean="0">
                                    <a:latin typeface="Cambria Math" panose="02040503050406030204" pitchFamily="18" charset="0"/>
                                  </a:rPr>
                                  <m:t>=</m:t>
                                </m:r>
                                <m:r>
                                  <a:rPr lang="es-MX" b="0" i="0" smtClean="0">
                                    <a:latin typeface="Cambria Math" panose="02040503050406030204" pitchFamily="18" charset="0"/>
                                  </a:rPr>
                                  <m:t>2,401</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2,401 pacientes con diabetes tipo 2.</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84CC5829-FC5B-C602-4A68-1683FBBC84DD}"/>
                  </a:ext>
                </a:extLst>
              </p:cNvPr>
              <p:cNvGraphicFramePr>
                <a:graphicFrameLocks noGrp="1"/>
              </p:cNvGraphicFramePr>
              <p:nvPr>
                <p:extLst>
                  <p:ext uri="{D42A27DB-BD31-4B8C-83A1-F6EECF244321}">
                    <p14:modId xmlns:p14="http://schemas.microsoft.com/office/powerpoint/2010/main" val="2761875854"/>
                  </p:ext>
                </p:extLst>
              </p:nvPr>
            </p:nvGraphicFramePr>
            <p:xfrm>
              <a:off x="6467061" y="3179343"/>
              <a:ext cx="5420138" cy="2292626"/>
            </p:xfrm>
            <a:graphic>
              <a:graphicData uri="http://schemas.openxmlformats.org/drawingml/2006/table">
                <a:tbl>
                  <a:tblPr firstRow="1" bandRow="1">
                    <a:tableStyleId>{B301B821-A1FF-4177-AEE7-76D212191A09}</a:tableStyleId>
                  </a:tblPr>
                  <a:tblGrid>
                    <a:gridCol w="1974573">
                      <a:extLst>
                        <a:ext uri="{9D8B030D-6E8A-4147-A177-3AD203B41FA5}">
                          <a16:colId xmlns:a16="http://schemas.microsoft.com/office/drawing/2014/main" val="3666898410"/>
                        </a:ext>
                      </a:extLst>
                    </a:gridCol>
                    <a:gridCol w="3445565">
                      <a:extLst>
                        <a:ext uri="{9D8B030D-6E8A-4147-A177-3AD203B41FA5}">
                          <a16:colId xmlns:a16="http://schemas.microsoft.com/office/drawing/2014/main" val="1384386878"/>
                        </a:ext>
                      </a:extLst>
                    </a:gridCol>
                  </a:tblGrid>
                  <a:tr h="418995">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a:t>
                          </a:r>
                        </a:p>
                      </a:txBody>
                      <a:tcPr/>
                    </a:tc>
                    <a:extLst>
                      <a:ext uri="{0D108BD9-81ED-4DB2-BD59-A6C34878D82A}">
                        <a16:rowId xmlns:a16="http://schemas.microsoft.com/office/drawing/2014/main" val="3484769395"/>
                      </a:ext>
                    </a:extLst>
                  </a:tr>
                  <a:tr h="1873631">
                    <a:tc>
                      <a:txBody>
                        <a:bodyPr/>
                        <a:lstStyle/>
                        <a:p>
                          <a:endParaRPr lang="es-MX"/>
                        </a:p>
                      </a:txBody>
                      <a:tcPr>
                        <a:blipFill>
                          <a:blip r:embed="rId3"/>
                          <a:stretch>
                            <a:fillRect l="-309" t="-24026" r="-175617" b="-649"/>
                          </a:stretch>
                        </a:blipFill>
                      </a:tcPr>
                    </a:tc>
                    <a:tc>
                      <a:txBody>
                        <a:bodyPr/>
                        <a:lstStyle/>
                        <a:p>
                          <a:endParaRPr lang="es-MX"/>
                        </a:p>
                      </a:txBody>
                      <a:tcPr>
                        <a:blipFill>
                          <a:blip r:embed="rId3"/>
                          <a:stretch>
                            <a:fillRect l="-57420" t="-24026" r="-530" b="-649"/>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6" name="Diagrama 15">
            <a:extLst>
              <a:ext uri="{FF2B5EF4-FFF2-40B4-BE49-F238E27FC236}">
                <a16:creationId xmlns:a16="http://schemas.microsoft.com/office/drawing/2014/main" id="{BDB5B9CF-322B-FFDA-160E-3E5943671EF3}"/>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818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2</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2862322"/>
              </a:xfrm>
              <a:prstGeom prst="rect">
                <a:avLst/>
              </a:prstGeom>
              <a:noFill/>
              <a:ln>
                <a:solidFill>
                  <a:schemeClr val="tx1">
                    <a:lumMod val="85000"/>
                  </a:schemeClr>
                </a:solidFill>
              </a:ln>
            </p:spPr>
            <p:txBody>
              <a:bodyPr wrap="square" rtlCol="0">
                <a:spAutoFit/>
              </a:bodyPr>
              <a:lstStyle/>
              <a:p>
                <a:pPr marL="285750" lvl="0" indent="-285750" algn="just">
                  <a:buFont typeface="Arial" panose="020B0604020202020204" pitchFamily="34" charset="0"/>
                  <a:buChar char="•"/>
                  <a:defRPr/>
                </a:pPr>
                <a:r>
                  <a:rPr lang="es-MX" dirty="0">
                    <a:solidFill>
                      <a:prstClr val="black"/>
                    </a:solidFill>
                    <a:latin typeface="Times New Roman" panose="02020603050405020304" pitchFamily="18" charset="0"/>
                    <a:cs typeface="Times New Roman" panose="02020603050405020304" pitchFamily="18" charset="0"/>
                  </a:rPr>
                  <a:t>En un mundo cada vez más conectado digitalmente, las formas en que nos comunicamos han experimentado cambios significativos debido al uso de la tecnología. Supongamos que un sociólogo está interesado en determinar el porcentaje actual de hogares en México que utilizan WhatsApp como su principal medio de comunicación. ¿Cuántos hogares deben ser encuestados para tener una confianza del 95% de que el porcentaje obtenido en la muestra no difiere en más de 4 puntos porcentuales del porcentaje real en la población?</a:t>
                </a:r>
              </a:p>
              <a:p>
                <a:pPr lvl="0" algn="just">
                  <a:defRPr/>
                </a:pPr>
                <a:endParaRPr kumimoji="0" lang="es-MX" sz="18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800100" marR="0" lvl="1"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Utilice el siguiente resultado de un estudio piloto: en 2022, el 37% de los mexicanos usaban WhatsApp como medio principal de comunicación. </a:t>
                </a:r>
              </a:p>
              <a:p>
                <a:pPr marL="800100" marR="0" lvl="1"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 que no tenemos información previa que sugiera un posible valor de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𝑝</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2862322"/>
              </a:xfrm>
              <a:prstGeom prst="rect">
                <a:avLst/>
              </a:prstGeom>
              <a:blipFill>
                <a:blip r:embed="rId3"/>
                <a:stretch>
                  <a:fillRect l="-326" t="-1062" r="-522" b="-2335"/>
                </a:stretch>
              </a:blipFill>
              <a:ln>
                <a:solidFill>
                  <a:schemeClr val="tx1">
                    <a:lumMod val="85000"/>
                  </a:schemeClr>
                </a:solidFill>
              </a:ln>
            </p:spPr>
            <p:txBody>
              <a:bodyPr/>
              <a:lstStyle/>
              <a:p>
                <a:r>
                  <a:rPr lang="es-MX">
                    <a:noFill/>
                  </a:rPr>
                  <a:t> </a:t>
                </a:r>
              </a:p>
            </p:txBody>
          </p:sp>
        </mc:Fallback>
      </mc:AlternateContent>
      <p:graphicFrame>
        <p:nvGraphicFramePr>
          <p:cNvPr id="15" name="Diagrama 14">
            <a:extLst>
              <a:ext uri="{FF2B5EF4-FFF2-40B4-BE49-F238E27FC236}">
                <a16:creationId xmlns:a16="http://schemas.microsoft.com/office/drawing/2014/main" id="{7A0A267D-1BB0-C819-5E38-8DCE997B6091}"/>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1008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3000" dirty="0">
                <a:latin typeface="Times New Roman" panose="02020603050405020304" pitchFamily="18" charset="0"/>
                <a:cs typeface="Times New Roman" panose="02020603050405020304" pitchFamily="18" charset="0"/>
              </a:rPr>
              <a:t>Ejemplo 2 (Solución)</a:t>
            </a:r>
          </a:p>
        </p:txBody>
      </p:sp>
      <mc:AlternateContent xmlns:mc="http://schemas.openxmlformats.org/markup-compatibility/2006" xmlns:a14="http://schemas.microsoft.com/office/drawing/2010/main">
        <mc:Choice Requires="a14">
          <p:graphicFrame>
            <p:nvGraphicFramePr>
              <p:cNvPr id="3" name="Tabla 4">
                <a:extLst>
                  <a:ext uri="{FF2B5EF4-FFF2-40B4-BE49-F238E27FC236}">
                    <a16:creationId xmlns:a16="http://schemas.microsoft.com/office/drawing/2014/main" id="{77E9462B-1CF9-B5C2-7E8A-FCC8F9788D01}"/>
                  </a:ext>
                </a:extLst>
              </p:cNvPr>
              <p:cNvGraphicFramePr>
                <a:graphicFrameLocks noGrp="1"/>
              </p:cNvGraphicFramePr>
              <p:nvPr/>
            </p:nvGraphicFramePr>
            <p:xfrm>
              <a:off x="964022" y="4543776"/>
              <a:ext cx="9332916" cy="1996642"/>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b)</a:t>
                          </a:r>
                        </a:p>
                      </a:txBody>
                      <a:tcPr/>
                    </a:tc>
                    <a:extLst>
                      <a:ext uri="{0D108BD9-81ED-4DB2-BD59-A6C34878D82A}">
                        <a16:rowId xmlns:a16="http://schemas.microsoft.com/office/drawing/2014/main" val="3484769395"/>
                      </a:ext>
                    </a:extLst>
                  </a:tr>
                  <a:tr h="531824">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=1−0.5=0.5</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=0.04</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∙0.25</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0.04</m:t>
                                        </m:r>
                                      </m:e>
                                      <m:sup>
                                        <m:r>
                                          <a:rPr lang="es-MX" b="0" smtClean="0">
                                            <a:latin typeface="Cambria Math" panose="02040503050406030204" pitchFamily="18" charset="0"/>
                                          </a:rPr>
                                          <m:t>2</m:t>
                                        </m:r>
                                      </m:sup>
                                    </m:sSup>
                                  </m:den>
                                </m:f>
                                <m:r>
                                  <a:rPr lang="es-MX" b="0" smtClean="0">
                                    <a:latin typeface="Cambria Math" panose="02040503050406030204" pitchFamily="18" charset="0"/>
                                  </a:rPr>
                                  <m:t>=600.25</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601 hogares seleccionados al azar. </a:t>
                          </a:r>
                        </a:p>
                      </a:txBody>
                      <a:tcPr/>
                    </a:tc>
                    <a:extLst>
                      <a:ext uri="{0D108BD9-81ED-4DB2-BD59-A6C34878D82A}">
                        <a16:rowId xmlns:a16="http://schemas.microsoft.com/office/drawing/2014/main" val="1208785535"/>
                      </a:ext>
                    </a:extLst>
                  </a:tr>
                </a:tbl>
              </a:graphicData>
            </a:graphic>
          </p:graphicFrame>
        </mc:Choice>
        <mc:Fallback xmlns="">
          <p:graphicFrame>
            <p:nvGraphicFramePr>
              <p:cNvPr id="3" name="Tabla 4">
                <a:extLst>
                  <a:ext uri="{FF2B5EF4-FFF2-40B4-BE49-F238E27FC236}">
                    <a16:creationId xmlns:a16="http://schemas.microsoft.com/office/drawing/2014/main" id="{77E9462B-1CF9-B5C2-7E8A-FCC8F9788D01}"/>
                  </a:ext>
                </a:extLst>
              </p:cNvPr>
              <p:cNvGraphicFramePr>
                <a:graphicFrameLocks noGrp="1"/>
              </p:cNvGraphicFramePr>
              <p:nvPr>
                <p:extLst>
                  <p:ext uri="{D42A27DB-BD31-4B8C-83A1-F6EECF244321}">
                    <p14:modId xmlns:p14="http://schemas.microsoft.com/office/powerpoint/2010/main" val="833458289"/>
                  </p:ext>
                </p:extLst>
              </p:nvPr>
            </p:nvGraphicFramePr>
            <p:xfrm>
              <a:off x="964022" y="4543776"/>
              <a:ext cx="9332916" cy="2003627"/>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b)</a:t>
                          </a:r>
                        </a:p>
                      </a:txBody>
                      <a:tcPr/>
                    </a:tc>
                    <a:extLst>
                      <a:ext uri="{0D108BD9-81ED-4DB2-BD59-A6C34878D82A}">
                        <a16:rowId xmlns:a16="http://schemas.microsoft.com/office/drawing/2014/main" val="3484769395"/>
                      </a:ext>
                    </a:extLst>
                  </a:tr>
                  <a:tr h="1471803">
                    <a:tc>
                      <a:txBody>
                        <a:bodyPr/>
                        <a:lstStyle/>
                        <a:p>
                          <a:endParaRPr lang="es-MX"/>
                        </a:p>
                      </a:txBody>
                      <a:tcPr>
                        <a:blipFill>
                          <a:blip r:embed="rId3"/>
                          <a:stretch>
                            <a:fillRect l="-246" t="-38430" r="-276904" b="-9504"/>
                          </a:stretch>
                        </a:blipFill>
                      </a:tcPr>
                    </a:tc>
                    <a:tc>
                      <a:txBody>
                        <a:bodyPr/>
                        <a:lstStyle/>
                        <a:p>
                          <a:endParaRPr lang="es-MX"/>
                        </a:p>
                      </a:txBody>
                      <a:tcPr>
                        <a:blipFill>
                          <a:blip r:embed="rId3"/>
                          <a:stretch>
                            <a:fillRect l="-36267" t="-38430" r="-178" b="-9504"/>
                          </a:stretch>
                        </a:blipFill>
                      </a:tcPr>
                    </a:tc>
                    <a:extLst>
                      <a:ext uri="{0D108BD9-81ED-4DB2-BD59-A6C34878D82A}">
                        <a16:rowId xmlns:a16="http://schemas.microsoft.com/office/drawing/2014/main" val="120878553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a 4">
                <a:extLst>
                  <a:ext uri="{FF2B5EF4-FFF2-40B4-BE49-F238E27FC236}">
                    <a16:creationId xmlns:a16="http://schemas.microsoft.com/office/drawing/2014/main" id="{AA3844AB-4CE5-5BD4-21E2-08F5460E650D}"/>
                  </a:ext>
                </a:extLst>
              </p:cNvPr>
              <p:cNvGraphicFramePr>
                <a:graphicFrameLocks noGrp="1"/>
              </p:cNvGraphicFramePr>
              <p:nvPr/>
            </p:nvGraphicFramePr>
            <p:xfrm>
              <a:off x="964022" y="2314224"/>
              <a:ext cx="9332916" cy="1996642"/>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a)</a:t>
                          </a:r>
                        </a:p>
                      </a:txBody>
                      <a:tcPr/>
                    </a:tc>
                    <a:extLst>
                      <a:ext uri="{0D108BD9-81ED-4DB2-BD59-A6C34878D82A}">
                        <a16:rowId xmlns:a16="http://schemas.microsoft.com/office/drawing/2014/main" val="3484769395"/>
                      </a:ext>
                    </a:extLst>
                  </a:tr>
                  <a:tr h="531824">
                    <a:tc>
                      <a:txBody>
                        <a:bodyPr/>
                        <a:lstStyle/>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𝑝</m:t>
                                    </m:r>
                                  </m:e>
                                </m:acc>
                                <m:r>
                                  <a:rPr lang="es-MX" b="0" smtClean="0">
                                    <a:latin typeface="Cambria Math" panose="02040503050406030204" pitchFamily="18" charset="0"/>
                                  </a:rPr>
                                  <m:t>=0.37</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es-MX" i="1" smtClean="0">
                                        <a:latin typeface="Cambria Math" panose="02040503050406030204" pitchFamily="18" charset="0"/>
                                      </a:rPr>
                                    </m:ctrlPr>
                                  </m:accPr>
                                  <m:e>
                                    <m:r>
                                      <a:rPr lang="es-MX" b="0" smtClean="0">
                                        <a:latin typeface="Cambria Math" panose="02040503050406030204" pitchFamily="18" charset="0"/>
                                      </a:rPr>
                                      <m:t>𝑞</m:t>
                                    </m:r>
                                  </m:e>
                                </m:acc>
                                <m:r>
                                  <a:rPr lang="es-MX" b="0" smtClean="0">
                                    <a:latin typeface="Cambria Math" panose="02040503050406030204" pitchFamily="18" charset="0"/>
                                  </a:rPr>
                                  <m:t>=1−0.37=0.63</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s-MX" i="1" smtClean="0">
                                        <a:latin typeface="Cambria Math" panose="02040503050406030204" pitchFamily="18" charset="0"/>
                                      </a:rPr>
                                    </m:ctrlPr>
                                  </m:sSubPr>
                                  <m:e>
                                    <m:r>
                                      <a:rPr lang="es-MX" b="0" smtClean="0">
                                        <a:latin typeface="Cambria Math" panose="02040503050406030204" pitchFamily="18" charset="0"/>
                                      </a:rPr>
                                      <m:t>𝑧</m:t>
                                    </m:r>
                                  </m:e>
                                  <m:sub>
                                    <m:f>
                                      <m:fPr>
                                        <m:type m:val="skw"/>
                                        <m:ctrlPr>
                                          <a:rPr lang="es-MX" i="1" smtClean="0">
                                            <a:latin typeface="Cambria Math" panose="02040503050406030204" pitchFamily="18" charset="0"/>
                                          </a:rPr>
                                        </m:ctrlPr>
                                      </m:fPr>
                                      <m:num>
                                        <m:r>
                                          <a:rPr lang="es-MX" smtClean="0">
                                            <a:latin typeface="Cambria Math" panose="02040503050406030204" pitchFamily="18" charset="0"/>
                                          </a:rPr>
                                          <m:t>𝛼</m:t>
                                        </m:r>
                                      </m:num>
                                      <m:den>
                                        <m:r>
                                          <a:rPr lang="es-MX" b="0" smtClean="0">
                                            <a:latin typeface="Cambria Math" panose="02040503050406030204" pitchFamily="18" charset="0"/>
                                          </a:rPr>
                                          <m:t>2</m:t>
                                        </m:r>
                                      </m:den>
                                    </m:f>
                                  </m:sub>
                                </m:sSub>
                                <m:r>
                                  <a:rPr lang="es-MX" b="0" smtClean="0">
                                    <a:latin typeface="Cambria Math" panose="02040503050406030204" pitchFamily="18" charset="0"/>
                                  </a:rPr>
                                  <m:t>=1.96</m:t>
                                </m:r>
                              </m:oMath>
                            </m:oMathPara>
                          </a14:m>
                          <a:endParaRPr lang="es-MX"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𝐸</m:t>
                                </m:r>
                                <m:r>
                                  <a:rPr lang="es-MX" b="0" smtClean="0">
                                    <a:latin typeface="Cambria Math" panose="02040503050406030204" pitchFamily="18" charset="0"/>
                                  </a:rPr>
                                  <m:t>=0.04</m:t>
                                </m:r>
                              </m:oMath>
                            </m:oMathPara>
                          </a14:m>
                          <a:endParaRPr lang="es-MX"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b="0" smtClean="0">
                                    <a:latin typeface="Cambria Math" panose="02040503050406030204" pitchFamily="18" charset="0"/>
                                  </a:rPr>
                                  <m:t>𝑛</m:t>
                                </m:r>
                                <m:r>
                                  <a:rPr lang="es-MX" b="0" smtClean="0">
                                    <a:latin typeface="Cambria Math" panose="02040503050406030204" pitchFamily="18" charset="0"/>
                                  </a:rPr>
                                  <m:t>=</m:t>
                                </m:r>
                                <m:f>
                                  <m:fPr>
                                    <m:ctrlPr>
                                      <a:rPr lang="es-MX" b="0" i="1" smtClean="0">
                                        <a:latin typeface="Cambria Math" panose="02040503050406030204" pitchFamily="18" charset="0"/>
                                      </a:rPr>
                                    </m:ctrlPr>
                                  </m:fPr>
                                  <m:num>
                                    <m:sSup>
                                      <m:sSupPr>
                                        <m:ctrlPr>
                                          <a:rPr lang="es-MX" b="0" i="1" smtClean="0">
                                            <a:latin typeface="Cambria Math" panose="02040503050406030204" pitchFamily="18" charset="0"/>
                                          </a:rPr>
                                        </m:ctrlPr>
                                      </m:sSupPr>
                                      <m:e>
                                        <m:r>
                                          <a:rPr lang="es-MX" b="0" smtClean="0">
                                            <a:latin typeface="Cambria Math" panose="02040503050406030204" pitchFamily="18" charset="0"/>
                                          </a:rPr>
                                          <m:t>1.96</m:t>
                                        </m:r>
                                      </m:e>
                                      <m:sup>
                                        <m:r>
                                          <a:rPr lang="es-MX" b="0" smtClean="0">
                                            <a:latin typeface="Cambria Math" panose="02040503050406030204" pitchFamily="18" charset="0"/>
                                          </a:rPr>
                                          <m:t>2</m:t>
                                        </m:r>
                                      </m:sup>
                                    </m:sSup>
                                    <m:r>
                                      <a:rPr lang="es-MX" b="0" smtClean="0">
                                        <a:latin typeface="Cambria Math" panose="02040503050406030204" pitchFamily="18" charset="0"/>
                                      </a:rPr>
                                      <m:t>∙0.37∙0.63</m:t>
                                    </m:r>
                                  </m:num>
                                  <m:den>
                                    <m:sSup>
                                      <m:sSupPr>
                                        <m:ctrlPr>
                                          <a:rPr lang="es-MX" b="0" i="1" smtClean="0">
                                            <a:latin typeface="Cambria Math" panose="02040503050406030204" pitchFamily="18" charset="0"/>
                                          </a:rPr>
                                        </m:ctrlPr>
                                      </m:sSupPr>
                                      <m:e>
                                        <m:r>
                                          <a:rPr lang="es-MX" b="0" smtClean="0">
                                            <a:latin typeface="Cambria Math" panose="02040503050406030204" pitchFamily="18" charset="0"/>
                                          </a:rPr>
                                          <m:t>0.04</m:t>
                                        </m:r>
                                      </m:e>
                                      <m:sup>
                                        <m:r>
                                          <a:rPr lang="es-MX" b="0" smtClean="0">
                                            <a:latin typeface="Cambria Math" panose="02040503050406030204" pitchFamily="18" charset="0"/>
                                          </a:rPr>
                                          <m:t>2</m:t>
                                        </m:r>
                                      </m:sup>
                                    </m:sSup>
                                  </m:den>
                                </m:f>
                                <m:r>
                                  <a:rPr lang="es-MX" b="0" smtClean="0">
                                    <a:latin typeface="Cambria Math" panose="02040503050406030204" pitchFamily="18" charset="0"/>
                                  </a:rPr>
                                  <m:t>=559.6</m:t>
                                </m:r>
                              </m:oMath>
                            </m:oMathPara>
                          </a14:m>
                          <a:endParaRPr lang="es-MX" dirty="0">
                            <a:latin typeface="Times New Roman" panose="02020603050405020304" pitchFamily="18" charset="0"/>
                            <a:cs typeface="Times New Roman" panose="02020603050405020304" pitchFamily="18" charset="0"/>
                          </a:endParaRPr>
                        </a:p>
                        <a:p>
                          <a:pPr algn="just"/>
                          <a:endParaRPr lang="es-MX" dirty="0">
                            <a:latin typeface="Times New Roman" panose="02020603050405020304" pitchFamily="18" charset="0"/>
                            <a:cs typeface="Times New Roman" panose="02020603050405020304" pitchFamily="18" charset="0"/>
                          </a:endParaRPr>
                        </a:p>
                        <a:p>
                          <a:pPr algn="ctr"/>
                          <a:r>
                            <a:rPr lang="es-MX" dirty="0">
                              <a:latin typeface="Times New Roman" panose="02020603050405020304" pitchFamily="18" charset="0"/>
                              <a:cs typeface="Times New Roman" panose="02020603050405020304" pitchFamily="18" charset="0"/>
                            </a:rPr>
                            <a:t>Por lo tanto, se necesita una muestra de 560 hogares seleccionados al azar. </a:t>
                          </a:r>
                        </a:p>
                      </a:txBody>
                      <a:tcPr/>
                    </a:tc>
                    <a:extLst>
                      <a:ext uri="{0D108BD9-81ED-4DB2-BD59-A6C34878D82A}">
                        <a16:rowId xmlns:a16="http://schemas.microsoft.com/office/drawing/2014/main" val="1208785535"/>
                      </a:ext>
                    </a:extLst>
                  </a:tr>
                </a:tbl>
              </a:graphicData>
            </a:graphic>
          </p:graphicFrame>
        </mc:Choice>
        <mc:Fallback xmlns="">
          <p:graphicFrame>
            <p:nvGraphicFramePr>
              <p:cNvPr id="4" name="Tabla 4">
                <a:extLst>
                  <a:ext uri="{FF2B5EF4-FFF2-40B4-BE49-F238E27FC236}">
                    <a16:creationId xmlns:a16="http://schemas.microsoft.com/office/drawing/2014/main" id="{AA3844AB-4CE5-5BD4-21E2-08F5460E650D}"/>
                  </a:ext>
                </a:extLst>
              </p:cNvPr>
              <p:cNvGraphicFramePr>
                <a:graphicFrameLocks noGrp="1"/>
              </p:cNvGraphicFramePr>
              <p:nvPr>
                <p:extLst>
                  <p:ext uri="{D42A27DB-BD31-4B8C-83A1-F6EECF244321}">
                    <p14:modId xmlns:p14="http://schemas.microsoft.com/office/powerpoint/2010/main" val="4124287222"/>
                  </p:ext>
                </p:extLst>
              </p:nvPr>
            </p:nvGraphicFramePr>
            <p:xfrm>
              <a:off x="964022" y="2314224"/>
              <a:ext cx="9332916" cy="2003627"/>
            </p:xfrm>
            <a:graphic>
              <a:graphicData uri="http://schemas.openxmlformats.org/drawingml/2006/table">
                <a:tbl>
                  <a:tblPr firstRow="1" bandRow="1">
                    <a:tableStyleId>{B301B821-A1FF-4177-AEE7-76D212191A09}</a:tableStyleId>
                  </a:tblPr>
                  <a:tblGrid>
                    <a:gridCol w="2478425">
                      <a:extLst>
                        <a:ext uri="{9D8B030D-6E8A-4147-A177-3AD203B41FA5}">
                          <a16:colId xmlns:a16="http://schemas.microsoft.com/office/drawing/2014/main" val="3666898410"/>
                        </a:ext>
                      </a:extLst>
                    </a:gridCol>
                    <a:gridCol w="6854491">
                      <a:extLst>
                        <a:ext uri="{9D8B030D-6E8A-4147-A177-3AD203B41FA5}">
                          <a16:colId xmlns:a16="http://schemas.microsoft.com/office/drawing/2014/main" val="1384386878"/>
                        </a:ext>
                      </a:extLst>
                    </a:gridCol>
                  </a:tblGrid>
                  <a:tr h="531824">
                    <a:tc>
                      <a:txBody>
                        <a:bodyPr/>
                        <a:lstStyle/>
                        <a:p>
                          <a:pPr algn="ctr"/>
                          <a:r>
                            <a:rPr lang="es-MX" dirty="0">
                              <a:latin typeface="Times New Roman" panose="02020603050405020304" pitchFamily="18" charset="0"/>
                              <a:cs typeface="Times New Roman" panose="02020603050405020304" pitchFamily="18" charset="0"/>
                            </a:rPr>
                            <a:t>Datos</a:t>
                          </a:r>
                        </a:p>
                      </a:txBody>
                      <a:tcPr/>
                    </a:tc>
                    <a:tc>
                      <a:txBody>
                        <a:bodyPr/>
                        <a:lstStyle/>
                        <a:p>
                          <a:pPr algn="ctr"/>
                          <a:r>
                            <a:rPr lang="es-MX" dirty="0">
                              <a:latin typeface="Times New Roman" panose="02020603050405020304" pitchFamily="18" charset="0"/>
                              <a:cs typeface="Times New Roman" panose="02020603050405020304" pitchFamily="18" charset="0"/>
                            </a:rPr>
                            <a:t>Solución a)</a:t>
                          </a:r>
                        </a:p>
                      </a:txBody>
                      <a:tcPr/>
                    </a:tc>
                    <a:extLst>
                      <a:ext uri="{0D108BD9-81ED-4DB2-BD59-A6C34878D82A}">
                        <a16:rowId xmlns:a16="http://schemas.microsoft.com/office/drawing/2014/main" val="3484769395"/>
                      </a:ext>
                    </a:extLst>
                  </a:tr>
                  <a:tr h="1471803">
                    <a:tc>
                      <a:txBody>
                        <a:bodyPr/>
                        <a:lstStyle/>
                        <a:p>
                          <a:endParaRPr lang="es-MX"/>
                        </a:p>
                      </a:txBody>
                      <a:tcPr>
                        <a:blipFill>
                          <a:blip r:embed="rId4"/>
                          <a:stretch>
                            <a:fillRect l="-246" t="-38430" r="-276904" b="-9504"/>
                          </a:stretch>
                        </a:blipFill>
                      </a:tcPr>
                    </a:tc>
                    <a:tc>
                      <a:txBody>
                        <a:bodyPr/>
                        <a:lstStyle/>
                        <a:p>
                          <a:endParaRPr lang="es-MX"/>
                        </a:p>
                      </a:txBody>
                      <a:tcPr>
                        <a:blipFill>
                          <a:blip r:embed="rId4"/>
                          <a:stretch>
                            <a:fillRect l="-36267" t="-38430" r="-178" b="-9504"/>
                          </a:stretch>
                        </a:blipFill>
                      </a:tcPr>
                    </a:tc>
                    <a:extLst>
                      <a:ext uri="{0D108BD9-81ED-4DB2-BD59-A6C34878D82A}">
                        <a16:rowId xmlns:a16="http://schemas.microsoft.com/office/drawing/2014/main" val="1208785535"/>
                      </a:ext>
                    </a:extLst>
                  </a:tr>
                </a:tbl>
              </a:graphicData>
            </a:graphic>
          </p:graphicFrame>
        </mc:Fallback>
      </mc:AlternateContent>
      <p:graphicFrame>
        <p:nvGraphicFramePr>
          <p:cNvPr id="17" name="Diagrama 16">
            <a:extLst>
              <a:ext uri="{FF2B5EF4-FFF2-40B4-BE49-F238E27FC236}">
                <a16:creationId xmlns:a16="http://schemas.microsoft.com/office/drawing/2014/main" id="{D9393244-3BC2-B482-7D31-BAA5BE491816}"/>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87448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9770238" cy="610863"/>
          </a:xfrm>
        </p:spPr>
        <p:txBody>
          <a:bodyPr rtlCol="0">
            <a:noAutofit/>
          </a:bodyPr>
          <a:lstStyle/>
          <a:p>
            <a:pPr algn="just" rtl="0"/>
            <a:r>
              <a:rPr lang="es-ES" sz="2800" dirty="0">
                <a:latin typeface="Times New Roman" panose="02020603050405020304" pitchFamily="18" charset="0"/>
                <a:cs typeface="Times New Roman" panose="02020603050405020304" pitchFamily="18" charset="0"/>
              </a:rPr>
              <a:t>Intervalo de confianza y tamaño muestral con N conocida</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9770239" cy="830997"/>
              </a:xfrm>
              <a:prstGeom prst="rect">
                <a:avLst/>
              </a:prstGeom>
              <a:noFill/>
              <a:ln>
                <a:solidFill>
                  <a:schemeClr val="tx1">
                    <a:lumMod val="85000"/>
                  </a:schemeClr>
                </a:solidFill>
              </a:ln>
            </p:spPr>
            <p:txBody>
              <a:bodyPr wrap="square" rtlCol="0">
                <a:spAutoFit/>
              </a:bodyPr>
              <a:lstStyle/>
              <a:p>
                <a:pPr marL="285750" indent="-285750" algn="just">
                  <a:buFont typeface="Arial" panose="020B0604020202020204" pitchFamily="34" charset="0"/>
                  <a:buChar char="•"/>
                </a:pPr>
                <a:r>
                  <a:rPr lang="es-MX" sz="1600" dirty="0">
                    <a:solidFill>
                      <a:schemeClr val="bg1"/>
                    </a:solidFill>
                    <a:latin typeface="Times New Roman" panose="02020603050405020304" pitchFamily="18" charset="0"/>
                    <a:cs typeface="Times New Roman" panose="02020603050405020304" pitchFamily="18" charset="0"/>
                  </a:rPr>
                  <a:t>Cuando tenemos una población relativamente pequeña, con tamaño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𝑁</m:t>
                    </m:r>
                  </m:oMath>
                </a14:m>
                <a:r>
                  <a:rPr lang="es-MX" sz="1600" dirty="0">
                    <a:solidFill>
                      <a:schemeClr val="bg1"/>
                    </a:solidFill>
                    <a:latin typeface="Times New Roman" panose="02020603050405020304" pitchFamily="18" charset="0"/>
                    <a:cs typeface="Times New Roman" panose="02020603050405020304" pitchFamily="18" charset="0"/>
                  </a:rPr>
                  <a:t>, y el muestreo se hace sin reemplazo, modificamos </a:t>
                </a:r>
                <a14:m>
                  <m:oMath xmlns:m="http://schemas.openxmlformats.org/officeDocument/2006/math">
                    <m:r>
                      <a:rPr lang="es-MX" sz="1600" i="1" dirty="0" smtClean="0">
                        <a:solidFill>
                          <a:schemeClr val="bg1"/>
                        </a:solidFill>
                        <a:latin typeface="Cambria Math" panose="02040503050406030204" pitchFamily="18" charset="0"/>
                        <a:cs typeface="Times New Roman" panose="02020603050405020304" pitchFamily="18" charset="0"/>
                      </a:rPr>
                      <m:t>𝐸</m:t>
                    </m:r>
                  </m:oMath>
                </a14:m>
                <a:r>
                  <a:rPr lang="es-MX" sz="1600" dirty="0">
                    <a:solidFill>
                      <a:schemeClr val="bg1"/>
                    </a:solidFill>
                    <a:latin typeface="Times New Roman" panose="02020603050405020304" pitchFamily="18" charset="0"/>
                    <a:cs typeface="Times New Roman" panose="02020603050405020304" pitchFamily="18" charset="0"/>
                  </a:rPr>
                  <a:t> para incluir el </a:t>
                </a:r>
                <a:r>
                  <a:rPr lang="es-MX" sz="1600" b="1" i="1" dirty="0">
                    <a:solidFill>
                      <a:schemeClr val="bg1"/>
                    </a:solidFill>
                    <a:latin typeface="Times New Roman" panose="02020603050405020304" pitchFamily="18" charset="0"/>
                    <a:cs typeface="Times New Roman" panose="02020603050405020304" pitchFamily="18" charset="0"/>
                  </a:rPr>
                  <a:t>factor de corrección por población finita </a:t>
                </a:r>
                <a:r>
                  <a:rPr lang="es-MX" sz="1600" dirty="0">
                    <a:solidFill>
                      <a:schemeClr val="bg1"/>
                    </a:solidFill>
                    <a:latin typeface="Times New Roman" panose="02020603050405020304" pitchFamily="18" charset="0"/>
                    <a:cs typeface="Times New Roman" panose="02020603050405020304" pitchFamily="18" charset="0"/>
                  </a:rPr>
                  <a:t>que se presenta a continuación y despejando </a:t>
                </a:r>
                <a:r>
                  <a:rPr lang="es-MX" sz="1600" i="1" dirty="0">
                    <a:solidFill>
                      <a:schemeClr val="bg1"/>
                    </a:solidFill>
                    <a:latin typeface="Times New Roman" panose="02020603050405020304" pitchFamily="18" charset="0"/>
                    <a:cs typeface="Times New Roman" panose="02020603050405020304" pitchFamily="18" charset="0"/>
                  </a:rPr>
                  <a:t>n</a:t>
                </a:r>
                <a:r>
                  <a:rPr lang="es-MX" sz="1600" dirty="0">
                    <a:solidFill>
                      <a:schemeClr val="bg1"/>
                    </a:solidFill>
                    <a:latin typeface="Times New Roman" panose="02020603050405020304" pitchFamily="18" charset="0"/>
                    <a:cs typeface="Times New Roman" panose="02020603050405020304" pitchFamily="18" charset="0"/>
                  </a:rPr>
                  <a:t> para obtener así el resultado del tamaño de muestra. </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166869"/>
                <a:ext cx="9770239" cy="830997"/>
              </a:xfrm>
              <a:prstGeom prst="rect">
                <a:avLst/>
              </a:prstGeom>
              <a:blipFill>
                <a:blip r:embed="rId3"/>
                <a:stretch>
                  <a:fillRect l="-187" t="-1439" r="-312" b="-7194"/>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21D6785-DDF1-79AC-AAC5-FE658872DA04}"/>
                  </a:ext>
                </a:extLst>
              </p:cNvPr>
              <p:cNvSpPr txBox="1"/>
              <p:nvPr/>
            </p:nvSpPr>
            <p:spPr>
              <a:xfrm>
                <a:off x="3045726" y="3429000"/>
                <a:ext cx="6100548" cy="9141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bg1"/>
                          </a:solidFill>
                          <a:latin typeface="Cambria Math" panose="02040503050406030204" pitchFamily="18" charset="0"/>
                          <a:cs typeface="Times New Roman" panose="02020603050405020304" pitchFamily="18" charset="0"/>
                        </a:rPr>
                        <m:t>𝐸</m:t>
                      </m:r>
                      <m:r>
                        <a:rPr lang="es-MX" sz="1800" b="0" i="1" smtClean="0">
                          <a:solidFill>
                            <a:schemeClr val="bg1"/>
                          </a:solidFill>
                          <a:latin typeface="Cambria Math" panose="02040503050406030204" pitchFamily="18" charset="0"/>
                          <a:cs typeface="Times New Roman" panose="02020603050405020304" pitchFamily="18" charset="0"/>
                        </a:rPr>
                        <m:t>=</m:t>
                      </m:r>
                      <m:sSub>
                        <m:sSubPr>
                          <m:ctrlPr>
                            <a:rPr lang="es-MX" sz="1800" b="0" i="1" smtClean="0">
                              <a:solidFill>
                                <a:schemeClr val="bg1"/>
                              </a:solidFill>
                              <a:latin typeface="Cambria Math" panose="02040503050406030204" pitchFamily="18" charset="0"/>
                              <a:cs typeface="Times New Roman" panose="02020603050405020304" pitchFamily="18" charset="0"/>
                            </a:rPr>
                          </m:ctrlPr>
                        </m:sSubPr>
                        <m:e>
                          <m:r>
                            <a:rPr lang="es-MX" sz="1800" b="0" i="1" smtClean="0">
                              <a:solidFill>
                                <a:schemeClr val="bg1"/>
                              </a:solidFill>
                              <a:latin typeface="Cambria Math" panose="02040503050406030204" pitchFamily="18" charset="0"/>
                              <a:cs typeface="Times New Roman" panose="02020603050405020304" pitchFamily="18" charset="0"/>
                            </a:rPr>
                            <m:t>𝑧</m:t>
                          </m:r>
                        </m:e>
                        <m:sub>
                          <m:f>
                            <m:fPr>
                              <m:type m:val="skw"/>
                              <m:ctrlPr>
                                <a:rPr lang="es-MX" sz="1800" b="0" i="1" smtClean="0">
                                  <a:solidFill>
                                    <a:schemeClr val="bg1"/>
                                  </a:solidFill>
                                  <a:latin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800" b="0" i="1" smtClean="0">
                                  <a:solidFill>
                                    <a:schemeClr val="bg1"/>
                                  </a:solidFill>
                                  <a:latin typeface="Cambria Math" panose="02040503050406030204" pitchFamily="18" charset="0"/>
                                  <a:cs typeface="Times New Roman" panose="02020603050405020304" pitchFamily="18" charset="0"/>
                                </a:rPr>
                                <m:t>2</m:t>
                              </m:r>
                            </m:den>
                          </m:f>
                        </m:sub>
                      </m:sSub>
                      <m:rad>
                        <m:radPr>
                          <m:degHide m:val="on"/>
                          <m:ctrlPr>
                            <a:rPr lang="es-MX" sz="1800" b="0" i="1" smtClean="0">
                              <a:solidFill>
                                <a:schemeClr val="bg1"/>
                              </a:solidFill>
                              <a:latin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cs typeface="Times New Roman" panose="02020603050405020304" pitchFamily="18" charset="0"/>
                                </a:rPr>
                              </m:ctrlPr>
                            </m:fPr>
                            <m:num>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𝑝</m:t>
                                  </m:r>
                                </m:e>
                              </m:acc>
                              <m:acc>
                                <m:accPr>
                                  <m:chr m:val="̂"/>
                                  <m:ctrlPr>
                                    <a:rPr lang="es-MX" sz="1800" b="0" i="1" smtClean="0">
                                      <a:solidFill>
                                        <a:schemeClr val="bg1"/>
                                      </a:solidFill>
                                      <a:latin typeface="Cambria Math" panose="02040503050406030204" pitchFamily="18" charset="0"/>
                                      <a:cs typeface="Times New Roman" panose="02020603050405020304" pitchFamily="18" charset="0"/>
                                    </a:rPr>
                                  </m:ctrlPr>
                                </m:accPr>
                                <m:e>
                                  <m:r>
                                    <a:rPr lang="es-MX" sz="1800" b="0" i="1" smtClean="0">
                                      <a:solidFill>
                                        <a:schemeClr val="bg1"/>
                                      </a:solidFill>
                                      <a:latin typeface="Cambria Math" panose="02040503050406030204" pitchFamily="18" charset="0"/>
                                      <a:cs typeface="Times New Roman" panose="02020603050405020304" pitchFamily="18" charset="0"/>
                                    </a:rPr>
                                    <m:t>𝑞</m:t>
                                  </m:r>
                                </m:e>
                              </m:acc>
                            </m:num>
                            <m:den>
                              <m:r>
                                <a:rPr lang="es-MX" sz="1800" b="0" i="1" smtClean="0">
                                  <a:solidFill>
                                    <a:schemeClr val="bg1"/>
                                  </a:solidFill>
                                  <a:latin typeface="Cambria Math" panose="02040503050406030204" pitchFamily="18" charset="0"/>
                                  <a:cs typeface="Times New Roman" panose="02020603050405020304" pitchFamily="18" charset="0"/>
                                </a:rPr>
                                <m:t>𝑛</m:t>
                              </m:r>
                            </m:den>
                          </m:f>
                        </m:e>
                      </m:rad>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𝑛</m:t>
                              </m:r>
                            </m:num>
                            <m:den>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800"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−1</m:t>
                              </m:r>
                            </m:den>
                          </m:f>
                        </m:e>
                      </m:rad>
                      <m:r>
                        <a:rPr lang="es-MX" sz="1800" b="0" i="1" smtClean="0">
                          <a:solidFill>
                            <a:schemeClr val="bg1"/>
                          </a:solidFill>
                          <a:latin typeface="Cambria Math" panose="02040503050406030204" pitchFamily="18" charset="0"/>
                          <a:cs typeface="Times New Roman" panose="02020603050405020304" pitchFamily="18" charset="0"/>
                        </a:rPr>
                        <m:t> </m:t>
                      </m:r>
                    </m:oMath>
                  </m:oMathPara>
                </a14:m>
                <a:endParaRPr lang="es-MX" dirty="0"/>
              </a:p>
            </p:txBody>
          </p:sp>
        </mc:Choice>
        <mc:Fallback xmlns="">
          <p:sp>
            <p:nvSpPr>
              <p:cNvPr id="17" name="CuadroTexto 16">
                <a:extLst>
                  <a:ext uri="{FF2B5EF4-FFF2-40B4-BE49-F238E27FC236}">
                    <a16:creationId xmlns:a16="http://schemas.microsoft.com/office/drawing/2014/main" id="{721D6785-DDF1-79AC-AAC5-FE658872DA04}"/>
                  </a:ext>
                </a:extLst>
              </p:cNvPr>
              <p:cNvSpPr txBox="1">
                <a:spLocks noRot="1" noChangeAspect="1" noMove="1" noResize="1" noEditPoints="1" noAdjustHandles="1" noChangeArrowheads="1" noChangeShapeType="1" noTextEdit="1"/>
              </p:cNvSpPr>
              <p:nvPr/>
            </p:nvSpPr>
            <p:spPr>
              <a:xfrm>
                <a:off x="3045726" y="3429000"/>
                <a:ext cx="6100548" cy="914161"/>
              </a:xfrm>
              <a:prstGeom prst="rect">
                <a:avLst/>
              </a:prstGeom>
              <a:blipFill>
                <a:blip r:embed="rId4"/>
                <a:stretch>
                  <a:fillRect/>
                </a:stretch>
              </a:blipFill>
            </p:spPr>
            <p:txBody>
              <a:bodyPr/>
              <a:lstStyle/>
              <a:p>
                <a:r>
                  <a:rPr lang="es-MX">
                    <a:noFill/>
                  </a:rPr>
                  <a:t> </a:t>
                </a:r>
              </a:p>
            </p:txBody>
          </p:sp>
        </mc:Fallback>
      </mc:AlternateContent>
      <p:graphicFrame>
        <p:nvGraphicFramePr>
          <p:cNvPr id="18" name="Diagrama 17">
            <a:extLst>
              <a:ext uri="{FF2B5EF4-FFF2-40B4-BE49-F238E27FC236}">
                <a16:creationId xmlns:a16="http://schemas.microsoft.com/office/drawing/2014/main" id="{2FD01E5D-A725-8421-E87F-1B2A0FFB06AB}"/>
              </a:ext>
            </a:extLst>
          </p:cNvPr>
          <p:cNvGraphicFramePr/>
          <p:nvPr>
            <p:extLst>
              <p:ext uri="{D42A27DB-BD31-4B8C-83A1-F6EECF244321}">
                <p14:modId xmlns:p14="http://schemas.microsoft.com/office/powerpoint/2010/main" val="330955846"/>
              </p:ext>
            </p:extLst>
          </p:nvPr>
        </p:nvGraphicFramePr>
        <p:xfrm>
          <a:off x="363940" y="320723"/>
          <a:ext cx="11345839" cy="682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99986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TotalTime>
  <Words>748</Words>
  <Application>Microsoft Office PowerPoint</Application>
  <PresentationFormat>Panorámica</PresentationFormat>
  <Paragraphs>104</Paragraphs>
  <Slides>6</Slides>
  <Notes>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vt:i4>
      </vt:variant>
    </vt:vector>
  </HeadingPairs>
  <TitlesOfParts>
    <vt:vector size="14" baseType="lpstr">
      <vt:lpstr>Arial</vt:lpstr>
      <vt:lpstr>Calibri</vt:lpstr>
      <vt:lpstr>Cambria Math</vt:lpstr>
      <vt:lpstr>Franklin Gothic Book</vt:lpstr>
      <vt:lpstr>Franklin Gothic Demi</vt:lpstr>
      <vt:lpstr>Times New Roman</vt:lpstr>
      <vt:lpstr>Wingdings</vt:lpstr>
      <vt:lpstr>Tema1</vt:lpstr>
      <vt:lpstr>Sesión 8: Tamaño de la muestra para proporciones</vt:lpstr>
      <vt:lpstr>Determinación del tamaño muestral</vt:lpstr>
      <vt:lpstr>Ejemplo 1</vt:lpstr>
      <vt:lpstr>Ejemplo 2</vt:lpstr>
      <vt:lpstr>Ejemplo 2 (Solución)</vt:lpstr>
      <vt:lpstr>Intervalo de confianza y tamaño muestral con N conocida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6: Determinación del tamaño de la muestra para proporciones</dc:title>
  <dc:creator>David Nexticapan Cortes</dc:creator>
  <cp:lastModifiedBy>DAVID NEXTICAPAN CORTES</cp:lastModifiedBy>
  <cp:revision>16</cp:revision>
  <dcterms:created xsi:type="dcterms:W3CDTF">2023-09-10T16:03:29Z</dcterms:created>
  <dcterms:modified xsi:type="dcterms:W3CDTF">2024-08-22T00:42:34Z</dcterms:modified>
</cp:coreProperties>
</file>