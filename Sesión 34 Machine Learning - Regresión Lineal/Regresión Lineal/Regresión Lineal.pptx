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8" r:id="rId2"/>
    <p:sldId id="269" r:id="rId3"/>
    <p:sldId id="308" r:id="rId4"/>
    <p:sldId id="318" r:id="rId5"/>
    <p:sldId id="310" r:id="rId6"/>
    <p:sldId id="311" r:id="rId7"/>
    <p:sldId id="313" r:id="rId8"/>
    <p:sldId id="314" r:id="rId9"/>
    <p:sldId id="319" r:id="rId10"/>
    <p:sldId id="315" r:id="rId11"/>
    <p:sldId id="316" r:id="rId12"/>
    <p:sldId id="317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10/05/2025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9C07-6025-4BAC-B61C-CFC6E194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38416E-238C-8CA2-38D2-AA0A7634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890E8F-7C86-8616-5E65-81F96AF91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3DF47D-580A-1B42-397D-AA939FC6C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4610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05C99-BFF4-A783-CCED-CC8E6A964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BE29A8-0D33-EF47-8374-67AE0D62E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773BEB-3CF3-5E8C-3D49-32B3F7F3C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C0C214-2CA2-1AC3-CC61-1DAA42852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3449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C372-E6EC-DF5B-8E79-2F91FE1C1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FB5BE5-DC4C-ADDE-BF22-3499ADFDA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E6B3F6-7868-C436-4A4B-EDAF1FA8E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DD92BB-C442-6088-6BFA-CDB890438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187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E76F-802B-C047-36F2-E3C7FAF2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564202-E123-2F56-722B-3E1E9B436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27D72D-EAD8-C3CD-F542-97464B696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F72689-4348-422C-EE76-699A6E7F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6362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0202-4180-F4EA-B7ED-04FD291A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DE915A-E00F-2F94-AB76-1F8D6F28E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A28693-4BC8-75AA-6F54-B4D6408E9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AB53BC-9250-54C4-09EC-C34AD2E45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8314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AC22B-BDE4-A4E1-8401-941DCF2E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275441-FAC5-A90F-2479-3D74DF320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DFF3C0-4E29-15C0-6287-F205A565B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2759E3-835A-E226-0B52-F79A8ADCA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4585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AFD5-D4C0-CC66-542E-58A4ED10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FAE3F8-93DD-E9F4-F0A9-8F27AB26F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CFF328-5C34-3E0F-B0B9-FC4A6747D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6252FC-D2F3-FDBE-5BAF-DC76013F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8057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B0C62-AC35-2080-C007-805879FF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0C856E-DAEB-73ED-F20B-6901BFE14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FBA772-0DAB-86CA-A53E-B3BC292BF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E72E3D-445F-E192-C720-C25F9B693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1331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4B67-CECF-AB79-7099-3FE8DE90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A01926-6349-44A8-24CA-1D6E31B69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8F35E4-83E3-5881-FD3D-E8B447C08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7E9109-4DB7-DF6E-CEFD-FF65C17EC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6391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E39B-C83B-823B-C4D5-934F64A81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4ABD64-9A22-6154-1A61-F7A728528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5796D4-8C5B-0DF9-BC63-72CFE3531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80BCEA-5BC5-C5F9-4415-53CA7E081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973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2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206575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supervisado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basado en modelos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corresponde con un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lineal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 predicciones computando una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 ponderada de las características de entrada 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sumándole una constante.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Intenta predecir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continuos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022C-1C98-C8F7-09E7-CB9E2ACA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1B781-3D0E-BFB3-F34E-1ADCA535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E8CF3D1-0733-F6D9-D6EB-18A44FCA4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855" y="285817"/>
            <a:ext cx="6437083" cy="170761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39D76C2-068D-4AE4-B39E-78F2A6212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22" y="2436562"/>
            <a:ext cx="2093077" cy="3196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F829AA4-796A-A35E-6509-87A6D64CD3CE}"/>
                  </a:ext>
                </a:extLst>
              </p:cNvPr>
              <p:cNvSpPr txBox="1"/>
              <p:nvPr/>
            </p:nvSpPr>
            <p:spPr>
              <a:xfrm>
                <a:off x="3327359" y="2445615"/>
                <a:ext cx="3632999" cy="3687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variables de entrada o predictoras.</a:t>
                </a: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F829AA4-796A-A35E-6509-87A6D64CD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359" y="2445615"/>
                <a:ext cx="3632999" cy="368755"/>
              </a:xfrm>
              <a:prstGeom prst="rect">
                <a:avLst/>
              </a:prstGeom>
              <a:blipFill>
                <a:blip r:embed="rId5"/>
                <a:stretch>
                  <a:fillRect t="-6349" b="-2222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6A7E0AB-2605-3A84-7550-DEAEDD977F0E}"/>
                  </a:ext>
                </a:extLst>
              </p:cNvPr>
              <p:cNvSpPr txBox="1"/>
              <p:nvPr/>
            </p:nvSpPr>
            <p:spPr>
              <a:xfrm>
                <a:off x="3327359" y="2894607"/>
                <a:ext cx="3632999" cy="3687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variable de salida o respuesta.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6A7E0AB-2605-3A84-7550-DEAEDD977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359" y="2894607"/>
                <a:ext cx="3632999" cy="368755"/>
              </a:xfrm>
              <a:prstGeom prst="rect">
                <a:avLst/>
              </a:prstGeom>
              <a:blipFill>
                <a:blip r:embed="rId6"/>
                <a:stretch>
                  <a:fillRect t="-8065" b="-2419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2E28286-E823-7FD9-FCB4-1F231120717C}"/>
                  </a:ext>
                </a:extLst>
              </p:cNvPr>
              <p:cNvSpPr txBox="1"/>
              <p:nvPr/>
            </p:nvSpPr>
            <p:spPr>
              <a:xfrm>
                <a:off x="7078396" y="2436562"/>
                <a:ext cx="3880756" cy="3687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conjunto de características 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2E28286-E823-7FD9-FCB4-1F2311207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396" y="2436562"/>
                <a:ext cx="3880756" cy="368755"/>
              </a:xfrm>
              <a:prstGeom prst="rect">
                <a:avLst/>
              </a:prstGeom>
              <a:blipFill>
                <a:blip r:embed="rId7"/>
                <a:stretch>
                  <a:fillRect t="-8065" r="-626" b="-2419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3331209-FD03-F2ED-A294-616D4F7F62AB}"/>
                  </a:ext>
                </a:extLst>
              </p:cNvPr>
              <p:cNvSpPr txBox="1"/>
              <p:nvPr/>
            </p:nvSpPr>
            <p:spPr>
              <a:xfrm>
                <a:off x="7078396" y="2930803"/>
                <a:ext cx="3880756" cy="6651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número de características o variables de entrada. 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3331209-FD03-F2ED-A294-616D4F7F6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396" y="2930803"/>
                <a:ext cx="3880756" cy="665118"/>
              </a:xfrm>
              <a:prstGeom prst="rect">
                <a:avLst/>
              </a:prstGeom>
              <a:blipFill>
                <a:blip r:embed="rId8"/>
                <a:stretch>
                  <a:fillRect l="-1095" t="-4505" r="-1252" b="-1261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2763330-C6D6-474D-826A-6CF65C04D678}"/>
                  </a:ext>
                </a:extLst>
              </p:cNvPr>
              <p:cNvSpPr txBox="1"/>
              <p:nvPr/>
            </p:nvSpPr>
            <p:spPr>
              <a:xfrm>
                <a:off x="435215" y="5713759"/>
                <a:ext cx="3150690" cy="6651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número de observaciones en el conjunto de entrenamiento.</a:t>
                </a: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2763330-C6D6-474D-826A-6CF65C04D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15" y="5713759"/>
                <a:ext cx="3150690" cy="665118"/>
              </a:xfrm>
              <a:prstGeom prst="rect">
                <a:avLst/>
              </a:prstGeom>
              <a:blipFill>
                <a:blip r:embed="rId9"/>
                <a:stretch>
                  <a:fillRect l="-1349" t="-3604" r="-1541" b="-1261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agen 20">
            <a:extLst>
              <a:ext uri="{FF2B5EF4-FFF2-40B4-BE49-F238E27FC236}">
                <a16:creationId xmlns:a16="http://schemas.microsoft.com/office/drawing/2014/main" id="{BF60F9F6-A053-889B-88D0-CE5F4CC29D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9855" y="4052684"/>
            <a:ext cx="3880756" cy="23480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691011E-4AA7-12F3-2124-08F81601EC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7098" y="4052684"/>
            <a:ext cx="3880756" cy="23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6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1BAD-7CA1-DD51-1960-1D08DC35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8C33F-6C16-24D8-582E-5D6B895D3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49A3A5C-CF8C-F698-53F8-2AF5DA05E8CE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4883325" cy="10772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usa comúnmente para ponderar la relación entre dos o más variables </a:t>
                </a:r>
                <a14:m>
                  <m:oMath xmlns:m="http://schemas.openxmlformats.org/officeDocument/2006/math"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 modo que, dado un valor específico de </a:t>
                </a:r>
                <a14:m>
                  <m:oMath xmlns:m="http://schemas.openxmlformats.org/officeDocument/2006/math"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(es decir </a:t>
                </a:r>
                <a14:m>
                  <m:oMath xmlns:m="http://schemas.openxmlformats.org/officeDocument/2006/math"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se pueda predecir un valor de </a:t>
                </a:r>
                <a14:m>
                  <m:oMath xmlns:m="http://schemas.openxmlformats.org/officeDocument/2006/math"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49A3A5C-CF8C-F698-53F8-2AF5DA05E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4883325" cy="1077218"/>
              </a:xfrm>
              <a:prstGeom prst="rect">
                <a:avLst/>
              </a:prstGeom>
              <a:blipFill>
                <a:blip r:embed="rId3"/>
                <a:stretch>
                  <a:fillRect l="-498" t="-1117" r="-623" b="-5587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707EA36-EAD7-C99F-C3F9-515670B9D570}"/>
                  </a:ext>
                </a:extLst>
              </p:cNvPr>
              <p:cNvSpPr txBox="1"/>
              <p:nvPr/>
            </p:nvSpPr>
            <p:spPr>
              <a:xfrm>
                <a:off x="964021" y="3552708"/>
                <a:ext cx="4883325" cy="10772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Matemáticamente, la regresión de una variable aleatoria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sobre una variable aleatoria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expresa como:</a:t>
                </a:r>
              </a:p>
              <a:p>
                <a:pPr algn="just"/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MX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MX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707EA36-EAD7-C99F-C3F9-515670B9D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3552708"/>
                <a:ext cx="4883325" cy="1077218"/>
              </a:xfrm>
              <a:prstGeom prst="rect">
                <a:avLst/>
              </a:prstGeom>
              <a:blipFill>
                <a:blip r:embed="rId4"/>
                <a:stretch>
                  <a:fillRect l="-498" t="-1117" r="-623" b="-2235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C5CB4C7-4168-DD31-77FA-D47C79423AB6}"/>
                  </a:ext>
                </a:extLst>
              </p:cNvPr>
              <p:cNvSpPr txBox="1"/>
              <p:nvPr/>
            </p:nvSpPr>
            <p:spPr>
              <a:xfrm>
                <a:off x="964022" y="4752113"/>
                <a:ext cx="4883325" cy="181588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regresión de </a:t>
                </a:r>
                <a14:m>
                  <m:oMath xmlns:m="http://schemas.openxmlformats.org/officeDocument/2006/math"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sobre </a:t>
                </a:r>
                <a14:m>
                  <m:oMath xmlns:m="http://schemas.openxmlformats.org/officeDocument/2006/math"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lineal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 se expresa como:</a:t>
                </a:r>
              </a:p>
              <a:p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MX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 los parámetros desconocidos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representan el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intercepto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la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pendiente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una recta específica, respectivamente.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C5CB4C7-4168-DD31-77FA-D47C79423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4752113"/>
                <a:ext cx="4883325" cy="1815882"/>
              </a:xfrm>
              <a:prstGeom prst="rect">
                <a:avLst/>
              </a:prstGeom>
              <a:blipFill>
                <a:blip r:embed="rId5"/>
                <a:stretch>
                  <a:fillRect l="-498" t="-669" r="-623" b="-334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13DE3ABB-77B8-C021-DDEB-57B970EA4040}"/>
              </a:ext>
            </a:extLst>
          </p:cNvPr>
          <p:cNvSpPr txBox="1"/>
          <p:nvPr/>
        </p:nvSpPr>
        <p:spPr>
          <a:xfrm>
            <a:off x="6096000" y="2351782"/>
            <a:ext cx="4883325" cy="58477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 ecuación nos dice el costo promedio esperado de la prima anual para una edad dada.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EE8BC46-C108-EC8C-F716-2FC8D985647D}"/>
              </a:ext>
            </a:extLst>
          </p:cNvPr>
          <p:cNvSpPr txBox="1"/>
          <p:nvPr/>
        </p:nvSpPr>
        <p:spPr>
          <a:xfrm>
            <a:off x="6096000" y="3136612"/>
            <a:ext cx="4883325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Supongamos que, después de analizar los datos, la compañía de seguros obtiene la siguiente ecuación de regresión: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402675A-FC80-EFA2-F177-CDCE29C3C09D}"/>
                  </a:ext>
                </a:extLst>
              </p:cNvPr>
              <p:cNvSpPr txBox="1"/>
              <p:nvPr/>
            </p:nvSpPr>
            <p:spPr>
              <a:xfrm>
                <a:off x="6095998" y="4103858"/>
                <a:ext cx="4883326" cy="33855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𝐶𝑜𝑠𝑡𝑜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𝑃𝑟𝑖𝑚𝑎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𝐸𝑑𝑎𝑑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 = 1350 −20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16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402675A-FC80-EFA2-F177-CDCE29C3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4103858"/>
                <a:ext cx="4883326" cy="338554"/>
              </a:xfrm>
              <a:prstGeom prst="rect">
                <a:avLst/>
              </a:prstGeom>
              <a:blipFill>
                <a:blip r:embed="rId6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049697BD-4176-CE09-9496-CB78A715AA80}"/>
              </a:ext>
            </a:extLst>
          </p:cNvPr>
          <p:cNvSpPr txBox="1"/>
          <p:nvPr/>
        </p:nvSpPr>
        <p:spPr>
          <a:xfrm>
            <a:off x="6095998" y="4578661"/>
            <a:ext cx="4883325" cy="33855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un asegurado tiene 30 años (x = 30):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6A13BB1-8D98-A683-03B7-2A7097D28FC2}"/>
                  </a:ext>
                </a:extLst>
              </p:cNvPr>
              <p:cNvSpPr txBox="1"/>
              <p:nvPr/>
            </p:nvSpPr>
            <p:spPr>
              <a:xfrm>
                <a:off x="6095998" y="5057639"/>
                <a:ext cx="4883325" cy="307777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𝐶𝑜𝑠𝑡𝑜</m:t>
                      </m:r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𝑃𝑟𝑖𝑚𝑎</m:t>
                      </m:r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𝐸𝑑𝑎𝑑</m:t>
                      </m:r>
                      <m:r>
                        <a:rPr lang="it-IT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=30] = 1350 −20(30)=750</m:t>
                      </m:r>
                    </m:oMath>
                  </m:oMathPara>
                </a14:m>
                <a:endParaRPr lang="es-MX" sz="14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6A13BB1-8D98-A683-03B7-2A7097D28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5057639"/>
                <a:ext cx="4883325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A71A49C3-9386-1FD2-533E-281A9C64E005}"/>
              </a:ext>
            </a:extLst>
          </p:cNvPr>
          <p:cNvSpPr txBox="1"/>
          <p:nvPr/>
        </p:nvSpPr>
        <p:spPr>
          <a:xfrm>
            <a:off x="6095998" y="5532442"/>
            <a:ext cx="4883325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Esto significa que, según el modelo, la compañía de seguros espera que el costo promedio de la prima anual para un asegurado de 30 años sea de $750.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7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4326-BA97-2DFB-F646-A14CEA40F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A34EA-0E0C-82A0-E86D-36AE8E553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6D141D9-78F7-DFB8-9C9D-5A81F9666119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4899367" cy="353943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modelo lineal de primer orden es el modelo de probabilidad más simple, el cual se representa de la siguiente manera: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Donde: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MX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s-MX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 la variable de salida, dependiente o de respuesta.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MX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s-MX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 la variable de entrada, independiente o predictora.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MX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a:rPr lang="es-MX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 el componente de error aleatorio.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s-MX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 el intercepto y ordena al origen de la línea recta.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MX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 la pendiente de la línea recta.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6D141D9-78F7-DFB8-9C9D-5A81F9666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4899367" cy="3539430"/>
              </a:xfrm>
              <a:prstGeom prst="rect">
                <a:avLst/>
              </a:prstGeom>
              <a:blipFill>
                <a:blip r:embed="rId3"/>
                <a:stretch>
                  <a:fillRect l="-496" t="-343" r="-620" b="-1029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99BA909-010E-7E1A-0C2A-C5D3FD1D3654}"/>
              </a:ext>
            </a:extLst>
          </p:cNvPr>
          <p:cNvSpPr txBox="1"/>
          <p:nvPr/>
        </p:nvSpPr>
        <p:spPr>
          <a:xfrm>
            <a:off x="4074695" y="965266"/>
            <a:ext cx="48399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el modelo para un punto de datos individual, que incluye el error para tener en cuenta la desviación de los puntos de datos de la línea de tendencia.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93A172-3B74-5E92-BEDA-DD8AF667056E}"/>
              </a:ext>
            </a:extLst>
          </p:cNvPr>
          <p:cNvSpPr txBox="1"/>
          <p:nvPr/>
        </p:nvSpPr>
        <p:spPr>
          <a:xfrm>
            <a:off x="6096000" y="2351782"/>
            <a:ext cx="4883325" cy="58477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Usando los mismos valores de β₀ y β₁ de antes, nuestra ecuación es: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665CC93-EE6F-884D-53C1-7869E5942A2C}"/>
                  </a:ext>
                </a:extLst>
              </p:cNvPr>
              <p:cNvSpPr txBox="1"/>
              <p:nvPr/>
            </p:nvSpPr>
            <p:spPr>
              <a:xfrm>
                <a:off x="6095999" y="3090446"/>
                <a:ext cx="4883326" cy="33855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𝐶𝑜𝑠𝑡𝑜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𝑃𝑟𝑖𝑚𝑎</m:t>
                      </m:r>
                      <m:r>
                        <a:rPr lang="it-IT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=1350 −20∗ </m:t>
                      </m:r>
                      <m:r>
                        <a:rPr lang="it-IT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𝐸𝑑𝑎𝑑</m:t>
                      </m:r>
                      <m:r>
                        <a:rPr lang="it-IT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it-IT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MX" sz="16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665CC93-EE6F-884D-53C1-7869E5942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090446"/>
                <a:ext cx="4883326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0822B9-F826-58AA-CD3C-3FF41DE7FB2F}"/>
                  </a:ext>
                </a:extLst>
              </p:cNvPr>
              <p:cNvSpPr txBox="1"/>
              <p:nvPr/>
            </p:nvSpPr>
            <p:spPr>
              <a:xfrm>
                <a:off x="6095999" y="3582890"/>
                <a:ext cx="4883326" cy="132343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Asegurado 1: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Edad 22 años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Costo real de la prima $1,200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Aplicando la ecuación: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1200=1350−20</m:t>
                    </m:r>
                    <m:d>
                      <m:dPr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22</m:t>
                        </m:r>
                      </m:e>
                    </m:d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=29</m:t>
                    </m:r>
                  </m:oMath>
                </a14:m>
                <a:r>
                  <a:rPr lang="es-MX" sz="1600" b="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0822B9-F826-58AA-CD3C-3FF41DE7F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582890"/>
                <a:ext cx="4883326" cy="1323439"/>
              </a:xfrm>
              <a:prstGeom prst="rect">
                <a:avLst/>
              </a:prstGeom>
              <a:blipFill>
                <a:blip r:embed="rId5"/>
                <a:stretch>
                  <a:fillRect l="-623" t="-1376" b="-458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DAFA7E3-6C8D-47E4-08BF-8EEDE14E2BD9}"/>
                  </a:ext>
                </a:extLst>
              </p:cNvPr>
              <p:cNvSpPr txBox="1"/>
              <p:nvPr/>
            </p:nvSpPr>
            <p:spPr>
              <a:xfrm>
                <a:off x="6095999" y="5060219"/>
                <a:ext cx="4883326" cy="132343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Asegurado 2: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Edad 25 años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Costo real de la prima $1,100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Aplicando la ecuación: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1100=1350−20</m:t>
                    </m:r>
                    <m:d>
                      <m:dPr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25</m:t>
                        </m:r>
                      </m:e>
                    </m:d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=250</m:t>
                    </m:r>
                  </m:oMath>
                </a14:m>
                <a:endParaRPr lang="es-MX" sz="1600" b="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DAFA7E3-6C8D-47E4-08BF-8EEDE14E2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5060219"/>
                <a:ext cx="4883326" cy="1323439"/>
              </a:xfrm>
              <a:prstGeom prst="rect">
                <a:avLst/>
              </a:prstGeom>
              <a:blipFill>
                <a:blip r:embed="rId6"/>
                <a:stretch>
                  <a:fillRect l="-623" t="-1376" b="-367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930B12F-E69B-0948-2E4A-B6842850AB27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3513221" y="1796263"/>
            <a:ext cx="2981453" cy="12941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36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6" grpId="0" animBg="1"/>
      <p:bldP spid="7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85DE0-1032-FEF4-C9B1-0F8ED46DE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1B6B6-D2A1-6BA2-48D4-481EA14E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BA95B-8659-F6DF-032E-B05455E7268D}"/>
              </a:ext>
            </a:extLst>
          </p:cNvPr>
          <p:cNvSpPr txBox="1"/>
          <p:nvPr/>
        </p:nvSpPr>
        <p:spPr>
          <a:xfrm>
            <a:off x="391499" y="3280663"/>
            <a:ext cx="3907785" cy="156966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utilizan los datos disponibles para estimar la pendiente (β₁) y el intercepto (β₀) de la </a:t>
            </a:r>
            <a:r>
              <a:rPr lang="es-E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línea que mejor se ajusta a los datos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 mejor ajuste se determina usando el método de </a:t>
            </a:r>
            <a:r>
              <a:rPr lang="es-E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mínimos cuadrados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minimizando la suma de los errores al cuadrado.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1D08705-FE46-B863-CC27-05B122AFC3B0}"/>
              </a:ext>
            </a:extLst>
          </p:cNvPr>
          <p:cNvSpPr txBox="1"/>
          <p:nvPr/>
        </p:nvSpPr>
        <p:spPr>
          <a:xfrm>
            <a:off x="7510575" y="1305067"/>
            <a:ext cx="2918760" cy="492443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 de mejor ajuste, recta de mínimos cuadrados o recta de regresión</a:t>
            </a:r>
            <a:endParaRPr lang="es-MX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805ECDA-121D-3E3E-2CC6-52F2D65898FC}"/>
              </a:ext>
            </a:extLst>
          </p:cNvPr>
          <p:cNvSpPr txBox="1"/>
          <p:nvPr/>
        </p:nvSpPr>
        <p:spPr>
          <a:xfrm>
            <a:off x="4986428" y="1967759"/>
            <a:ext cx="3263995" cy="492443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Diferencia entre el valor observado y el valor pronosticado por el modelo </a:t>
            </a:r>
            <a:endParaRPr lang="es-MX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BC638CB-D667-E27D-9ABB-EC0A151A9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020" y="2646157"/>
            <a:ext cx="7588806" cy="3899021"/>
          </a:xfrm>
          <a:prstGeom prst="rect">
            <a:avLst/>
          </a:prstGeom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989874E-3E72-172D-03A8-72727DF820BE}"/>
              </a:ext>
            </a:extLst>
          </p:cNvPr>
          <p:cNvCxnSpPr>
            <a:cxnSpLocks/>
          </p:cNvCxnSpPr>
          <p:nvPr/>
        </p:nvCxnSpPr>
        <p:spPr>
          <a:xfrm>
            <a:off x="5420820" y="3305634"/>
            <a:ext cx="4010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FF4DC95-A043-89CD-F589-1668CA5DE3DC}"/>
                  </a:ext>
                </a:extLst>
              </p:cNvPr>
              <p:cNvSpPr txBox="1"/>
              <p:nvPr/>
            </p:nvSpPr>
            <p:spPr>
              <a:xfrm>
                <a:off x="5379647" y="3059668"/>
                <a:ext cx="21970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FF4DC95-A043-89CD-F589-1668CA5DE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47" y="3059668"/>
                <a:ext cx="2197098" cy="369332"/>
              </a:xfrm>
              <a:prstGeom prst="rect">
                <a:avLst/>
              </a:prstGeom>
              <a:blipFill>
                <a:blip r:embed="rId4"/>
                <a:stretch>
                  <a:fillRect t="-4918"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0972B21-226D-1927-DC0F-A020B3C02712}"/>
              </a:ext>
            </a:extLst>
          </p:cNvPr>
          <p:cNvCxnSpPr>
            <a:cxnSpLocks/>
          </p:cNvCxnSpPr>
          <p:nvPr/>
        </p:nvCxnSpPr>
        <p:spPr>
          <a:xfrm flipV="1">
            <a:off x="7138737" y="3429000"/>
            <a:ext cx="713874" cy="9138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25FC591-7FF1-7AB7-BCA5-97C31F273EBC}"/>
                  </a:ext>
                </a:extLst>
              </p:cNvPr>
              <p:cNvSpPr txBox="1"/>
              <p:nvPr/>
            </p:nvSpPr>
            <p:spPr>
              <a:xfrm>
                <a:off x="7535316" y="3104749"/>
                <a:ext cx="205748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MX" sz="16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600" b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16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 b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16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25FC591-7FF1-7AB7-BCA5-97C31F273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316" y="3104749"/>
                <a:ext cx="2057480" cy="351828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F567C4C5-920B-558C-5882-AF313FD4678B}"/>
              </a:ext>
            </a:extLst>
          </p:cNvPr>
          <p:cNvCxnSpPr>
            <a:cxnSpLocks/>
          </p:cNvCxnSpPr>
          <p:nvPr/>
        </p:nvCxnSpPr>
        <p:spPr>
          <a:xfrm flipV="1">
            <a:off x="6481403" y="2503750"/>
            <a:ext cx="0" cy="59224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7FA3785-AE43-5349-6F50-E1852BA78BF1}"/>
              </a:ext>
            </a:extLst>
          </p:cNvPr>
          <p:cNvCxnSpPr>
            <a:cxnSpLocks/>
          </p:cNvCxnSpPr>
          <p:nvPr/>
        </p:nvCxnSpPr>
        <p:spPr>
          <a:xfrm flipV="1">
            <a:off x="10429335" y="1780674"/>
            <a:ext cx="0" cy="375804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DF34B9C-8989-D720-4AAF-B8546D8E1B16}"/>
              </a:ext>
            </a:extLst>
          </p:cNvPr>
          <p:cNvCxnSpPr>
            <a:cxnSpLocks/>
          </p:cNvCxnSpPr>
          <p:nvPr/>
        </p:nvCxnSpPr>
        <p:spPr>
          <a:xfrm>
            <a:off x="8564056" y="3472890"/>
            <a:ext cx="0" cy="41303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F131ADF-1EDD-32AF-9526-50992079C209}"/>
              </a:ext>
            </a:extLst>
          </p:cNvPr>
          <p:cNvSpPr txBox="1"/>
          <p:nvPr/>
        </p:nvSpPr>
        <p:spPr>
          <a:xfrm>
            <a:off x="7585888" y="3858308"/>
            <a:ext cx="2425178" cy="29238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 pronosticado por el modelo </a:t>
            </a:r>
            <a:endParaRPr lang="es-MX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11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0" grpId="0" animBg="1"/>
      <p:bldP spid="22" grpId="0" animBg="1"/>
      <p:bldP spid="11" grpId="0"/>
      <p:bldP spid="13" grpId="0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67D66-3DF0-1BBD-4B15-36FD1FB5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F0DAB24E-602C-9902-4639-49ED9C306E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64022" y="879063"/>
                <a:ext cx="8276908" cy="610863"/>
              </a:xfrm>
            </p:spPr>
            <p:txBody>
              <a:bodyPr rtlCol="0">
                <a:noAutofit/>
              </a:bodyPr>
              <a:lstStyle/>
              <a:p>
                <a:pPr algn="just"/>
                <a:r>
                  <a:rPr lang="es-E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Estimación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8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E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8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s-E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F0DAB24E-602C-9902-4639-49ED9C306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64022" y="879063"/>
                <a:ext cx="8276908" cy="610863"/>
              </a:xfrm>
              <a:blipFill>
                <a:blip r:embed="rId3"/>
                <a:stretch>
                  <a:fillRect l="-2430" b="-3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E2FBD37-A53D-2999-0F25-5ADCC021D7D7}"/>
                  </a:ext>
                </a:extLst>
              </p:cNvPr>
              <p:cNvSpPr txBox="1"/>
              <p:nvPr/>
            </p:nvSpPr>
            <p:spPr>
              <a:xfrm>
                <a:off x="964022" y="2321972"/>
                <a:ext cx="4931811" cy="58477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Considera el modelo lineal de primer orden: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E2FBD37-A53D-2999-0F25-5ADCC021D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21972"/>
                <a:ext cx="4931811" cy="584775"/>
              </a:xfrm>
              <a:prstGeom prst="rect">
                <a:avLst/>
              </a:prstGeom>
              <a:blipFill>
                <a:blip r:embed="rId4"/>
                <a:stretch>
                  <a:fillRect l="-493" t="-2041" b="-510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583409A-0439-6B5B-A07A-53340D10919C}"/>
                  </a:ext>
                </a:extLst>
              </p:cNvPr>
              <p:cNvSpPr txBox="1"/>
              <p:nvPr/>
            </p:nvSpPr>
            <p:spPr>
              <a:xfrm>
                <a:off x="964021" y="3252753"/>
                <a:ext cx="4931811" cy="84427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Denotamos a la recta que minimiza la suma de cuadrados de los errores como: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s-MX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583409A-0439-6B5B-A07A-53340D109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3252753"/>
                <a:ext cx="4931811" cy="844270"/>
              </a:xfrm>
              <a:prstGeom prst="rect">
                <a:avLst/>
              </a:prstGeom>
              <a:blipFill>
                <a:blip r:embed="rId5"/>
                <a:stretch>
                  <a:fillRect l="-493" t="-1429" r="-617" b="-3571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946DD19-8BB0-545C-8016-143E17465ABC}"/>
                  </a:ext>
                </a:extLst>
              </p:cNvPr>
              <p:cNvSpPr txBox="1"/>
              <p:nvPr/>
            </p:nvSpPr>
            <p:spPr>
              <a:xfrm>
                <a:off x="964021" y="4500440"/>
                <a:ext cx="4931811" cy="925894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 los estimadores que minimizan a la suma de cuadrados dada por:</a:t>
                </a:r>
              </a:p>
              <a:p>
                <a:pPr algn="ctr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MX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MX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MX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MX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MX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MX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MX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946DD19-8BB0-545C-8016-143E17465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4500440"/>
                <a:ext cx="4931811" cy="925894"/>
              </a:xfrm>
              <a:prstGeom prst="rect">
                <a:avLst/>
              </a:prstGeom>
              <a:blipFill>
                <a:blip r:embed="rId6"/>
                <a:stretch>
                  <a:fillRect l="-493" r="-617" b="-59091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E025EB3-1B10-3D60-DFA0-990A78739085}"/>
                  </a:ext>
                </a:extLst>
              </p:cNvPr>
              <p:cNvSpPr txBox="1"/>
              <p:nvPr/>
            </p:nvSpPr>
            <p:spPr>
              <a:xfrm>
                <a:off x="7608625" y="2974773"/>
                <a:ext cx="2108974" cy="454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E025EB3-1B10-3D60-DFA0-990A78739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625" y="2974773"/>
                <a:ext cx="2108974" cy="4542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067610D-A629-FF90-2028-D5F479028153}"/>
                  </a:ext>
                </a:extLst>
              </p:cNvPr>
              <p:cNvSpPr txBox="1"/>
              <p:nvPr/>
            </p:nvSpPr>
            <p:spPr>
              <a:xfrm>
                <a:off x="7001054" y="3921984"/>
                <a:ext cx="3324115" cy="971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acc>
                                <m:accPr>
                                  <m:chr m:val="̅"/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es-MX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MX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MX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067610D-A629-FF90-2028-D5F479028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054" y="3921984"/>
                <a:ext cx="3324115" cy="9714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92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A1C0-FC20-98DC-BD32-5F547120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8AADD-C580-3B0F-CFBD-B113EF73E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Supuestos de la distribución de 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19276E-D2C9-8587-6C92-950462DBF8DB}"/>
                  </a:ext>
                </a:extLst>
              </p:cNvPr>
              <p:cNvSpPr txBox="1"/>
              <p:nvPr/>
            </p:nvSpPr>
            <p:spPr>
              <a:xfrm>
                <a:off x="964022" y="2321972"/>
                <a:ext cx="4508730" cy="58477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decir, la media de la distribución de probabilidad de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cero.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19276E-D2C9-8587-6C92-950462DB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21972"/>
                <a:ext cx="4508730" cy="584775"/>
              </a:xfrm>
              <a:prstGeom prst="rect">
                <a:avLst/>
              </a:prstGeom>
              <a:blipFill>
                <a:blip r:embed="rId3"/>
                <a:stretch>
                  <a:fillRect l="-539" t="-2041" r="-539" b="-1122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93D7751-6365-DC90-42ED-3E8A2861BCA3}"/>
                  </a:ext>
                </a:extLst>
              </p:cNvPr>
              <p:cNvSpPr txBox="1"/>
              <p:nvPr/>
            </p:nvSpPr>
            <p:spPr>
              <a:xfrm>
                <a:off x="964022" y="3370314"/>
                <a:ext cx="4508730" cy="58477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Var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decir, la varianza de la distribución de probabilidad de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constante.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93D7751-6365-DC90-42ED-3E8A2861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370314"/>
                <a:ext cx="4508730" cy="584775"/>
              </a:xfrm>
              <a:prstGeom prst="rect">
                <a:avLst/>
              </a:prstGeom>
              <a:blipFill>
                <a:blip r:embed="rId4"/>
                <a:stretch>
                  <a:fillRect l="-539" t="-2041" r="-539" b="-1122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42921F4-1272-8D9B-9865-750E5266A72C}"/>
                  </a:ext>
                </a:extLst>
              </p:cNvPr>
              <p:cNvSpPr txBox="1"/>
              <p:nvPr/>
            </p:nvSpPr>
            <p:spPr>
              <a:xfrm>
                <a:off x="964022" y="4485090"/>
                <a:ext cx="4520103" cy="58477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MX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decir, la distribución de probabilidad de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normal. 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42921F4-1272-8D9B-9865-750E5266A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4485090"/>
                <a:ext cx="4520103" cy="584775"/>
              </a:xfrm>
              <a:prstGeom prst="rect">
                <a:avLst/>
              </a:prstGeom>
              <a:blipFill>
                <a:blip r:embed="rId5"/>
                <a:stretch>
                  <a:fillRect l="-538" t="-2041" r="-538" b="-1122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E4CBE6A5-BA08-39E5-651F-561752EF4E05}"/>
              </a:ext>
            </a:extLst>
          </p:cNvPr>
          <p:cNvSpPr txBox="1"/>
          <p:nvPr/>
        </p:nvSpPr>
        <p:spPr>
          <a:xfrm>
            <a:off x="964022" y="5530757"/>
            <a:ext cx="4508730" cy="58477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Los errores asociados con dos observaciones diferentes son independentes.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E43E40-2C9A-3185-9472-B85AEF8B4DD4}"/>
              </a:ext>
            </a:extLst>
          </p:cNvPr>
          <p:cNvSpPr/>
          <p:nvPr/>
        </p:nvSpPr>
        <p:spPr>
          <a:xfrm>
            <a:off x="7083181" y="2140786"/>
            <a:ext cx="3821373" cy="9524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asegura que el modelo no tiene sesgo sistemático: en promedio, las predicciones del modelo no </a:t>
            </a:r>
            <a:r>
              <a:rPr lang="es-E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sobreestiman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 </a:t>
            </a:r>
            <a:r>
              <a:rPr lang="es-E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subestiman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 valores reales.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E4BEE46-48D6-0E9D-48CE-918496178C48}"/>
              </a:ext>
            </a:extLst>
          </p:cNvPr>
          <p:cNvCxnSpPr>
            <a:cxnSpLocks/>
          </p:cNvCxnSpPr>
          <p:nvPr/>
        </p:nvCxnSpPr>
        <p:spPr>
          <a:xfrm flipV="1">
            <a:off x="5484125" y="2617023"/>
            <a:ext cx="1610436" cy="45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EBC6E99-73CD-422A-FCEE-C4BDDE747D09}"/>
              </a:ext>
            </a:extLst>
          </p:cNvPr>
          <p:cNvSpPr/>
          <p:nvPr/>
        </p:nvSpPr>
        <p:spPr>
          <a:xfrm>
            <a:off x="7083182" y="3326761"/>
            <a:ext cx="3821373" cy="7001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asegura que la dispersión de los errores es la misma en todas las observaciones, lo que facilita la evaluación de la precisión de las predicciones.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EBC5B17-652D-5479-8E75-5E0F4F69F8A6}"/>
              </a:ext>
            </a:extLst>
          </p:cNvPr>
          <p:cNvCxnSpPr/>
          <p:nvPr/>
        </p:nvCxnSpPr>
        <p:spPr>
          <a:xfrm>
            <a:off x="5484125" y="3688844"/>
            <a:ext cx="16104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20B12A4-777C-F63B-21ED-C0B928AEE7B0}"/>
              </a:ext>
            </a:extLst>
          </p:cNvPr>
          <p:cNvSpPr/>
          <p:nvPr/>
        </p:nvSpPr>
        <p:spPr>
          <a:xfrm>
            <a:off x="7083181" y="4260382"/>
            <a:ext cx="3821373" cy="10905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supuesto es crucial para la validez de las pruebas de hipótesis y la construcción de intervalos de confianza en la regresión, y para que los estimadores sean óptimos en términos de máxima verosimilitud.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D7BA1A2-6BDB-581B-FF6A-2B36663FA45D}"/>
              </a:ext>
            </a:extLst>
          </p:cNvPr>
          <p:cNvCxnSpPr/>
          <p:nvPr/>
        </p:nvCxnSpPr>
        <p:spPr>
          <a:xfrm>
            <a:off x="5484125" y="4808255"/>
            <a:ext cx="16104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C8A599-C26D-0A8C-069D-AFDE0C4678C5}"/>
              </a:ext>
            </a:extLst>
          </p:cNvPr>
          <p:cNvSpPr/>
          <p:nvPr/>
        </p:nvSpPr>
        <p:spPr>
          <a:xfrm>
            <a:off x="7083180" y="5503862"/>
            <a:ext cx="3821373" cy="7001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significa que el error para una observación no debe estar relacionado con el error para otra observación.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837EF9D-83A2-D253-F2C9-CB5D063153FF}"/>
              </a:ext>
            </a:extLst>
          </p:cNvPr>
          <p:cNvCxnSpPr/>
          <p:nvPr/>
        </p:nvCxnSpPr>
        <p:spPr>
          <a:xfrm>
            <a:off x="5472752" y="5853922"/>
            <a:ext cx="16104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76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9BA36-5D28-EAC2-6B0E-EE8F0E428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3842C-69B1-206B-CBA4-0656AFCDC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Hipótesis de la Prueba F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7A7A19-92F0-84D4-9557-74D7C1DCFB24}"/>
              </a:ext>
            </a:extLst>
          </p:cNvPr>
          <p:cNvSpPr txBox="1"/>
          <p:nvPr/>
        </p:nvSpPr>
        <p:spPr>
          <a:xfrm>
            <a:off x="964021" y="2321972"/>
            <a:ext cx="9940531" cy="58477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s-E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Prueba F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el contexto de regresión lineal evalúa si el modelo explica una cantidad significativa de variabilidad en la variable dependiente, en comparación con un modelo sin predictores (modelo nulo).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F6661F-F574-C795-615D-79544CE4ADEE}"/>
              </a:ext>
            </a:extLst>
          </p:cNvPr>
          <p:cNvSpPr txBox="1"/>
          <p:nvPr/>
        </p:nvSpPr>
        <p:spPr>
          <a:xfrm>
            <a:off x="964021" y="3385247"/>
            <a:ext cx="1851367" cy="33855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Juego de Hipótesis: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D1A8433B-380B-8775-23FC-647387ED6703}"/>
                  </a:ext>
                </a:extLst>
              </p:cNvPr>
              <p:cNvSpPr/>
              <p:nvPr/>
            </p:nvSpPr>
            <p:spPr>
              <a:xfrm>
                <a:off x="3721768" y="3204464"/>
                <a:ext cx="7182784" cy="70012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MX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modelo de regresión no es significativamente mejor que un modelo sin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s-MX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MX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modelo de regresión es significativamente mejor que un modelo sin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s-MX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D1A8433B-380B-8775-23FC-647387ED67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768" y="3204464"/>
                <a:ext cx="7182784" cy="700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844E07C-7248-1DCB-EF6A-7A6276A3DB80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2815388" y="3554524"/>
            <a:ext cx="9063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98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FD27-89C3-9199-CDBB-038C35A8A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3F2AA-9C79-B5DC-6087-B1ACDEFDA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Puntos Influyentes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Cook's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Cook's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D)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A92842-23A3-BB4A-3EB9-F83AA09A4951}"/>
              </a:ext>
            </a:extLst>
          </p:cNvPr>
          <p:cNvSpPr txBox="1"/>
          <p:nvPr/>
        </p:nvSpPr>
        <p:spPr>
          <a:xfrm>
            <a:off x="514843" y="2338014"/>
            <a:ext cx="4508730" cy="83099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una medida que nos dice cuánto afecta una observación individual a todo el modelo de regresión.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455479-8BC8-5F65-1C09-6E692DF06C8D}"/>
              </a:ext>
            </a:extLst>
          </p:cNvPr>
          <p:cNvSpPr txBox="1"/>
          <p:nvPr/>
        </p:nvSpPr>
        <p:spPr>
          <a:xfrm>
            <a:off x="514843" y="3386356"/>
            <a:ext cx="4508730" cy="83099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Imagina que quitas un punto del conjunto de datos: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Cook's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te dice cuánto cambian los coeficientes del modelo sin ese punto.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E2F9C1-62FA-0168-0FD6-C082094DD286}"/>
              </a:ext>
            </a:extLst>
          </p:cNvPr>
          <p:cNvSpPr txBox="1"/>
          <p:nvPr/>
        </p:nvSpPr>
        <p:spPr>
          <a:xfrm>
            <a:off x="514843" y="4501132"/>
            <a:ext cx="4520103" cy="83099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valor alto (por ejemplo, &gt; 1) sugiere que ese punto cambia significativamente los resultados del modelo, así que merece atención.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626AFF6-7209-C567-0B4B-31FA8CE8CF39}"/>
              </a:ext>
            </a:extLst>
          </p:cNvPr>
          <p:cNvSpPr txBox="1"/>
          <p:nvPr/>
        </p:nvSpPr>
        <p:spPr>
          <a:xfrm>
            <a:off x="514843" y="5546799"/>
            <a:ext cx="4508730" cy="83099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Revisar si hay errores en los datos. Ver si representa un caso especial (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Considera si el modelo necesita cambiar.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444835-E299-263A-4F0C-3D02F674062C}"/>
              </a:ext>
            </a:extLst>
          </p:cNvPr>
          <p:cNvSpPr/>
          <p:nvPr/>
        </p:nvSpPr>
        <p:spPr>
          <a:xfrm>
            <a:off x="5141495" y="2430346"/>
            <a:ext cx="1564105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es?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E6C38FC-74DE-959D-2746-031C45668A3D}"/>
              </a:ext>
            </a:extLst>
          </p:cNvPr>
          <p:cNvSpPr/>
          <p:nvPr/>
        </p:nvSpPr>
        <p:spPr>
          <a:xfrm>
            <a:off x="5141495" y="3445042"/>
            <a:ext cx="1564105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¿Cómo funciona?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4A1D8E4-EDD4-3F63-72FD-6EBBDCCB1BA2}"/>
              </a:ext>
            </a:extLst>
          </p:cNvPr>
          <p:cNvSpPr/>
          <p:nvPr/>
        </p:nvSpPr>
        <p:spPr>
          <a:xfrm>
            <a:off x="5141495" y="4593464"/>
            <a:ext cx="1564105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¿Por qué importa?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617A7DB-3955-1722-7BE4-71FA9A1178C5}"/>
              </a:ext>
            </a:extLst>
          </p:cNvPr>
          <p:cNvSpPr/>
          <p:nvPr/>
        </p:nvSpPr>
        <p:spPr>
          <a:xfrm>
            <a:off x="5141495" y="5639131"/>
            <a:ext cx="1564105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hago con esto?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AFF4BBE-A31B-5DA1-48E8-DA80AE73D3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93" b="12569"/>
          <a:stretch/>
        </p:blipFill>
        <p:spPr>
          <a:xfrm>
            <a:off x="7168429" y="4091373"/>
            <a:ext cx="4616191" cy="2155927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15E2D37-7AD3-4F81-F713-06EA61F9146E}"/>
              </a:ext>
            </a:extLst>
          </p:cNvPr>
          <p:cNvSpPr txBox="1"/>
          <p:nvPr/>
        </p:nvSpPr>
        <p:spPr>
          <a:xfrm>
            <a:off x="6986337" y="2367824"/>
            <a:ext cx="38661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punto influyente es una observación que afecta notablemente la forma o los coeficientes del modelo de regresión.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77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A2276-D260-DEDB-1171-CB785009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993F2-A9C4-190B-1949-5F52F962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Puntos Influyente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(Palanca)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76FA4A-22B1-4813-0084-0C69B831AB51}"/>
              </a:ext>
            </a:extLst>
          </p:cNvPr>
          <p:cNvSpPr txBox="1"/>
          <p:nvPr/>
        </p:nvSpPr>
        <p:spPr>
          <a:xfrm>
            <a:off x="514843" y="2338014"/>
            <a:ext cx="4508730" cy="83099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Mide qué tan "raro" o alejado es un punto respecto al resto, en términos de las variables independientes (predictoras).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680695-145C-5C02-4E96-E70014CD9106}"/>
              </a:ext>
            </a:extLst>
          </p:cNvPr>
          <p:cNvSpPr txBox="1"/>
          <p:nvPr/>
        </p:nvSpPr>
        <p:spPr>
          <a:xfrm>
            <a:off x="514843" y="3386356"/>
            <a:ext cx="4508730" cy="83099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una observación tiene un valor de la variable predictora muy distinto al promedio del grupo, su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será alto.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80F8DF-CACC-8535-0161-BD94EA9B4562}"/>
              </a:ext>
            </a:extLst>
          </p:cNvPr>
          <p:cNvSpPr txBox="1"/>
          <p:nvPr/>
        </p:nvSpPr>
        <p:spPr>
          <a:xfrm>
            <a:off x="514843" y="4501132"/>
            <a:ext cx="4520103" cy="83099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punto con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alto tiene el potencial de ser influyente, porque está en un lugar donde pocas observaciones están.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34F413-F158-EFEF-9C5E-F1EBDC80909A}"/>
              </a:ext>
            </a:extLst>
          </p:cNvPr>
          <p:cNvSpPr txBox="1"/>
          <p:nvPr/>
        </p:nvSpPr>
        <p:spPr>
          <a:xfrm>
            <a:off x="514843" y="5546799"/>
            <a:ext cx="4508730" cy="107721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un punto tiene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alto y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Cook’s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alto → probablemente sea muy influyente.</a:t>
            </a:r>
          </a:p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solo tiene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alto, pero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Cook’s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bajo → no está cambiando mucho el modelo, aunque es atípico.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0520DF-5452-E893-A8BF-FF83788BCD7F}"/>
              </a:ext>
            </a:extLst>
          </p:cNvPr>
          <p:cNvSpPr/>
          <p:nvPr/>
        </p:nvSpPr>
        <p:spPr>
          <a:xfrm>
            <a:off x="5141495" y="2430346"/>
            <a:ext cx="1564105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es?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132A08-7145-3EAA-29FF-E74D34FECFA6}"/>
              </a:ext>
            </a:extLst>
          </p:cNvPr>
          <p:cNvSpPr/>
          <p:nvPr/>
        </p:nvSpPr>
        <p:spPr>
          <a:xfrm>
            <a:off x="5141495" y="3445042"/>
            <a:ext cx="1564105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¿Cómo funciona?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8487939-4F01-FB16-D876-69E2EDF84CB2}"/>
              </a:ext>
            </a:extLst>
          </p:cNvPr>
          <p:cNvSpPr/>
          <p:nvPr/>
        </p:nvSpPr>
        <p:spPr>
          <a:xfrm>
            <a:off x="5141495" y="4593464"/>
            <a:ext cx="1564105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¿Por qué importa?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F9A722D-D234-8F71-6788-652E0C941B76}"/>
              </a:ext>
            </a:extLst>
          </p:cNvPr>
          <p:cNvSpPr/>
          <p:nvPr/>
        </p:nvSpPr>
        <p:spPr>
          <a:xfrm>
            <a:off x="5141495" y="5762242"/>
            <a:ext cx="1564105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hago con esto?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ADB71E-CDB4-71FF-2DD5-DDE995BC8BB2}"/>
              </a:ext>
            </a:extLst>
          </p:cNvPr>
          <p:cNvSpPr txBox="1"/>
          <p:nvPr/>
        </p:nvSpPr>
        <p:spPr>
          <a:xfrm>
            <a:off x="6878730" y="4501132"/>
            <a:ext cx="47243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Tener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alto no significa automáticamente que el punto está afectando el modelo, solo que puede hacerlo.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87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9E681-B9FC-D4F9-A882-61334B96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836F4-37B4-E9AD-01AC-BBA3AD72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Puntos Influyente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(Palanca)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41CB96-15B1-9066-865B-DA994E663EAD}"/>
              </a:ext>
            </a:extLst>
          </p:cNvPr>
          <p:cNvSpPr txBox="1"/>
          <p:nvPr/>
        </p:nvSpPr>
        <p:spPr>
          <a:xfrm>
            <a:off x="3349467" y="5735053"/>
            <a:ext cx="60672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indica qué tanta influencia tiene una observación en la predicción del modelo.</a:t>
            </a:r>
          </a:p>
          <a:p>
            <a:pPr algn="just"/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altos de </a:t>
            </a:r>
            <a:r>
              <a:rPr lang="es-E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 la derecha) significan que esos puntos están lejos del centro de los valores del predictor.</a:t>
            </a:r>
            <a:endParaRPr lang="es-MX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A93ADA4-ED62-7D9E-6468-38D9DD26FB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93" r="2118" b="12569"/>
          <a:stretch/>
        </p:blipFill>
        <p:spPr>
          <a:xfrm>
            <a:off x="2349433" y="2159791"/>
            <a:ext cx="7493133" cy="35752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56742E1-278E-8037-2506-0EB48683EB25}"/>
              </a:ext>
            </a:extLst>
          </p:cNvPr>
          <p:cNvSpPr txBox="1"/>
          <p:nvPr/>
        </p:nvSpPr>
        <p:spPr>
          <a:xfrm>
            <a:off x="245319" y="2608594"/>
            <a:ext cx="192036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Indican qué tanto se desvía el valor observado del valor predicho, en unidades de desviación estándar.</a:t>
            </a:r>
          </a:p>
          <a:p>
            <a:pPr algn="just"/>
            <a:endParaRPr lang="es-E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grandes (positivos o negativos) sugieren que el modelo no predijo bien esos puntos.</a:t>
            </a:r>
            <a:endParaRPr lang="es-MX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BCD3E0B-111A-2466-8346-43BB35038723}"/>
              </a:ext>
            </a:extLst>
          </p:cNvPr>
          <p:cNvCxnSpPr/>
          <p:nvPr/>
        </p:nvCxnSpPr>
        <p:spPr>
          <a:xfrm>
            <a:off x="9208168" y="2151770"/>
            <a:ext cx="0" cy="113686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AA0A862-C8FB-A8F4-B428-EA81A969E511}"/>
              </a:ext>
            </a:extLst>
          </p:cNvPr>
          <p:cNvSpPr txBox="1"/>
          <p:nvPr/>
        </p:nvSpPr>
        <p:spPr>
          <a:xfrm>
            <a:off x="7743761" y="1391172"/>
            <a:ext cx="29288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 punto es una observación.</a:t>
            </a:r>
          </a:p>
          <a:p>
            <a:pPr algn="just"/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puntos numerados son potencialmente influyentes o atípicos.</a:t>
            </a:r>
            <a:endParaRPr lang="es-MX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D4630DC-842D-66B0-D9BA-EC87B7BB6E33}"/>
              </a:ext>
            </a:extLst>
          </p:cNvPr>
          <p:cNvCxnSpPr>
            <a:cxnSpLocks/>
          </p:cNvCxnSpPr>
          <p:nvPr/>
        </p:nvCxnSpPr>
        <p:spPr>
          <a:xfrm flipH="1">
            <a:off x="8141368" y="3907317"/>
            <a:ext cx="158014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BE15158-E7D9-A30F-003E-2D73875CE3B9}"/>
              </a:ext>
            </a:extLst>
          </p:cNvPr>
          <p:cNvSpPr txBox="1"/>
          <p:nvPr/>
        </p:nvSpPr>
        <p:spPr>
          <a:xfrm>
            <a:off x="9842566" y="3288632"/>
            <a:ext cx="200452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una curva suavizada (loess) que muestra la tendencia entre </a:t>
            </a:r>
            <a:r>
              <a:rPr lang="es-E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residuos. En un buen modelo, debería estar cerca del eje horizontal (residuo = 0).</a:t>
            </a:r>
            <a:endParaRPr lang="es-MX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892C9C5-938F-6207-2CD5-AEFE365A08F5}"/>
              </a:ext>
            </a:extLst>
          </p:cNvPr>
          <p:cNvCxnSpPr/>
          <p:nvPr/>
        </p:nvCxnSpPr>
        <p:spPr>
          <a:xfrm flipH="1" flipV="1">
            <a:off x="8931441" y="5070807"/>
            <a:ext cx="790074" cy="51184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E3CF10D-D8F2-ABAC-BC5A-762197F05607}"/>
              </a:ext>
            </a:extLst>
          </p:cNvPr>
          <p:cNvSpPr txBox="1"/>
          <p:nvPr/>
        </p:nvSpPr>
        <p:spPr>
          <a:xfrm>
            <a:off x="9721515" y="5433135"/>
            <a:ext cx="20045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Curvas grises que muestran la distancia de Cook. Si es mayor a 0.5 o 1 indica puntos influyentes.</a:t>
            </a:r>
          </a:p>
        </p:txBody>
      </p:sp>
    </p:spTree>
    <p:extLst>
      <p:ext uri="{BB962C8B-B14F-4D97-AF65-F5344CB8AC3E}">
        <p14:creationId xmlns:p14="http://schemas.microsoft.com/office/powerpoint/2010/main" val="12935573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2278</TotalTime>
  <Words>1408</Words>
  <Application>Microsoft Office PowerPoint</Application>
  <PresentationFormat>Panorámica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Regresión Lineal</vt:lpstr>
      <vt:lpstr>Regresión Lineal</vt:lpstr>
      <vt:lpstr>Regresión Lineal</vt:lpstr>
      <vt:lpstr>Regresión Lineal</vt:lpstr>
      <vt:lpstr>Regresión Lineal</vt:lpstr>
      <vt:lpstr>Ejemplo</vt:lpstr>
      <vt:lpstr>Estimación de β_0 y β_1 </vt:lpstr>
      <vt:lpstr>Supuestos de la distribución de e</vt:lpstr>
      <vt:lpstr>Hipótesis de la Prueba F</vt:lpstr>
      <vt:lpstr>Puntos Influyentes Cook's Distance (Cook's D) </vt:lpstr>
      <vt:lpstr>Puntos Influyente Leverage (Palanca)</vt:lpstr>
      <vt:lpstr>Puntos Influyente Leverage (Palanca)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- CORTES</cp:lastModifiedBy>
  <cp:revision>97</cp:revision>
  <dcterms:created xsi:type="dcterms:W3CDTF">2023-09-16T20:42:33Z</dcterms:created>
  <dcterms:modified xsi:type="dcterms:W3CDTF">2025-05-11T01:20:01Z</dcterms:modified>
</cp:coreProperties>
</file>