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68" r:id="rId2"/>
    <p:sldId id="257" r:id="rId3"/>
    <p:sldId id="262" r:id="rId4"/>
    <p:sldId id="269" r:id="rId5"/>
    <p:sldId id="270" r:id="rId6"/>
    <p:sldId id="259" r:id="rId7"/>
    <p:sldId id="272" r:id="rId8"/>
    <p:sldId id="258" r:id="rId9"/>
    <p:sldId id="273" r:id="rId10"/>
    <p:sldId id="274" r:id="rId1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95" d="100"/>
          <a:sy n="95" d="100"/>
        </p:scale>
        <p:origin x="2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E06FD9-7C5A-4B1C-968A-BB507C3E1197}" type="datetimeFigureOut">
              <a:rPr lang="es-MX" smtClean="0"/>
              <a:t>10/05/2025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B6384F-A249-4C3C-8731-5338BA85F774}" type="slidenum">
              <a:rPr lang="es-MX" smtClean="0"/>
              <a:t>‹Nº›</a:t>
            </a:fld>
            <a:endParaRPr lang="es-MX"/>
          </a:p>
        </p:txBody>
      </p:sp>
    </p:spTree>
    <p:extLst>
      <p:ext uri="{BB962C8B-B14F-4D97-AF65-F5344CB8AC3E}">
        <p14:creationId xmlns:p14="http://schemas.microsoft.com/office/powerpoint/2010/main" val="3140859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5526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0025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83561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33724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4146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19709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26812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12160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83561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37548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es-ES" noProof="0"/>
              <a:t>Haga clic para modificar el estilo de título del patrón</a:t>
            </a:r>
            <a:endParaRPr lang="es-ES" noProof="0" dirty="0"/>
          </a:p>
        </p:txBody>
      </p:sp>
      <p:grpSp>
        <p:nvGrpSpPr>
          <p:cNvPr id="9" name="Grupo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8" name="Marcador de texto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3" name="Conector recto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39669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8" name="Forma lib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9" name="Forma lib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0" name="Forma lib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1" name="Forma lib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2" name="Título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s-ES" noProof="0"/>
              <a:t>Haga clic para modificar el estilo de título del patrón</a:t>
            </a:r>
            <a:endParaRPr lang="es-ES" noProof="0" dirty="0"/>
          </a:p>
        </p:txBody>
      </p:sp>
      <p:cxnSp>
        <p:nvCxnSpPr>
          <p:cNvPr id="13" name="Conector recto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Marcador de texto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5" name="Marcador de texto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6" name="Conector recto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Marcador de texto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8" name="Marcador de texto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0" name="Conector recto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Marcador de texto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2" name="Marcador de texto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3" name="Conector recto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Marcador de texto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5" name="Marcador de texto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Marcador de texto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8" name="Marcador de texto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62655503-4608-4F79-A5D4-B2F67958F263}"/>
              </a:ext>
            </a:extLst>
          </p:cNvPr>
          <p:cNvSpPr>
            <a:spLocks noGrp="1"/>
          </p:cNvSpPr>
          <p:nvPr>
            <p:ph type="dt" sz="half" idx="2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0CFFE12A-8763-4EB7-9CEB-5B78076C5C21}"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283954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ción">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orma libre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6" name="Forma libre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9" name="Forma libre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4" name="Marcador de posición de imagen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s-ES" noProof="0"/>
              <a:t>Haga clic en el icono para agregar una imagen</a:t>
            </a:r>
            <a:endParaRPr lang="es-ES" noProof="0" dirty="0"/>
          </a:p>
        </p:txBody>
      </p:sp>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17" name="Conector recto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Marcador de texto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CA64E0B3-57C5-4DAF-8531-F39610E77C09}"/>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845086BA-4771-4251-A1A0-95AEDDEBD7A7}"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B7E0EC46-C626-4D58-AB64-0B3B850D1482}"/>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865347525"/>
      </p:ext>
    </p:extLst>
  </p:cSld>
  <p:clrMapOvr>
    <a:masterClrMapping/>
  </p:clrMapOvr>
  <p:extLst>
    <p:ext uri="{DCECCB84-F9BA-43D5-87BE-67443E8EF086}">
      <p15:sldGuideLst xmlns:p15="http://schemas.microsoft.com/office/powerpoint/2012/main">
        <p15:guide id="1" pos="600">
          <p15:clr>
            <a:srgbClr val="FBAE40"/>
          </p15:clr>
        </p15:guide>
        <p15:guide id="6" pos="3480">
          <p15:clr>
            <a:srgbClr val="FBAE40"/>
          </p15:clr>
        </p15:guide>
        <p15:guide id="7" orient="horz" pos="1440">
          <p15:clr>
            <a:srgbClr val="FBAE40"/>
          </p15:clr>
        </p15:guide>
        <p15:guide id="9" orient="horz" pos="1224">
          <p15:clr>
            <a:srgbClr val="FBAE40"/>
          </p15:clr>
        </p15:guide>
        <p15:guide id="10" orient="horz" pos="55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anso">
    <p:bg>
      <p:bgPr>
        <a:solidFill>
          <a:schemeClr val="tx1"/>
        </a:solidFill>
        <a:effectLst/>
      </p:bgPr>
    </p:bg>
    <p:spTree>
      <p:nvGrpSpPr>
        <p:cNvPr id="1" name=""/>
        <p:cNvGrpSpPr/>
        <p:nvPr/>
      </p:nvGrpSpPr>
      <p:grpSpPr>
        <a:xfrm>
          <a:off x="0" y="0"/>
          <a:ext cx="0" cy="0"/>
          <a:chOff x="0" y="0"/>
          <a:chExt cx="0" cy="0"/>
        </a:xfrm>
      </p:grpSpPr>
      <p:sp>
        <p:nvSpPr>
          <p:cNvPr id="21" name="Marcador de posición de imagen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es-ES" noProof="0"/>
              <a:t>Haga clic en el icono para agregar una imagen</a:t>
            </a:r>
            <a:endParaRPr lang="es-ES" noProof="0" dirty="0"/>
          </a:p>
        </p:txBody>
      </p:sp>
      <p:sp>
        <p:nvSpPr>
          <p:cNvPr id="18" name="Título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s-ES" noProof="0"/>
              <a:t>Haga clic para modificar el estilo de título del patrón</a:t>
            </a:r>
            <a:endParaRPr lang="es-ES" noProof="0" dirty="0"/>
          </a:p>
        </p:txBody>
      </p:sp>
      <p:cxnSp>
        <p:nvCxnSpPr>
          <p:cNvPr id="20" name="Conector recto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upo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orma libre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4" name="Forma libre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5" name="Forma libre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1240272940"/>
      </p:ext>
    </p:extLst>
  </p:cSld>
  <p:clrMapOvr>
    <a:masterClrMapping/>
  </p:clrMapOvr>
  <p:extLst>
    <p:ext uri="{DCECCB84-F9BA-43D5-87BE-67443E8EF086}">
      <p15:sldGuideLst xmlns:p15="http://schemas.microsoft.com/office/powerpoint/2012/main">
        <p15:guide id="2" pos="7104">
          <p15:clr>
            <a:srgbClr val="FBAE40"/>
          </p15:clr>
        </p15:guide>
        <p15:guide id="3" pos="4344">
          <p15:clr>
            <a:srgbClr val="FBAE40"/>
          </p15:clr>
        </p15:guide>
        <p15:guide id="4" pos="4560">
          <p15:clr>
            <a:srgbClr val="FBAE40"/>
          </p15:clr>
        </p15:guide>
        <p15:guide id="8" orient="horz" pos="18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áfico">
    <p:bg>
      <p:bgPr>
        <a:solidFill>
          <a:schemeClr val="tx1"/>
        </a:solidFill>
        <a:effectLst/>
      </p:bgPr>
    </p:bg>
    <p:spTree>
      <p:nvGrpSpPr>
        <p:cNvPr id="1" name=""/>
        <p:cNvGrpSpPr/>
        <p:nvPr/>
      </p:nvGrpSpPr>
      <p:grpSpPr>
        <a:xfrm>
          <a:off x="0" y="0"/>
          <a:ext cx="0" cy="0"/>
          <a:chOff x="0" y="0"/>
          <a:chExt cx="0" cy="0"/>
        </a:xfrm>
      </p:grpSpPr>
      <p:sp>
        <p:nvSpPr>
          <p:cNvPr id="6" name="Marcador de posición de gráfico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defRPr>
            </a:lvl1pPr>
          </a:lstStyle>
          <a:p>
            <a:pPr rtl="0"/>
            <a:r>
              <a:rPr lang="es-ES" noProof="0"/>
              <a:t>Haga clic en el icono para agregar un gráfico</a:t>
            </a:r>
          </a:p>
        </p:txBody>
      </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2" name="Marcador de fecha 1">
            <a:extLst>
              <a:ext uri="{FF2B5EF4-FFF2-40B4-BE49-F238E27FC236}">
                <a16:creationId xmlns:a16="http://schemas.microsoft.com/office/drawing/2014/main" id="{371012B1-809A-45CE-9FED-46D08DC8C42B}"/>
              </a:ext>
            </a:extLst>
          </p:cNvPr>
          <p:cNvSpPr>
            <a:spLocks noGrp="1"/>
          </p:cNvSpPr>
          <p:nvPr>
            <p:ph type="dt" sz="half" idx="1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6A99CD11-04C6-421F-AE19-E5D29CCF776B}"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 de mayo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3FB6FA27-6601-4107-A3C9-808CB4430246}"/>
              </a:ext>
            </a:extLst>
          </p:cNvPr>
          <p:cNvSpPr>
            <a:spLocks noGrp="1"/>
          </p:cNvSpPr>
          <p:nvPr>
            <p:ph type="ftr" sz="quarter" idx="1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70436514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a">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9" name="Marcador de título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r>
              <a:rPr lang="es-ES" noProof="0"/>
              <a:t>Haga clic en el icono para agregar una tabla</a:t>
            </a:r>
          </a:p>
        </p:txBody>
      </p:sp>
      <p:sp>
        <p:nvSpPr>
          <p:cNvPr id="2" name="Marcador de fecha 1">
            <a:extLst>
              <a:ext uri="{FF2B5EF4-FFF2-40B4-BE49-F238E27FC236}">
                <a16:creationId xmlns:a16="http://schemas.microsoft.com/office/drawing/2014/main" id="{9B2411D2-78FE-46C1-9EA9-C6A882903B53}"/>
              </a:ext>
            </a:extLst>
          </p:cNvPr>
          <p:cNvSpPr>
            <a:spLocks noGrp="1"/>
          </p:cNvSpPr>
          <p:nvPr>
            <p:ph type="dt" sz="half" idx="1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68820299-DC87-4039-A7B5-9AC50CF7A216}"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 de mayo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C04DAF8F-82DB-4DBE-9041-71217A4516CB}"/>
              </a:ext>
            </a:extLst>
          </p:cNvPr>
          <p:cNvSpPr>
            <a:spLocks noGrp="1"/>
          </p:cNvSpPr>
          <p:nvPr>
            <p:ph type="ftr" sz="quarter" idx="1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4080274302"/>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
    <p:bg>
      <p:bgPr>
        <a:solidFill>
          <a:schemeClr val="tx1"/>
        </a:solid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s-ES" noProof="0"/>
              <a:t>Haga clic para modificar el estilo de título del patrón</a:t>
            </a:r>
            <a:endParaRPr lang="es-ES" noProof="0" dirty="0"/>
          </a:p>
        </p:txBody>
      </p:sp>
      <p:sp>
        <p:nvSpPr>
          <p:cNvPr id="10" name="Cuadro de texto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0000" b="1" i="0" u="none" strike="noStrike" kern="1200" cap="none" spc="0" normalizeH="0" baseline="0" noProof="0" dirty="0">
                <a:ln>
                  <a:noFill/>
                </a:ln>
                <a:solidFill>
                  <a:prstClr val="black"/>
                </a:solidFill>
                <a:effectLst/>
                <a:uLnTx/>
                <a:uFillTx/>
                <a:latin typeface="Franklin Gothic Book"/>
                <a:ea typeface="+mn-ea"/>
                <a:cs typeface="+mn-cs"/>
              </a:rPr>
              <a:t>“</a:t>
            </a:r>
          </a:p>
        </p:txBody>
      </p:sp>
      <p:grpSp>
        <p:nvGrpSpPr>
          <p:cNvPr id="18" name="Grupo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forma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0" name="Forma libre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1" name="Forma libre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2" name="Forma libre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3" name="Forma libre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grpSp>
        <p:nvGrpSpPr>
          <p:cNvPr id="24" name="Grupo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orma libre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6" name="Forma libre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7" name="Forma libre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6056142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560">
          <p15:clr>
            <a:srgbClr val="FBAE40"/>
          </p15:clr>
        </p15:guide>
        <p15:guide id="8" orient="horz" pos="1752">
          <p15:clr>
            <a:srgbClr val="FBAE40"/>
          </p15:clr>
        </p15:guide>
        <p15:guide id="9" orient="horz" pos="124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quipo">
    <p:bg>
      <p:bgPr>
        <a:solidFill>
          <a:schemeClr val="tx1"/>
        </a:solidFill>
        <a:effectLst/>
      </p:bgPr>
    </p:bg>
    <p:spTree>
      <p:nvGrpSpPr>
        <p:cNvPr id="1" name=""/>
        <p:cNvGrpSpPr/>
        <p:nvPr/>
      </p:nvGrpSpPr>
      <p:grpSpPr>
        <a:xfrm>
          <a:off x="0" y="0"/>
          <a:ext cx="0" cy="0"/>
          <a:chOff x="0" y="0"/>
          <a:chExt cx="0" cy="0"/>
        </a:xfrm>
      </p:grpSpPr>
      <p:grpSp>
        <p:nvGrpSpPr>
          <p:cNvPr id="25" name="Grupo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orma libre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7" name="Forma libre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6" name="Forma libre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8" name="Marcador de posición de imagen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61" name="Título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modificar el estilo de título del patrón</a:t>
            </a:r>
            <a:endParaRPr lang="es-ES" noProof="0" dirty="0"/>
          </a:p>
        </p:txBody>
      </p:sp>
      <p:cxnSp>
        <p:nvCxnSpPr>
          <p:cNvPr id="62" name="Conector recto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Marcador de posición de imagen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72" name="Marcador de texto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3" name="Marcador de texto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4" name="Marcador de texto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5" name="Marcador de texto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6" name="Marcador de texto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7" name="Marcador de texto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8" name="Marcador de texto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9" name="Marcador de texto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grpSp>
        <p:nvGrpSpPr>
          <p:cNvPr id="23" name="Grupo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forma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9" name="Forma libre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0" name="Forma libre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1" name="Forma libre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2" name="Forma libre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66" name="Marcador de posición de imagen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69" name="Marcador de posición de imagen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2" name="Marcador de fecha 1">
            <a:extLst>
              <a:ext uri="{FF2B5EF4-FFF2-40B4-BE49-F238E27FC236}">
                <a16:creationId xmlns:a16="http://schemas.microsoft.com/office/drawing/2014/main" id="{8ED89364-B1CB-4E72-A6BB-95A34B50661C}"/>
              </a:ext>
            </a:extLst>
          </p:cNvPr>
          <p:cNvSpPr>
            <a:spLocks noGrp="1"/>
          </p:cNvSpPr>
          <p:nvPr>
            <p:ph type="dt" sz="half" idx="3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7BEA095D-F9AB-465B-A2BC-526B797F4865}"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8E09328F-B310-4BF3-883E-BA9A39676AF2}"/>
              </a:ext>
            </a:extLst>
          </p:cNvPr>
          <p:cNvSpPr>
            <a:spLocks noGrp="1"/>
          </p:cNvSpPr>
          <p:nvPr>
            <p:ph type="ftr" sz="quarter" idx="3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4962814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4008">
          <p15:clr>
            <a:srgbClr val="FBAE40"/>
          </p15:clr>
        </p15:guide>
        <p15:guide id="5" pos="1944">
          <p15:clr>
            <a:srgbClr val="FBAE40"/>
          </p15:clr>
        </p15:guide>
        <p15:guide id="6" pos="3648">
          <p15:clr>
            <a:srgbClr val="FBAE40"/>
          </p15:clr>
        </p15:guide>
        <p15:guide id="7" orient="horz" pos="1392">
          <p15:clr>
            <a:srgbClr val="FBAE40"/>
          </p15:clr>
        </p15:guide>
        <p15:guide id="8" orient="horz" pos="552">
          <p15:clr>
            <a:srgbClr val="FBAE40"/>
          </p15:clr>
        </p15:guide>
        <p15:guide id="9" orient="horz" pos="1224">
          <p15:clr>
            <a:srgbClr val="FBAE40"/>
          </p15:clr>
        </p15:guide>
        <p15:guide id="10" pos="5352">
          <p15:clr>
            <a:srgbClr val="FBAE40"/>
          </p15:clr>
        </p15:guide>
        <p15:guide id="11" pos="5736">
          <p15:clr>
            <a:srgbClr val="FBAE40"/>
          </p15:clr>
        </p15:guide>
        <p15:guide id="12" orient="horz" pos="2904">
          <p15:clr>
            <a:srgbClr val="FBAE40"/>
          </p15:clr>
        </p15:guide>
        <p15:guide id="13" orient="horz" pos="160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scala de tiempo ">
    <p:bg>
      <p:bgPr>
        <a:solidFill>
          <a:schemeClr val="tx1"/>
        </a:solidFill>
        <a:effectLst/>
      </p:bgPr>
    </p:bg>
    <p:spTree>
      <p:nvGrpSpPr>
        <p:cNvPr id="1" name=""/>
        <p:cNvGrpSpPr/>
        <p:nvPr/>
      </p:nvGrpSpPr>
      <p:grpSpPr>
        <a:xfrm>
          <a:off x="0" y="0"/>
          <a:ext cx="0" cy="0"/>
          <a:chOff x="0" y="0"/>
          <a:chExt cx="0" cy="0"/>
        </a:xfrm>
      </p:grpSpPr>
      <p:cxnSp>
        <p:nvCxnSpPr>
          <p:cNvPr id="21" name="Conector recto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ítulo 1">
            <a:extLst>
              <a:ext uri="{FF2B5EF4-FFF2-40B4-BE49-F238E27FC236}">
                <a16:creationId xmlns:a16="http://schemas.microsoft.com/office/drawing/2014/main" id="{46EEE005-F78A-9D4F-B159-964376C387DD}"/>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96" name="Marcador de texto 29">
            <a:extLst>
              <a:ext uri="{FF2B5EF4-FFF2-40B4-BE49-F238E27FC236}">
                <a16:creationId xmlns:a16="http://schemas.microsoft.com/office/drawing/2014/main" id="{FC61536F-8EA7-5A48-AF76-8B0E251BD8CB}"/>
              </a:ext>
            </a:extLst>
          </p:cNvPr>
          <p:cNvSpPr>
            <a:spLocks noGrp="1"/>
          </p:cNvSpPr>
          <p:nvPr>
            <p:ph type="body" sz="quarter" idx="12" hasCustomPrompt="1"/>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97" name="Marcador de texto 29">
            <a:extLst>
              <a:ext uri="{FF2B5EF4-FFF2-40B4-BE49-F238E27FC236}">
                <a16:creationId xmlns:a16="http://schemas.microsoft.com/office/drawing/2014/main" id="{64FFD994-BD97-ED49-8607-286ECBB1CDA3}"/>
              </a:ext>
            </a:extLst>
          </p:cNvPr>
          <p:cNvSpPr>
            <a:spLocks noGrp="1"/>
          </p:cNvSpPr>
          <p:nvPr>
            <p:ph type="body" sz="quarter" idx="11" hasCustomPrompt="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editar </a:t>
            </a:r>
          </a:p>
        </p:txBody>
      </p:sp>
      <p:sp>
        <p:nvSpPr>
          <p:cNvPr id="102" name="Marcador de texto 29">
            <a:extLst>
              <a:ext uri="{FF2B5EF4-FFF2-40B4-BE49-F238E27FC236}">
                <a16:creationId xmlns:a16="http://schemas.microsoft.com/office/drawing/2014/main" id="{D1ADE805-BFBC-ED47-B9CB-6CB2FF02E868}"/>
              </a:ext>
            </a:extLst>
          </p:cNvPr>
          <p:cNvSpPr>
            <a:spLocks noGrp="1"/>
          </p:cNvSpPr>
          <p:nvPr>
            <p:ph type="body" sz="quarter" idx="30" hasCustomPrompt="1"/>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3" name="Marcador de texto 29">
            <a:extLst>
              <a:ext uri="{FF2B5EF4-FFF2-40B4-BE49-F238E27FC236}">
                <a16:creationId xmlns:a16="http://schemas.microsoft.com/office/drawing/2014/main" id="{334A3589-641F-F547-891B-149579153B75}"/>
              </a:ext>
            </a:extLst>
          </p:cNvPr>
          <p:cNvSpPr>
            <a:spLocks noGrp="1"/>
          </p:cNvSpPr>
          <p:nvPr>
            <p:ph type="body" sz="quarter" idx="31" hasCustomPrompt="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ES" noProof="0"/>
              <a:t>Haga clic para editar </a:t>
            </a:r>
          </a:p>
        </p:txBody>
      </p:sp>
      <p:sp>
        <p:nvSpPr>
          <p:cNvPr id="106" name="Marcador de texto 29">
            <a:extLst>
              <a:ext uri="{FF2B5EF4-FFF2-40B4-BE49-F238E27FC236}">
                <a16:creationId xmlns:a16="http://schemas.microsoft.com/office/drawing/2014/main" id="{A63F8454-D12E-A641-ABD0-8977D3F5EC05}"/>
              </a:ext>
            </a:extLst>
          </p:cNvPr>
          <p:cNvSpPr>
            <a:spLocks noGrp="1"/>
          </p:cNvSpPr>
          <p:nvPr>
            <p:ph type="body" sz="quarter" idx="32" hasCustomPrompt="1"/>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7" name="Marcador de texto 29">
            <a:extLst>
              <a:ext uri="{FF2B5EF4-FFF2-40B4-BE49-F238E27FC236}">
                <a16:creationId xmlns:a16="http://schemas.microsoft.com/office/drawing/2014/main" id="{F35AA15D-DBAD-9840-8764-A5B6D486A234}"/>
              </a:ext>
            </a:extLst>
          </p:cNvPr>
          <p:cNvSpPr>
            <a:spLocks noGrp="1"/>
          </p:cNvSpPr>
          <p:nvPr>
            <p:ph type="body" sz="quarter" idx="33" hasCustomPrompt="1"/>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ES" noProof="0"/>
              <a:t>Haga clic para editar </a:t>
            </a:r>
          </a:p>
        </p:txBody>
      </p:sp>
      <p:sp>
        <p:nvSpPr>
          <p:cNvPr id="108" name="Marcador de texto 29">
            <a:extLst>
              <a:ext uri="{FF2B5EF4-FFF2-40B4-BE49-F238E27FC236}">
                <a16:creationId xmlns:a16="http://schemas.microsoft.com/office/drawing/2014/main" id="{8357CA0F-1A55-B145-8305-562F0DF22543}"/>
              </a:ext>
            </a:extLst>
          </p:cNvPr>
          <p:cNvSpPr>
            <a:spLocks noGrp="1"/>
          </p:cNvSpPr>
          <p:nvPr>
            <p:ph type="body" sz="quarter" idx="34" hasCustomPrompt="1"/>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9" name="Marcador de texto 29">
            <a:extLst>
              <a:ext uri="{FF2B5EF4-FFF2-40B4-BE49-F238E27FC236}">
                <a16:creationId xmlns:a16="http://schemas.microsoft.com/office/drawing/2014/main" id="{D6C49F6F-AF28-8942-8442-8F54A1DC388B}"/>
              </a:ext>
            </a:extLst>
          </p:cNvPr>
          <p:cNvSpPr>
            <a:spLocks noGrp="1"/>
          </p:cNvSpPr>
          <p:nvPr>
            <p:ph type="body" sz="quarter" idx="35" hasCustomPrompt="1"/>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editar </a:t>
            </a:r>
          </a:p>
        </p:txBody>
      </p:sp>
      <p:cxnSp>
        <p:nvCxnSpPr>
          <p:cNvPr id="8" name="Conector recto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ángulo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47" name="Rectángulo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 name="Rectángulo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 name="Rectángulo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 name="Marcador de fecha 1">
            <a:extLst>
              <a:ext uri="{FF2B5EF4-FFF2-40B4-BE49-F238E27FC236}">
                <a16:creationId xmlns:a16="http://schemas.microsoft.com/office/drawing/2014/main" id="{21DC2552-C347-4C3D-8C92-4A6981227C0E}"/>
              </a:ext>
            </a:extLst>
          </p:cNvPr>
          <p:cNvSpPr>
            <a:spLocks noGrp="1"/>
          </p:cNvSpPr>
          <p:nvPr>
            <p:ph type="dt" sz="half" idx="3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F99D83C0-D2D5-496F-A305-9D3513BEF95B}"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 de mayo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A5B7C35C-F3E4-4522-8711-16E4F9052C2C}"/>
              </a:ext>
            </a:extLst>
          </p:cNvPr>
          <p:cNvSpPr>
            <a:spLocks noGrp="1"/>
          </p:cNvSpPr>
          <p:nvPr>
            <p:ph type="ftr" sz="quarter" idx="37"/>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1F4D6BAD-56F4-42F1-A2B3-FDB73364FD40}"/>
              </a:ext>
            </a:extLst>
          </p:cNvPr>
          <p:cNvSpPr>
            <a:spLocks noGrp="1"/>
          </p:cNvSpPr>
          <p:nvPr>
            <p:ph type="sldNum" sz="quarter" idx="38"/>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8860420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3768">
          <p15:clr>
            <a:srgbClr val="FBAE40"/>
          </p15:clr>
        </p15:guide>
        <p15:guide id="9" orient="horz" pos="552">
          <p15:clr>
            <a:srgbClr val="FBAE40"/>
          </p15:clr>
        </p15:guide>
        <p15:guide id="10" orient="horz" pos="1512">
          <p15:clr>
            <a:srgbClr val="FBAE40"/>
          </p15:clr>
        </p15:guide>
        <p15:guide id="11" orient="horz" pos="283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upo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orma libre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1" name="Forma libre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2" name="Forma libre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texto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7" name="Marcador de contenido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8" name="Marcador de posición de contenido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15" name="Conector recto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4914D182-A7DD-4F7B-B207-262854316EDA}"/>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7F69136C-C4B2-45F2-BCFC-515A0853BD43}"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10B29252-5D0B-4B9D-9FBD-8EC0929FE096}"/>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5BB4FEF6-E217-4110-BBF5-C4B77ADC8457}"/>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9509478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upo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orma libre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9" name="Forma libre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40" name="Forma libre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texto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7" name="Marcador de contenido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0" name="Marcador de texto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1" name="Marcador de contenido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2" name="Marcador de texto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4" name="Marcador de posición de contenido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Conector recto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F0FA07F3-F8E4-4505-85EC-22734AC68792}"/>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846AC6E8-C089-4970-88B6-A9DF4F2A5ECC}"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D5165D22-FEF5-4F30-8822-5D2378806A9B}"/>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1540F86B-3DA3-4708-AAF5-387BA115C415}"/>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12856177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p15:clr>
            <a:srgbClr val="FBAE40"/>
          </p15:clr>
        </p15:guide>
        <p15:guide id="4" pos="5160">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p15:clr>
            <a:srgbClr val="FBAE40"/>
          </p15:clr>
        </p15:guide>
        <p15:guide id="11" pos="2880">
          <p15:clr>
            <a:srgbClr val="FBAE40"/>
          </p15:clr>
        </p15:guide>
        <p15:guide id="12" orient="horz" pos="17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sumen ">
    <p:bg>
      <p:bgPr>
        <a:solidFill>
          <a:schemeClr val="tx1"/>
        </a:solidFill>
        <a:effectLst/>
      </p:bgPr>
    </p:bg>
    <p:spTree>
      <p:nvGrpSpPr>
        <p:cNvPr id="1" name=""/>
        <p:cNvGrpSpPr/>
        <p:nvPr/>
      </p:nvGrpSpPr>
      <p:grpSpPr>
        <a:xfrm>
          <a:off x="0" y="0"/>
          <a:ext cx="0" cy="0"/>
          <a:chOff x="0" y="0"/>
          <a:chExt cx="0" cy="0"/>
        </a:xfrm>
      </p:grpSpPr>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Marcador de texto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grpSp>
        <p:nvGrpSpPr>
          <p:cNvPr id="15" name="Grupo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orma libre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7" name="Forma libre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8" name="Forma libre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4" name="Marcador de texto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1" name="Marcador de texto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2" name="Marcador de texto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3" name="Marcador de texto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4" name="Marcador de texto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6" name="Marcador de texto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7" name="Marcador de texto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8" name="Marcador de texto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EC45E38A-5516-4C3E-88FC-0DCBD876054B}"/>
              </a:ext>
            </a:extLst>
          </p:cNvPr>
          <p:cNvSpPr>
            <a:spLocks noGrp="1"/>
          </p:cNvSpPr>
          <p:nvPr>
            <p:ph type="dt" sz="half" idx="2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49053CBC-2B39-42EE-A9ED-10AB05B9208E}"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5" name="Marcador de pie de página 4">
            <a:extLst>
              <a:ext uri="{FF2B5EF4-FFF2-40B4-BE49-F238E27FC236}">
                <a16:creationId xmlns:a16="http://schemas.microsoft.com/office/drawing/2014/main" id="{14225273-038D-4F51-A093-83D80104F21A}"/>
              </a:ext>
            </a:extLst>
          </p:cNvPr>
          <p:cNvSpPr>
            <a:spLocks noGrp="1"/>
          </p:cNvSpPr>
          <p:nvPr>
            <p:ph type="ftr" sz="quarter" idx="2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6" name="Marcador de número de diapositiva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6339415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acias">
    <p:bg>
      <p:bgPr>
        <a:solidFill>
          <a:schemeClr val="tx1"/>
        </a:solidFill>
        <a:effectLst/>
      </p:bgPr>
    </p:bg>
    <p:spTree>
      <p:nvGrpSpPr>
        <p:cNvPr id="1" name=""/>
        <p:cNvGrpSpPr/>
        <p:nvPr/>
      </p:nvGrpSpPr>
      <p:grpSpPr>
        <a:xfrm>
          <a:off x="0" y="0"/>
          <a:ext cx="0" cy="0"/>
          <a:chOff x="0" y="0"/>
          <a:chExt cx="0" cy="0"/>
        </a:xfrm>
      </p:grpSpPr>
      <p:sp>
        <p:nvSpPr>
          <p:cNvPr id="16" name="Marcador de texto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7" name="Subtítulo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modificar el estilo de subtítulo del patrón</a:t>
            </a:r>
            <a:endParaRPr lang="es-ES" noProof="0" dirty="0"/>
          </a:p>
        </p:txBody>
      </p:sp>
      <p:sp>
        <p:nvSpPr>
          <p:cNvPr id="26" name="Título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27" name="Conector recto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Marcador de posición de imagen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s-ES" noProof="0"/>
              <a:t>Haga clic en el icono para agregar una imagen</a:t>
            </a:r>
            <a:endParaRPr lang="es-ES" noProof="0" dirty="0"/>
          </a:p>
        </p:txBody>
      </p:sp>
      <p:grpSp>
        <p:nvGrpSpPr>
          <p:cNvPr id="30" name="Grupo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orma libre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2" name="Forma libre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3" name="Forma libre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2380417716"/>
      </p:ext>
    </p:extLst>
  </p:cSld>
  <p:clrMapOvr>
    <a:masterClrMapping/>
  </p:clrMapOvr>
  <p:extLst>
    <p:ext uri="{DCECCB84-F9BA-43D5-87BE-67443E8EF086}">
      <p15:sldGuideLst xmlns:p15="http://schemas.microsoft.com/office/powerpoint/2012/main">
        <p15:guide id="1" pos="60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2" name="Marcador de título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es-ES" noProof="0"/>
              <a:t>Haga clic para modificar el estilo de título del patrón</a:t>
            </a:r>
          </a:p>
        </p:txBody>
      </p:sp>
      <p:sp>
        <p:nvSpPr>
          <p:cNvPr id="30" name="Marcador de fecha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BF5E43A-1348-4597-A2F5-11856AA9D9CF}"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 de mayo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1" name="Marcador de pie de página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32" name="Marcador de posición de número de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1902135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0.png"/><Relationship Id="rId7" Type="http://schemas.openxmlformats.org/officeDocument/2006/relationships/image" Target="../media/image120.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10.png"/><Relationship Id="rId5" Type="http://schemas.openxmlformats.org/officeDocument/2006/relationships/image" Target="../media/image100.png"/><Relationship Id="rId4" Type="http://schemas.openxmlformats.org/officeDocument/2006/relationships/image" Target="../media/image90.png"/></Relationships>
</file>

<file path=ppt/slides/_rels/slide5.xml.rels><?xml version="1.0" encoding="UTF-8" standalone="yes"?>
<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130.png"/><Relationship Id="rId7" Type="http://schemas.openxmlformats.org/officeDocument/2006/relationships/image" Target="../media/image170.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60.png"/><Relationship Id="rId5" Type="http://schemas.openxmlformats.org/officeDocument/2006/relationships/image" Target="../media/image150.png"/><Relationship Id="rId10" Type="http://schemas.openxmlformats.org/officeDocument/2006/relationships/image" Target="../media/image200.png"/><Relationship Id="rId4" Type="http://schemas.openxmlformats.org/officeDocument/2006/relationships/image" Target="../media/image140.png"/><Relationship Id="rId9" Type="http://schemas.openxmlformats.org/officeDocument/2006/relationships/image" Target="../media/image190.png"/></Relationships>
</file>

<file path=ppt/slides/_rels/slide6.xml.rels><?xml version="1.0" encoding="UTF-8" standalone="yes"?>
<Relationships xmlns="http://schemas.openxmlformats.org/package/2006/relationships"><Relationship Id="rId8" Type="http://schemas.openxmlformats.org/officeDocument/2006/relationships/image" Target="../media/image260.png"/><Relationship Id="rId3" Type="http://schemas.openxmlformats.org/officeDocument/2006/relationships/image" Target="../media/image210.png"/><Relationship Id="rId7" Type="http://schemas.openxmlformats.org/officeDocument/2006/relationships/image" Target="../media/image250.png"/><Relationship Id="rId12"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40.png"/><Relationship Id="rId11" Type="http://schemas.openxmlformats.org/officeDocument/2006/relationships/image" Target="../media/image29.png"/><Relationship Id="rId5" Type="http://schemas.openxmlformats.org/officeDocument/2006/relationships/image" Target="../media/image230.png"/><Relationship Id="rId10" Type="http://schemas.openxmlformats.org/officeDocument/2006/relationships/image" Target="../media/image28.png"/><Relationship Id="rId4" Type="http://schemas.openxmlformats.org/officeDocument/2006/relationships/image" Target="../media/image220.png"/><Relationship Id="rId9" Type="http://schemas.openxmlformats.org/officeDocument/2006/relationships/image" Target="../media/image27.png"/></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41.png"/><Relationship Id="rId5" Type="http://schemas.openxmlformats.org/officeDocument/2006/relationships/image" Target="../media/image35.png"/><Relationship Id="rId4" Type="http://schemas.openxmlformats.org/officeDocument/2006/relationships/image" Target="../media/image64.png"/></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293E168C-8042-5B4E-A5A4-A5BF693AE2D6}"/>
                  </a:ext>
                </a:extLst>
              </p:cNvPr>
              <p:cNvSpPr>
                <a:spLocks noGrp="1"/>
              </p:cNvSpPr>
              <p:nvPr>
                <p:ph type="ctrTitle"/>
              </p:nvPr>
            </p:nvSpPr>
            <p:spPr>
              <a:xfrm>
                <a:off x="6367054" y="2116182"/>
                <a:ext cx="5491571" cy="1514019"/>
              </a:xfrm>
            </p:spPr>
            <p:txBody>
              <a:bodyPr rtlCol="0"/>
              <a:lstStyle/>
              <a:p>
                <a:pPr algn="ctr" rtl="0"/>
                <a:r>
                  <a:rPr lang="es-ES" sz="4000">
                    <a:latin typeface="Times New Roman" panose="02020603050405020304" pitchFamily="18" charset="0"/>
                    <a:cs typeface="Times New Roman" panose="02020603050405020304" pitchFamily="18" charset="0"/>
                  </a:rPr>
                  <a:t>Sesión 10: </a:t>
                </a:r>
                <a:r>
                  <a:rPr lang="es-ES" sz="4000" dirty="0">
                    <a:latin typeface="Times New Roman" panose="02020603050405020304" pitchFamily="18" charset="0"/>
                    <a:cs typeface="Times New Roman" panose="02020603050405020304" pitchFamily="18" charset="0"/>
                  </a:rPr>
                  <a:t>Estimaciones para la media poblacional </a:t>
                </a:r>
                <a14:m>
                  <m:oMath xmlns:m="http://schemas.openxmlformats.org/officeDocument/2006/math">
                    <m:r>
                      <a:rPr lang="es-ES" sz="4000" i="1" smtClean="0">
                        <a:latin typeface="Cambria Math" panose="02040503050406030204" pitchFamily="18" charset="0"/>
                        <a:ea typeface="Cambria Math" panose="02040503050406030204" pitchFamily="18" charset="0"/>
                        <a:cs typeface="Times New Roman" panose="02020603050405020304" pitchFamily="18" charset="0"/>
                      </a:rPr>
                      <m:t>𝝁</m:t>
                    </m:r>
                  </m:oMath>
                </a14:m>
                <a:endParaRPr lang="es-ES" sz="4000" dirty="0">
                  <a:latin typeface="Times New Roman" panose="02020603050405020304" pitchFamily="18" charset="0"/>
                  <a:cs typeface="Times New Roman" panose="02020603050405020304" pitchFamily="18" charset="0"/>
                </a:endParaRPr>
              </a:p>
            </p:txBody>
          </p:sp>
        </mc:Choice>
        <mc:Fallback xmlns="">
          <p:sp>
            <p:nvSpPr>
              <p:cNvPr id="2" name="Título 1">
                <a:extLst>
                  <a:ext uri="{FF2B5EF4-FFF2-40B4-BE49-F238E27FC236}">
                    <a16:creationId xmlns:a16="http://schemas.microsoft.com/office/drawing/2014/main" id="{293E168C-8042-5B4E-A5A4-A5BF693AE2D6}"/>
                  </a:ext>
                </a:extLst>
              </p:cNvPr>
              <p:cNvSpPr>
                <a:spLocks noGrp="1" noRot="1" noChangeAspect="1" noMove="1" noResize="1" noEditPoints="1" noAdjustHandles="1" noChangeArrowheads="1" noChangeShapeType="1" noTextEdit="1"/>
              </p:cNvSpPr>
              <p:nvPr>
                <p:ph type="ctrTitle"/>
              </p:nvPr>
            </p:nvSpPr>
            <p:spPr>
              <a:xfrm>
                <a:off x="6367054" y="2116182"/>
                <a:ext cx="5491571" cy="1514019"/>
              </a:xfrm>
              <a:blipFill>
                <a:blip r:embed="rId3"/>
                <a:stretch>
                  <a:fillRect l="-4994" t="-22892" r="-8213" b="-20080"/>
                </a:stretch>
              </a:blipFill>
            </p:spPr>
            <p:txBody>
              <a:bodyPr/>
              <a:lstStyle/>
              <a:p>
                <a:r>
                  <a:rPr lang="es-MX">
                    <a:noFill/>
                  </a:rPr>
                  <a:t> </a:t>
                </a:r>
              </a:p>
            </p:txBody>
          </p:sp>
        </mc:Fallback>
      </mc:AlternateContent>
      <p:sp>
        <p:nvSpPr>
          <p:cNvPr id="3" name="Marcador de texto 2">
            <a:extLst>
              <a:ext uri="{FF2B5EF4-FFF2-40B4-BE49-F238E27FC236}">
                <a16:creationId xmlns:a16="http://schemas.microsoft.com/office/drawing/2014/main" id="{F18E61D8-31A3-2D45-8E25-CBE846E26E1C}"/>
              </a:ext>
            </a:extLst>
          </p:cNvPr>
          <p:cNvSpPr>
            <a:spLocks noGrp="1"/>
          </p:cNvSpPr>
          <p:nvPr>
            <p:ph type="body" sz="quarter" idx="11"/>
          </p:nvPr>
        </p:nvSpPr>
        <p:spPr>
          <a:xfrm>
            <a:off x="6367055" y="4549553"/>
            <a:ext cx="5491570" cy="953337"/>
          </a:xfrm>
        </p:spPr>
        <p:txBody>
          <a:bodyPr rtlCol="0"/>
          <a:lstStyle/>
          <a:p>
            <a:pPr algn="ctr" rtl="0"/>
            <a:r>
              <a:rPr lang="es-ES" dirty="0">
                <a:solidFill>
                  <a:schemeClr val="bg1"/>
                </a:solidFill>
                <a:latin typeface="Times New Roman" panose="02020603050405020304" pitchFamily="18" charset="0"/>
                <a:cs typeface="Times New Roman" panose="02020603050405020304" pitchFamily="18" charset="0"/>
              </a:rPr>
              <a:t>Mtro. David Nexticapan Cortes</a:t>
            </a:r>
          </a:p>
          <a:p>
            <a:pPr rtl="0"/>
            <a:endParaRPr lang="es-E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5271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Estimación de la media poblacional: </a:t>
                </a:r>
                <a14:m>
                  <m:oMath xmlns:m="http://schemas.openxmlformats.org/officeDocument/2006/math">
                    <m:r>
                      <a:rPr lang="es-ES" sz="2600" i="1" smtClean="0">
                        <a:latin typeface="Cambria Math" panose="02040503050406030204" pitchFamily="18" charset="0"/>
                        <a:ea typeface="Cambria Math" panose="02040503050406030204" pitchFamily="18" charset="0"/>
                        <a:cs typeface="Times New Roman" panose="02020603050405020304" pitchFamily="18" charset="0"/>
                      </a:rPr>
                      <m:t>𝝈</m:t>
                    </m:r>
                  </m:oMath>
                </a14:m>
                <a:r>
                  <a:rPr lang="es-ES" sz="2600" dirty="0">
                    <a:latin typeface="Times New Roman" panose="02020603050405020304" pitchFamily="18" charset="0"/>
                    <a:cs typeface="Times New Roman" panose="02020603050405020304" pitchFamily="18" charset="0"/>
                  </a:rPr>
                  <a:t> conocida</a:t>
                </a:r>
              </a:p>
            </p:txBody>
          </p:sp>
        </mc:Choice>
        <mc:Fallback xmlns="">
          <p:sp>
            <p:nvSpPr>
              <p:cNvPr id="2" name="Título 1">
                <a:extLst>
                  <a:ext uri="{FF2B5EF4-FFF2-40B4-BE49-F238E27FC236}">
                    <a16:creationId xmlns:a16="http://schemas.microsoft.com/office/drawing/2014/main" id="{8C122DF8-59D4-D94D-8ED9-F2F319899DBF}"/>
                  </a:ext>
                </a:extLst>
              </p:cNvPr>
              <p:cNvSpPr>
                <a:spLocks noGrp="1" noRot="1" noChangeAspect="1" noMove="1" noResize="1" noEditPoints="1" noAdjustHandles="1" noChangeArrowheads="1" noChangeShapeType="1" noTextEdit="1"/>
              </p:cNvSpPr>
              <p:nvPr>
                <p:ph type="title"/>
              </p:nvPr>
            </p:nvSpPr>
            <p:spPr>
              <a:xfrm>
                <a:off x="964022" y="879063"/>
                <a:ext cx="8276908" cy="610863"/>
              </a:xfrm>
              <a:blipFill>
                <a:blip r:embed="rId3"/>
                <a:stretch>
                  <a:fillRect l="-2430" b="-34000"/>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F494AF8A-D47C-6E15-F0A8-B546B382BBB9}"/>
                  </a:ext>
                </a:extLst>
              </p:cNvPr>
              <p:cNvSpPr txBox="1"/>
              <p:nvPr/>
            </p:nvSpPr>
            <p:spPr>
              <a:xfrm>
                <a:off x="964023" y="2186609"/>
                <a:ext cx="9332916" cy="1754326"/>
              </a:xfrm>
              <a:prstGeom prst="rect">
                <a:avLst/>
              </a:prstGeom>
              <a:noFill/>
              <a:ln>
                <a:solidFill>
                  <a:schemeClr val="tx1">
                    <a:lumMod val="85000"/>
                  </a:schemeClr>
                </a:solidFill>
              </a:ln>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Requisitos:</a:t>
                </a:r>
              </a:p>
              <a:p>
                <a:pPr marL="914400" marR="0" lvl="1" indent="-4572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La muestra es aleatoria simple</a:t>
                </a:r>
              </a:p>
              <a:p>
                <a:pPr marL="914400" marR="0" lvl="1" indent="-4572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El valor de la desviación estándar poblacional </a:t>
                </a:r>
                <a14:m>
                  <m:oMath xmlns:m="http://schemas.openxmlformats.org/officeDocument/2006/math">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𝜎</m:t>
                    </m:r>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es conocido</a:t>
                </a:r>
              </a:p>
              <a:p>
                <a:pPr marL="914400" marR="0" lvl="1" indent="-4572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Cualquiera o ambas de estas condiciones se satisfacen: </a:t>
                </a:r>
              </a:p>
              <a:p>
                <a:pPr marL="1371600" lvl="2" indent="-457200" algn="just">
                  <a:buFont typeface="+mj-lt"/>
                  <a:buAutoNum type="arabicPeriod"/>
                  <a:defRPr/>
                </a:pPr>
                <a:r>
                  <a:rPr lang="es-MX" dirty="0">
                    <a:solidFill>
                      <a:prstClr val="black"/>
                    </a:solidFill>
                    <a:latin typeface="Times New Roman" panose="02020603050405020304" pitchFamily="18" charset="0"/>
                    <a:cs typeface="Times New Roman" panose="02020603050405020304" pitchFamily="18" charset="0"/>
                  </a:rPr>
                  <a:t>L</a:t>
                </a:r>
                <a:r>
                  <a:rPr kumimoji="0" lang="es-MX"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 población está normalmente distribuida. </a:t>
                </a:r>
              </a:p>
              <a:p>
                <a:pPr marL="1371600" lvl="2" indent="-457200" algn="just">
                  <a:buFont typeface="+mj-lt"/>
                  <a:buAutoNum type="arabicPeriod"/>
                  <a:defRPr/>
                </a:pPr>
                <a:r>
                  <a:rPr lang="es-MX" dirty="0">
                    <a:solidFill>
                      <a:prstClr val="black"/>
                    </a:solidFill>
                    <a:latin typeface="Times New Roman" panose="02020603050405020304" pitchFamily="18" charset="0"/>
                    <a:cs typeface="Times New Roman" panose="02020603050405020304" pitchFamily="18" charset="0"/>
                  </a:rPr>
                  <a:t>El tamaño de muestra </a:t>
                </a:r>
                <a14:m>
                  <m:oMath xmlns:m="http://schemas.openxmlformats.org/officeDocument/2006/math">
                    <m:r>
                      <a:rPr kumimoji="0" lang="es-MX"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𝑛</m:t>
                    </m:r>
                    <m:r>
                      <a:rPr kumimoji="0" lang="es-MX"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&gt;30.</m:t>
                    </m:r>
                  </m:oMath>
                </a14:m>
                <a:endParaRPr kumimoji="0" lang="es-MX"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mc:Choice>
        <mc:Fallback xmlns="">
          <p:sp>
            <p:nvSpPr>
              <p:cNvPr id="28" name="CuadroTexto 27">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3" y="2186609"/>
                <a:ext cx="9332916" cy="1754326"/>
              </a:xfrm>
              <a:prstGeom prst="rect">
                <a:avLst/>
              </a:prstGeom>
              <a:blipFill>
                <a:blip r:embed="rId4"/>
                <a:stretch>
                  <a:fillRect l="-326" t="-1730" b="-4498"/>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4B77887F-BB86-8BB4-8E75-761FE414B5F2}"/>
                  </a:ext>
                </a:extLst>
              </p:cNvPr>
              <p:cNvSpPr txBox="1"/>
              <p:nvPr/>
            </p:nvSpPr>
            <p:spPr>
              <a:xfrm>
                <a:off x="964023" y="4363496"/>
                <a:ext cx="9332916" cy="1477328"/>
              </a:xfrm>
              <a:prstGeom prst="rect">
                <a:avLst/>
              </a:prstGeom>
              <a:noFill/>
              <a:ln>
                <a:solidFill>
                  <a:schemeClr val="tx1">
                    <a:lumMod val="85000"/>
                  </a:schemeClr>
                </a:solidFill>
              </a:ln>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La media muestral </a:t>
                </a:r>
                <a14:m>
                  <m:oMath xmlns:m="http://schemas.openxmlformats.org/officeDocument/2006/math">
                    <m:acc>
                      <m:accPr>
                        <m:chr m:val="̅"/>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accPr>
                      <m:e>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𝑥</m:t>
                        </m:r>
                      </m:e>
                    </m:acc>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es el mejor estimador puntual de la media de la población, principalmente por las siguientes dos razones:</a:t>
                </a:r>
              </a:p>
              <a:p>
                <a:pPr marL="914400" marR="0" lvl="1" indent="-4572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La media muestral </a:t>
                </a:r>
                <a14:m>
                  <m:oMath xmlns:m="http://schemas.openxmlformats.org/officeDocument/2006/math">
                    <m:acc>
                      <m:accPr>
                        <m:chr m:val="̅"/>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accPr>
                      <m:e>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𝑥</m:t>
                        </m:r>
                      </m:e>
                    </m:acc>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es un estimador insesgado de la media poblacional </a:t>
                </a:r>
                <a14:m>
                  <m:oMath xmlns:m="http://schemas.openxmlformats.org/officeDocument/2006/math">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𝜇</m:t>
                    </m:r>
                    <m:r>
                      <a:rPr kumimoji="0" lang="es-MX" sz="1800" b="0"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oMath>
                </a14:m>
                <a:endPar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Cambria Math" panose="02040503050406030204" pitchFamily="18" charset="0"/>
                  <a:cs typeface="Times New Roman" panose="02020603050405020304" pitchFamily="18" charset="0"/>
                </a:endParaRPr>
              </a:p>
              <a:p>
                <a:pPr marL="914400" marR="0" lvl="1" indent="-4572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La distribución de las medias muestrales </a:t>
                </a:r>
                <a14:m>
                  <m:oMath xmlns:m="http://schemas.openxmlformats.org/officeDocument/2006/math">
                    <m:acc>
                      <m:accPr>
                        <m:chr m:val="̅"/>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accPr>
                      <m:e>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𝑥</m:t>
                        </m:r>
                      </m:e>
                    </m:acc>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tiende a ser más consistente (con </a:t>
                </a:r>
                <a:r>
                  <a:rPr kumimoji="0" lang="es-MX"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menos variación</a:t>
                </a: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p:txBody>
          </p:sp>
        </mc:Choice>
        <mc:Fallback xmlns="">
          <p:sp>
            <p:nvSpPr>
              <p:cNvPr id="4" name="CuadroTexto 3">
                <a:extLst>
                  <a:ext uri="{FF2B5EF4-FFF2-40B4-BE49-F238E27FC236}">
                    <a16:creationId xmlns:a16="http://schemas.microsoft.com/office/drawing/2014/main" id="{4B77887F-BB86-8BB4-8E75-761FE414B5F2}"/>
                  </a:ext>
                </a:extLst>
              </p:cNvPr>
              <p:cNvSpPr txBox="1">
                <a:spLocks noRot="1" noChangeAspect="1" noMove="1" noResize="1" noEditPoints="1" noAdjustHandles="1" noChangeArrowheads="1" noChangeShapeType="1" noTextEdit="1"/>
              </p:cNvSpPr>
              <p:nvPr/>
            </p:nvSpPr>
            <p:spPr>
              <a:xfrm>
                <a:off x="964023" y="4363496"/>
                <a:ext cx="9332916" cy="1477328"/>
              </a:xfrm>
              <a:prstGeom prst="rect">
                <a:avLst/>
              </a:prstGeom>
              <a:blipFill>
                <a:blip r:embed="rId5"/>
                <a:stretch>
                  <a:fillRect l="-326" t="-2049" r="-522" b="-5328"/>
                </a:stretch>
              </a:blipFill>
              <a:ln>
                <a:solidFill>
                  <a:schemeClr val="tx1">
                    <a:lumMod val="85000"/>
                  </a:schemeClr>
                </a:solidFill>
              </a:ln>
            </p:spPr>
            <p:txBody>
              <a:bodyPr/>
              <a:lstStyle/>
              <a:p>
                <a:r>
                  <a:rPr lang="es-MX">
                    <a:noFill/>
                  </a:rPr>
                  <a:t> </a:t>
                </a:r>
              </a:p>
            </p:txBody>
          </p:sp>
        </mc:Fallback>
      </mc:AlternateContent>
      <p:grpSp>
        <p:nvGrpSpPr>
          <p:cNvPr id="3" name="Grupo 2">
            <a:extLst>
              <a:ext uri="{FF2B5EF4-FFF2-40B4-BE49-F238E27FC236}">
                <a16:creationId xmlns:a16="http://schemas.microsoft.com/office/drawing/2014/main" id="{C85787FB-1970-C08E-09CE-5DD8E3C31FE2}"/>
              </a:ext>
            </a:extLst>
          </p:cNvPr>
          <p:cNvGrpSpPr/>
          <p:nvPr/>
        </p:nvGrpSpPr>
        <p:grpSpPr>
          <a:xfrm>
            <a:off x="2540338" y="129874"/>
            <a:ext cx="1101584" cy="901425"/>
            <a:chOff x="4557" y="292098"/>
            <a:chExt cx="1412697" cy="1802850"/>
          </a:xfrm>
        </p:grpSpPr>
        <p:sp>
          <p:nvSpPr>
            <p:cNvPr id="5" name="Rectángulo: esquinas redondeadas 4">
              <a:extLst>
                <a:ext uri="{FF2B5EF4-FFF2-40B4-BE49-F238E27FC236}">
                  <a16:creationId xmlns:a16="http://schemas.microsoft.com/office/drawing/2014/main" id="{FBF22F2E-437A-2A2B-E632-F857229AB2E4}"/>
                </a:ext>
              </a:extLst>
            </p:cNvPr>
            <p:cNvSpPr/>
            <p:nvPr/>
          </p:nvSpPr>
          <p:spPr>
            <a:xfrm>
              <a:off x="4557"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6" name="Rectángulo: esquinas redondeadas 4">
              <a:extLst>
                <a:ext uri="{FF2B5EF4-FFF2-40B4-BE49-F238E27FC236}">
                  <a16:creationId xmlns:a16="http://schemas.microsoft.com/office/drawing/2014/main" id="{1FFFA756-201E-2FF7-9F50-A0E38AF52360}"/>
                </a:ext>
              </a:extLst>
            </p:cNvPr>
            <p:cNvSpPr txBox="1"/>
            <p:nvPr/>
          </p:nvSpPr>
          <p:spPr>
            <a:xfrm>
              <a:off x="45933"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1</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Definición de la población objetivo</a:t>
              </a:r>
            </a:p>
          </p:txBody>
        </p:sp>
      </p:grpSp>
      <p:grpSp>
        <p:nvGrpSpPr>
          <p:cNvPr id="7" name="Grupo 6">
            <a:extLst>
              <a:ext uri="{FF2B5EF4-FFF2-40B4-BE49-F238E27FC236}">
                <a16:creationId xmlns:a16="http://schemas.microsoft.com/office/drawing/2014/main" id="{CD8CCC82-D090-68F9-070C-691149376B29}"/>
              </a:ext>
            </a:extLst>
          </p:cNvPr>
          <p:cNvGrpSpPr/>
          <p:nvPr/>
        </p:nvGrpSpPr>
        <p:grpSpPr>
          <a:xfrm>
            <a:off x="4518114" y="129874"/>
            <a:ext cx="1101584" cy="901425"/>
            <a:chOff x="1982333" y="292098"/>
            <a:chExt cx="1412697" cy="1802850"/>
          </a:xfrm>
        </p:grpSpPr>
        <p:sp>
          <p:nvSpPr>
            <p:cNvPr id="8" name="Rectángulo: esquinas redondeadas 7">
              <a:extLst>
                <a:ext uri="{FF2B5EF4-FFF2-40B4-BE49-F238E27FC236}">
                  <a16:creationId xmlns:a16="http://schemas.microsoft.com/office/drawing/2014/main" id="{27C5A029-7F27-4E92-CE7C-8E8BE8366D7E}"/>
                </a:ext>
              </a:extLst>
            </p:cNvPr>
            <p:cNvSpPr/>
            <p:nvPr/>
          </p:nvSpPr>
          <p:spPr>
            <a:xfrm>
              <a:off x="1982333"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9" name="Rectángulo: esquinas redondeadas 6">
              <a:extLst>
                <a:ext uri="{FF2B5EF4-FFF2-40B4-BE49-F238E27FC236}">
                  <a16:creationId xmlns:a16="http://schemas.microsoft.com/office/drawing/2014/main" id="{C9D3F83C-62BB-BE7D-E976-88DBE1DADAD7}"/>
                </a:ext>
              </a:extLst>
            </p:cNvPr>
            <p:cNvSpPr txBox="1"/>
            <p:nvPr/>
          </p:nvSpPr>
          <p:spPr>
            <a:xfrm>
              <a:off x="2023709"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2</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Delimitar a la población</a:t>
              </a:r>
            </a:p>
          </p:txBody>
        </p:sp>
      </p:grpSp>
      <p:grpSp>
        <p:nvGrpSpPr>
          <p:cNvPr id="10" name="Grupo 9">
            <a:extLst>
              <a:ext uri="{FF2B5EF4-FFF2-40B4-BE49-F238E27FC236}">
                <a16:creationId xmlns:a16="http://schemas.microsoft.com/office/drawing/2014/main" id="{87F4B422-8402-A4F7-D5C8-08C62AD71BD1}"/>
              </a:ext>
            </a:extLst>
          </p:cNvPr>
          <p:cNvGrpSpPr/>
          <p:nvPr/>
        </p:nvGrpSpPr>
        <p:grpSpPr>
          <a:xfrm>
            <a:off x="6495890" y="129874"/>
            <a:ext cx="1101584" cy="901425"/>
            <a:chOff x="3960109" y="292098"/>
            <a:chExt cx="1412697" cy="1802850"/>
          </a:xfrm>
        </p:grpSpPr>
        <p:sp>
          <p:nvSpPr>
            <p:cNvPr id="11" name="Rectángulo: esquinas redondeadas 10">
              <a:extLst>
                <a:ext uri="{FF2B5EF4-FFF2-40B4-BE49-F238E27FC236}">
                  <a16:creationId xmlns:a16="http://schemas.microsoft.com/office/drawing/2014/main" id="{848337AF-21D5-2E06-608F-B6CDE3D0CF28}"/>
                </a:ext>
              </a:extLst>
            </p:cNvPr>
            <p:cNvSpPr/>
            <p:nvPr/>
          </p:nvSpPr>
          <p:spPr>
            <a:xfrm>
              <a:off x="3960109"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2" name="Rectángulo: esquinas redondeadas 8">
              <a:extLst>
                <a:ext uri="{FF2B5EF4-FFF2-40B4-BE49-F238E27FC236}">
                  <a16:creationId xmlns:a16="http://schemas.microsoft.com/office/drawing/2014/main" id="{8CC4076E-48CA-9779-06CD-C6AC162237E8}"/>
                </a:ext>
              </a:extLst>
            </p:cNvPr>
            <p:cNvSpPr txBox="1"/>
            <p:nvPr/>
          </p:nvSpPr>
          <p:spPr>
            <a:xfrm>
              <a:off x="4001485"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3</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Selección de las técnicas de muestreo</a:t>
              </a:r>
            </a:p>
          </p:txBody>
        </p:sp>
      </p:grpSp>
      <p:grpSp>
        <p:nvGrpSpPr>
          <p:cNvPr id="13" name="Grupo 12">
            <a:extLst>
              <a:ext uri="{FF2B5EF4-FFF2-40B4-BE49-F238E27FC236}">
                <a16:creationId xmlns:a16="http://schemas.microsoft.com/office/drawing/2014/main" id="{A1F74E74-484B-2F4B-C2E3-C815EA14A864}"/>
              </a:ext>
            </a:extLst>
          </p:cNvPr>
          <p:cNvGrpSpPr/>
          <p:nvPr/>
        </p:nvGrpSpPr>
        <p:grpSpPr>
          <a:xfrm>
            <a:off x="8473666" y="129874"/>
            <a:ext cx="1101584" cy="901425"/>
            <a:chOff x="5937885" y="292098"/>
            <a:chExt cx="1412697" cy="1802850"/>
          </a:xfrm>
          <a:solidFill>
            <a:srgbClr val="FFC000"/>
          </a:solidFill>
        </p:grpSpPr>
        <p:sp>
          <p:nvSpPr>
            <p:cNvPr id="14" name="Rectángulo: esquinas redondeadas 13">
              <a:extLst>
                <a:ext uri="{FF2B5EF4-FFF2-40B4-BE49-F238E27FC236}">
                  <a16:creationId xmlns:a16="http://schemas.microsoft.com/office/drawing/2014/main" id="{5CFDFC91-A138-D163-51E7-0301E00F8520}"/>
                </a:ext>
              </a:extLst>
            </p:cNvPr>
            <p:cNvSpPr/>
            <p:nvPr/>
          </p:nvSpPr>
          <p:spPr>
            <a:xfrm>
              <a:off x="5937885" y="292098"/>
              <a:ext cx="1412697" cy="1802850"/>
            </a:xfrm>
            <a:prstGeom prst="roundRect">
              <a:avLst>
                <a:gd name="adj" fmla="val 10000"/>
              </a:avLst>
            </a:prstGeom>
            <a:grpFill/>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5" name="Rectángulo: esquinas redondeadas 10">
              <a:extLst>
                <a:ext uri="{FF2B5EF4-FFF2-40B4-BE49-F238E27FC236}">
                  <a16:creationId xmlns:a16="http://schemas.microsoft.com/office/drawing/2014/main" id="{A3E572EB-9CEC-44E9-DF88-EBD5ACD18456}"/>
                </a:ext>
              </a:extLst>
            </p:cNvPr>
            <p:cNvSpPr txBox="1"/>
            <p:nvPr/>
          </p:nvSpPr>
          <p:spPr>
            <a:xfrm>
              <a:off x="5979261" y="333474"/>
              <a:ext cx="1329945" cy="1720098"/>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4</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Determinación del tamaño de la muestra</a:t>
              </a:r>
            </a:p>
          </p:txBody>
        </p:sp>
      </p:grpSp>
    </p:spTree>
    <p:extLst>
      <p:ext uri="{BB962C8B-B14F-4D97-AF65-F5344CB8AC3E}">
        <p14:creationId xmlns:p14="http://schemas.microsoft.com/office/powerpoint/2010/main" val="89203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548640"/>
            <a:ext cx="8276908" cy="941286"/>
          </a:xfrm>
        </p:spPr>
        <p:txBody>
          <a:bodyPr rtlCol="0">
            <a:noAutofit/>
          </a:bodyPr>
          <a:lstStyle/>
          <a:p>
            <a:pPr algn="just"/>
            <a:r>
              <a:rPr lang="es-ES" sz="2800" dirty="0" err="1">
                <a:latin typeface="Times New Roman" panose="02020603050405020304" pitchFamily="18" charset="0"/>
                <a:cs typeface="Times New Roman" panose="02020603050405020304" pitchFamily="18" charset="0"/>
              </a:rPr>
              <a:t>Insesgadez</a:t>
            </a:r>
            <a:endParaRPr lang="es-ES" sz="2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A4681A86-6AF3-5693-8134-13EC26FBFD95}"/>
                  </a:ext>
                </a:extLst>
              </p:cNvPr>
              <p:cNvSpPr txBox="1"/>
              <p:nvPr/>
            </p:nvSpPr>
            <p:spPr>
              <a:xfrm>
                <a:off x="964021" y="3044310"/>
                <a:ext cx="9954187" cy="646331"/>
              </a:xfrm>
              <a:prstGeom prst="rect">
                <a:avLst/>
              </a:prstGeom>
              <a:noFill/>
              <a:ln>
                <a:solidFill>
                  <a:schemeClr val="tx1">
                    <a:lumMod val="85000"/>
                  </a:schemeClr>
                </a:solidFill>
              </a:ln>
            </p:spPr>
            <p:txBody>
              <a:bodyPr wrap="square" rtlCol="0">
                <a:spAutoFit/>
              </a:bodyPr>
              <a:lstStyle/>
              <a:p>
                <a:pPr marR="0" lvl="0" algn="just" defTabSz="914400" rtl="0" eaLnBrk="1" fontAlgn="auto" latinLnBrk="0" hangingPunct="1">
                  <a:lnSpc>
                    <a:spcPct val="100000"/>
                  </a:lnSpc>
                  <a:spcBef>
                    <a:spcPts val="0"/>
                  </a:spcBef>
                  <a:spcAft>
                    <a:spcPts val="0"/>
                  </a:spcAft>
                  <a:buClrTx/>
                  <a:buSzTx/>
                  <a:tabLst/>
                  <a:defRPr/>
                </a:pPr>
                <a:r>
                  <a:rPr lang="es-MX" dirty="0">
                    <a:solidFill>
                      <a:prstClr val="black"/>
                    </a:solidFill>
                    <a:latin typeface="Times New Roman" panose="02020603050405020304" pitchFamily="18" charset="0"/>
                    <a:cs typeface="Times New Roman" panose="02020603050405020304" pitchFamily="18" charset="0"/>
                  </a:rPr>
                  <a:t>Sea </a:t>
                </a:r>
                <a14:m>
                  <m:oMath xmlns:m="http://schemas.openxmlformats.org/officeDocument/2006/math">
                    <m:sSub>
                      <m:sSubPr>
                        <m:ctrlPr>
                          <a:rPr lang="es-MX" i="1" smtClean="0">
                            <a:solidFill>
                              <a:prstClr val="black"/>
                            </a:solidFill>
                            <a:latin typeface="Cambria Math" panose="02040503050406030204" pitchFamily="18" charset="0"/>
                            <a:cs typeface="Times New Roman" panose="02020603050405020304" pitchFamily="18" charset="0"/>
                          </a:rPr>
                        </m:ctrlPr>
                      </m:sSubPr>
                      <m:e>
                        <m:r>
                          <a:rPr lang="es-MX" b="0" i="1" smtClean="0">
                            <a:solidFill>
                              <a:prstClr val="black"/>
                            </a:solidFill>
                            <a:latin typeface="Cambria Math" panose="02040503050406030204" pitchFamily="18" charset="0"/>
                            <a:cs typeface="Times New Roman" panose="02020603050405020304" pitchFamily="18" charset="0"/>
                          </a:rPr>
                          <m:t>𝑋</m:t>
                        </m:r>
                      </m:e>
                      <m:sub>
                        <m:r>
                          <a:rPr lang="es-MX" b="0" i="1" smtClean="0">
                            <a:solidFill>
                              <a:prstClr val="black"/>
                            </a:solidFill>
                            <a:latin typeface="Cambria Math" panose="02040503050406030204" pitchFamily="18" charset="0"/>
                            <a:cs typeface="Times New Roman" panose="02020603050405020304" pitchFamily="18" charset="0"/>
                          </a:rPr>
                          <m:t>1</m:t>
                        </m:r>
                      </m:sub>
                    </m:sSub>
                    <m:r>
                      <a:rPr lang="es-MX" b="0" i="1" smtClean="0">
                        <a:solidFill>
                          <a:prstClr val="black"/>
                        </a:solidFill>
                        <a:latin typeface="Cambria Math" panose="02040503050406030204" pitchFamily="18" charset="0"/>
                        <a:cs typeface="Times New Roman" panose="02020603050405020304" pitchFamily="18" charset="0"/>
                      </a:rPr>
                      <m:t>,</m:t>
                    </m:r>
                    <m:sSub>
                      <m:sSubPr>
                        <m:ctrlPr>
                          <a:rPr lang="es-MX" b="0" i="1" smtClean="0">
                            <a:solidFill>
                              <a:prstClr val="black"/>
                            </a:solidFill>
                            <a:latin typeface="Cambria Math" panose="02040503050406030204" pitchFamily="18" charset="0"/>
                            <a:cs typeface="Times New Roman" panose="02020603050405020304" pitchFamily="18" charset="0"/>
                          </a:rPr>
                        </m:ctrlPr>
                      </m:sSubPr>
                      <m:e>
                        <m:r>
                          <a:rPr lang="es-MX" b="0" i="1" smtClean="0">
                            <a:solidFill>
                              <a:prstClr val="black"/>
                            </a:solidFill>
                            <a:latin typeface="Cambria Math" panose="02040503050406030204" pitchFamily="18" charset="0"/>
                            <a:cs typeface="Times New Roman" panose="02020603050405020304" pitchFamily="18" charset="0"/>
                          </a:rPr>
                          <m:t>𝑋</m:t>
                        </m:r>
                      </m:e>
                      <m:sub>
                        <m:r>
                          <a:rPr lang="es-MX" b="0" i="1" smtClean="0">
                            <a:solidFill>
                              <a:prstClr val="black"/>
                            </a:solidFill>
                            <a:latin typeface="Cambria Math" panose="02040503050406030204" pitchFamily="18" charset="0"/>
                            <a:cs typeface="Times New Roman" panose="02020603050405020304" pitchFamily="18" charset="0"/>
                          </a:rPr>
                          <m:t>2</m:t>
                        </m:r>
                      </m:sub>
                    </m:sSub>
                    <m:r>
                      <a:rPr lang="es-MX" b="0" i="1" smtClean="0">
                        <a:solidFill>
                          <a:prstClr val="black"/>
                        </a:solidFill>
                        <a:latin typeface="Cambria Math" panose="02040503050406030204" pitchFamily="18" charset="0"/>
                        <a:cs typeface="Times New Roman" panose="02020603050405020304" pitchFamily="18" charset="0"/>
                      </a:rPr>
                      <m:t>,…,</m:t>
                    </m:r>
                    <m:sSub>
                      <m:sSubPr>
                        <m:ctrlPr>
                          <a:rPr lang="es-MX" b="0" i="1" smtClean="0">
                            <a:solidFill>
                              <a:prstClr val="black"/>
                            </a:solidFill>
                            <a:latin typeface="Cambria Math" panose="02040503050406030204" pitchFamily="18" charset="0"/>
                            <a:cs typeface="Times New Roman" panose="02020603050405020304" pitchFamily="18" charset="0"/>
                          </a:rPr>
                        </m:ctrlPr>
                      </m:sSubPr>
                      <m:e>
                        <m:r>
                          <a:rPr lang="es-MX" b="0" i="1" smtClean="0">
                            <a:solidFill>
                              <a:prstClr val="black"/>
                            </a:solidFill>
                            <a:latin typeface="Cambria Math" panose="02040503050406030204" pitchFamily="18" charset="0"/>
                            <a:cs typeface="Times New Roman" panose="02020603050405020304" pitchFamily="18" charset="0"/>
                          </a:rPr>
                          <m:t>𝑋</m:t>
                        </m:r>
                      </m:e>
                      <m:sub>
                        <m:r>
                          <a:rPr lang="es-MX" b="0" i="1" smtClean="0">
                            <a:solidFill>
                              <a:prstClr val="black"/>
                            </a:solidFill>
                            <a:latin typeface="Cambria Math" panose="02040503050406030204" pitchFamily="18" charset="0"/>
                            <a:cs typeface="Times New Roman" panose="02020603050405020304" pitchFamily="18" charset="0"/>
                          </a:rPr>
                          <m:t>𝑛</m:t>
                        </m:r>
                      </m:sub>
                    </m:sSub>
                  </m:oMath>
                </a14:m>
                <a:r>
                  <a:rPr kumimoji="0" lang="es-MX"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una muestra</a:t>
                </a:r>
                <a:r>
                  <a:rPr kumimoji="0" lang="es-MX"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aleatoria de tamaño n de una población con media </a:t>
                </a:r>
                <a14:m>
                  <m:oMath xmlns:m="http://schemas.openxmlformats.org/officeDocument/2006/math">
                    <m:r>
                      <a:rPr kumimoji="0" lang="es-MX"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𝜇</m:t>
                    </m:r>
                  </m:oMath>
                </a14:m>
                <a:r>
                  <a:rPr kumimoji="0" lang="es-MX"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y varianza </a:t>
                </a:r>
                <a14:m>
                  <m:oMath xmlns:m="http://schemas.openxmlformats.org/officeDocument/2006/math">
                    <m:sSup>
                      <m:sSupPr>
                        <m:ctrlPr>
                          <a:rPr kumimoji="0" lang="es-MX"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sSupPr>
                      <m:e>
                        <m:r>
                          <a:rPr kumimoji="0" lang="es-MX"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𝜎</m:t>
                        </m:r>
                      </m:e>
                      <m:sup>
                        <m:r>
                          <a:rPr kumimoji="0" lang="es-MX"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2</m:t>
                        </m:r>
                      </m:sup>
                    </m:sSup>
                  </m:oMath>
                </a14:m>
                <a:r>
                  <a:rPr kumimoji="0" lang="es-MX"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Tenemos que:</a:t>
                </a:r>
              </a:p>
            </p:txBody>
          </p:sp>
        </mc:Choice>
        <mc:Fallback xmlns="">
          <p:sp>
            <p:nvSpPr>
              <p:cNvPr id="5" name="CuadroTexto 4">
                <a:extLst>
                  <a:ext uri="{FF2B5EF4-FFF2-40B4-BE49-F238E27FC236}">
                    <a16:creationId xmlns:a16="http://schemas.microsoft.com/office/drawing/2014/main" id="{A4681A86-6AF3-5693-8134-13EC26FBFD95}"/>
                  </a:ext>
                </a:extLst>
              </p:cNvPr>
              <p:cNvSpPr txBox="1">
                <a:spLocks noRot="1" noChangeAspect="1" noMove="1" noResize="1" noEditPoints="1" noAdjustHandles="1" noChangeArrowheads="1" noChangeShapeType="1" noTextEdit="1"/>
              </p:cNvSpPr>
              <p:nvPr/>
            </p:nvSpPr>
            <p:spPr>
              <a:xfrm>
                <a:off x="964021" y="3044310"/>
                <a:ext cx="9954187" cy="646331"/>
              </a:xfrm>
              <a:prstGeom prst="rect">
                <a:avLst/>
              </a:prstGeom>
              <a:blipFill>
                <a:blip r:embed="rId3"/>
                <a:stretch>
                  <a:fillRect l="-428" t="-3704" r="-489" b="-12963"/>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FC2646BB-B81C-B147-F8E9-B3A599D79A33}"/>
                  </a:ext>
                </a:extLst>
              </p:cNvPr>
              <p:cNvSpPr txBox="1"/>
              <p:nvPr/>
            </p:nvSpPr>
            <p:spPr>
              <a:xfrm>
                <a:off x="964021" y="2145963"/>
                <a:ext cx="9954187" cy="693716"/>
              </a:xfrm>
              <a:prstGeom prst="rect">
                <a:avLst/>
              </a:prstGeom>
              <a:noFill/>
              <a:ln>
                <a:solidFill>
                  <a:schemeClr val="tx1">
                    <a:lumMod val="85000"/>
                  </a:schemeClr>
                </a:solidFill>
              </a:ln>
            </p:spPr>
            <p:txBody>
              <a:bodyPr wrap="square" rtlCol="0">
                <a:spAutoFit/>
              </a:bodyPr>
              <a:lstStyle/>
              <a:p>
                <a:pPr lvl="0" algn="just">
                  <a:defRPr/>
                </a:pPr>
                <a:r>
                  <a:rPr kumimoji="0" lang="es-MX"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Recordar que:</a:t>
                </a:r>
                <a:r>
                  <a:rPr kumimoji="0" lang="es-MX" b="0" i="0" u="none" strike="noStrike" kern="1200" cap="none" spc="0" normalizeH="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s-MX"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Sea </a:t>
                </a:r>
                <a14:m>
                  <m:oMath xmlns:m="http://schemas.openxmlformats.org/officeDocument/2006/math">
                    <m:acc>
                      <m:accPr>
                        <m:chr m:val="̂"/>
                        <m:ctrlPr>
                          <a:rPr lang="es-MX" i="1">
                            <a:solidFill>
                              <a:prstClr val="black"/>
                            </a:solidFill>
                            <a:latin typeface="Cambria Math" panose="02040503050406030204" pitchFamily="18" charset="0"/>
                            <a:cs typeface="Times New Roman" panose="02020603050405020304" pitchFamily="18" charset="0"/>
                          </a:rPr>
                        </m:ctrlPr>
                      </m:accPr>
                      <m:e>
                        <m:r>
                          <a:rPr lang="es-MX"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𝜃</m:t>
                        </m:r>
                      </m:e>
                    </m:acc>
                  </m:oMath>
                </a14:m>
                <a:r>
                  <a:rPr kumimoji="0" lang="es-MX"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el estimador</a:t>
                </a:r>
                <a:r>
                  <a:rPr kumimoji="0" lang="es-MX" b="0" i="0" u="none" strike="noStrike" kern="1200" cap="none" spc="0" normalizeH="0" noProof="0" dirty="0">
                    <a:ln>
                      <a:noFill/>
                    </a:ln>
                    <a:solidFill>
                      <a:prstClr val="black"/>
                    </a:solidFill>
                    <a:effectLst/>
                    <a:uLnTx/>
                    <a:uFillTx/>
                    <a:latin typeface="Times New Roman" panose="02020603050405020304" pitchFamily="18" charset="0"/>
                    <a:cs typeface="Times New Roman" panose="02020603050405020304" pitchFamily="18" charset="0"/>
                  </a:rPr>
                  <a:t> puntual del parámetro </a:t>
                </a:r>
                <a14:m>
                  <m:oMath xmlns:m="http://schemas.openxmlformats.org/officeDocument/2006/math">
                    <m:r>
                      <a:rPr kumimoji="0" lang="es-MX"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𝜃</m:t>
                    </m:r>
                  </m:oMath>
                </a14:m>
                <a:r>
                  <a:rPr kumimoji="0" lang="es-MX"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Diremos que </a:t>
                </a:r>
                <a14:m>
                  <m:oMath xmlns:m="http://schemas.openxmlformats.org/officeDocument/2006/math">
                    <m:acc>
                      <m:accPr>
                        <m:chr m:val="̂"/>
                        <m:ctrlPr>
                          <a:rPr lang="es-MX" i="1">
                            <a:solidFill>
                              <a:prstClr val="black"/>
                            </a:solidFill>
                            <a:latin typeface="Cambria Math" panose="02040503050406030204" pitchFamily="18" charset="0"/>
                            <a:cs typeface="Times New Roman" panose="02020603050405020304" pitchFamily="18" charset="0"/>
                          </a:rPr>
                        </m:ctrlPr>
                      </m:accPr>
                      <m:e>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𝜃</m:t>
                        </m:r>
                      </m:e>
                    </m:acc>
                  </m:oMath>
                </a14:m>
                <a:r>
                  <a:rPr kumimoji="0" lang="es-MX"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es un estimador insesgado</a:t>
                </a:r>
                <a:r>
                  <a:rPr kumimoji="0" lang="es-MX" b="0" i="0" u="none" strike="noStrike" kern="1200" cap="none" spc="0" normalizeH="0" noProof="0" dirty="0">
                    <a:ln>
                      <a:noFill/>
                    </a:ln>
                    <a:solidFill>
                      <a:prstClr val="black"/>
                    </a:solidFill>
                    <a:effectLst/>
                    <a:uLnTx/>
                    <a:uFillTx/>
                    <a:latin typeface="Times New Roman" panose="02020603050405020304" pitchFamily="18" charset="0"/>
                    <a:cs typeface="Times New Roman" panose="02020603050405020304" pitchFamily="18" charset="0"/>
                  </a:rPr>
                  <a:t> de </a:t>
                </a:r>
                <a14:m>
                  <m:oMath xmlns:m="http://schemas.openxmlformats.org/officeDocument/2006/math">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𝜃</m:t>
                    </m:r>
                  </m:oMath>
                </a14:m>
                <a:r>
                  <a:rPr kumimoji="0" lang="es-MX"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si se verifica que:</a:t>
                </a:r>
                <a:r>
                  <a:rPr kumimoji="0" lang="es-MX" b="0" i="0" u="none" strike="noStrike" kern="1200" cap="none" spc="0" normalizeH="0" noProof="0" dirty="0">
                    <a:ln>
                      <a:noFill/>
                    </a:ln>
                    <a:solidFill>
                      <a:prstClr val="black"/>
                    </a:solidFill>
                    <a:effectLst/>
                    <a:uLnTx/>
                    <a:uFillTx/>
                    <a:latin typeface="Times New Roman" panose="02020603050405020304" pitchFamily="18" charset="0"/>
                    <a:cs typeface="Times New Roman" panose="02020603050405020304" pitchFamily="18" charset="0"/>
                  </a:rPr>
                  <a:t> </a:t>
                </a:r>
                <a14:m>
                  <m:oMath xmlns:m="http://schemas.openxmlformats.org/officeDocument/2006/math">
                    <m:r>
                      <a:rPr kumimoji="0" lang="es-MX" b="1"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𝑬</m:t>
                    </m:r>
                    <m:d>
                      <m:dPr>
                        <m:begChr m:val="["/>
                        <m:endChr m:val="]"/>
                        <m:ctrlPr>
                          <a:rPr kumimoji="0" lang="es-MX" b="1"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dPr>
                      <m:e>
                        <m:acc>
                          <m:accPr>
                            <m:chr m:val="̂"/>
                            <m:ctrlPr>
                              <a:rPr lang="es-MX" i="1">
                                <a:solidFill>
                                  <a:prstClr val="black"/>
                                </a:solidFill>
                                <a:latin typeface="Cambria Math" panose="02040503050406030204" pitchFamily="18" charset="0"/>
                                <a:cs typeface="Times New Roman" panose="02020603050405020304" pitchFamily="18" charset="0"/>
                              </a:rPr>
                            </m:ctrlPr>
                          </m:accPr>
                          <m:e>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𝜃</m:t>
                            </m:r>
                          </m:e>
                        </m:acc>
                      </m:e>
                    </m:d>
                    <m:r>
                      <a:rPr kumimoji="0" lang="es-MX" b="1"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𝜃</m:t>
                    </m:r>
                  </m:oMath>
                </a14:m>
                <a:r>
                  <a:rPr kumimoji="0" lang="es-MX"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s-MX"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Queda por demostrar que </a:t>
                </a:r>
                <a:r>
                  <a:rPr lang="es-MX" dirty="0">
                    <a:solidFill>
                      <a:prstClr val="black"/>
                    </a:solidFill>
                    <a:latin typeface="Times New Roman" panose="02020603050405020304" pitchFamily="18" charset="0"/>
                    <a:cs typeface="Times New Roman" panose="02020603050405020304" pitchFamily="18" charset="0"/>
                  </a:rPr>
                  <a:t>: </a:t>
                </a:r>
                <a14:m>
                  <m:oMath xmlns:m="http://schemas.openxmlformats.org/officeDocument/2006/math">
                    <m:r>
                      <a:rPr lang="es-MX" b="0" i="1">
                        <a:solidFill>
                          <a:prstClr val="black"/>
                        </a:solidFill>
                        <a:latin typeface="Cambria Math" panose="02040503050406030204" pitchFamily="18" charset="0"/>
                        <a:cs typeface="Times New Roman" panose="02020603050405020304" pitchFamily="18" charset="0"/>
                      </a:rPr>
                      <m:t>𝐸</m:t>
                    </m:r>
                    <m:d>
                      <m:dPr>
                        <m:begChr m:val="["/>
                        <m:endChr m:val="]"/>
                        <m:ctrlPr>
                          <a:rPr lang="es-MX" i="1">
                            <a:solidFill>
                              <a:prstClr val="black"/>
                            </a:solidFill>
                            <a:latin typeface="Cambria Math" panose="02040503050406030204" pitchFamily="18" charset="0"/>
                            <a:cs typeface="Times New Roman" panose="02020603050405020304" pitchFamily="18" charset="0"/>
                          </a:rPr>
                        </m:ctrlPr>
                      </m:dPr>
                      <m:e>
                        <m:acc>
                          <m:accPr>
                            <m:chr m:val="̅"/>
                            <m:ctrlPr>
                              <a:rPr lang="es-MX" i="1">
                                <a:solidFill>
                                  <a:schemeClr val="bg1"/>
                                </a:solidFill>
                                <a:latin typeface="Cambria Math" panose="02040503050406030204" pitchFamily="18" charset="0"/>
                              </a:rPr>
                            </m:ctrlPr>
                          </m:accPr>
                          <m:e>
                            <m:r>
                              <a:rPr lang="es-MX" i="1">
                                <a:solidFill>
                                  <a:schemeClr val="bg1"/>
                                </a:solidFill>
                                <a:latin typeface="Cambria Math" panose="02040503050406030204" pitchFamily="18" charset="0"/>
                              </a:rPr>
                              <m:t>𝑋</m:t>
                            </m:r>
                          </m:e>
                        </m:acc>
                      </m:e>
                    </m:d>
                    <m:r>
                      <a:rPr lang="es-MX" b="0" i="1">
                        <a:solidFill>
                          <a:prstClr val="black"/>
                        </a:solidFill>
                        <a:latin typeface="Cambria Math" panose="02040503050406030204" pitchFamily="18" charset="0"/>
                        <a:cs typeface="Times New Roman" panose="02020603050405020304" pitchFamily="18" charset="0"/>
                      </a:rPr>
                      <m:t>=</m:t>
                    </m:r>
                    <m:r>
                      <a:rPr lang="es-MX" i="1">
                        <a:solidFill>
                          <a:schemeClr val="bg1"/>
                        </a:solidFill>
                        <a:latin typeface="Cambria Math" panose="02040503050406030204" pitchFamily="18" charset="0"/>
                        <a:ea typeface="Cambria Math" panose="02040503050406030204" pitchFamily="18" charset="0"/>
                      </a:rPr>
                      <m:t>𝜇</m:t>
                    </m:r>
                  </m:oMath>
                </a14:m>
                <a:endParaRPr kumimoji="0" lang="es-MX"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mc:Choice>
        <mc:Fallback xmlns="">
          <p:sp>
            <p:nvSpPr>
              <p:cNvPr id="7" name="CuadroTexto 6">
                <a:extLst>
                  <a:ext uri="{FF2B5EF4-FFF2-40B4-BE49-F238E27FC236}">
                    <a16:creationId xmlns:a16="http://schemas.microsoft.com/office/drawing/2014/main" id="{FC2646BB-B81C-B147-F8E9-B3A599D79A33}"/>
                  </a:ext>
                </a:extLst>
              </p:cNvPr>
              <p:cNvSpPr txBox="1">
                <a:spLocks noRot="1" noChangeAspect="1" noMove="1" noResize="1" noEditPoints="1" noAdjustHandles="1" noChangeArrowheads="1" noChangeShapeType="1" noTextEdit="1"/>
              </p:cNvSpPr>
              <p:nvPr/>
            </p:nvSpPr>
            <p:spPr>
              <a:xfrm>
                <a:off x="964021" y="2145963"/>
                <a:ext cx="9954187" cy="693716"/>
              </a:xfrm>
              <a:prstGeom prst="rect">
                <a:avLst/>
              </a:prstGeom>
              <a:blipFill>
                <a:blip r:embed="rId4"/>
                <a:stretch>
                  <a:fillRect l="-428" t="-2586" b="-9483"/>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D339E288-E6B6-B680-C040-E176307BEBDB}"/>
                  </a:ext>
                </a:extLst>
              </p:cNvPr>
              <p:cNvSpPr txBox="1"/>
              <p:nvPr/>
            </p:nvSpPr>
            <p:spPr>
              <a:xfrm>
                <a:off x="3091130" y="5086977"/>
                <a:ext cx="5131977" cy="646331"/>
              </a:xfrm>
              <a:prstGeom prst="rect">
                <a:avLst/>
              </a:prstGeom>
              <a:noFill/>
              <a:ln>
                <a:solidFill>
                  <a:schemeClr val="tx1">
                    <a:lumMod val="85000"/>
                  </a:schemeClr>
                </a:solidFill>
              </a:ln>
            </p:spPr>
            <p:txBody>
              <a:bodyPr wrap="square" rtlCol="0">
                <a:spAutoFit/>
              </a:bodyPr>
              <a:lstStyle/>
              <a:p>
                <a:pPr lvl="0" algn="just">
                  <a:defRPr/>
                </a:pPr>
                <a:r>
                  <a:rPr lang="es-MX" dirty="0">
                    <a:solidFill>
                      <a:prstClr val="black"/>
                    </a:solidFill>
                    <a:latin typeface="Times New Roman" panose="02020603050405020304" pitchFamily="18" charset="0"/>
                    <a:cs typeface="Times New Roman" panose="02020603050405020304" pitchFamily="18" charset="0"/>
                  </a:rPr>
                  <a:t>Por lo tanto, la media muestral </a:t>
                </a:r>
                <a14:m>
                  <m:oMath xmlns:m="http://schemas.openxmlformats.org/officeDocument/2006/math">
                    <m:acc>
                      <m:accPr>
                        <m:chr m:val="̅"/>
                        <m:ctrlPr>
                          <a:rPr lang="es-MX" i="1">
                            <a:solidFill>
                              <a:schemeClr val="bg1"/>
                            </a:solidFill>
                            <a:latin typeface="Cambria Math" panose="02040503050406030204" pitchFamily="18" charset="0"/>
                          </a:rPr>
                        </m:ctrlPr>
                      </m:accPr>
                      <m:e>
                        <m:r>
                          <a:rPr lang="es-MX" i="1">
                            <a:solidFill>
                              <a:schemeClr val="bg1"/>
                            </a:solidFill>
                            <a:latin typeface="Cambria Math" panose="02040503050406030204" pitchFamily="18" charset="0"/>
                          </a:rPr>
                          <m:t>𝑋</m:t>
                        </m:r>
                      </m:e>
                    </m:acc>
                  </m:oMath>
                </a14:m>
                <a:r>
                  <a:rPr kumimoji="0" lang="es-MX"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es un estimador insesgado de la media poblacional </a:t>
                </a:r>
                <a14:m>
                  <m:oMath xmlns:m="http://schemas.openxmlformats.org/officeDocument/2006/math">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oMath>
                </a14:m>
                <a:r>
                  <a:rPr kumimoji="0" lang="es-MX"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p:txBody>
          </p:sp>
        </mc:Choice>
        <mc:Fallback xmlns="">
          <p:sp>
            <p:nvSpPr>
              <p:cNvPr id="8" name="CuadroTexto 7">
                <a:extLst>
                  <a:ext uri="{FF2B5EF4-FFF2-40B4-BE49-F238E27FC236}">
                    <a16:creationId xmlns:a16="http://schemas.microsoft.com/office/drawing/2014/main" id="{D339E288-E6B6-B680-C040-E176307BEBDB}"/>
                  </a:ext>
                </a:extLst>
              </p:cNvPr>
              <p:cNvSpPr txBox="1">
                <a:spLocks noRot="1" noChangeAspect="1" noMove="1" noResize="1" noEditPoints="1" noAdjustHandles="1" noChangeArrowheads="1" noChangeShapeType="1" noTextEdit="1"/>
              </p:cNvSpPr>
              <p:nvPr/>
            </p:nvSpPr>
            <p:spPr>
              <a:xfrm>
                <a:off x="3091130" y="5086977"/>
                <a:ext cx="5131977" cy="646331"/>
              </a:xfrm>
              <a:prstGeom prst="rect">
                <a:avLst/>
              </a:prstGeom>
              <a:blipFill>
                <a:blip r:embed="rId5"/>
                <a:stretch>
                  <a:fillRect l="-829" t="-3670" r="-948" b="-11927"/>
                </a:stretch>
              </a:blipFill>
              <a:ln>
                <a:solidFill>
                  <a:schemeClr val="tx1">
                    <a:lumMod val="85000"/>
                  </a:schemeClr>
                </a:solidFill>
              </a:ln>
            </p:spPr>
            <p:txBody>
              <a:bodyPr/>
              <a:lstStyle/>
              <a:p>
                <a:r>
                  <a:rPr lang="es-MX">
                    <a:noFill/>
                  </a:rPr>
                  <a:t> </a:t>
                </a:r>
              </a:p>
            </p:txBody>
          </p:sp>
        </mc:Fallback>
      </mc:AlternateContent>
      <p:grpSp>
        <p:nvGrpSpPr>
          <p:cNvPr id="9" name="Grupo 8">
            <a:extLst>
              <a:ext uri="{FF2B5EF4-FFF2-40B4-BE49-F238E27FC236}">
                <a16:creationId xmlns:a16="http://schemas.microsoft.com/office/drawing/2014/main" id="{A1328645-FE11-EF45-5F91-07FDA7EE1887}"/>
              </a:ext>
            </a:extLst>
          </p:cNvPr>
          <p:cNvGrpSpPr/>
          <p:nvPr/>
        </p:nvGrpSpPr>
        <p:grpSpPr>
          <a:xfrm>
            <a:off x="2540338" y="129874"/>
            <a:ext cx="1101584" cy="901425"/>
            <a:chOff x="4557" y="292098"/>
            <a:chExt cx="1412697" cy="1802850"/>
          </a:xfrm>
        </p:grpSpPr>
        <p:sp>
          <p:nvSpPr>
            <p:cNvPr id="10" name="Rectángulo: esquinas redondeadas 9">
              <a:extLst>
                <a:ext uri="{FF2B5EF4-FFF2-40B4-BE49-F238E27FC236}">
                  <a16:creationId xmlns:a16="http://schemas.microsoft.com/office/drawing/2014/main" id="{6BA9BD95-001D-A415-58FA-42CFC475ECC9}"/>
                </a:ext>
              </a:extLst>
            </p:cNvPr>
            <p:cNvSpPr/>
            <p:nvPr/>
          </p:nvSpPr>
          <p:spPr>
            <a:xfrm>
              <a:off x="4557"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1" name="Rectángulo: esquinas redondeadas 4">
              <a:extLst>
                <a:ext uri="{FF2B5EF4-FFF2-40B4-BE49-F238E27FC236}">
                  <a16:creationId xmlns:a16="http://schemas.microsoft.com/office/drawing/2014/main" id="{6C013AF8-05CC-AE62-B6FD-23D113B9F5D8}"/>
                </a:ext>
              </a:extLst>
            </p:cNvPr>
            <p:cNvSpPr txBox="1"/>
            <p:nvPr/>
          </p:nvSpPr>
          <p:spPr>
            <a:xfrm>
              <a:off x="45933"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1</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Definición de la población objetivo</a:t>
              </a:r>
            </a:p>
          </p:txBody>
        </p:sp>
      </p:grpSp>
      <p:grpSp>
        <p:nvGrpSpPr>
          <p:cNvPr id="12" name="Grupo 11">
            <a:extLst>
              <a:ext uri="{FF2B5EF4-FFF2-40B4-BE49-F238E27FC236}">
                <a16:creationId xmlns:a16="http://schemas.microsoft.com/office/drawing/2014/main" id="{891D5D6D-2D83-F1F9-5D6A-865C5238634F}"/>
              </a:ext>
            </a:extLst>
          </p:cNvPr>
          <p:cNvGrpSpPr/>
          <p:nvPr/>
        </p:nvGrpSpPr>
        <p:grpSpPr>
          <a:xfrm>
            <a:off x="4518114" y="129874"/>
            <a:ext cx="1101584" cy="901425"/>
            <a:chOff x="1982333" y="292098"/>
            <a:chExt cx="1412697" cy="1802850"/>
          </a:xfrm>
        </p:grpSpPr>
        <p:sp>
          <p:nvSpPr>
            <p:cNvPr id="13" name="Rectángulo: esquinas redondeadas 12">
              <a:extLst>
                <a:ext uri="{FF2B5EF4-FFF2-40B4-BE49-F238E27FC236}">
                  <a16:creationId xmlns:a16="http://schemas.microsoft.com/office/drawing/2014/main" id="{924457B7-648A-1BBA-F702-9ED741F21721}"/>
                </a:ext>
              </a:extLst>
            </p:cNvPr>
            <p:cNvSpPr/>
            <p:nvPr/>
          </p:nvSpPr>
          <p:spPr>
            <a:xfrm>
              <a:off x="1982333"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4" name="Rectángulo: esquinas redondeadas 6">
              <a:extLst>
                <a:ext uri="{FF2B5EF4-FFF2-40B4-BE49-F238E27FC236}">
                  <a16:creationId xmlns:a16="http://schemas.microsoft.com/office/drawing/2014/main" id="{696B3BB8-460D-42A7-D16D-E77522128AD8}"/>
                </a:ext>
              </a:extLst>
            </p:cNvPr>
            <p:cNvSpPr txBox="1"/>
            <p:nvPr/>
          </p:nvSpPr>
          <p:spPr>
            <a:xfrm>
              <a:off x="2023709"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2</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Delimitar a la población</a:t>
              </a:r>
            </a:p>
          </p:txBody>
        </p:sp>
      </p:grpSp>
      <p:grpSp>
        <p:nvGrpSpPr>
          <p:cNvPr id="15" name="Grupo 14">
            <a:extLst>
              <a:ext uri="{FF2B5EF4-FFF2-40B4-BE49-F238E27FC236}">
                <a16:creationId xmlns:a16="http://schemas.microsoft.com/office/drawing/2014/main" id="{EF09D641-2A17-F511-6C42-3EF008F68236}"/>
              </a:ext>
            </a:extLst>
          </p:cNvPr>
          <p:cNvGrpSpPr/>
          <p:nvPr/>
        </p:nvGrpSpPr>
        <p:grpSpPr>
          <a:xfrm>
            <a:off x="6495890" y="129874"/>
            <a:ext cx="1101584" cy="901425"/>
            <a:chOff x="3960109" y="292098"/>
            <a:chExt cx="1412697" cy="1802850"/>
          </a:xfrm>
        </p:grpSpPr>
        <p:sp>
          <p:nvSpPr>
            <p:cNvPr id="16" name="Rectángulo: esquinas redondeadas 15">
              <a:extLst>
                <a:ext uri="{FF2B5EF4-FFF2-40B4-BE49-F238E27FC236}">
                  <a16:creationId xmlns:a16="http://schemas.microsoft.com/office/drawing/2014/main" id="{C27B2382-EF14-9EC2-6D63-C6B619B07FC8}"/>
                </a:ext>
              </a:extLst>
            </p:cNvPr>
            <p:cNvSpPr/>
            <p:nvPr/>
          </p:nvSpPr>
          <p:spPr>
            <a:xfrm>
              <a:off x="3960109"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7" name="Rectángulo: esquinas redondeadas 8">
              <a:extLst>
                <a:ext uri="{FF2B5EF4-FFF2-40B4-BE49-F238E27FC236}">
                  <a16:creationId xmlns:a16="http://schemas.microsoft.com/office/drawing/2014/main" id="{606CB045-A098-C8AA-36DE-E710C9A9985F}"/>
                </a:ext>
              </a:extLst>
            </p:cNvPr>
            <p:cNvSpPr txBox="1"/>
            <p:nvPr/>
          </p:nvSpPr>
          <p:spPr>
            <a:xfrm>
              <a:off x="4001485"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3</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Selección de las técnicas de muestreo</a:t>
              </a:r>
            </a:p>
          </p:txBody>
        </p:sp>
      </p:grpSp>
      <p:grpSp>
        <p:nvGrpSpPr>
          <p:cNvPr id="18" name="Grupo 17">
            <a:extLst>
              <a:ext uri="{FF2B5EF4-FFF2-40B4-BE49-F238E27FC236}">
                <a16:creationId xmlns:a16="http://schemas.microsoft.com/office/drawing/2014/main" id="{01D7407D-7E72-B742-4945-AA12D3A1F8A9}"/>
              </a:ext>
            </a:extLst>
          </p:cNvPr>
          <p:cNvGrpSpPr/>
          <p:nvPr/>
        </p:nvGrpSpPr>
        <p:grpSpPr>
          <a:xfrm>
            <a:off x="8473666" y="129874"/>
            <a:ext cx="1101584" cy="901425"/>
            <a:chOff x="5937885" y="292098"/>
            <a:chExt cx="1412697" cy="1802850"/>
          </a:xfrm>
          <a:solidFill>
            <a:srgbClr val="FFC000"/>
          </a:solidFill>
        </p:grpSpPr>
        <p:sp>
          <p:nvSpPr>
            <p:cNvPr id="19" name="Rectángulo: esquinas redondeadas 18">
              <a:extLst>
                <a:ext uri="{FF2B5EF4-FFF2-40B4-BE49-F238E27FC236}">
                  <a16:creationId xmlns:a16="http://schemas.microsoft.com/office/drawing/2014/main" id="{B7746C3E-CEA7-D3A3-042A-C38B9A8A97FD}"/>
                </a:ext>
              </a:extLst>
            </p:cNvPr>
            <p:cNvSpPr/>
            <p:nvPr/>
          </p:nvSpPr>
          <p:spPr>
            <a:xfrm>
              <a:off x="5937885" y="292098"/>
              <a:ext cx="1412697" cy="1802850"/>
            </a:xfrm>
            <a:prstGeom prst="roundRect">
              <a:avLst>
                <a:gd name="adj" fmla="val 10000"/>
              </a:avLst>
            </a:prstGeom>
            <a:grpFill/>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20" name="Rectángulo: esquinas redondeadas 10">
              <a:extLst>
                <a:ext uri="{FF2B5EF4-FFF2-40B4-BE49-F238E27FC236}">
                  <a16:creationId xmlns:a16="http://schemas.microsoft.com/office/drawing/2014/main" id="{BDCB95E1-01E0-9135-1EA8-A6BB4EA3E3D6}"/>
                </a:ext>
              </a:extLst>
            </p:cNvPr>
            <p:cNvSpPr txBox="1"/>
            <p:nvPr/>
          </p:nvSpPr>
          <p:spPr>
            <a:xfrm>
              <a:off x="5979261" y="333474"/>
              <a:ext cx="1329945" cy="1720098"/>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4</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Determinación del tamaño de la muestra</a:t>
              </a:r>
            </a:p>
          </p:txBody>
        </p:sp>
      </p:grpSp>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D44FBF72-892D-4E43-7B8B-56295DBCAC54}"/>
                  </a:ext>
                </a:extLst>
              </p:cNvPr>
              <p:cNvSpPr txBox="1"/>
              <p:nvPr/>
            </p:nvSpPr>
            <p:spPr>
              <a:xfrm>
                <a:off x="2411226" y="3895272"/>
                <a:ext cx="6416943" cy="8485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b="0" i="1" smtClean="0">
                          <a:solidFill>
                            <a:prstClr val="black"/>
                          </a:solidFill>
                          <a:latin typeface="Cambria Math" panose="02040503050406030204" pitchFamily="18" charset="0"/>
                          <a:cs typeface="Times New Roman" panose="02020603050405020304" pitchFamily="18" charset="0"/>
                        </a:rPr>
                        <m:t>𝐸</m:t>
                      </m:r>
                      <m:d>
                        <m:dPr>
                          <m:begChr m:val="["/>
                          <m:endChr m:val="]"/>
                          <m:ctrlPr>
                            <a:rPr lang="es-MX" i="1">
                              <a:solidFill>
                                <a:prstClr val="black"/>
                              </a:solidFill>
                              <a:latin typeface="Cambria Math" panose="02040503050406030204" pitchFamily="18" charset="0"/>
                              <a:cs typeface="Times New Roman" panose="02020603050405020304" pitchFamily="18" charset="0"/>
                            </a:rPr>
                          </m:ctrlPr>
                        </m:dPr>
                        <m:e>
                          <m:acc>
                            <m:accPr>
                              <m:chr m:val="̅"/>
                              <m:ctrlPr>
                                <a:rPr lang="es-MX" i="1">
                                  <a:solidFill>
                                    <a:schemeClr val="bg1"/>
                                  </a:solidFill>
                                  <a:latin typeface="Cambria Math" panose="02040503050406030204" pitchFamily="18" charset="0"/>
                                </a:rPr>
                              </m:ctrlPr>
                            </m:accPr>
                            <m:e>
                              <m:r>
                                <a:rPr lang="es-MX" i="1">
                                  <a:solidFill>
                                    <a:schemeClr val="bg1"/>
                                  </a:solidFill>
                                  <a:latin typeface="Cambria Math" panose="02040503050406030204" pitchFamily="18" charset="0"/>
                                </a:rPr>
                                <m:t>𝑋</m:t>
                              </m:r>
                            </m:e>
                          </m:acc>
                        </m:e>
                      </m:d>
                      <m:r>
                        <a:rPr lang="es-MX" b="0" i="1" smtClean="0">
                          <a:solidFill>
                            <a:schemeClr val="bg1"/>
                          </a:solidFill>
                          <a:latin typeface="Cambria Math" panose="02040503050406030204" pitchFamily="18" charset="0"/>
                        </a:rPr>
                        <m:t>=</m:t>
                      </m:r>
                      <m:r>
                        <a:rPr lang="es-MX" b="0" i="1" smtClean="0">
                          <a:solidFill>
                            <a:schemeClr val="bg1"/>
                          </a:solidFill>
                          <a:latin typeface="Cambria Math" panose="02040503050406030204" pitchFamily="18" charset="0"/>
                        </a:rPr>
                        <m:t>𝐸</m:t>
                      </m:r>
                      <m:d>
                        <m:dPr>
                          <m:begChr m:val="["/>
                          <m:endChr m:val="]"/>
                          <m:ctrlPr>
                            <a:rPr lang="es-MX" b="0" i="1" smtClean="0">
                              <a:solidFill>
                                <a:schemeClr val="bg1"/>
                              </a:solidFill>
                              <a:latin typeface="Cambria Math" panose="02040503050406030204" pitchFamily="18" charset="0"/>
                            </a:rPr>
                          </m:ctrlPr>
                        </m:dPr>
                        <m:e>
                          <m:f>
                            <m:fPr>
                              <m:ctrlPr>
                                <a:rPr lang="es-MX" b="0" i="1" smtClean="0">
                                  <a:solidFill>
                                    <a:schemeClr val="bg1"/>
                                  </a:solidFill>
                                  <a:latin typeface="Cambria Math" panose="02040503050406030204" pitchFamily="18" charset="0"/>
                                </a:rPr>
                              </m:ctrlPr>
                            </m:fPr>
                            <m:num>
                              <m:r>
                                <a:rPr lang="es-MX" b="0" i="1" smtClean="0">
                                  <a:solidFill>
                                    <a:schemeClr val="bg1"/>
                                  </a:solidFill>
                                  <a:latin typeface="Cambria Math" panose="02040503050406030204" pitchFamily="18" charset="0"/>
                                </a:rPr>
                                <m:t>1</m:t>
                              </m:r>
                            </m:num>
                            <m:den>
                              <m:r>
                                <a:rPr lang="es-MX" b="0" i="1" smtClean="0">
                                  <a:solidFill>
                                    <a:schemeClr val="bg1"/>
                                  </a:solidFill>
                                  <a:latin typeface="Cambria Math" panose="02040503050406030204" pitchFamily="18" charset="0"/>
                                </a:rPr>
                                <m:t>𝑛</m:t>
                              </m:r>
                            </m:den>
                          </m:f>
                          <m:nary>
                            <m:naryPr>
                              <m:chr m:val="∑"/>
                              <m:ctrlPr>
                                <a:rPr lang="es-MX" b="0" i="1" smtClean="0">
                                  <a:solidFill>
                                    <a:schemeClr val="bg1"/>
                                  </a:solidFill>
                                  <a:latin typeface="Cambria Math" panose="02040503050406030204" pitchFamily="18" charset="0"/>
                                </a:rPr>
                              </m:ctrlPr>
                            </m:naryPr>
                            <m:sub>
                              <m:r>
                                <m:rPr>
                                  <m:brk m:alnAt="23"/>
                                </m:rPr>
                                <a:rPr lang="es-MX" b="0" i="1" smtClean="0">
                                  <a:solidFill>
                                    <a:schemeClr val="bg1"/>
                                  </a:solidFill>
                                  <a:latin typeface="Cambria Math" panose="02040503050406030204" pitchFamily="18" charset="0"/>
                                </a:rPr>
                                <m:t>𝑖</m:t>
                              </m:r>
                              <m:r>
                                <a:rPr lang="es-MX" b="0" i="1" smtClean="0">
                                  <a:solidFill>
                                    <a:schemeClr val="bg1"/>
                                  </a:solidFill>
                                  <a:latin typeface="Cambria Math" panose="02040503050406030204" pitchFamily="18" charset="0"/>
                                </a:rPr>
                                <m:t>=1</m:t>
                              </m:r>
                            </m:sub>
                            <m:sup>
                              <m:r>
                                <a:rPr lang="es-MX" b="0" i="1" smtClean="0">
                                  <a:solidFill>
                                    <a:schemeClr val="bg1"/>
                                  </a:solidFill>
                                  <a:latin typeface="Cambria Math" panose="02040503050406030204" pitchFamily="18" charset="0"/>
                                </a:rPr>
                                <m:t>𝑛</m:t>
                              </m:r>
                            </m:sup>
                            <m:e>
                              <m:sSub>
                                <m:sSubPr>
                                  <m:ctrlPr>
                                    <a:rPr lang="es-MX" b="0" i="1" smtClean="0">
                                      <a:solidFill>
                                        <a:schemeClr val="bg1"/>
                                      </a:solidFill>
                                      <a:latin typeface="Cambria Math" panose="02040503050406030204" pitchFamily="18" charset="0"/>
                                    </a:rPr>
                                  </m:ctrlPr>
                                </m:sSubPr>
                                <m:e>
                                  <m:r>
                                    <a:rPr lang="es-MX" b="0" i="1" smtClean="0">
                                      <a:solidFill>
                                        <a:schemeClr val="bg1"/>
                                      </a:solidFill>
                                      <a:latin typeface="Cambria Math" panose="02040503050406030204" pitchFamily="18" charset="0"/>
                                    </a:rPr>
                                    <m:t>𝑋</m:t>
                                  </m:r>
                                </m:e>
                                <m:sub>
                                  <m:r>
                                    <a:rPr lang="es-MX" b="0" i="1" smtClean="0">
                                      <a:solidFill>
                                        <a:schemeClr val="bg1"/>
                                      </a:solidFill>
                                      <a:latin typeface="Cambria Math" panose="02040503050406030204" pitchFamily="18" charset="0"/>
                                    </a:rPr>
                                    <m:t>𝑖</m:t>
                                  </m:r>
                                </m:sub>
                              </m:sSub>
                            </m:e>
                          </m:nary>
                        </m:e>
                      </m:d>
                      <m:r>
                        <a:rPr lang="es-MX" b="0" i="1" smtClean="0">
                          <a:solidFill>
                            <a:schemeClr val="bg1"/>
                          </a:solidFill>
                          <a:latin typeface="Cambria Math" panose="02040503050406030204" pitchFamily="18" charset="0"/>
                        </a:rPr>
                        <m:t>=</m:t>
                      </m:r>
                      <m:f>
                        <m:fPr>
                          <m:ctrlPr>
                            <a:rPr lang="es-MX" b="0" i="1" smtClean="0">
                              <a:solidFill>
                                <a:schemeClr val="bg1"/>
                              </a:solidFill>
                              <a:latin typeface="Cambria Math" panose="02040503050406030204" pitchFamily="18" charset="0"/>
                            </a:rPr>
                          </m:ctrlPr>
                        </m:fPr>
                        <m:num>
                          <m:r>
                            <a:rPr lang="es-MX" b="0" i="1" smtClean="0">
                              <a:solidFill>
                                <a:schemeClr val="bg1"/>
                              </a:solidFill>
                              <a:latin typeface="Cambria Math" panose="02040503050406030204" pitchFamily="18" charset="0"/>
                            </a:rPr>
                            <m:t>1</m:t>
                          </m:r>
                        </m:num>
                        <m:den>
                          <m:r>
                            <a:rPr lang="es-MX" b="0" i="1" smtClean="0">
                              <a:solidFill>
                                <a:schemeClr val="bg1"/>
                              </a:solidFill>
                              <a:latin typeface="Cambria Math" panose="02040503050406030204" pitchFamily="18" charset="0"/>
                            </a:rPr>
                            <m:t>𝑛</m:t>
                          </m:r>
                        </m:den>
                      </m:f>
                      <m:r>
                        <a:rPr lang="es-MX" b="0" i="1" smtClean="0">
                          <a:solidFill>
                            <a:schemeClr val="bg1"/>
                          </a:solidFill>
                          <a:latin typeface="Cambria Math" panose="02040503050406030204" pitchFamily="18" charset="0"/>
                        </a:rPr>
                        <m:t>𝐸</m:t>
                      </m:r>
                      <m:d>
                        <m:dPr>
                          <m:begChr m:val="["/>
                          <m:endChr m:val="]"/>
                          <m:ctrlPr>
                            <a:rPr lang="es-MX" b="0" i="1" smtClean="0">
                              <a:solidFill>
                                <a:schemeClr val="bg1"/>
                              </a:solidFill>
                              <a:latin typeface="Cambria Math" panose="02040503050406030204" pitchFamily="18" charset="0"/>
                            </a:rPr>
                          </m:ctrlPr>
                        </m:dPr>
                        <m:e>
                          <m:nary>
                            <m:naryPr>
                              <m:chr m:val="∑"/>
                              <m:ctrlPr>
                                <a:rPr lang="es-MX" i="1">
                                  <a:solidFill>
                                    <a:schemeClr val="bg1"/>
                                  </a:solidFill>
                                  <a:latin typeface="Cambria Math" panose="02040503050406030204" pitchFamily="18" charset="0"/>
                                </a:rPr>
                              </m:ctrlPr>
                            </m:naryPr>
                            <m:sub>
                              <m:r>
                                <m:rPr>
                                  <m:brk m:alnAt="23"/>
                                </m:rPr>
                                <a:rPr lang="es-MX" i="1">
                                  <a:solidFill>
                                    <a:schemeClr val="bg1"/>
                                  </a:solidFill>
                                  <a:latin typeface="Cambria Math" panose="02040503050406030204" pitchFamily="18" charset="0"/>
                                </a:rPr>
                                <m:t>𝑖</m:t>
                              </m:r>
                              <m:r>
                                <a:rPr lang="es-MX" i="1">
                                  <a:solidFill>
                                    <a:schemeClr val="bg1"/>
                                  </a:solidFill>
                                  <a:latin typeface="Cambria Math" panose="02040503050406030204" pitchFamily="18" charset="0"/>
                                </a:rPr>
                                <m:t>=1</m:t>
                              </m:r>
                            </m:sub>
                            <m:sup>
                              <m:r>
                                <a:rPr lang="es-MX" i="1">
                                  <a:solidFill>
                                    <a:schemeClr val="bg1"/>
                                  </a:solidFill>
                                  <a:latin typeface="Cambria Math" panose="02040503050406030204" pitchFamily="18" charset="0"/>
                                </a:rPr>
                                <m:t>𝑛</m:t>
                              </m:r>
                            </m:sup>
                            <m:e>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𝑋</m:t>
                                  </m:r>
                                </m:e>
                                <m:sub>
                                  <m:r>
                                    <a:rPr lang="es-MX" b="0" i="1" smtClean="0">
                                      <a:solidFill>
                                        <a:schemeClr val="bg1"/>
                                      </a:solidFill>
                                      <a:latin typeface="Cambria Math" panose="02040503050406030204" pitchFamily="18" charset="0"/>
                                    </a:rPr>
                                    <m:t>𝑖</m:t>
                                  </m:r>
                                </m:sub>
                              </m:sSub>
                            </m:e>
                          </m:nary>
                        </m:e>
                      </m:d>
                      <m:r>
                        <a:rPr lang="es-MX" b="0" i="1" smtClean="0">
                          <a:solidFill>
                            <a:schemeClr val="bg1"/>
                          </a:solidFill>
                          <a:latin typeface="Cambria Math" panose="02040503050406030204" pitchFamily="18" charset="0"/>
                        </a:rPr>
                        <m:t>=</m:t>
                      </m:r>
                      <m:f>
                        <m:fPr>
                          <m:ctrlPr>
                            <a:rPr lang="es-MX" b="0" i="1" smtClean="0">
                              <a:solidFill>
                                <a:schemeClr val="bg1"/>
                              </a:solidFill>
                              <a:latin typeface="Cambria Math" panose="02040503050406030204" pitchFamily="18" charset="0"/>
                            </a:rPr>
                          </m:ctrlPr>
                        </m:fPr>
                        <m:num>
                          <m:r>
                            <a:rPr lang="es-MX" b="0" i="1" smtClean="0">
                              <a:solidFill>
                                <a:schemeClr val="bg1"/>
                              </a:solidFill>
                              <a:latin typeface="Cambria Math" panose="02040503050406030204" pitchFamily="18" charset="0"/>
                            </a:rPr>
                            <m:t>1</m:t>
                          </m:r>
                        </m:num>
                        <m:den>
                          <m:r>
                            <a:rPr lang="es-MX" b="0" i="1" smtClean="0">
                              <a:solidFill>
                                <a:schemeClr val="bg1"/>
                              </a:solidFill>
                              <a:latin typeface="Cambria Math" panose="02040503050406030204" pitchFamily="18" charset="0"/>
                            </a:rPr>
                            <m:t>𝑛</m:t>
                          </m:r>
                        </m:den>
                      </m:f>
                      <m:nary>
                        <m:naryPr>
                          <m:chr m:val="∑"/>
                          <m:ctrlPr>
                            <a:rPr lang="es-MX" i="1">
                              <a:solidFill>
                                <a:schemeClr val="bg1"/>
                              </a:solidFill>
                              <a:latin typeface="Cambria Math" panose="02040503050406030204" pitchFamily="18" charset="0"/>
                            </a:rPr>
                          </m:ctrlPr>
                        </m:naryPr>
                        <m:sub>
                          <m:r>
                            <m:rPr>
                              <m:brk m:alnAt="23"/>
                            </m:rPr>
                            <a:rPr lang="es-MX" i="1">
                              <a:solidFill>
                                <a:schemeClr val="bg1"/>
                              </a:solidFill>
                              <a:latin typeface="Cambria Math" panose="02040503050406030204" pitchFamily="18" charset="0"/>
                            </a:rPr>
                            <m:t>𝑖</m:t>
                          </m:r>
                          <m:r>
                            <a:rPr lang="es-MX" i="1">
                              <a:solidFill>
                                <a:schemeClr val="bg1"/>
                              </a:solidFill>
                              <a:latin typeface="Cambria Math" panose="02040503050406030204" pitchFamily="18" charset="0"/>
                            </a:rPr>
                            <m:t>=1</m:t>
                          </m:r>
                        </m:sub>
                        <m:sup>
                          <m:r>
                            <a:rPr lang="es-MX" i="1">
                              <a:solidFill>
                                <a:schemeClr val="bg1"/>
                              </a:solidFill>
                              <a:latin typeface="Cambria Math" panose="02040503050406030204" pitchFamily="18" charset="0"/>
                            </a:rPr>
                            <m:t>𝑛</m:t>
                          </m:r>
                        </m:sup>
                        <m:e>
                          <m:r>
                            <a:rPr lang="es-MX" b="0" i="1" smtClean="0">
                              <a:solidFill>
                                <a:schemeClr val="bg1"/>
                              </a:solidFill>
                              <a:latin typeface="Cambria Math" panose="02040503050406030204" pitchFamily="18" charset="0"/>
                            </a:rPr>
                            <m:t>𝐸</m:t>
                          </m:r>
                          <m:d>
                            <m:dPr>
                              <m:begChr m:val="["/>
                              <m:endChr m:val="]"/>
                              <m:ctrlPr>
                                <a:rPr lang="es-MX" i="1" smtClean="0">
                                  <a:solidFill>
                                    <a:schemeClr val="bg1"/>
                                  </a:solidFill>
                                  <a:latin typeface="Cambria Math" panose="02040503050406030204" pitchFamily="18" charset="0"/>
                                </a:rPr>
                              </m:ctrlPr>
                            </m:dPr>
                            <m:e>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𝑋</m:t>
                                  </m:r>
                                </m:e>
                                <m:sub>
                                  <m:r>
                                    <a:rPr lang="es-MX" b="0" i="1" smtClean="0">
                                      <a:solidFill>
                                        <a:schemeClr val="bg1"/>
                                      </a:solidFill>
                                      <a:latin typeface="Cambria Math" panose="02040503050406030204" pitchFamily="18" charset="0"/>
                                    </a:rPr>
                                    <m:t>𝑖</m:t>
                                  </m:r>
                                </m:sub>
                              </m:sSub>
                            </m:e>
                          </m:d>
                          <m:r>
                            <a:rPr lang="es-MX" b="0" i="1" smtClean="0">
                              <a:solidFill>
                                <a:schemeClr val="bg1"/>
                              </a:solidFill>
                              <a:latin typeface="Cambria Math" panose="02040503050406030204" pitchFamily="18" charset="0"/>
                            </a:rPr>
                            <m:t>=</m:t>
                          </m:r>
                          <m:f>
                            <m:fPr>
                              <m:ctrlPr>
                                <a:rPr lang="es-MX" b="0" i="1" smtClean="0">
                                  <a:solidFill>
                                    <a:schemeClr val="bg1"/>
                                  </a:solidFill>
                                  <a:latin typeface="Cambria Math" panose="02040503050406030204" pitchFamily="18" charset="0"/>
                                </a:rPr>
                              </m:ctrlPr>
                            </m:fPr>
                            <m:num>
                              <m:r>
                                <a:rPr lang="es-MX" b="0" i="1" smtClean="0">
                                  <a:solidFill>
                                    <a:schemeClr val="bg1"/>
                                  </a:solidFill>
                                  <a:latin typeface="Cambria Math" panose="02040503050406030204" pitchFamily="18" charset="0"/>
                                </a:rPr>
                                <m:t>1</m:t>
                              </m:r>
                            </m:num>
                            <m:den>
                              <m:r>
                                <a:rPr lang="es-MX" b="0" i="1" smtClean="0">
                                  <a:solidFill>
                                    <a:schemeClr val="bg1"/>
                                  </a:solidFill>
                                  <a:latin typeface="Cambria Math" panose="02040503050406030204" pitchFamily="18" charset="0"/>
                                </a:rPr>
                                <m:t>𝑛</m:t>
                              </m:r>
                            </m:den>
                          </m:f>
                          <m:r>
                            <a:rPr lang="es-MX" b="0" i="1" smtClean="0">
                              <a:solidFill>
                                <a:schemeClr val="bg1"/>
                              </a:solidFill>
                              <a:latin typeface="Cambria Math" panose="02040503050406030204" pitchFamily="18" charset="0"/>
                              <a:ea typeface="Cambria Math" panose="02040503050406030204" pitchFamily="18" charset="0"/>
                            </a:rPr>
                            <m:t>∙</m:t>
                          </m:r>
                          <m:r>
                            <a:rPr lang="es-MX" b="0" i="1" smtClean="0">
                              <a:solidFill>
                                <a:schemeClr val="bg1"/>
                              </a:solidFill>
                              <a:latin typeface="Cambria Math" panose="02040503050406030204" pitchFamily="18" charset="0"/>
                              <a:ea typeface="Cambria Math" panose="02040503050406030204" pitchFamily="18" charset="0"/>
                            </a:rPr>
                            <m:t>𝑛</m:t>
                          </m:r>
                          <m:r>
                            <a:rPr lang="es-MX" b="0" i="1" smtClean="0">
                              <a:solidFill>
                                <a:schemeClr val="bg1"/>
                              </a:solidFill>
                              <a:latin typeface="Cambria Math" panose="02040503050406030204" pitchFamily="18" charset="0"/>
                              <a:ea typeface="Cambria Math" panose="02040503050406030204" pitchFamily="18" charset="0"/>
                            </a:rPr>
                            <m:t>∙</m:t>
                          </m:r>
                          <m:r>
                            <a:rPr lang="es-MX" b="0" i="1" smtClean="0">
                              <a:solidFill>
                                <a:schemeClr val="bg1"/>
                              </a:solidFill>
                              <a:latin typeface="Cambria Math" panose="02040503050406030204" pitchFamily="18" charset="0"/>
                              <a:ea typeface="Cambria Math" panose="02040503050406030204" pitchFamily="18" charset="0"/>
                            </a:rPr>
                            <m:t>𝜇</m:t>
                          </m:r>
                          <m:r>
                            <a:rPr lang="es-MX" b="0" i="1" smtClean="0">
                              <a:solidFill>
                                <a:schemeClr val="bg1"/>
                              </a:solidFill>
                              <a:latin typeface="Cambria Math" panose="02040503050406030204" pitchFamily="18" charset="0"/>
                              <a:ea typeface="Cambria Math" panose="02040503050406030204" pitchFamily="18" charset="0"/>
                            </a:rPr>
                            <m:t>=</m:t>
                          </m:r>
                          <m:r>
                            <a:rPr lang="es-MX" b="0" i="1" smtClean="0">
                              <a:solidFill>
                                <a:schemeClr val="bg1"/>
                              </a:solidFill>
                              <a:latin typeface="Cambria Math" panose="02040503050406030204" pitchFamily="18" charset="0"/>
                              <a:ea typeface="Cambria Math" panose="02040503050406030204" pitchFamily="18" charset="0"/>
                            </a:rPr>
                            <m:t>𝜇</m:t>
                          </m:r>
                        </m:e>
                      </m:nary>
                    </m:oMath>
                  </m:oMathPara>
                </a14:m>
                <a:endParaRPr lang="es-MX" dirty="0"/>
              </a:p>
            </p:txBody>
          </p:sp>
        </mc:Choice>
        <mc:Fallback xmlns="">
          <p:sp>
            <p:nvSpPr>
              <p:cNvPr id="26" name="CuadroTexto 25">
                <a:extLst>
                  <a:ext uri="{FF2B5EF4-FFF2-40B4-BE49-F238E27FC236}">
                    <a16:creationId xmlns:a16="http://schemas.microsoft.com/office/drawing/2014/main" id="{D44FBF72-892D-4E43-7B8B-56295DBCAC54}"/>
                  </a:ext>
                </a:extLst>
              </p:cNvPr>
              <p:cNvSpPr txBox="1">
                <a:spLocks noRot="1" noChangeAspect="1" noMove="1" noResize="1" noEditPoints="1" noAdjustHandles="1" noChangeArrowheads="1" noChangeShapeType="1" noTextEdit="1"/>
              </p:cNvSpPr>
              <p:nvPr/>
            </p:nvSpPr>
            <p:spPr>
              <a:xfrm>
                <a:off x="2411226" y="3895272"/>
                <a:ext cx="6416943" cy="848566"/>
              </a:xfrm>
              <a:prstGeom prst="rect">
                <a:avLst/>
              </a:prstGeom>
              <a:blipFill>
                <a:blip r:embed="rId6"/>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1062517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1000"/>
                                        <p:tgtEl>
                                          <p:spTgt spid="26"/>
                                        </p:tgtEl>
                                      </p:cBhvr>
                                    </p:animEffect>
                                    <p:anim calcmode="lin" valueType="num">
                                      <p:cBhvr>
                                        <p:cTn id="22" dur="1000" fill="hold"/>
                                        <p:tgtEl>
                                          <p:spTgt spid="26"/>
                                        </p:tgtEl>
                                        <p:attrNameLst>
                                          <p:attrName>ppt_x</p:attrName>
                                        </p:attrNameLst>
                                      </p:cBhvr>
                                      <p:tavLst>
                                        <p:tav tm="0">
                                          <p:val>
                                            <p:strVal val="#ppt_x"/>
                                          </p:val>
                                        </p:tav>
                                        <p:tav tm="100000">
                                          <p:val>
                                            <p:strVal val="#ppt_x"/>
                                          </p:val>
                                        </p:tav>
                                      </p:tavLst>
                                    </p:anim>
                                    <p:anim calcmode="lin" valueType="num">
                                      <p:cBhvr>
                                        <p:cTn id="23"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2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548640"/>
            <a:ext cx="8276908" cy="941286"/>
          </a:xfrm>
        </p:spPr>
        <p:txBody>
          <a:bodyPr rtlCol="0">
            <a:noAutofit/>
          </a:bodyPr>
          <a:lstStyle/>
          <a:p>
            <a:pPr algn="just"/>
            <a:r>
              <a:rPr lang="es-ES" sz="2800" dirty="0">
                <a:latin typeface="Times New Roman" panose="02020603050405020304" pitchFamily="18" charset="0"/>
                <a:cs typeface="Times New Roman" panose="02020603050405020304" pitchFamily="18" charset="0"/>
              </a:rPr>
              <a:t>Consistencia</a:t>
            </a:r>
            <a:endParaRPr lang="es-ES" sz="2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A4681A86-6AF3-5693-8134-13EC26FBFD95}"/>
                  </a:ext>
                </a:extLst>
              </p:cNvPr>
              <p:cNvSpPr txBox="1"/>
              <p:nvPr/>
            </p:nvSpPr>
            <p:spPr>
              <a:xfrm>
                <a:off x="2190303" y="3577656"/>
                <a:ext cx="7811390" cy="646331"/>
              </a:xfrm>
              <a:prstGeom prst="rect">
                <a:avLst/>
              </a:prstGeom>
              <a:noFill/>
              <a:ln>
                <a:solidFill>
                  <a:schemeClr val="tx1">
                    <a:lumMod val="85000"/>
                  </a:schemeClr>
                </a:solidFill>
              </a:ln>
            </p:spPr>
            <p:txBody>
              <a:bodyPr wrap="square" rtlCol="0">
                <a:spAutoFit/>
              </a:bodyPr>
              <a:lstStyle/>
              <a:p>
                <a:pPr marR="0" lvl="0" algn="just" defTabSz="914400" rtl="0" eaLnBrk="1" fontAlgn="auto" latinLnBrk="0" hangingPunct="1">
                  <a:lnSpc>
                    <a:spcPct val="100000"/>
                  </a:lnSpc>
                  <a:spcBef>
                    <a:spcPts val="0"/>
                  </a:spcBef>
                  <a:spcAft>
                    <a:spcPts val="0"/>
                  </a:spcAft>
                  <a:buClrTx/>
                  <a:buSzTx/>
                  <a:tabLst/>
                  <a:defRPr/>
                </a:pPr>
                <a:r>
                  <a:rPr lang="es-MX" dirty="0">
                    <a:solidFill>
                      <a:prstClr val="black"/>
                    </a:solidFill>
                    <a:latin typeface="Times New Roman" panose="02020603050405020304" pitchFamily="18" charset="0"/>
                    <a:cs typeface="Times New Roman" panose="02020603050405020304" pitchFamily="18" charset="0"/>
                  </a:rPr>
                  <a:t>Sea </a:t>
                </a:r>
                <a14:m>
                  <m:oMath xmlns:m="http://schemas.openxmlformats.org/officeDocument/2006/math">
                    <m:sSub>
                      <m:sSubPr>
                        <m:ctrlPr>
                          <a:rPr lang="es-MX" i="1" smtClean="0">
                            <a:solidFill>
                              <a:prstClr val="black"/>
                            </a:solidFill>
                            <a:latin typeface="Cambria Math" panose="02040503050406030204" pitchFamily="18" charset="0"/>
                            <a:cs typeface="Times New Roman" panose="02020603050405020304" pitchFamily="18" charset="0"/>
                          </a:rPr>
                        </m:ctrlPr>
                      </m:sSubPr>
                      <m:e>
                        <m:r>
                          <a:rPr lang="es-MX" b="0" i="1" smtClean="0">
                            <a:solidFill>
                              <a:prstClr val="black"/>
                            </a:solidFill>
                            <a:latin typeface="Cambria Math" panose="02040503050406030204" pitchFamily="18" charset="0"/>
                            <a:cs typeface="Times New Roman" panose="02020603050405020304" pitchFamily="18" charset="0"/>
                          </a:rPr>
                          <m:t>𝑋</m:t>
                        </m:r>
                      </m:e>
                      <m:sub>
                        <m:r>
                          <a:rPr lang="es-MX" b="0" i="1" smtClean="0">
                            <a:solidFill>
                              <a:prstClr val="black"/>
                            </a:solidFill>
                            <a:latin typeface="Cambria Math" panose="02040503050406030204" pitchFamily="18" charset="0"/>
                            <a:cs typeface="Times New Roman" panose="02020603050405020304" pitchFamily="18" charset="0"/>
                          </a:rPr>
                          <m:t>1</m:t>
                        </m:r>
                      </m:sub>
                    </m:sSub>
                    <m:r>
                      <a:rPr lang="es-MX" b="0" i="1" smtClean="0">
                        <a:solidFill>
                          <a:prstClr val="black"/>
                        </a:solidFill>
                        <a:latin typeface="Cambria Math" panose="02040503050406030204" pitchFamily="18" charset="0"/>
                        <a:cs typeface="Times New Roman" panose="02020603050405020304" pitchFamily="18" charset="0"/>
                      </a:rPr>
                      <m:t>,</m:t>
                    </m:r>
                    <m:sSub>
                      <m:sSubPr>
                        <m:ctrlPr>
                          <a:rPr lang="es-MX" b="0" i="1" smtClean="0">
                            <a:solidFill>
                              <a:prstClr val="black"/>
                            </a:solidFill>
                            <a:latin typeface="Cambria Math" panose="02040503050406030204" pitchFamily="18" charset="0"/>
                            <a:cs typeface="Times New Roman" panose="02020603050405020304" pitchFamily="18" charset="0"/>
                          </a:rPr>
                        </m:ctrlPr>
                      </m:sSubPr>
                      <m:e>
                        <m:r>
                          <a:rPr lang="es-MX" b="0" i="1" smtClean="0">
                            <a:solidFill>
                              <a:prstClr val="black"/>
                            </a:solidFill>
                            <a:latin typeface="Cambria Math" panose="02040503050406030204" pitchFamily="18" charset="0"/>
                            <a:cs typeface="Times New Roman" panose="02020603050405020304" pitchFamily="18" charset="0"/>
                          </a:rPr>
                          <m:t>𝑋</m:t>
                        </m:r>
                      </m:e>
                      <m:sub>
                        <m:r>
                          <a:rPr lang="es-MX" b="0" i="1" smtClean="0">
                            <a:solidFill>
                              <a:prstClr val="black"/>
                            </a:solidFill>
                            <a:latin typeface="Cambria Math" panose="02040503050406030204" pitchFamily="18" charset="0"/>
                            <a:cs typeface="Times New Roman" panose="02020603050405020304" pitchFamily="18" charset="0"/>
                          </a:rPr>
                          <m:t>2</m:t>
                        </m:r>
                      </m:sub>
                    </m:sSub>
                    <m:r>
                      <a:rPr lang="es-MX" b="0" i="1" smtClean="0">
                        <a:solidFill>
                          <a:prstClr val="black"/>
                        </a:solidFill>
                        <a:latin typeface="Cambria Math" panose="02040503050406030204" pitchFamily="18" charset="0"/>
                        <a:cs typeface="Times New Roman" panose="02020603050405020304" pitchFamily="18" charset="0"/>
                      </a:rPr>
                      <m:t>,…,</m:t>
                    </m:r>
                    <m:sSub>
                      <m:sSubPr>
                        <m:ctrlPr>
                          <a:rPr lang="es-MX" b="0" i="1" smtClean="0">
                            <a:solidFill>
                              <a:prstClr val="black"/>
                            </a:solidFill>
                            <a:latin typeface="Cambria Math" panose="02040503050406030204" pitchFamily="18" charset="0"/>
                            <a:cs typeface="Times New Roman" panose="02020603050405020304" pitchFamily="18" charset="0"/>
                          </a:rPr>
                        </m:ctrlPr>
                      </m:sSubPr>
                      <m:e>
                        <m:r>
                          <a:rPr lang="es-MX" b="0" i="1" smtClean="0">
                            <a:solidFill>
                              <a:prstClr val="black"/>
                            </a:solidFill>
                            <a:latin typeface="Cambria Math" panose="02040503050406030204" pitchFamily="18" charset="0"/>
                            <a:cs typeface="Times New Roman" panose="02020603050405020304" pitchFamily="18" charset="0"/>
                          </a:rPr>
                          <m:t>𝑋</m:t>
                        </m:r>
                      </m:e>
                      <m:sub>
                        <m:r>
                          <a:rPr lang="es-MX" b="0" i="1" smtClean="0">
                            <a:solidFill>
                              <a:prstClr val="black"/>
                            </a:solidFill>
                            <a:latin typeface="Cambria Math" panose="02040503050406030204" pitchFamily="18" charset="0"/>
                            <a:cs typeface="Times New Roman" panose="02020603050405020304" pitchFamily="18" charset="0"/>
                          </a:rPr>
                          <m:t>𝑛</m:t>
                        </m:r>
                      </m:sub>
                    </m:sSub>
                  </m:oMath>
                </a14:m>
                <a:r>
                  <a:rPr kumimoji="0" lang="es-MX"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una muestra</a:t>
                </a:r>
                <a:r>
                  <a:rPr kumimoji="0" lang="es-MX"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aleatoria de tamaño n de una población con media </a:t>
                </a:r>
                <a14:m>
                  <m:oMath xmlns:m="http://schemas.openxmlformats.org/officeDocument/2006/math">
                    <m:r>
                      <a:rPr kumimoji="0" lang="es-MX"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𝜇</m:t>
                    </m:r>
                  </m:oMath>
                </a14:m>
                <a:r>
                  <a:rPr kumimoji="0" lang="es-MX"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y varianza </a:t>
                </a:r>
                <a14:m>
                  <m:oMath xmlns:m="http://schemas.openxmlformats.org/officeDocument/2006/math">
                    <m:sSup>
                      <m:sSupPr>
                        <m:ctrlPr>
                          <a:rPr kumimoji="0" lang="es-MX"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sSupPr>
                      <m:e>
                        <m:r>
                          <a:rPr kumimoji="0" lang="es-MX"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𝜎</m:t>
                        </m:r>
                      </m:e>
                      <m:sup>
                        <m:r>
                          <a:rPr kumimoji="0" lang="es-MX"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2</m:t>
                        </m:r>
                      </m:sup>
                    </m:sSup>
                  </m:oMath>
                </a14:m>
                <a:r>
                  <a:rPr kumimoji="0" lang="es-MX"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Tenemos que:</a:t>
                </a:r>
              </a:p>
            </p:txBody>
          </p:sp>
        </mc:Choice>
        <mc:Fallback xmlns="">
          <p:sp>
            <p:nvSpPr>
              <p:cNvPr id="5" name="CuadroTexto 4">
                <a:extLst>
                  <a:ext uri="{FF2B5EF4-FFF2-40B4-BE49-F238E27FC236}">
                    <a16:creationId xmlns:a16="http://schemas.microsoft.com/office/drawing/2014/main" id="{A4681A86-6AF3-5693-8134-13EC26FBFD95}"/>
                  </a:ext>
                </a:extLst>
              </p:cNvPr>
              <p:cNvSpPr txBox="1">
                <a:spLocks noRot="1" noChangeAspect="1" noMove="1" noResize="1" noEditPoints="1" noAdjustHandles="1" noChangeArrowheads="1" noChangeShapeType="1" noTextEdit="1"/>
              </p:cNvSpPr>
              <p:nvPr/>
            </p:nvSpPr>
            <p:spPr>
              <a:xfrm>
                <a:off x="2190303" y="3577656"/>
                <a:ext cx="7811390" cy="646331"/>
              </a:xfrm>
              <a:prstGeom prst="rect">
                <a:avLst/>
              </a:prstGeom>
              <a:blipFill>
                <a:blip r:embed="rId3"/>
                <a:stretch>
                  <a:fillRect l="-545" t="-4630" b="-12963"/>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FC2646BB-B81C-B147-F8E9-B3A599D79A33}"/>
                  </a:ext>
                </a:extLst>
              </p:cNvPr>
              <p:cNvSpPr txBox="1"/>
              <p:nvPr/>
            </p:nvSpPr>
            <p:spPr>
              <a:xfrm>
                <a:off x="2190303" y="2392222"/>
                <a:ext cx="7811390" cy="381066"/>
              </a:xfrm>
              <a:prstGeom prst="rect">
                <a:avLst/>
              </a:prstGeom>
              <a:noFill/>
              <a:ln>
                <a:solidFill>
                  <a:schemeClr val="tx1">
                    <a:lumMod val="85000"/>
                  </a:schemeClr>
                </a:solidFill>
              </a:ln>
            </p:spPr>
            <p:txBody>
              <a:bodyPr wrap="square" rtlCol="0">
                <a:spAutoFit/>
              </a:bodyPr>
              <a:lstStyle/>
              <a:p>
                <a:pPr lvl="0" algn="just">
                  <a:defRPr/>
                </a:pPr>
                <a:r>
                  <a:rPr kumimoji="0" lang="es-MX"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Recordar que:</a:t>
                </a:r>
                <a:r>
                  <a:rPr kumimoji="0" lang="es-MX" i="0" u="none" strike="noStrike" kern="1200" cap="none" spc="0" normalizeH="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s-MX"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Un estimador </a:t>
                </a:r>
                <a14:m>
                  <m:oMath xmlns:m="http://schemas.openxmlformats.org/officeDocument/2006/math">
                    <m:acc>
                      <m:accPr>
                        <m:chr m:val="̂"/>
                        <m:ctrlPr>
                          <a:rPr lang="es-MX" i="1">
                            <a:solidFill>
                              <a:prstClr val="black"/>
                            </a:solidFill>
                            <a:latin typeface="Cambria Math" panose="02040503050406030204" pitchFamily="18" charset="0"/>
                            <a:cs typeface="Times New Roman" panose="02020603050405020304" pitchFamily="18" charset="0"/>
                          </a:rPr>
                        </m:ctrlPr>
                      </m:accPr>
                      <m:e>
                        <m:r>
                          <a:rPr lang="es-MX" b="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𝜃</m:t>
                        </m:r>
                      </m:e>
                    </m:acc>
                    <m:d>
                      <m:dPr>
                        <m:ctrlPr>
                          <a:rPr lang="es-MX" i="1">
                            <a:solidFill>
                              <a:prstClr val="black"/>
                            </a:solidFill>
                            <a:latin typeface="Cambria Math" panose="02040503050406030204" pitchFamily="18" charset="0"/>
                            <a:cs typeface="Times New Roman" panose="02020603050405020304" pitchFamily="18" charset="0"/>
                          </a:rPr>
                        </m:ctrlPr>
                      </m:dPr>
                      <m:e>
                        <m:sSub>
                          <m:sSubPr>
                            <m:ctrlPr>
                              <a:rPr lang="es-MX" i="1">
                                <a:solidFill>
                                  <a:prstClr val="black"/>
                                </a:solidFill>
                                <a:latin typeface="Cambria Math" panose="02040503050406030204" pitchFamily="18" charset="0"/>
                                <a:cs typeface="Times New Roman" panose="02020603050405020304" pitchFamily="18" charset="0"/>
                              </a:rPr>
                            </m:ctrlPr>
                          </m:sSubPr>
                          <m:e>
                            <m:r>
                              <a:rPr lang="es-MX" b="0" i="1">
                                <a:solidFill>
                                  <a:prstClr val="black"/>
                                </a:solidFill>
                                <a:latin typeface="Cambria Math" panose="02040503050406030204" pitchFamily="18" charset="0"/>
                                <a:cs typeface="Times New Roman" panose="02020603050405020304" pitchFamily="18" charset="0"/>
                              </a:rPr>
                              <m:t>𝑋</m:t>
                            </m:r>
                          </m:e>
                          <m:sub>
                            <m:r>
                              <a:rPr lang="es-MX" b="0" i="1">
                                <a:solidFill>
                                  <a:prstClr val="black"/>
                                </a:solidFill>
                                <a:latin typeface="Cambria Math" panose="02040503050406030204" pitchFamily="18" charset="0"/>
                                <a:cs typeface="Times New Roman" panose="02020603050405020304" pitchFamily="18" charset="0"/>
                              </a:rPr>
                              <m:t>1</m:t>
                            </m:r>
                          </m:sub>
                        </m:sSub>
                        <m:r>
                          <a:rPr lang="es-MX" b="0" i="1">
                            <a:solidFill>
                              <a:prstClr val="black"/>
                            </a:solidFill>
                            <a:latin typeface="Cambria Math" panose="02040503050406030204" pitchFamily="18" charset="0"/>
                            <a:cs typeface="Times New Roman" panose="02020603050405020304" pitchFamily="18" charset="0"/>
                          </a:rPr>
                          <m:t>,</m:t>
                        </m:r>
                        <m:sSub>
                          <m:sSubPr>
                            <m:ctrlPr>
                              <a:rPr lang="es-MX" i="1">
                                <a:solidFill>
                                  <a:prstClr val="black"/>
                                </a:solidFill>
                                <a:latin typeface="Cambria Math" panose="02040503050406030204" pitchFamily="18" charset="0"/>
                                <a:cs typeface="Times New Roman" panose="02020603050405020304" pitchFamily="18" charset="0"/>
                              </a:rPr>
                            </m:ctrlPr>
                          </m:sSubPr>
                          <m:e>
                            <m:r>
                              <a:rPr lang="es-MX" b="0" i="1">
                                <a:solidFill>
                                  <a:prstClr val="black"/>
                                </a:solidFill>
                                <a:latin typeface="Cambria Math" panose="02040503050406030204" pitchFamily="18" charset="0"/>
                                <a:cs typeface="Times New Roman" panose="02020603050405020304" pitchFamily="18" charset="0"/>
                              </a:rPr>
                              <m:t>𝑋</m:t>
                            </m:r>
                          </m:e>
                          <m:sub>
                            <m:r>
                              <a:rPr lang="es-MX" b="0" i="1">
                                <a:solidFill>
                                  <a:prstClr val="black"/>
                                </a:solidFill>
                                <a:latin typeface="Cambria Math" panose="02040503050406030204" pitchFamily="18" charset="0"/>
                                <a:cs typeface="Times New Roman" panose="02020603050405020304" pitchFamily="18" charset="0"/>
                              </a:rPr>
                              <m:t>2</m:t>
                            </m:r>
                          </m:sub>
                        </m:sSub>
                        <m:r>
                          <a:rPr lang="es-MX" b="0" i="1">
                            <a:solidFill>
                              <a:prstClr val="black"/>
                            </a:solidFill>
                            <a:latin typeface="Cambria Math" panose="02040503050406030204" pitchFamily="18" charset="0"/>
                            <a:cs typeface="Times New Roman" panose="02020603050405020304" pitchFamily="18" charset="0"/>
                          </a:rPr>
                          <m:t>,…,</m:t>
                        </m:r>
                        <m:sSub>
                          <m:sSubPr>
                            <m:ctrlPr>
                              <a:rPr lang="es-MX" i="1">
                                <a:solidFill>
                                  <a:prstClr val="black"/>
                                </a:solidFill>
                                <a:latin typeface="Cambria Math" panose="02040503050406030204" pitchFamily="18" charset="0"/>
                                <a:cs typeface="Times New Roman" panose="02020603050405020304" pitchFamily="18" charset="0"/>
                              </a:rPr>
                            </m:ctrlPr>
                          </m:sSubPr>
                          <m:e>
                            <m:r>
                              <a:rPr lang="es-MX" b="0" i="1">
                                <a:solidFill>
                                  <a:prstClr val="black"/>
                                </a:solidFill>
                                <a:latin typeface="Cambria Math" panose="02040503050406030204" pitchFamily="18" charset="0"/>
                                <a:cs typeface="Times New Roman" panose="02020603050405020304" pitchFamily="18" charset="0"/>
                              </a:rPr>
                              <m:t>𝑋</m:t>
                            </m:r>
                          </m:e>
                          <m:sub>
                            <m:r>
                              <a:rPr lang="es-MX" b="0" i="1">
                                <a:solidFill>
                                  <a:prstClr val="black"/>
                                </a:solidFill>
                                <a:latin typeface="Cambria Math" panose="02040503050406030204" pitchFamily="18" charset="0"/>
                                <a:cs typeface="Times New Roman" panose="02020603050405020304" pitchFamily="18" charset="0"/>
                              </a:rPr>
                              <m:t>𝑛</m:t>
                            </m:r>
                          </m:sub>
                        </m:sSub>
                      </m:e>
                    </m:d>
                  </m:oMath>
                </a14:m>
                <a:r>
                  <a:rPr kumimoji="0" lang="es-MX"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es consistente para el parámetro </a:t>
                </a:r>
                <a14:m>
                  <m:oMath xmlns:m="http://schemas.openxmlformats.org/officeDocument/2006/math">
                    <m:r>
                      <a:rPr kumimoji="0" lang="es-MX"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𝜃</m:t>
                    </m:r>
                  </m:oMath>
                </a14:m>
                <a:r>
                  <a:rPr kumimoji="0" lang="es-MX"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si: </a:t>
                </a:r>
              </a:p>
            </p:txBody>
          </p:sp>
        </mc:Choice>
        <mc:Fallback xmlns="">
          <p:sp>
            <p:nvSpPr>
              <p:cNvPr id="7" name="CuadroTexto 6">
                <a:extLst>
                  <a:ext uri="{FF2B5EF4-FFF2-40B4-BE49-F238E27FC236}">
                    <a16:creationId xmlns:a16="http://schemas.microsoft.com/office/drawing/2014/main" id="{FC2646BB-B81C-B147-F8E9-B3A599D79A33}"/>
                  </a:ext>
                </a:extLst>
              </p:cNvPr>
              <p:cNvSpPr txBox="1">
                <a:spLocks noRot="1" noChangeAspect="1" noMove="1" noResize="1" noEditPoints="1" noAdjustHandles="1" noChangeArrowheads="1" noChangeShapeType="1" noTextEdit="1"/>
              </p:cNvSpPr>
              <p:nvPr/>
            </p:nvSpPr>
            <p:spPr>
              <a:xfrm>
                <a:off x="2190303" y="2392222"/>
                <a:ext cx="7811390" cy="381066"/>
              </a:xfrm>
              <a:prstGeom prst="rect">
                <a:avLst/>
              </a:prstGeom>
              <a:blipFill>
                <a:blip r:embed="rId4"/>
                <a:stretch>
                  <a:fillRect l="-545" t="-4615" r="-389" b="-21538"/>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C600D4B0-5946-2EB6-F5A4-648ACD28F94A}"/>
                  </a:ext>
                </a:extLst>
              </p:cNvPr>
              <p:cNvSpPr txBox="1"/>
              <p:nvPr/>
            </p:nvSpPr>
            <p:spPr>
              <a:xfrm>
                <a:off x="1909595" y="2935133"/>
                <a:ext cx="8372805" cy="3721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i="1" smtClean="0">
                              <a:solidFill>
                                <a:schemeClr val="bg1"/>
                              </a:solidFill>
                              <a:latin typeface="Cambria Math" panose="02040503050406030204" pitchFamily="18" charset="0"/>
                            </a:rPr>
                          </m:ctrlPr>
                        </m:sSubPr>
                        <m:e>
                          <m:acc>
                            <m:accPr>
                              <m:chr m:val="̂"/>
                              <m:ctrlPr>
                                <a:rPr lang="es-MX" i="1" smtClean="0">
                                  <a:solidFill>
                                    <a:schemeClr val="bg1"/>
                                  </a:solidFill>
                                  <a:latin typeface="Cambria Math" panose="02040503050406030204" pitchFamily="18" charset="0"/>
                                </a:rPr>
                              </m:ctrlPr>
                            </m:accPr>
                            <m:e>
                              <m:r>
                                <a:rPr lang="es-MX" i="1" smtClean="0">
                                  <a:solidFill>
                                    <a:schemeClr val="bg1"/>
                                  </a:solidFill>
                                  <a:latin typeface="Cambria Math" panose="02040503050406030204" pitchFamily="18" charset="0"/>
                                  <a:ea typeface="Cambria Math" panose="02040503050406030204" pitchFamily="18" charset="0"/>
                                </a:rPr>
                                <m:t>𝜃</m:t>
                              </m:r>
                            </m:e>
                          </m:acc>
                        </m:e>
                        <m:sub>
                          <m:r>
                            <a:rPr lang="es-MX" b="0" i="1" smtClean="0">
                              <a:solidFill>
                                <a:schemeClr val="bg1"/>
                              </a:solidFill>
                              <a:latin typeface="Cambria Math" panose="02040503050406030204" pitchFamily="18" charset="0"/>
                            </a:rPr>
                            <m:t>𝑛</m:t>
                          </m:r>
                        </m:sub>
                      </m:sSub>
                      <m:groupChr>
                        <m:groupChrPr>
                          <m:chr m:val="→"/>
                          <m:vertJc m:val="bot"/>
                          <m:ctrlPr>
                            <a:rPr lang="es-MX" i="1" smtClean="0">
                              <a:solidFill>
                                <a:schemeClr val="bg1"/>
                              </a:solidFill>
                              <a:latin typeface="Cambria Math" panose="02040503050406030204" pitchFamily="18" charset="0"/>
                            </a:rPr>
                          </m:ctrlPr>
                        </m:groupChrPr>
                        <m:e>
                          <m:r>
                            <m:rPr>
                              <m:brk m:alnAt="2"/>
                            </m:rPr>
                            <a:rPr lang="es-MX" b="0" i="1" smtClean="0">
                              <a:solidFill>
                                <a:schemeClr val="bg1"/>
                              </a:solidFill>
                              <a:latin typeface="Cambria Math" panose="02040503050406030204" pitchFamily="18" charset="0"/>
                            </a:rPr>
                            <m:t>𝑃</m:t>
                          </m:r>
                        </m:e>
                      </m:groupChr>
                      <m:r>
                        <a:rPr lang="es-MX" i="1" smtClean="0">
                          <a:solidFill>
                            <a:schemeClr val="bg1"/>
                          </a:solidFill>
                          <a:latin typeface="Cambria Math" panose="02040503050406030204" pitchFamily="18" charset="0"/>
                          <a:ea typeface="Cambria Math" panose="02040503050406030204" pitchFamily="18" charset="0"/>
                        </a:rPr>
                        <m:t>𝜃</m:t>
                      </m:r>
                      <m:r>
                        <a:rPr lang="es-MX" b="0" i="1" smtClean="0">
                          <a:solidFill>
                            <a:schemeClr val="bg1"/>
                          </a:solidFill>
                          <a:latin typeface="Cambria Math" panose="02040503050406030204" pitchFamily="18" charset="0"/>
                          <a:ea typeface="Cambria Math" panose="02040503050406030204" pitchFamily="18" charset="0"/>
                        </a:rPr>
                        <m:t>        </m:t>
                      </m:r>
                      <m:r>
                        <a:rPr lang="es-MX" b="0" i="1" smtClean="0">
                          <a:solidFill>
                            <a:schemeClr val="bg1"/>
                          </a:solidFill>
                          <a:latin typeface="Cambria Math" panose="02040503050406030204" pitchFamily="18" charset="0"/>
                          <a:ea typeface="Cambria Math" panose="02040503050406030204" pitchFamily="18" charset="0"/>
                        </a:rPr>
                        <m:t>𝑐𝑢𝑎𝑛𝑑𝑜</m:t>
                      </m:r>
                      <m:r>
                        <a:rPr lang="es-MX" b="0" i="1" smtClean="0">
                          <a:solidFill>
                            <a:schemeClr val="bg1"/>
                          </a:solidFill>
                          <a:latin typeface="Cambria Math" panose="02040503050406030204" pitchFamily="18" charset="0"/>
                          <a:ea typeface="Cambria Math" panose="02040503050406030204" pitchFamily="18" charset="0"/>
                        </a:rPr>
                        <m:t>        </m:t>
                      </m:r>
                      <m:r>
                        <a:rPr lang="es-MX" b="0" i="1" smtClean="0">
                          <a:solidFill>
                            <a:schemeClr val="bg1"/>
                          </a:solidFill>
                          <a:latin typeface="Cambria Math" panose="02040503050406030204" pitchFamily="18" charset="0"/>
                          <a:ea typeface="Cambria Math" panose="02040503050406030204" pitchFamily="18" charset="0"/>
                        </a:rPr>
                        <m:t>𝑛</m:t>
                      </m:r>
                      <m:r>
                        <a:rPr lang="es-MX" b="0" i="1" smtClean="0">
                          <a:solidFill>
                            <a:schemeClr val="bg1"/>
                          </a:solidFill>
                          <a:latin typeface="Cambria Math" panose="02040503050406030204" pitchFamily="18" charset="0"/>
                          <a:ea typeface="Cambria Math" panose="02040503050406030204" pitchFamily="18" charset="0"/>
                        </a:rPr>
                        <m:t>→∞      </m:t>
                      </m:r>
                      <m:r>
                        <a:rPr lang="es-MX" b="0" i="1" smtClean="0">
                          <a:solidFill>
                            <a:schemeClr val="bg1"/>
                          </a:solidFill>
                          <a:latin typeface="Cambria Math" panose="02040503050406030204" pitchFamily="18" charset="0"/>
                          <a:ea typeface="Cambria Math" panose="02040503050406030204" pitchFamily="18" charset="0"/>
                        </a:rPr>
                        <m:t>𝑑𝑜𝑛𝑑𝑒</m:t>
                      </m:r>
                      <m:groupChr>
                        <m:groupChrPr>
                          <m:chr m:val="→"/>
                          <m:vertJc m:val="bot"/>
                          <m:ctrlPr>
                            <a:rPr lang="es-MX" i="1">
                              <a:solidFill>
                                <a:schemeClr val="bg1"/>
                              </a:solidFill>
                              <a:latin typeface="Cambria Math" panose="02040503050406030204" pitchFamily="18" charset="0"/>
                            </a:rPr>
                          </m:ctrlPr>
                        </m:groupChrPr>
                        <m:e>
                          <m:r>
                            <m:rPr>
                              <m:brk m:alnAt="2"/>
                            </m:rPr>
                            <a:rPr lang="es-MX" i="1">
                              <a:solidFill>
                                <a:schemeClr val="bg1"/>
                              </a:solidFill>
                              <a:latin typeface="Cambria Math" panose="02040503050406030204" pitchFamily="18" charset="0"/>
                            </a:rPr>
                            <m:t>𝑃</m:t>
                          </m:r>
                        </m:e>
                      </m:groupChr>
                      <m:r>
                        <a:rPr lang="es-MX" b="0" i="1" smtClean="0">
                          <a:solidFill>
                            <a:schemeClr val="bg1"/>
                          </a:solidFill>
                          <a:latin typeface="Cambria Math" panose="02040503050406030204" pitchFamily="18" charset="0"/>
                        </a:rPr>
                        <m:t> </m:t>
                      </m:r>
                      <m:r>
                        <a:rPr lang="es-MX" b="0" i="1" smtClean="0">
                          <a:solidFill>
                            <a:schemeClr val="bg1"/>
                          </a:solidFill>
                          <a:latin typeface="Cambria Math" panose="02040503050406030204" pitchFamily="18" charset="0"/>
                        </a:rPr>
                        <m:t>𝑑𝑒𝑛𝑜𝑡𝑎</m:t>
                      </m:r>
                      <m:r>
                        <a:rPr lang="es-MX" b="0" i="1" smtClean="0">
                          <a:solidFill>
                            <a:schemeClr val="bg1"/>
                          </a:solidFill>
                          <a:latin typeface="Cambria Math" panose="02040503050406030204" pitchFamily="18" charset="0"/>
                        </a:rPr>
                        <m:t> </m:t>
                      </m:r>
                      <m:r>
                        <a:rPr lang="es-MX" b="0" i="1" smtClean="0">
                          <a:solidFill>
                            <a:schemeClr val="bg1"/>
                          </a:solidFill>
                          <a:latin typeface="Cambria Math" panose="02040503050406030204" pitchFamily="18" charset="0"/>
                        </a:rPr>
                        <m:t>𝑙𝑎</m:t>
                      </m:r>
                      <m:r>
                        <a:rPr lang="es-MX" b="0" i="1" smtClean="0">
                          <a:solidFill>
                            <a:schemeClr val="bg1"/>
                          </a:solidFill>
                          <a:latin typeface="Cambria Math" panose="02040503050406030204" pitchFamily="18" charset="0"/>
                        </a:rPr>
                        <m:t> </m:t>
                      </m:r>
                      <m:r>
                        <a:rPr lang="es-MX" b="0" i="1" smtClean="0">
                          <a:solidFill>
                            <a:schemeClr val="bg1"/>
                          </a:solidFill>
                          <a:latin typeface="Cambria Math" panose="02040503050406030204" pitchFamily="18" charset="0"/>
                        </a:rPr>
                        <m:t>𝑐𝑜𝑛𝑣𝑒𝑟𝑔𝑒𝑛𝑐𝑖𝑎</m:t>
                      </m:r>
                      <m:r>
                        <a:rPr lang="es-MX" b="0" i="1" smtClean="0">
                          <a:solidFill>
                            <a:schemeClr val="bg1"/>
                          </a:solidFill>
                          <a:latin typeface="Cambria Math" panose="02040503050406030204" pitchFamily="18" charset="0"/>
                        </a:rPr>
                        <m:t> </m:t>
                      </m:r>
                      <m:r>
                        <a:rPr lang="es-MX" b="0" i="1" smtClean="0">
                          <a:solidFill>
                            <a:schemeClr val="bg1"/>
                          </a:solidFill>
                          <a:latin typeface="Cambria Math" panose="02040503050406030204" pitchFamily="18" charset="0"/>
                        </a:rPr>
                        <m:t>𝑒𝑛</m:t>
                      </m:r>
                      <m:r>
                        <a:rPr lang="es-MX" b="0" i="1" smtClean="0">
                          <a:solidFill>
                            <a:schemeClr val="bg1"/>
                          </a:solidFill>
                          <a:latin typeface="Cambria Math" panose="02040503050406030204" pitchFamily="18" charset="0"/>
                        </a:rPr>
                        <m:t> </m:t>
                      </m:r>
                      <m:r>
                        <a:rPr lang="es-MX" b="0" i="1" smtClean="0">
                          <a:solidFill>
                            <a:schemeClr val="bg1"/>
                          </a:solidFill>
                          <a:latin typeface="Cambria Math" panose="02040503050406030204" pitchFamily="18" charset="0"/>
                        </a:rPr>
                        <m:t>𝑝𝑟𝑜𝑏𝑎𝑏𝑖𝑙𝑖𝑑𝑎𝑑</m:t>
                      </m:r>
                    </m:oMath>
                  </m:oMathPara>
                </a14:m>
                <a:endParaRPr lang="es-MX" dirty="0">
                  <a:solidFill>
                    <a:schemeClr val="bg1"/>
                  </a:solidFill>
                </a:endParaRPr>
              </a:p>
            </p:txBody>
          </p:sp>
        </mc:Choice>
        <mc:Fallback xmlns="">
          <p:sp>
            <p:nvSpPr>
              <p:cNvPr id="3" name="CuadroTexto 2">
                <a:extLst>
                  <a:ext uri="{FF2B5EF4-FFF2-40B4-BE49-F238E27FC236}">
                    <a16:creationId xmlns:a16="http://schemas.microsoft.com/office/drawing/2014/main" id="{C600D4B0-5946-2EB6-F5A4-648ACD28F94A}"/>
                  </a:ext>
                </a:extLst>
              </p:cNvPr>
              <p:cNvSpPr txBox="1">
                <a:spLocks noRot="1" noChangeAspect="1" noMove="1" noResize="1" noEditPoints="1" noAdjustHandles="1" noChangeArrowheads="1" noChangeShapeType="1" noTextEdit="1"/>
              </p:cNvSpPr>
              <p:nvPr/>
            </p:nvSpPr>
            <p:spPr>
              <a:xfrm>
                <a:off x="1909595" y="2935133"/>
                <a:ext cx="8372805" cy="372153"/>
              </a:xfrm>
              <a:prstGeom prst="rect">
                <a:avLst/>
              </a:prstGeom>
              <a:blipFill>
                <a:blip r:embed="rId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2577F884-DB62-4C9C-6561-FE0C08E706E5}"/>
                  </a:ext>
                </a:extLst>
              </p:cNvPr>
              <p:cNvSpPr txBox="1"/>
              <p:nvPr/>
            </p:nvSpPr>
            <p:spPr>
              <a:xfrm>
                <a:off x="2631871" y="5008950"/>
                <a:ext cx="1247329" cy="7562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s-MX" i="1" smtClean="0">
                              <a:solidFill>
                                <a:schemeClr val="bg1"/>
                              </a:solidFill>
                              <a:latin typeface="Cambria Math" panose="02040503050406030204" pitchFamily="18" charset="0"/>
                            </a:rPr>
                          </m:ctrlPr>
                        </m:accPr>
                        <m:e>
                          <m:r>
                            <a:rPr lang="es-MX" b="0" i="1" smtClean="0">
                              <a:solidFill>
                                <a:schemeClr val="bg1"/>
                              </a:solidFill>
                              <a:latin typeface="Cambria Math" panose="02040503050406030204" pitchFamily="18" charset="0"/>
                            </a:rPr>
                            <m:t>𝑋</m:t>
                          </m:r>
                        </m:e>
                      </m:acc>
                      <m:r>
                        <a:rPr lang="es-MX" b="0" i="1" smtClean="0">
                          <a:solidFill>
                            <a:schemeClr val="bg1"/>
                          </a:solidFill>
                          <a:latin typeface="Cambria Math" panose="02040503050406030204" pitchFamily="18" charset="0"/>
                        </a:rPr>
                        <m:t>=</m:t>
                      </m:r>
                      <m:f>
                        <m:fPr>
                          <m:ctrlPr>
                            <a:rPr lang="es-MX" i="1">
                              <a:solidFill>
                                <a:schemeClr val="bg1"/>
                              </a:solidFill>
                              <a:latin typeface="Cambria Math" panose="02040503050406030204" pitchFamily="18" charset="0"/>
                            </a:rPr>
                          </m:ctrlPr>
                        </m:fPr>
                        <m:num>
                          <m:r>
                            <a:rPr lang="es-MX" i="1">
                              <a:solidFill>
                                <a:schemeClr val="bg1"/>
                              </a:solidFill>
                              <a:latin typeface="Cambria Math" panose="02040503050406030204" pitchFamily="18" charset="0"/>
                            </a:rPr>
                            <m:t>1</m:t>
                          </m:r>
                        </m:num>
                        <m:den>
                          <m:r>
                            <a:rPr lang="es-MX" i="1">
                              <a:solidFill>
                                <a:schemeClr val="bg1"/>
                              </a:solidFill>
                              <a:latin typeface="Cambria Math" panose="02040503050406030204" pitchFamily="18" charset="0"/>
                            </a:rPr>
                            <m:t>𝑛</m:t>
                          </m:r>
                        </m:den>
                      </m:f>
                      <m:nary>
                        <m:naryPr>
                          <m:chr m:val="∑"/>
                          <m:ctrlPr>
                            <a:rPr lang="es-MX" i="1">
                              <a:solidFill>
                                <a:schemeClr val="bg1"/>
                              </a:solidFill>
                              <a:latin typeface="Cambria Math" panose="02040503050406030204" pitchFamily="18" charset="0"/>
                            </a:rPr>
                          </m:ctrlPr>
                        </m:naryPr>
                        <m:sub>
                          <m:r>
                            <m:rPr>
                              <m:brk m:alnAt="23"/>
                            </m:rPr>
                            <a:rPr lang="es-MX" i="1">
                              <a:solidFill>
                                <a:schemeClr val="bg1"/>
                              </a:solidFill>
                              <a:latin typeface="Cambria Math" panose="02040503050406030204" pitchFamily="18" charset="0"/>
                            </a:rPr>
                            <m:t>𝑖</m:t>
                          </m:r>
                          <m:r>
                            <a:rPr lang="es-MX" i="1">
                              <a:solidFill>
                                <a:schemeClr val="bg1"/>
                              </a:solidFill>
                              <a:latin typeface="Cambria Math" panose="02040503050406030204" pitchFamily="18" charset="0"/>
                            </a:rPr>
                            <m:t>=1</m:t>
                          </m:r>
                        </m:sub>
                        <m:sup>
                          <m:r>
                            <a:rPr lang="es-MX" i="1">
                              <a:solidFill>
                                <a:schemeClr val="bg1"/>
                              </a:solidFill>
                              <a:latin typeface="Cambria Math" panose="02040503050406030204" pitchFamily="18" charset="0"/>
                            </a:rPr>
                            <m:t>𝑛</m:t>
                          </m:r>
                        </m:sup>
                        <m:e>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𝑋</m:t>
                              </m:r>
                            </m:e>
                            <m:sub>
                              <m:r>
                                <a:rPr lang="es-MX" i="1">
                                  <a:solidFill>
                                    <a:schemeClr val="bg1"/>
                                  </a:solidFill>
                                  <a:latin typeface="Cambria Math" panose="02040503050406030204" pitchFamily="18" charset="0"/>
                                </a:rPr>
                                <m:t>𝑖</m:t>
                              </m:r>
                            </m:sub>
                          </m:sSub>
                        </m:e>
                      </m:nary>
                    </m:oMath>
                  </m:oMathPara>
                </a14:m>
                <a:endParaRPr lang="es-MX" dirty="0"/>
              </a:p>
            </p:txBody>
          </p:sp>
        </mc:Choice>
        <mc:Fallback xmlns="">
          <p:sp>
            <p:nvSpPr>
              <p:cNvPr id="4" name="CuadroTexto 3">
                <a:extLst>
                  <a:ext uri="{FF2B5EF4-FFF2-40B4-BE49-F238E27FC236}">
                    <a16:creationId xmlns:a16="http://schemas.microsoft.com/office/drawing/2014/main" id="{2577F884-DB62-4C9C-6561-FE0C08E706E5}"/>
                  </a:ext>
                </a:extLst>
              </p:cNvPr>
              <p:cNvSpPr txBox="1">
                <a:spLocks noRot="1" noChangeAspect="1" noMove="1" noResize="1" noEditPoints="1" noAdjustHandles="1" noChangeArrowheads="1" noChangeShapeType="1" noTextEdit="1"/>
              </p:cNvSpPr>
              <p:nvPr/>
            </p:nvSpPr>
            <p:spPr>
              <a:xfrm>
                <a:off x="2631871" y="5008950"/>
                <a:ext cx="1247329" cy="756233"/>
              </a:xfrm>
              <a:prstGeom prst="rect">
                <a:avLst/>
              </a:prstGeom>
              <a:blipFill>
                <a:blip r:embed="rId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771A2CC3-795A-71A9-39B3-D5C34D0754E1}"/>
                  </a:ext>
                </a:extLst>
              </p:cNvPr>
              <p:cNvSpPr txBox="1"/>
              <p:nvPr/>
            </p:nvSpPr>
            <p:spPr>
              <a:xfrm>
                <a:off x="4244455" y="4962783"/>
                <a:ext cx="5757238" cy="8485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sz="1800" b="0" i="1" smtClean="0">
                          <a:solidFill>
                            <a:schemeClr val="bg1"/>
                          </a:solidFill>
                          <a:latin typeface="Cambria Math" panose="02040503050406030204" pitchFamily="18" charset="0"/>
                        </a:rPr>
                        <m:t>𝑉𝑎𝑟</m:t>
                      </m:r>
                      <m:d>
                        <m:dPr>
                          <m:begChr m:val="["/>
                          <m:endChr m:val="]"/>
                          <m:ctrlPr>
                            <a:rPr lang="es-MX" sz="1800" b="0" i="1" smtClean="0">
                              <a:solidFill>
                                <a:schemeClr val="bg1"/>
                              </a:solidFill>
                              <a:latin typeface="Cambria Math" panose="02040503050406030204" pitchFamily="18" charset="0"/>
                            </a:rPr>
                          </m:ctrlPr>
                        </m:dPr>
                        <m:e>
                          <m:acc>
                            <m:accPr>
                              <m:chr m:val="̅"/>
                              <m:ctrlPr>
                                <a:rPr lang="es-MX" sz="1800" b="0" i="1" smtClean="0">
                                  <a:solidFill>
                                    <a:schemeClr val="bg1"/>
                                  </a:solidFill>
                                  <a:latin typeface="Cambria Math" panose="02040503050406030204" pitchFamily="18" charset="0"/>
                                </a:rPr>
                              </m:ctrlPr>
                            </m:accPr>
                            <m:e>
                              <m:r>
                                <a:rPr lang="es-MX" sz="1800" b="0" i="1" smtClean="0">
                                  <a:solidFill>
                                    <a:schemeClr val="bg1"/>
                                  </a:solidFill>
                                  <a:latin typeface="Cambria Math" panose="02040503050406030204" pitchFamily="18" charset="0"/>
                                </a:rPr>
                                <m:t>𝑋</m:t>
                              </m:r>
                            </m:e>
                          </m:acc>
                        </m:e>
                      </m:d>
                      <m:r>
                        <a:rPr lang="es-MX" sz="1800" b="0" i="1" smtClean="0">
                          <a:solidFill>
                            <a:schemeClr val="bg1"/>
                          </a:solidFill>
                          <a:latin typeface="Cambria Math" panose="02040503050406030204" pitchFamily="18" charset="0"/>
                        </a:rPr>
                        <m:t>=</m:t>
                      </m:r>
                      <m:r>
                        <a:rPr lang="es-MX" sz="1800" b="0" i="1" smtClean="0">
                          <a:solidFill>
                            <a:schemeClr val="bg1"/>
                          </a:solidFill>
                          <a:latin typeface="Cambria Math" panose="02040503050406030204" pitchFamily="18" charset="0"/>
                        </a:rPr>
                        <m:t>𝑉𝑎𝑟</m:t>
                      </m:r>
                      <m:d>
                        <m:dPr>
                          <m:begChr m:val="["/>
                          <m:endChr m:val="]"/>
                          <m:ctrlPr>
                            <a:rPr lang="es-MX" sz="1800" b="0" i="1" smtClean="0">
                              <a:solidFill>
                                <a:schemeClr val="bg1"/>
                              </a:solidFill>
                              <a:latin typeface="Cambria Math" panose="02040503050406030204" pitchFamily="18" charset="0"/>
                            </a:rPr>
                          </m:ctrlPr>
                        </m:dPr>
                        <m:e>
                          <m:f>
                            <m:fPr>
                              <m:ctrlPr>
                                <a:rPr lang="es-MX" i="1">
                                  <a:solidFill>
                                    <a:schemeClr val="bg1"/>
                                  </a:solidFill>
                                  <a:latin typeface="Cambria Math" panose="02040503050406030204" pitchFamily="18" charset="0"/>
                                </a:rPr>
                              </m:ctrlPr>
                            </m:fPr>
                            <m:num>
                              <m:r>
                                <a:rPr lang="es-MX" i="1">
                                  <a:solidFill>
                                    <a:schemeClr val="bg1"/>
                                  </a:solidFill>
                                  <a:latin typeface="Cambria Math" panose="02040503050406030204" pitchFamily="18" charset="0"/>
                                </a:rPr>
                                <m:t>1</m:t>
                              </m:r>
                            </m:num>
                            <m:den>
                              <m:r>
                                <a:rPr lang="es-MX" i="1">
                                  <a:solidFill>
                                    <a:schemeClr val="bg1"/>
                                  </a:solidFill>
                                  <a:latin typeface="Cambria Math" panose="02040503050406030204" pitchFamily="18" charset="0"/>
                                </a:rPr>
                                <m:t>𝑛</m:t>
                              </m:r>
                            </m:den>
                          </m:f>
                          <m:nary>
                            <m:naryPr>
                              <m:chr m:val="∑"/>
                              <m:ctrlPr>
                                <a:rPr lang="es-MX" i="1">
                                  <a:solidFill>
                                    <a:schemeClr val="bg1"/>
                                  </a:solidFill>
                                  <a:latin typeface="Cambria Math" panose="02040503050406030204" pitchFamily="18" charset="0"/>
                                </a:rPr>
                              </m:ctrlPr>
                            </m:naryPr>
                            <m:sub>
                              <m:r>
                                <m:rPr>
                                  <m:brk m:alnAt="23"/>
                                </m:rPr>
                                <a:rPr lang="es-MX" i="1">
                                  <a:solidFill>
                                    <a:schemeClr val="bg1"/>
                                  </a:solidFill>
                                  <a:latin typeface="Cambria Math" panose="02040503050406030204" pitchFamily="18" charset="0"/>
                                </a:rPr>
                                <m:t>𝑖</m:t>
                              </m:r>
                              <m:r>
                                <a:rPr lang="es-MX" i="1">
                                  <a:solidFill>
                                    <a:schemeClr val="bg1"/>
                                  </a:solidFill>
                                  <a:latin typeface="Cambria Math" panose="02040503050406030204" pitchFamily="18" charset="0"/>
                                </a:rPr>
                                <m:t>=1</m:t>
                              </m:r>
                            </m:sub>
                            <m:sup>
                              <m:r>
                                <a:rPr lang="es-MX" i="1">
                                  <a:solidFill>
                                    <a:schemeClr val="bg1"/>
                                  </a:solidFill>
                                  <a:latin typeface="Cambria Math" panose="02040503050406030204" pitchFamily="18" charset="0"/>
                                </a:rPr>
                                <m:t>𝑛</m:t>
                              </m:r>
                            </m:sup>
                            <m:e>
                              <m:sSub>
                                <m:sSubPr>
                                  <m:ctrlPr>
                                    <a:rPr lang="es-MX" i="1">
                                      <a:solidFill>
                                        <a:schemeClr val="bg1"/>
                                      </a:solidFill>
                                      <a:latin typeface="Cambria Math" panose="02040503050406030204" pitchFamily="18" charset="0"/>
                                    </a:rPr>
                                  </m:ctrlPr>
                                </m:sSubPr>
                                <m:e>
                                  <m:r>
                                    <a:rPr lang="es-MX" i="1">
                                      <a:solidFill>
                                        <a:schemeClr val="bg1"/>
                                      </a:solidFill>
                                      <a:latin typeface="Cambria Math" panose="02040503050406030204" pitchFamily="18" charset="0"/>
                                    </a:rPr>
                                    <m:t>𝑋</m:t>
                                  </m:r>
                                </m:e>
                                <m:sub>
                                  <m:r>
                                    <a:rPr lang="es-MX" i="1">
                                      <a:solidFill>
                                        <a:schemeClr val="bg1"/>
                                      </a:solidFill>
                                      <a:latin typeface="Cambria Math" panose="02040503050406030204" pitchFamily="18" charset="0"/>
                                    </a:rPr>
                                    <m:t>𝑖</m:t>
                                  </m:r>
                                </m:sub>
                              </m:sSub>
                            </m:e>
                          </m:nary>
                        </m:e>
                      </m:d>
                      <m:r>
                        <a:rPr lang="es-MX" sz="1800" b="0" i="1" smtClean="0">
                          <a:solidFill>
                            <a:schemeClr val="bg1"/>
                          </a:solidFill>
                          <a:latin typeface="Cambria Math" panose="02040503050406030204" pitchFamily="18" charset="0"/>
                        </a:rPr>
                        <m:t>=</m:t>
                      </m:r>
                      <m:f>
                        <m:fPr>
                          <m:ctrlPr>
                            <a:rPr lang="es-MX" sz="1800" b="0" i="1" smtClean="0">
                              <a:solidFill>
                                <a:schemeClr val="bg1"/>
                              </a:solidFill>
                              <a:latin typeface="Cambria Math" panose="02040503050406030204" pitchFamily="18" charset="0"/>
                            </a:rPr>
                          </m:ctrlPr>
                        </m:fPr>
                        <m:num>
                          <m:r>
                            <a:rPr lang="es-MX" sz="1800" b="0" i="1" smtClean="0">
                              <a:solidFill>
                                <a:schemeClr val="bg1"/>
                              </a:solidFill>
                              <a:latin typeface="Cambria Math" panose="02040503050406030204" pitchFamily="18" charset="0"/>
                            </a:rPr>
                            <m:t>1</m:t>
                          </m:r>
                        </m:num>
                        <m:den>
                          <m:sSup>
                            <m:sSupPr>
                              <m:ctrlPr>
                                <a:rPr lang="es-MX" sz="1800" b="0" i="1" smtClean="0">
                                  <a:solidFill>
                                    <a:schemeClr val="bg1"/>
                                  </a:solidFill>
                                  <a:latin typeface="Cambria Math" panose="02040503050406030204" pitchFamily="18" charset="0"/>
                                </a:rPr>
                              </m:ctrlPr>
                            </m:sSupPr>
                            <m:e>
                              <m:r>
                                <a:rPr lang="es-MX" sz="1800" b="0" i="1" smtClean="0">
                                  <a:solidFill>
                                    <a:schemeClr val="bg1"/>
                                  </a:solidFill>
                                  <a:latin typeface="Cambria Math" panose="02040503050406030204" pitchFamily="18" charset="0"/>
                                </a:rPr>
                                <m:t>𝑛</m:t>
                              </m:r>
                            </m:e>
                            <m:sup>
                              <m:r>
                                <a:rPr lang="es-MX" sz="1800" b="0" i="1" smtClean="0">
                                  <a:solidFill>
                                    <a:schemeClr val="bg1"/>
                                  </a:solidFill>
                                  <a:latin typeface="Cambria Math" panose="02040503050406030204" pitchFamily="18" charset="0"/>
                                </a:rPr>
                                <m:t>2</m:t>
                              </m:r>
                            </m:sup>
                          </m:sSup>
                        </m:den>
                      </m:f>
                      <m:nary>
                        <m:naryPr>
                          <m:chr m:val="∑"/>
                          <m:ctrlPr>
                            <a:rPr lang="es-MX" sz="1800" b="0" i="1" smtClean="0">
                              <a:solidFill>
                                <a:schemeClr val="bg1"/>
                              </a:solidFill>
                              <a:latin typeface="Cambria Math" panose="02040503050406030204" pitchFamily="18" charset="0"/>
                            </a:rPr>
                          </m:ctrlPr>
                        </m:naryPr>
                        <m:sub>
                          <m:r>
                            <m:rPr>
                              <m:brk m:alnAt="23"/>
                            </m:rPr>
                            <a:rPr lang="es-MX" sz="1800" b="0" i="1" smtClean="0">
                              <a:solidFill>
                                <a:schemeClr val="bg1"/>
                              </a:solidFill>
                              <a:latin typeface="Cambria Math" panose="02040503050406030204" pitchFamily="18" charset="0"/>
                            </a:rPr>
                            <m:t>𝑖</m:t>
                          </m:r>
                          <m:r>
                            <a:rPr lang="es-MX" sz="1800" b="0" i="1" smtClean="0">
                              <a:solidFill>
                                <a:schemeClr val="bg1"/>
                              </a:solidFill>
                              <a:latin typeface="Cambria Math" panose="02040503050406030204" pitchFamily="18" charset="0"/>
                            </a:rPr>
                            <m:t>=1</m:t>
                          </m:r>
                        </m:sub>
                        <m:sup>
                          <m:r>
                            <a:rPr lang="es-MX" sz="1800" b="0" i="1" smtClean="0">
                              <a:solidFill>
                                <a:schemeClr val="bg1"/>
                              </a:solidFill>
                              <a:latin typeface="Cambria Math" panose="02040503050406030204" pitchFamily="18" charset="0"/>
                            </a:rPr>
                            <m:t>𝑛</m:t>
                          </m:r>
                        </m:sup>
                        <m:e>
                          <m:r>
                            <a:rPr lang="es-MX" sz="1800" b="0" i="1" smtClean="0">
                              <a:solidFill>
                                <a:schemeClr val="bg1"/>
                              </a:solidFill>
                              <a:latin typeface="Cambria Math" panose="02040503050406030204" pitchFamily="18" charset="0"/>
                            </a:rPr>
                            <m:t>𝑉𝑎𝑟</m:t>
                          </m:r>
                          <m:d>
                            <m:dPr>
                              <m:begChr m:val="["/>
                              <m:endChr m:val="]"/>
                              <m:ctrlPr>
                                <a:rPr lang="es-MX" sz="1800" b="0" i="1" smtClean="0">
                                  <a:solidFill>
                                    <a:schemeClr val="bg1"/>
                                  </a:solidFill>
                                  <a:latin typeface="Cambria Math" panose="02040503050406030204" pitchFamily="18" charset="0"/>
                                </a:rPr>
                              </m:ctrlPr>
                            </m:dPr>
                            <m:e>
                              <m:sSub>
                                <m:sSubPr>
                                  <m:ctrlPr>
                                    <a:rPr lang="es-MX" sz="1800" b="0" i="1" smtClean="0">
                                      <a:solidFill>
                                        <a:schemeClr val="bg1"/>
                                      </a:solidFill>
                                      <a:latin typeface="Cambria Math" panose="02040503050406030204" pitchFamily="18" charset="0"/>
                                    </a:rPr>
                                  </m:ctrlPr>
                                </m:sSubPr>
                                <m:e>
                                  <m:r>
                                    <a:rPr lang="es-MX" sz="1800" b="0" i="1" smtClean="0">
                                      <a:solidFill>
                                        <a:schemeClr val="bg1"/>
                                      </a:solidFill>
                                      <a:latin typeface="Cambria Math" panose="02040503050406030204" pitchFamily="18" charset="0"/>
                                    </a:rPr>
                                    <m:t>𝑋</m:t>
                                  </m:r>
                                </m:e>
                                <m:sub>
                                  <m:r>
                                    <a:rPr lang="es-MX" sz="1800" b="0" i="1" smtClean="0">
                                      <a:solidFill>
                                        <a:schemeClr val="bg1"/>
                                      </a:solidFill>
                                      <a:latin typeface="Cambria Math" panose="02040503050406030204" pitchFamily="18" charset="0"/>
                                    </a:rPr>
                                    <m:t>𝑖</m:t>
                                  </m:r>
                                </m:sub>
                              </m:sSub>
                            </m:e>
                          </m:d>
                          <m:r>
                            <a:rPr lang="es-MX" sz="1800" b="0" i="1" smtClean="0">
                              <a:solidFill>
                                <a:schemeClr val="bg1"/>
                              </a:solidFill>
                              <a:latin typeface="Cambria Math" panose="02040503050406030204" pitchFamily="18" charset="0"/>
                            </a:rPr>
                            <m:t>=</m:t>
                          </m:r>
                          <m:f>
                            <m:fPr>
                              <m:ctrlPr>
                                <a:rPr lang="es-MX" i="1">
                                  <a:solidFill>
                                    <a:schemeClr val="bg1"/>
                                  </a:solidFill>
                                  <a:latin typeface="Cambria Math" panose="02040503050406030204" pitchFamily="18" charset="0"/>
                                </a:rPr>
                              </m:ctrlPr>
                            </m:fPr>
                            <m:num>
                              <m:r>
                                <a:rPr lang="es-MX" i="1">
                                  <a:solidFill>
                                    <a:schemeClr val="bg1"/>
                                  </a:solidFill>
                                  <a:latin typeface="Cambria Math" panose="02040503050406030204" pitchFamily="18" charset="0"/>
                                </a:rPr>
                                <m:t>1</m:t>
                              </m:r>
                            </m:num>
                            <m:den>
                              <m:sSup>
                                <m:sSupPr>
                                  <m:ctrlPr>
                                    <a:rPr lang="es-MX" i="1">
                                      <a:solidFill>
                                        <a:schemeClr val="bg1"/>
                                      </a:solidFill>
                                      <a:latin typeface="Cambria Math" panose="02040503050406030204" pitchFamily="18" charset="0"/>
                                    </a:rPr>
                                  </m:ctrlPr>
                                </m:sSupPr>
                                <m:e>
                                  <m:r>
                                    <a:rPr lang="es-MX" i="1">
                                      <a:solidFill>
                                        <a:schemeClr val="bg1"/>
                                      </a:solidFill>
                                      <a:latin typeface="Cambria Math" panose="02040503050406030204" pitchFamily="18" charset="0"/>
                                    </a:rPr>
                                    <m:t>𝑛</m:t>
                                  </m:r>
                                </m:e>
                                <m:sup>
                                  <m:r>
                                    <a:rPr lang="es-MX" i="1">
                                      <a:solidFill>
                                        <a:schemeClr val="bg1"/>
                                      </a:solidFill>
                                      <a:latin typeface="Cambria Math" panose="02040503050406030204" pitchFamily="18" charset="0"/>
                                    </a:rPr>
                                    <m:t>2</m:t>
                                  </m:r>
                                </m:sup>
                              </m:sSup>
                            </m:den>
                          </m:f>
                          <m:r>
                            <a:rPr lang="es-MX" i="1" smtClean="0">
                              <a:solidFill>
                                <a:schemeClr val="bg1"/>
                              </a:solidFill>
                              <a:latin typeface="Cambria Math" panose="02040503050406030204" pitchFamily="18" charset="0"/>
                              <a:ea typeface="Cambria Math" panose="02040503050406030204" pitchFamily="18" charset="0"/>
                            </a:rPr>
                            <m:t>∙</m:t>
                          </m:r>
                          <m:r>
                            <a:rPr lang="es-MX" b="0" i="1" smtClean="0">
                              <a:solidFill>
                                <a:schemeClr val="bg1"/>
                              </a:solidFill>
                              <a:latin typeface="Cambria Math" panose="02040503050406030204" pitchFamily="18" charset="0"/>
                              <a:ea typeface="Cambria Math" panose="02040503050406030204" pitchFamily="18" charset="0"/>
                            </a:rPr>
                            <m:t>𝑛</m:t>
                          </m:r>
                          <m:r>
                            <a:rPr lang="es-MX" b="0" i="1" smtClean="0">
                              <a:solidFill>
                                <a:schemeClr val="bg1"/>
                              </a:solidFill>
                              <a:latin typeface="Cambria Math" panose="02040503050406030204" pitchFamily="18" charset="0"/>
                              <a:ea typeface="Cambria Math" panose="02040503050406030204" pitchFamily="18" charset="0"/>
                            </a:rPr>
                            <m:t>∙</m:t>
                          </m:r>
                          <m:sSup>
                            <m:sSupPr>
                              <m:ctrlPr>
                                <a:rPr lang="es-MX" b="0" i="1" smtClean="0">
                                  <a:solidFill>
                                    <a:schemeClr val="bg1"/>
                                  </a:solidFill>
                                  <a:latin typeface="Cambria Math" panose="02040503050406030204" pitchFamily="18" charset="0"/>
                                  <a:ea typeface="Cambria Math" panose="02040503050406030204" pitchFamily="18" charset="0"/>
                                </a:rPr>
                              </m:ctrlPr>
                            </m:sSupPr>
                            <m:e>
                              <m:r>
                                <a:rPr lang="es-MX" b="0" i="1" smtClean="0">
                                  <a:solidFill>
                                    <a:schemeClr val="bg1"/>
                                  </a:solidFill>
                                  <a:latin typeface="Cambria Math" panose="02040503050406030204" pitchFamily="18" charset="0"/>
                                  <a:ea typeface="Cambria Math" panose="02040503050406030204" pitchFamily="18" charset="0"/>
                                </a:rPr>
                                <m:t>𝜎</m:t>
                              </m:r>
                            </m:e>
                            <m:sup>
                              <m:r>
                                <a:rPr lang="es-MX" b="0" i="1" smtClean="0">
                                  <a:solidFill>
                                    <a:schemeClr val="bg1"/>
                                  </a:solidFill>
                                  <a:latin typeface="Cambria Math" panose="02040503050406030204" pitchFamily="18" charset="0"/>
                                  <a:ea typeface="Cambria Math" panose="02040503050406030204" pitchFamily="18" charset="0"/>
                                </a:rPr>
                                <m:t>2</m:t>
                              </m:r>
                            </m:sup>
                          </m:sSup>
                        </m:e>
                      </m:nary>
                    </m:oMath>
                  </m:oMathPara>
                </a14:m>
                <a:endParaRPr lang="es-MX" dirty="0"/>
              </a:p>
            </p:txBody>
          </p:sp>
        </mc:Choice>
        <mc:Fallback xmlns="">
          <p:sp>
            <p:nvSpPr>
              <p:cNvPr id="11" name="CuadroTexto 10">
                <a:extLst>
                  <a:ext uri="{FF2B5EF4-FFF2-40B4-BE49-F238E27FC236}">
                    <a16:creationId xmlns:a16="http://schemas.microsoft.com/office/drawing/2014/main" id="{771A2CC3-795A-71A9-39B3-D5C34D0754E1}"/>
                  </a:ext>
                </a:extLst>
              </p:cNvPr>
              <p:cNvSpPr txBox="1">
                <a:spLocks noRot="1" noChangeAspect="1" noMove="1" noResize="1" noEditPoints="1" noAdjustHandles="1" noChangeArrowheads="1" noChangeShapeType="1" noTextEdit="1"/>
              </p:cNvSpPr>
              <p:nvPr/>
            </p:nvSpPr>
            <p:spPr>
              <a:xfrm>
                <a:off x="4244455" y="4962783"/>
                <a:ext cx="5757238" cy="848566"/>
              </a:xfrm>
              <a:prstGeom prst="rect">
                <a:avLst/>
              </a:prstGeom>
              <a:blipFill>
                <a:blip r:embed="rId7"/>
                <a:stretch>
                  <a:fillRect/>
                </a:stretch>
              </a:blipFill>
            </p:spPr>
            <p:txBody>
              <a:bodyPr/>
              <a:lstStyle/>
              <a:p>
                <a:r>
                  <a:rPr lang="es-MX">
                    <a:noFill/>
                  </a:rPr>
                  <a:t> </a:t>
                </a:r>
              </a:p>
            </p:txBody>
          </p:sp>
        </mc:Fallback>
      </mc:AlternateContent>
      <p:graphicFrame>
        <p:nvGraphicFramePr>
          <p:cNvPr id="12" name="Tabla 11">
            <a:extLst>
              <a:ext uri="{FF2B5EF4-FFF2-40B4-BE49-F238E27FC236}">
                <a16:creationId xmlns:a16="http://schemas.microsoft.com/office/drawing/2014/main" id="{E3530A4A-72A9-7A9D-508D-1B4B3F4BA771}"/>
              </a:ext>
            </a:extLst>
          </p:cNvPr>
          <p:cNvGraphicFramePr>
            <a:graphicFrameLocks noGrp="1"/>
          </p:cNvGraphicFramePr>
          <p:nvPr>
            <p:extLst>
              <p:ext uri="{D42A27DB-BD31-4B8C-83A1-F6EECF244321}">
                <p14:modId xmlns:p14="http://schemas.microsoft.com/office/powerpoint/2010/main" val="696856758"/>
              </p:ext>
            </p:extLst>
          </p:nvPr>
        </p:nvGraphicFramePr>
        <p:xfrm>
          <a:off x="2190303" y="4542326"/>
          <a:ext cx="7811390" cy="370840"/>
        </p:xfrm>
        <a:graphic>
          <a:graphicData uri="http://schemas.openxmlformats.org/drawingml/2006/table">
            <a:tbl>
              <a:tblPr firstRow="1" bandRow="1">
                <a:tableStyleId>{5C22544A-7EE6-4342-B048-85BDC9FD1C3A}</a:tableStyleId>
              </a:tblPr>
              <a:tblGrid>
                <a:gridCol w="2111599">
                  <a:extLst>
                    <a:ext uri="{9D8B030D-6E8A-4147-A177-3AD203B41FA5}">
                      <a16:colId xmlns:a16="http://schemas.microsoft.com/office/drawing/2014/main" val="2603585387"/>
                    </a:ext>
                  </a:extLst>
                </a:gridCol>
                <a:gridCol w="5699791">
                  <a:extLst>
                    <a:ext uri="{9D8B030D-6E8A-4147-A177-3AD203B41FA5}">
                      <a16:colId xmlns:a16="http://schemas.microsoft.com/office/drawing/2014/main" val="947227285"/>
                    </a:ext>
                  </a:extLst>
                </a:gridCol>
              </a:tblGrid>
              <a:tr h="370840">
                <a:tc>
                  <a:txBody>
                    <a:bodyPr/>
                    <a:lstStyle/>
                    <a:p>
                      <a:pPr algn="ctr"/>
                      <a:r>
                        <a:rPr lang="es-MX" dirty="0">
                          <a:latin typeface="Times New Roman" panose="02020603050405020304" pitchFamily="18" charset="0"/>
                          <a:cs typeface="Times New Roman" panose="02020603050405020304" pitchFamily="18" charset="0"/>
                        </a:rPr>
                        <a:t>Media Muestral</a:t>
                      </a:r>
                    </a:p>
                  </a:txBody>
                  <a:tcPr/>
                </a:tc>
                <a:tc>
                  <a:txBody>
                    <a:bodyPr/>
                    <a:lstStyle/>
                    <a:p>
                      <a:pPr algn="ctr"/>
                      <a:r>
                        <a:rPr lang="es-MX" dirty="0">
                          <a:latin typeface="Times New Roman" panose="02020603050405020304" pitchFamily="18" charset="0"/>
                          <a:cs typeface="Times New Roman" panose="02020603050405020304" pitchFamily="18" charset="0"/>
                        </a:rPr>
                        <a:t>La varianza muestral</a:t>
                      </a:r>
                    </a:p>
                  </a:txBody>
                  <a:tcPr/>
                </a:tc>
                <a:extLst>
                  <a:ext uri="{0D108BD9-81ED-4DB2-BD59-A6C34878D82A}">
                    <a16:rowId xmlns:a16="http://schemas.microsoft.com/office/drawing/2014/main" val="2446512038"/>
                  </a:ext>
                </a:extLst>
              </a:tr>
            </a:tbl>
          </a:graphicData>
        </a:graphic>
      </p:graphicFrame>
      <p:grpSp>
        <p:nvGrpSpPr>
          <p:cNvPr id="13" name="Grupo 12">
            <a:extLst>
              <a:ext uri="{FF2B5EF4-FFF2-40B4-BE49-F238E27FC236}">
                <a16:creationId xmlns:a16="http://schemas.microsoft.com/office/drawing/2014/main" id="{BF55C1A0-91DD-1CAA-FEC0-4766857575EA}"/>
              </a:ext>
            </a:extLst>
          </p:cNvPr>
          <p:cNvGrpSpPr/>
          <p:nvPr/>
        </p:nvGrpSpPr>
        <p:grpSpPr>
          <a:xfrm>
            <a:off x="2540338" y="129874"/>
            <a:ext cx="1101584" cy="901425"/>
            <a:chOff x="4557" y="292098"/>
            <a:chExt cx="1412697" cy="1802850"/>
          </a:xfrm>
        </p:grpSpPr>
        <p:sp>
          <p:nvSpPr>
            <p:cNvPr id="14" name="Rectángulo: esquinas redondeadas 13">
              <a:extLst>
                <a:ext uri="{FF2B5EF4-FFF2-40B4-BE49-F238E27FC236}">
                  <a16:creationId xmlns:a16="http://schemas.microsoft.com/office/drawing/2014/main" id="{0AB5182F-D05D-9C89-035A-3E32B3CAC2B7}"/>
                </a:ext>
              </a:extLst>
            </p:cNvPr>
            <p:cNvSpPr/>
            <p:nvPr/>
          </p:nvSpPr>
          <p:spPr>
            <a:xfrm>
              <a:off x="4557"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5" name="Rectángulo: esquinas redondeadas 4">
              <a:extLst>
                <a:ext uri="{FF2B5EF4-FFF2-40B4-BE49-F238E27FC236}">
                  <a16:creationId xmlns:a16="http://schemas.microsoft.com/office/drawing/2014/main" id="{DB27AA15-5C4E-38FC-330D-E427B37ABF59}"/>
                </a:ext>
              </a:extLst>
            </p:cNvPr>
            <p:cNvSpPr txBox="1"/>
            <p:nvPr/>
          </p:nvSpPr>
          <p:spPr>
            <a:xfrm>
              <a:off x="45933"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1</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Definición de la población objetivo</a:t>
              </a:r>
            </a:p>
          </p:txBody>
        </p:sp>
      </p:grpSp>
      <p:grpSp>
        <p:nvGrpSpPr>
          <p:cNvPr id="16" name="Grupo 15">
            <a:extLst>
              <a:ext uri="{FF2B5EF4-FFF2-40B4-BE49-F238E27FC236}">
                <a16:creationId xmlns:a16="http://schemas.microsoft.com/office/drawing/2014/main" id="{71A646FC-0BA1-A028-3075-84D517E104D9}"/>
              </a:ext>
            </a:extLst>
          </p:cNvPr>
          <p:cNvGrpSpPr/>
          <p:nvPr/>
        </p:nvGrpSpPr>
        <p:grpSpPr>
          <a:xfrm>
            <a:off x="4518114" y="129874"/>
            <a:ext cx="1101584" cy="901425"/>
            <a:chOff x="1982333" y="292098"/>
            <a:chExt cx="1412697" cy="1802850"/>
          </a:xfrm>
        </p:grpSpPr>
        <p:sp>
          <p:nvSpPr>
            <p:cNvPr id="17" name="Rectángulo: esquinas redondeadas 16">
              <a:extLst>
                <a:ext uri="{FF2B5EF4-FFF2-40B4-BE49-F238E27FC236}">
                  <a16:creationId xmlns:a16="http://schemas.microsoft.com/office/drawing/2014/main" id="{8D5FE953-D246-2A57-2488-9E2641A1CF06}"/>
                </a:ext>
              </a:extLst>
            </p:cNvPr>
            <p:cNvSpPr/>
            <p:nvPr/>
          </p:nvSpPr>
          <p:spPr>
            <a:xfrm>
              <a:off x="1982333"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8" name="Rectángulo: esquinas redondeadas 6">
              <a:extLst>
                <a:ext uri="{FF2B5EF4-FFF2-40B4-BE49-F238E27FC236}">
                  <a16:creationId xmlns:a16="http://schemas.microsoft.com/office/drawing/2014/main" id="{6F31ACD3-6C3D-6735-E9A2-B5A3254E4B21}"/>
                </a:ext>
              </a:extLst>
            </p:cNvPr>
            <p:cNvSpPr txBox="1"/>
            <p:nvPr/>
          </p:nvSpPr>
          <p:spPr>
            <a:xfrm>
              <a:off x="2023709"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2</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Delimitar a la población</a:t>
              </a:r>
            </a:p>
          </p:txBody>
        </p:sp>
      </p:grpSp>
      <p:grpSp>
        <p:nvGrpSpPr>
          <p:cNvPr id="19" name="Grupo 18">
            <a:extLst>
              <a:ext uri="{FF2B5EF4-FFF2-40B4-BE49-F238E27FC236}">
                <a16:creationId xmlns:a16="http://schemas.microsoft.com/office/drawing/2014/main" id="{CE92D976-41D0-F586-10D4-D8BA1E49ED6C}"/>
              </a:ext>
            </a:extLst>
          </p:cNvPr>
          <p:cNvGrpSpPr/>
          <p:nvPr/>
        </p:nvGrpSpPr>
        <p:grpSpPr>
          <a:xfrm>
            <a:off x="6495890" y="129874"/>
            <a:ext cx="1101584" cy="901425"/>
            <a:chOff x="3960109" y="292098"/>
            <a:chExt cx="1412697" cy="1802850"/>
          </a:xfrm>
        </p:grpSpPr>
        <p:sp>
          <p:nvSpPr>
            <p:cNvPr id="20" name="Rectángulo: esquinas redondeadas 19">
              <a:extLst>
                <a:ext uri="{FF2B5EF4-FFF2-40B4-BE49-F238E27FC236}">
                  <a16:creationId xmlns:a16="http://schemas.microsoft.com/office/drawing/2014/main" id="{7FAA7431-A9BC-BA66-76CF-5456486A8D23}"/>
                </a:ext>
              </a:extLst>
            </p:cNvPr>
            <p:cNvSpPr/>
            <p:nvPr/>
          </p:nvSpPr>
          <p:spPr>
            <a:xfrm>
              <a:off x="3960109"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21" name="Rectángulo: esquinas redondeadas 8">
              <a:extLst>
                <a:ext uri="{FF2B5EF4-FFF2-40B4-BE49-F238E27FC236}">
                  <a16:creationId xmlns:a16="http://schemas.microsoft.com/office/drawing/2014/main" id="{B80BC914-48B6-41B3-EDB3-69C407F2A94B}"/>
                </a:ext>
              </a:extLst>
            </p:cNvPr>
            <p:cNvSpPr txBox="1"/>
            <p:nvPr/>
          </p:nvSpPr>
          <p:spPr>
            <a:xfrm>
              <a:off x="4001485"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3</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Selección de las técnicas de muestreo</a:t>
              </a:r>
            </a:p>
          </p:txBody>
        </p:sp>
      </p:grpSp>
      <p:grpSp>
        <p:nvGrpSpPr>
          <p:cNvPr id="22" name="Grupo 21">
            <a:extLst>
              <a:ext uri="{FF2B5EF4-FFF2-40B4-BE49-F238E27FC236}">
                <a16:creationId xmlns:a16="http://schemas.microsoft.com/office/drawing/2014/main" id="{CEDA24CF-7CD9-66F8-6363-77E094841485}"/>
              </a:ext>
            </a:extLst>
          </p:cNvPr>
          <p:cNvGrpSpPr/>
          <p:nvPr/>
        </p:nvGrpSpPr>
        <p:grpSpPr>
          <a:xfrm>
            <a:off x="8473666" y="129874"/>
            <a:ext cx="1101584" cy="901425"/>
            <a:chOff x="5937885" y="292098"/>
            <a:chExt cx="1412697" cy="1802850"/>
          </a:xfrm>
          <a:solidFill>
            <a:srgbClr val="FFC000"/>
          </a:solidFill>
        </p:grpSpPr>
        <p:sp>
          <p:nvSpPr>
            <p:cNvPr id="23" name="Rectángulo: esquinas redondeadas 22">
              <a:extLst>
                <a:ext uri="{FF2B5EF4-FFF2-40B4-BE49-F238E27FC236}">
                  <a16:creationId xmlns:a16="http://schemas.microsoft.com/office/drawing/2014/main" id="{7DCA5F9A-9019-DCAF-BF73-BDC5DAE8942F}"/>
                </a:ext>
              </a:extLst>
            </p:cNvPr>
            <p:cNvSpPr/>
            <p:nvPr/>
          </p:nvSpPr>
          <p:spPr>
            <a:xfrm>
              <a:off x="5937885" y="292098"/>
              <a:ext cx="1412697" cy="1802850"/>
            </a:xfrm>
            <a:prstGeom prst="roundRect">
              <a:avLst>
                <a:gd name="adj" fmla="val 10000"/>
              </a:avLst>
            </a:prstGeom>
            <a:grpFill/>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24" name="Rectángulo: esquinas redondeadas 10">
              <a:extLst>
                <a:ext uri="{FF2B5EF4-FFF2-40B4-BE49-F238E27FC236}">
                  <a16:creationId xmlns:a16="http://schemas.microsoft.com/office/drawing/2014/main" id="{EDB9CFE5-E1F3-1B35-9232-D4C7133B3B7B}"/>
                </a:ext>
              </a:extLst>
            </p:cNvPr>
            <p:cNvSpPr txBox="1"/>
            <p:nvPr/>
          </p:nvSpPr>
          <p:spPr>
            <a:xfrm>
              <a:off x="5979261" y="333474"/>
              <a:ext cx="1329945" cy="1720098"/>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4</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Determinación del tamaño de la muestra</a:t>
              </a:r>
            </a:p>
          </p:txBody>
        </p:sp>
      </p:grpSp>
    </p:spTree>
    <p:extLst>
      <p:ext uri="{BB962C8B-B14F-4D97-AF65-F5344CB8AC3E}">
        <p14:creationId xmlns:p14="http://schemas.microsoft.com/office/powerpoint/2010/main" val="3346825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ppt_x"/>
                                          </p:val>
                                        </p:tav>
                                        <p:tav tm="100000">
                                          <p:val>
                                            <p:strVal val="#ppt_x"/>
                                          </p:val>
                                        </p:tav>
                                      </p:tavLst>
                                    </p:anim>
                                    <p:anim calcmode="lin" valueType="num">
                                      <p:cBhvr additive="base">
                                        <p:cTn id="3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4"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548640"/>
            <a:ext cx="8276908" cy="941286"/>
          </a:xfrm>
        </p:spPr>
        <p:txBody>
          <a:bodyPr rtlCol="0">
            <a:noAutofit/>
          </a:bodyPr>
          <a:lstStyle/>
          <a:p>
            <a:pPr algn="just"/>
            <a:r>
              <a:rPr lang="es-ES" sz="2800" dirty="0">
                <a:latin typeface="Times New Roman" panose="02020603050405020304" pitchFamily="18" charset="0"/>
                <a:cs typeface="Times New Roman" panose="02020603050405020304" pitchFamily="18" charset="0"/>
              </a:rPr>
              <a:t>Consistencia</a:t>
            </a:r>
            <a:endParaRPr lang="es-ES" sz="2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FC2646BB-B81C-B147-F8E9-B3A599D79A33}"/>
                  </a:ext>
                </a:extLst>
              </p:cNvPr>
              <p:cNvSpPr txBox="1"/>
              <p:nvPr/>
            </p:nvSpPr>
            <p:spPr>
              <a:xfrm>
                <a:off x="895782" y="2394898"/>
                <a:ext cx="5131978" cy="923330"/>
              </a:xfrm>
              <a:prstGeom prst="rect">
                <a:avLst/>
              </a:prstGeom>
              <a:noFill/>
              <a:ln>
                <a:solidFill>
                  <a:schemeClr val="tx1">
                    <a:lumMod val="85000"/>
                  </a:schemeClr>
                </a:solidFill>
              </a:ln>
            </p:spPr>
            <p:txBody>
              <a:bodyPr wrap="square" rtlCol="0">
                <a:spAutoFit/>
              </a:bodyPr>
              <a:lstStyle/>
              <a:p>
                <a:pPr lvl="0" algn="just">
                  <a:defRPr/>
                </a:pPr>
                <a:r>
                  <a:rPr lang="es-MX" b="1" dirty="0">
                    <a:solidFill>
                      <a:prstClr val="black"/>
                    </a:solidFill>
                    <a:latin typeface="Times New Roman" panose="02020603050405020304" pitchFamily="18" charset="0"/>
                    <a:cs typeface="Times New Roman" panose="02020603050405020304" pitchFamily="18" charset="0"/>
                  </a:rPr>
                  <a:t>Teorema de </a:t>
                </a:r>
                <a:r>
                  <a:rPr lang="es-MX" b="1" dirty="0" err="1">
                    <a:solidFill>
                      <a:prstClr val="black"/>
                    </a:solidFill>
                    <a:latin typeface="Times New Roman" panose="02020603050405020304" pitchFamily="18" charset="0"/>
                    <a:cs typeface="Times New Roman" panose="02020603050405020304" pitchFamily="18" charset="0"/>
                  </a:rPr>
                  <a:t>Chebyshev</a:t>
                </a:r>
                <a:r>
                  <a:rPr lang="es-MX" b="1" dirty="0">
                    <a:solidFill>
                      <a:prstClr val="black"/>
                    </a:solidFill>
                    <a:latin typeface="Times New Roman" panose="02020603050405020304" pitchFamily="18" charset="0"/>
                    <a:cs typeface="Times New Roman" panose="02020603050405020304" pitchFamily="18" charset="0"/>
                  </a:rPr>
                  <a:t>: </a:t>
                </a:r>
                <a:r>
                  <a:rPr lang="es-MX" dirty="0">
                    <a:solidFill>
                      <a:prstClr val="black"/>
                    </a:solidFill>
                    <a:latin typeface="Times New Roman" panose="02020603050405020304" pitchFamily="18" charset="0"/>
                    <a:cs typeface="Times New Roman" panose="02020603050405020304" pitchFamily="18" charset="0"/>
                  </a:rPr>
                  <a:t>Sea </a:t>
                </a:r>
                <a14:m>
                  <m:oMath xmlns:m="http://schemas.openxmlformats.org/officeDocument/2006/math">
                    <m:r>
                      <a:rPr lang="es-MX" b="0" i="1" smtClean="0">
                        <a:solidFill>
                          <a:prstClr val="black"/>
                        </a:solidFill>
                        <a:latin typeface="Cambria Math" panose="02040503050406030204" pitchFamily="18" charset="0"/>
                        <a:cs typeface="Times New Roman" panose="02020603050405020304" pitchFamily="18" charset="0"/>
                      </a:rPr>
                      <m:t>𝑋</m:t>
                    </m:r>
                  </m:oMath>
                </a14:m>
                <a:r>
                  <a:rPr lang="es-MX" dirty="0">
                    <a:solidFill>
                      <a:prstClr val="black"/>
                    </a:solidFill>
                    <a:latin typeface="Times New Roman" panose="02020603050405020304" pitchFamily="18" charset="0"/>
                    <a:cs typeface="Times New Roman" panose="02020603050405020304" pitchFamily="18" charset="0"/>
                  </a:rPr>
                  <a:t> una variable aleatoria con media </a:t>
                </a:r>
                <a14:m>
                  <m:oMath xmlns:m="http://schemas.openxmlformats.org/officeDocument/2006/math">
                    <m:r>
                      <a:rPr lang="es-MX"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oMath>
                </a14:m>
                <a:r>
                  <a:rPr lang="es-MX" dirty="0">
                    <a:solidFill>
                      <a:prstClr val="black"/>
                    </a:solidFill>
                    <a:latin typeface="Times New Roman" panose="02020603050405020304" pitchFamily="18" charset="0"/>
                    <a:cs typeface="Times New Roman" panose="02020603050405020304" pitchFamily="18" charset="0"/>
                  </a:rPr>
                  <a:t> y varianza </a:t>
                </a:r>
                <a14:m>
                  <m:oMath xmlns:m="http://schemas.openxmlformats.org/officeDocument/2006/math">
                    <m:sSup>
                      <m:sSupPr>
                        <m:ctrlPr>
                          <a:rPr lang="es-MX" i="1" smtClean="0">
                            <a:solidFill>
                              <a:prstClr val="black"/>
                            </a:solidFill>
                            <a:latin typeface="Cambria Math" panose="02040503050406030204" pitchFamily="18" charset="0"/>
                            <a:cs typeface="Times New Roman" panose="02020603050405020304" pitchFamily="18" charset="0"/>
                          </a:rPr>
                        </m:ctrlPr>
                      </m:sSupPr>
                      <m:e>
                        <m:r>
                          <a:rPr lang="es-MX"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𝜎</m:t>
                        </m:r>
                      </m:e>
                      <m:sup>
                        <m:r>
                          <a:rPr lang="es-MX" b="0" i="1" smtClean="0">
                            <a:solidFill>
                              <a:prstClr val="black"/>
                            </a:solidFill>
                            <a:latin typeface="Cambria Math" panose="02040503050406030204" pitchFamily="18" charset="0"/>
                            <a:cs typeface="Times New Roman" panose="02020603050405020304" pitchFamily="18" charset="0"/>
                          </a:rPr>
                          <m:t>2</m:t>
                        </m:r>
                      </m:sup>
                    </m:sSup>
                    <m:r>
                      <a:rPr lang="es-MX" b="0" i="1" smtClean="0">
                        <a:solidFill>
                          <a:prstClr val="black"/>
                        </a:solidFill>
                        <a:latin typeface="Cambria Math" panose="02040503050406030204" pitchFamily="18" charset="0"/>
                        <a:cs typeface="Times New Roman" panose="02020603050405020304" pitchFamily="18" charset="0"/>
                      </a:rPr>
                      <m:t>.</m:t>
                    </m:r>
                  </m:oMath>
                </a14:m>
                <a:r>
                  <a:rPr lang="es-MX" dirty="0">
                    <a:solidFill>
                      <a:prstClr val="black"/>
                    </a:solidFill>
                    <a:latin typeface="Times New Roman" panose="02020603050405020304" pitchFamily="18" charset="0"/>
                    <a:cs typeface="Times New Roman" panose="02020603050405020304" pitchFamily="18" charset="0"/>
                  </a:rPr>
                  <a:t> Para cualquier </a:t>
                </a:r>
                <a14:m>
                  <m:oMath xmlns:m="http://schemas.openxmlformats.org/officeDocument/2006/math">
                    <m:r>
                      <a:rPr lang="es-MX"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𝜖</m:t>
                    </m:r>
                    <m:r>
                      <a:rPr lang="es-MX"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&gt;0</m:t>
                    </m:r>
                  </m:oMath>
                </a14:m>
                <a:r>
                  <a:rPr lang="es-MX" dirty="0">
                    <a:solidFill>
                      <a:prstClr val="black"/>
                    </a:solidFill>
                    <a:latin typeface="Times New Roman" panose="02020603050405020304" pitchFamily="18" charset="0"/>
                    <a:cs typeface="Times New Roman" panose="02020603050405020304" pitchFamily="18" charset="0"/>
                  </a:rPr>
                  <a:t>, tenemos que: </a:t>
                </a:r>
                <a:endParaRPr kumimoji="0" lang="es-MX"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mc:Choice>
        <mc:Fallback xmlns="">
          <p:sp>
            <p:nvSpPr>
              <p:cNvPr id="7" name="CuadroTexto 6">
                <a:extLst>
                  <a:ext uri="{FF2B5EF4-FFF2-40B4-BE49-F238E27FC236}">
                    <a16:creationId xmlns:a16="http://schemas.microsoft.com/office/drawing/2014/main" id="{FC2646BB-B81C-B147-F8E9-B3A599D79A33}"/>
                  </a:ext>
                </a:extLst>
              </p:cNvPr>
              <p:cNvSpPr txBox="1">
                <a:spLocks noRot="1" noChangeAspect="1" noMove="1" noResize="1" noEditPoints="1" noAdjustHandles="1" noChangeArrowheads="1" noChangeShapeType="1" noTextEdit="1"/>
              </p:cNvSpPr>
              <p:nvPr/>
            </p:nvSpPr>
            <p:spPr>
              <a:xfrm>
                <a:off x="895782" y="2394898"/>
                <a:ext cx="5131978" cy="923330"/>
              </a:xfrm>
              <a:prstGeom prst="rect">
                <a:avLst/>
              </a:prstGeom>
              <a:blipFill>
                <a:blip r:embed="rId3"/>
                <a:stretch>
                  <a:fillRect l="-948" t="-3268" r="-829" b="-9150"/>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73937E40-8515-7DEC-E211-4A6E4830F950}"/>
                  </a:ext>
                </a:extLst>
              </p:cNvPr>
              <p:cNvSpPr txBox="1"/>
              <p:nvPr/>
            </p:nvSpPr>
            <p:spPr>
              <a:xfrm>
                <a:off x="2183120" y="3486478"/>
                <a:ext cx="2557302" cy="5543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i="1">
                          <a:solidFill>
                            <a:schemeClr val="bg1"/>
                          </a:solidFill>
                          <a:latin typeface="Cambria Math" panose="02040503050406030204" pitchFamily="18" charset="0"/>
                        </a:rPr>
                        <m:t>𝑃</m:t>
                      </m:r>
                      <m:d>
                        <m:dPr>
                          <m:ctrlPr>
                            <a:rPr lang="es-MX" i="1">
                              <a:solidFill>
                                <a:schemeClr val="bg1"/>
                              </a:solidFill>
                              <a:latin typeface="Cambria Math" panose="02040503050406030204" pitchFamily="18" charset="0"/>
                            </a:rPr>
                          </m:ctrlPr>
                        </m:dPr>
                        <m:e>
                          <m:d>
                            <m:dPr>
                              <m:begChr m:val="|"/>
                              <m:endChr m:val="|"/>
                              <m:ctrlPr>
                                <a:rPr lang="es-MX" i="1">
                                  <a:solidFill>
                                    <a:schemeClr val="bg1"/>
                                  </a:solidFill>
                                  <a:latin typeface="Cambria Math" panose="02040503050406030204" pitchFamily="18" charset="0"/>
                                </a:rPr>
                              </m:ctrlPr>
                            </m:dPr>
                            <m:e>
                              <m:r>
                                <a:rPr lang="es-MX" i="1">
                                  <a:solidFill>
                                    <a:schemeClr val="bg1"/>
                                  </a:solidFill>
                                  <a:latin typeface="Cambria Math" panose="02040503050406030204" pitchFamily="18" charset="0"/>
                                </a:rPr>
                                <m:t>𝑋</m:t>
                              </m:r>
                              <m:r>
                                <a:rPr lang="es-MX" i="1">
                                  <a:solidFill>
                                    <a:schemeClr val="bg1"/>
                                  </a:solidFill>
                                  <a:latin typeface="Cambria Math" panose="02040503050406030204" pitchFamily="18" charset="0"/>
                                </a:rPr>
                                <m:t>−</m:t>
                              </m:r>
                              <m:r>
                                <a:rPr lang="es-MX" i="1">
                                  <a:solidFill>
                                    <a:schemeClr val="bg1"/>
                                  </a:solidFill>
                                  <a:latin typeface="Cambria Math" panose="02040503050406030204" pitchFamily="18" charset="0"/>
                                  <a:ea typeface="Cambria Math" panose="02040503050406030204" pitchFamily="18" charset="0"/>
                                </a:rPr>
                                <m:t>𝜇</m:t>
                              </m:r>
                            </m:e>
                          </m:d>
                          <m:r>
                            <a:rPr lang="es-MX" i="1">
                              <a:solidFill>
                                <a:schemeClr val="bg1"/>
                              </a:solidFill>
                              <a:latin typeface="Cambria Math" panose="02040503050406030204" pitchFamily="18" charset="0"/>
                              <a:ea typeface="Cambria Math" panose="02040503050406030204" pitchFamily="18" charset="0"/>
                            </a:rPr>
                            <m:t>≥</m:t>
                          </m:r>
                          <m:r>
                            <a:rPr lang="es-MX" i="1">
                              <a:solidFill>
                                <a:schemeClr val="bg1"/>
                              </a:solidFill>
                              <a:latin typeface="Cambria Math" panose="02040503050406030204" pitchFamily="18" charset="0"/>
                              <a:ea typeface="Cambria Math" panose="02040503050406030204" pitchFamily="18" charset="0"/>
                            </a:rPr>
                            <m:t>𝜖</m:t>
                          </m:r>
                        </m:e>
                      </m:d>
                      <m:r>
                        <a:rPr lang="es-MX" i="1">
                          <a:solidFill>
                            <a:schemeClr val="bg1"/>
                          </a:solidFill>
                          <a:latin typeface="Cambria Math" panose="02040503050406030204" pitchFamily="18" charset="0"/>
                          <a:ea typeface="Cambria Math" panose="02040503050406030204" pitchFamily="18" charset="0"/>
                        </a:rPr>
                        <m:t>≤</m:t>
                      </m:r>
                      <m:f>
                        <m:fPr>
                          <m:ctrlPr>
                            <a:rPr lang="es-MX" i="1">
                              <a:solidFill>
                                <a:schemeClr val="bg1"/>
                              </a:solidFill>
                              <a:latin typeface="Cambria Math" panose="02040503050406030204" pitchFamily="18" charset="0"/>
                              <a:ea typeface="Cambria Math" panose="02040503050406030204" pitchFamily="18" charset="0"/>
                            </a:rPr>
                          </m:ctrlPr>
                        </m:fPr>
                        <m:num>
                          <m:r>
                            <a:rPr lang="es-MX" i="1">
                              <a:solidFill>
                                <a:schemeClr val="bg1"/>
                              </a:solidFill>
                              <a:latin typeface="Cambria Math" panose="02040503050406030204" pitchFamily="18" charset="0"/>
                              <a:ea typeface="Cambria Math" panose="02040503050406030204" pitchFamily="18" charset="0"/>
                            </a:rPr>
                            <m:t>𝑉𝑎𝑟</m:t>
                          </m:r>
                          <m:d>
                            <m:dPr>
                              <m:ctrlPr>
                                <a:rPr lang="es-MX" i="1">
                                  <a:solidFill>
                                    <a:schemeClr val="bg1"/>
                                  </a:solidFill>
                                  <a:latin typeface="Cambria Math" panose="02040503050406030204" pitchFamily="18" charset="0"/>
                                  <a:ea typeface="Cambria Math" panose="02040503050406030204" pitchFamily="18" charset="0"/>
                                </a:rPr>
                              </m:ctrlPr>
                            </m:dPr>
                            <m:e>
                              <m:r>
                                <a:rPr lang="es-MX" i="1">
                                  <a:solidFill>
                                    <a:schemeClr val="bg1"/>
                                  </a:solidFill>
                                  <a:latin typeface="Cambria Math" panose="02040503050406030204" pitchFamily="18" charset="0"/>
                                  <a:ea typeface="Cambria Math" panose="02040503050406030204" pitchFamily="18" charset="0"/>
                                </a:rPr>
                                <m:t>𝑋</m:t>
                              </m:r>
                            </m:e>
                          </m:d>
                        </m:num>
                        <m:den>
                          <m:sSup>
                            <m:sSupPr>
                              <m:ctrlPr>
                                <a:rPr lang="es-MX" i="1">
                                  <a:solidFill>
                                    <a:schemeClr val="bg1"/>
                                  </a:solidFill>
                                  <a:latin typeface="Cambria Math" panose="02040503050406030204" pitchFamily="18" charset="0"/>
                                  <a:ea typeface="Cambria Math" panose="02040503050406030204" pitchFamily="18" charset="0"/>
                                </a:rPr>
                              </m:ctrlPr>
                            </m:sSupPr>
                            <m:e>
                              <m:r>
                                <a:rPr lang="es-MX" i="1">
                                  <a:solidFill>
                                    <a:schemeClr val="bg1"/>
                                  </a:solidFill>
                                  <a:latin typeface="Cambria Math" panose="02040503050406030204" pitchFamily="18" charset="0"/>
                                  <a:ea typeface="Cambria Math" panose="02040503050406030204" pitchFamily="18" charset="0"/>
                                </a:rPr>
                                <m:t>𝜖</m:t>
                              </m:r>
                            </m:e>
                            <m:sup>
                              <m:r>
                                <a:rPr lang="es-MX" i="1">
                                  <a:solidFill>
                                    <a:schemeClr val="bg1"/>
                                  </a:solidFill>
                                  <a:latin typeface="Cambria Math" panose="02040503050406030204" pitchFamily="18" charset="0"/>
                                  <a:ea typeface="Cambria Math" panose="02040503050406030204" pitchFamily="18" charset="0"/>
                                </a:rPr>
                                <m:t>2</m:t>
                              </m:r>
                            </m:sup>
                          </m:sSup>
                        </m:den>
                      </m:f>
                    </m:oMath>
                  </m:oMathPara>
                </a14:m>
                <a:endParaRPr lang="es-MX" dirty="0"/>
              </a:p>
            </p:txBody>
          </p:sp>
        </mc:Choice>
        <mc:Fallback xmlns="">
          <p:sp>
            <p:nvSpPr>
              <p:cNvPr id="6" name="CuadroTexto 5">
                <a:extLst>
                  <a:ext uri="{FF2B5EF4-FFF2-40B4-BE49-F238E27FC236}">
                    <a16:creationId xmlns:a16="http://schemas.microsoft.com/office/drawing/2014/main" id="{73937E40-8515-7DEC-E211-4A6E4830F950}"/>
                  </a:ext>
                </a:extLst>
              </p:cNvPr>
              <p:cNvSpPr txBox="1">
                <a:spLocks noRot="1" noChangeAspect="1" noMove="1" noResize="1" noEditPoints="1" noAdjustHandles="1" noChangeArrowheads="1" noChangeShapeType="1" noTextEdit="1"/>
              </p:cNvSpPr>
              <p:nvPr/>
            </p:nvSpPr>
            <p:spPr>
              <a:xfrm>
                <a:off x="2183120" y="3486478"/>
                <a:ext cx="2557302" cy="554383"/>
              </a:xfrm>
              <a:prstGeom prst="rect">
                <a:avLst/>
              </a:prstGeom>
              <a:blipFill>
                <a:blip r:embed="rId4"/>
                <a:stretch>
                  <a:fillRect/>
                </a:stretch>
              </a:blipFill>
            </p:spPr>
            <p:txBody>
              <a:bodyPr/>
              <a:lstStyle/>
              <a:p>
                <a:r>
                  <a:rPr lang="es-MX">
                    <a:noFill/>
                  </a:rPr>
                  <a:t> </a:t>
                </a:r>
              </a:p>
            </p:txBody>
          </p:sp>
        </mc:Fallback>
      </mc:AlternateContent>
      <p:sp>
        <p:nvSpPr>
          <p:cNvPr id="8" name="CuadroTexto 7">
            <a:extLst>
              <a:ext uri="{FF2B5EF4-FFF2-40B4-BE49-F238E27FC236}">
                <a16:creationId xmlns:a16="http://schemas.microsoft.com/office/drawing/2014/main" id="{57B56AE4-16CB-41E5-C2E3-884C8A8F4E4B}"/>
              </a:ext>
            </a:extLst>
          </p:cNvPr>
          <p:cNvSpPr txBox="1"/>
          <p:nvPr/>
        </p:nvSpPr>
        <p:spPr>
          <a:xfrm>
            <a:off x="895782" y="4223200"/>
            <a:ext cx="5131978" cy="646331"/>
          </a:xfrm>
          <a:prstGeom prst="rect">
            <a:avLst/>
          </a:prstGeom>
          <a:noFill/>
          <a:ln>
            <a:solidFill>
              <a:schemeClr val="tx1">
                <a:lumMod val="85000"/>
              </a:schemeClr>
            </a:solidFill>
          </a:ln>
        </p:spPr>
        <p:txBody>
          <a:bodyPr wrap="square" rtlCol="0">
            <a:spAutoFit/>
          </a:bodyPr>
          <a:lstStyle/>
          <a:p>
            <a:pPr lvl="0" algn="just">
              <a:defRPr/>
            </a:pPr>
            <a:r>
              <a:rPr lang="es-MX" dirty="0">
                <a:solidFill>
                  <a:schemeClr val="bg1"/>
                </a:solidFill>
                <a:latin typeface="Times New Roman" panose="02020603050405020304" pitchFamily="18" charset="0"/>
                <a:cs typeface="Times New Roman" panose="02020603050405020304" pitchFamily="18" charset="0"/>
              </a:rPr>
              <a:t>Usamos el Teorema de </a:t>
            </a:r>
            <a:r>
              <a:rPr lang="es-MX" dirty="0" err="1">
                <a:solidFill>
                  <a:schemeClr val="bg1"/>
                </a:solidFill>
                <a:latin typeface="Times New Roman" panose="02020603050405020304" pitchFamily="18" charset="0"/>
                <a:cs typeface="Times New Roman" panose="02020603050405020304" pitchFamily="18" charset="0"/>
              </a:rPr>
              <a:t>Chebyshev</a:t>
            </a:r>
            <a:r>
              <a:rPr lang="es-MX" dirty="0">
                <a:solidFill>
                  <a:schemeClr val="bg1"/>
                </a:solidFill>
                <a:latin typeface="Times New Roman" panose="02020603050405020304" pitchFamily="18" charset="0"/>
                <a:cs typeface="Times New Roman" panose="02020603050405020304" pitchFamily="18" charset="0"/>
              </a:rPr>
              <a:t> para demostrar la convergencia en probabilidad </a:t>
            </a:r>
            <a:r>
              <a:rPr lang="es-MX" dirty="0"/>
              <a:t>probabilidad:</a:t>
            </a:r>
            <a:endParaRPr kumimoji="0" lang="es-MX"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90A25C33-4151-0191-6B4C-39D20E5E0036}"/>
                  </a:ext>
                </a:extLst>
              </p:cNvPr>
              <p:cNvSpPr txBox="1"/>
              <p:nvPr/>
            </p:nvSpPr>
            <p:spPr>
              <a:xfrm>
                <a:off x="1418714" y="5051870"/>
                <a:ext cx="4086114" cy="8292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i="1">
                          <a:solidFill>
                            <a:schemeClr val="bg1"/>
                          </a:solidFill>
                          <a:latin typeface="Cambria Math" panose="02040503050406030204" pitchFamily="18" charset="0"/>
                        </a:rPr>
                        <m:t>𝑃</m:t>
                      </m:r>
                      <m:d>
                        <m:dPr>
                          <m:ctrlPr>
                            <a:rPr lang="es-MX" i="1">
                              <a:solidFill>
                                <a:schemeClr val="bg1"/>
                              </a:solidFill>
                              <a:latin typeface="Cambria Math" panose="02040503050406030204" pitchFamily="18" charset="0"/>
                            </a:rPr>
                          </m:ctrlPr>
                        </m:dPr>
                        <m:e>
                          <m:r>
                            <a:rPr lang="es-MX" i="1">
                              <a:solidFill>
                                <a:schemeClr val="bg1"/>
                              </a:solidFill>
                              <a:latin typeface="Cambria Math" panose="02040503050406030204" pitchFamily="18" charset="0"/>
                            </a:rPr>
                            <m:t>|</m:t>
                          </m:r>
                          <m:acc>
                            <m:accPr>
                              <m:chr m:val="̅"/>
                              <m:ctrlPr>
                                <a:rPr lang="es-MX" i="1">
                                  <a:solidFill>
                                    <a:schemeClr val="bg1"/>
                                  </a:solidFill>
                                  <a:latin typeface="Cambria Math" panose="02040503050406030204" pitchFamily="18" charset="0"/>
                                </a:rPr>
                              </m:ctrlPr>
                            </m:accPr>
                            <m:e>
                              <m:r>
                                <a:rPr lang="es-MX" i="1">
                                  <a:solidFill>
                                    <a:schemeClr val="bg1"/>
                                  </a:solidFill>
                                  <a:latin typeface="Cambria Math" panose="02040503050406030204" pitchFamily="18" charset="0"/>
                                </a:rPr>
                                <m:t>𝑋</m:t>
                              </m:r>
                            </m:e>
                          </m:acc>
                          <m:r>
                            <a:rPr lang="es-MX" i="1">
                              <a:solidFill>
                                <a:schemeClr val="bg1"/>
                              </a:solidFill>
                              <a:latin typeface="Cambria Math" panose="02040503050406030204" pitchFamily="18" charset="0"/>
                            </a:rPr>
                            <m:t>−</m:t>
                          </m:r>
                          <m:r>
                            <a:rPr lang="es-MX" i="1">
                              <a:solidFill>
                                <a:schemeClr val="bg1"/>
                              </a:solidFill>
                              <a:latin typeface="Cambria Math" panose="02040503050406030204" pitchFamily="18" charset="0"/>
                              <a:ea typeface="Cambria Math" panose="02040503050406030204" pitchFamily="18" charset="0"/>
                            </a:rPr>
                            <m:t>𝜇</m:t>
                          </m:r>
                          <m:r>
                            <a:rPr lang="es-MX" i="1">
                              <a:solidFill>
                                <a:schemeClr val="bg1"/>
                              </a:solidFill>
                              <a:latin typeface="Cambria Math" panose="02040503050406030204" pitchFamily="18" charset="0"/>
                              <a:ea typeface="Cambria Math" panose="02040503050406030204" pitchFamily="18" charset="0"/>
                            </a:rPr>
                            <m:t>|≥</m:t>
                          </m:r>
                          <m:r>
                            <a:rPr lang="es-MX" i="1">
                              <a:solidFill>
                                <a:schemeClr val="bg1"/>
                              </a:solidFill>
                              <a:latin typeface="Cambria Math" panose="02040503050406030204" pitchFamily="18" charset="0"/>
                              <a:ea typeface="Cambria Math" panose="02040503050406030204" pitchFamily="18" charset="0"/>
                            </a:rPr>
                            <m:t>𝜖</m:t>
                          </m:r>
                        </m:e>
                      </m:d>
                      <m:r>
                        <a:rPr lang="es-MX" i="1">
                          <a:solidFill>
                            <a:schemeClr val="bg1"/>
                          </a:solidFill>
                          <a:latin typeface="Cambria Math" panose="02040503050406030204" pitchFamily="18" charset="0"/>
                          <a:ea typeface="Cambria Math" panose="02040503050406030204" pitchFamily="18" charset="0"/>
                        </a:rPr>
                        <m:t>≤</m:t>
                      </m:r>
                      <m:f>
                        <m:fPr>
                          <m:ctrlPr>
                            <a:rPr lang="es-MX" i="1">
                              <a:solidFill>
                                <a:schemeClr val="bg1"/>
                              </a:solidFill>
                              <a:latin typeface="Cambria Math" panose="02040503050406030204" pitchFamily="18" charset="0"/>
                              <a:ea typeface="Cambria Math" panose="02040503050406030204" pitchFamily="18" charset="0"/>
                            </a:rPr>
                          </m:ctrlPr>
                        </m:fPr>
                        <m:num>
                          <m:r>
                            <a:rPr lang="es-MX" i="1">
                              <a:solidFill>
                                <a:schemeClr val="bg1"/>
                              </a:solidFill>
                              <a:latin typeface="Cambria Math" panose="02040503050406030204" pitchFamily="18" charset="0"/>
                              <a:ea typeface="Cambria Math" panose="02040503050406030204" pitchFamily="18" charset="0"/>
                            </a:rPr>
                            <m:t>𝑉𝑎𝑟</m:t>
                          </m:r>
                          <m:d>
                            <m:dPr>
                              <m:ctrlPr>
                                <a:rPr lang="es-MX" i="1">
                                  <a:solidFill>
                                    <a:schemeClr val="bg1"/>
                                  </a:solidFill>
                                  <a:latin typeface="Cambria Math" panose="02040503050406030204" pitchFamily="18" charset="0"/>
                                  <a:ea typeface="Cambria Math" panose="02040503050406030204" pitchFamily="18" charset="0"/>
                                </a:rPr>
                              </m:ctrlPr>
                            </m:dPr>
                            <m:e>
                              <m:acc>
                                <m:accPr>
                                  <m:chr m:val="̅"/>
                                  <m:ctrlPr>
                                    <a:rPr lang="es-MX" i="1" smtClean="0">
                                      <a:solidFill>
                                        <a:schemeClr val="bg1"/>
                                      </a:solidFill>
                                      <a:latin typeface="Cambria Math" panose="02040503050406030204" pitchFamily="18" charset="0"/>
                                      <a:ea typeface="Cambria Math" panose="02040503050406030204" pitchFamily="18" charset="0"/>
                                    </a:rPr>
                                  </m:ctrlPr>
                                </m:accPr>
                                <m:e>
                                  <m:r>
                                    <a:rPr lang="es-MX" b="0" i="1" smtClean="0">
                                      <a:solidFill>
                                        <a:schemeClr val="bg1"/>
                                      </a:solidFill>
                                      <a:latin typeface="Cambria Math" panose="02040503050406030204" pitchFamily="18" charset="0"/>
                                      <a:ea typeface="Cambria Math" panose="02040503050406030204" pitchFamily="18" charset="0"/>
                                    </a:rPr>
                                    <m:t>𝑋</m:t>
                                  </m:r>
                                </m:e>
                              </m:acc>
                            </m:e>
                          </m:d>
                        </m:num>
                        <m:den>
                          <m:sSup>
                            <m:sSupPr>
                              <m:ctrlPr>
                                <a:rPr lang="es-MX" i="1">
                                  <a:solidFill>
                                    <a:schemeClr val="bg1"/>
                                  </a:solidFill>
                                  <a:latin typeface="Cambria Math" panose="02040503050406030204" pitchFamily="18" charset="0"/>
                                  <a:ea typeface="Cambria Math" panose="02040503050406030204" pitchFamily="18" charset="0"/>
                                </a:rPr>
                              </m:ctrlPr>
                            </m:sSupPr>
                            <m:e>
                              <m:r>
                                <a:rPr lang="es-MX" i="1">
                                  <a:solidFill>
                                    <a:schemeClr val="bg1"/>
                                  </a:solidFill>
                                  <a:latin typeface="Cambria Math" panose="02040503050406030204" pitchFamily="18" charset="0"/>
                                  <a:ea typeface="Cambria Math" panose="02040503050406030204" pitchFamily="18" charset="0"/>
                                </a:rPr>
                                <m:t>𝜖</m:t>
                              </m:r>
                            </m:e>
                            <m:sup>
                              <m:r>
                                <a:rPr lang="es-MX" i="1">
                                  <a:solidFill>
                                    <a:schemeClr val="bg1"/>
                                  </a:solidFill>
                                  <a:latin typeface="Cambria Math" panose="02040503050406030204" pitchFamily="18" charset="0"/>
                                  <a:ea typeface="Cambria Math" panose="02040503050406030204" pitchFamily="18" charset="0"/>
                                </a:rPr>
                                <m:t>2</m:t>
                              </m:r>
                            </m:sup>
                          </m:sSup>
                        </m:den>
                      </m:f>
                      <m:r>
                        <a:rPr lang="es-MX" b="0" i="0" smtClean="0">
                          <a:solidFill>
                            <a:schemeClr val="bg1"/>
                          </a:solidFill>
                          <a:latin typeface="Cambria Math" panose="02040503050406030204" pitchFamily="18" charset="0"/>
                          <a:ea typeface="Cambria Math" panose="02040503050406030204" pitchFamily="18" charset="0"/>
                        </a:rPr>
                        <m:t>=</m:t>
                      </m:r>
                      <m:f>
                        <m:fPr>
                          <m:ctrlPr>
                            <a:rPr lang="es-MX" b="0" i="1" smtClean="0">
                              <a:solidFill>
                                <a:schemeClr val="bg1"/>
                              </a:solidFill>
                              <a:latin typeface="Cambria Math" panose="02040503050406030204" pitchFamily="18" charset="0"/>
                              <a:ea typeface="Cambria Math" panose="02040503050406030204" pitchFamily="18" charset="0"/>
                            </a:rPr>
                          </m:ctrlPr>
                        </m:fPr>
                        <m:num>
                          <m:f>
                            <m:fPr>
                              <m:ctrlPr>
                                <a:rPr lang="es-MX" b="0" i="1" smtClean="0">
                                  <a:solidFill>
                                    <a:schemeClr val="bg1"/>
                                  </a:solidFill>
                                  <a:latin typeface="Cambria Math" panose="02040503050406030204" pitchFamily="18" charset="0"/>
                                  <a:ea typeface="Cambria Math" panose="02040503050406030204" pitchFamily="18" charset="0"/>
                                </a:rPr>
                              </m:ctrlPr>
                            </m:fPr>
                            <m:num>
                              <m:sSup>
                                <m:sSupPr>
                                  <m:ctrlPr>
                                    <a:rPr lang="es-MX" b="0" i="1" smtClean="0">
                                      <a:solidFill>
                                        <a:schemeClr val="bg1"/>
                                      </a:solidFill>
                                      <a:latin typeface="Cambria Math" panose="02040503050406030204" pitchFamily="18" charset="0"/>
                                      <a:ea typeface="Cambria Math" panose="02040503050406030204" pitchFamily="18" charset="0"/>
                                    </a:rPr>
                                  </m:ctrlPr>
                                </m:sSupPr>
                                <m:e>
                                  <m:r>
                                    <a:rPr lang="es-MX" b="0" i="1" smtClean="0">
                                      <a:solidFill>
                                        <a:schemeClr val="bg1"/>
                                      </a:solidFill>
                                      <a:latin typeface="Cambria Math" panose="02040503050406030204" pitchFamily="18" charset="0"/>
                                      <a:ea typeface="Cambria Math" panose="02040503050406030204" pitchFamily="18" charset="0"/>
                                    </a:rPr>
                                    <m:t>𝜎</m:t>
                                  </m:r>
                                </m:e>
                                <m:sup>
                                  <m:r>
                                    <a:rPr lang="es-MX" b="0" i="1" smtClean="0">
                                      <a:solidFill>
                                        <a:schemeClr val="bg1"/>
                                      </a:solidFill>
                                      <a:latin typeface="Cambria Math" panose="02040503050406030204" pitchFamily="18" charset="0"/>
                                      <a:ea typeface="Cambria Math" panose="02040503050406030204" pitchFamily="18" charset="0"/>
                                    </a:rPr>
                                    <m:t>2</m:t>
                                  </m:r>
                                </m:sup>
                              </m:sSup>
                            </m:num>
                            <m:den>
                              <m:r>
                                <a:rPr lang="es-MX" b="0" i="1" smtClean="0">
                                  <a:solidFill>
                                    <a:schemeClr val="bg1"/>
                                  </a:solidFill>
                                  <a:latin typeface="Cambria Math" panose="02040503050406030204" pitchFamily="18" charset="0"/>
                                  <a:ea typeface="Cambria Math" panose="02040503050406030204" pitchFamily="18" charset="0"/>
                                </a:rPr>
                                <m:t>𝑛</m:t>
                              </m:r>
                            </m:den>
                          </m:f>
                        </m:num>
                        <m:den>
                          <m:sSup>
                            <m:sSupPr>
                              <m:ctrlPr>
                                <a:rPr lang="es-MX" i="1">
                                  <a:solidFill>
                                    <a:schemeClr val="bg1"/>
                                  </a:solidFill>
                                  <a:latin typeface="Cambria Math" panose="02040503050406030204" pitchFamily="18" charset="0"/>
                                  <a:ea typeface="Cambria Math" panose="02040503050406030204" pitchFamily="18" charset="0"/>
                                </a:rPr>
                              </m:ctrlPr>
                            </m:sSupPr>
                            <m:e>
                              <m:r>
                                <a:rPr lang="es-MX" i="1">
                                  <a:solidFill>
                                    <a:schemeClr val="bg1"/>
                                  </a:solidFill>
                                  <a:latin typeface="Cambria Math" panose="02040503050406030204" pitchFamily="18" charset="0"/>
                                  <a:ea typeface="Cambria Math" panose="02040503050406030204" pitchFamily="18" charset="0"/>
                                </a:rPr>
                                <m:t>𝜖</m:t>
                              </m:r>
                            </m:e>
                            <m:sup>
                              <m:r>
                                <a:rPr lang="es-MX" i="1">
                                  <a:solidFill>
                                    <a:schemeClr val="bg1"/>
                                  </a:solidFill>
                                  <a:latin typeface="Cambria Math" panose="02040503050406030204" pitchFamily="18" charset="0"/>
                                  <a:ea typeface="Cambria Math" panose="02040503050406030204" pitchFamily="18" charset="0"/>
                                </a:rPr>
                                <m:t>2</m:t>
                              </m:r>
                            </m:sup>
                          </m:sSup>
                        </m:den>
                      </m:f>
                      <m:r>
                        <a:rPr lang="es-MX" b="0" i="1" smtClean="0">
                          <a:solidFill>
                            <a:schemeClr val="bg1"/>
                          </a:solidFill>
                          <a:latin typeface="Cambria Math" panose="02040503050406030204" pitchFamily="18" charset="0"/>
                          <a:ea typeface="Cambria Math" panose="02040503050406030204" pitchFamily="18" charset="0"/>
                        </a:rPr>
                        <m:t>=</m:t>
                      </m:r>
                      <m:f>
                        <m:fPr>
                          <m:ctrlPr>
                            <a:rPr lang="es-MX" b="0" i="1" smtClean="0">
                              <a:solidFill>
                                <a:schemeClr val="bg1"/>
                              </a:solidFill>
                              <a:latin typeface="Cambria Math" panose="02040503050406030204" pitchFamily="18" charset="0"/>
                              <a:ea typeface="Cambria Math" panose="02040503050406030204" pitchFamily="18" charset="0"/>
                            </a:rPr>
                          </m:ctrlPr>
                        </m:fPr>
                        <m:num>
                          <m:sSup>
                            <m:sSupPr>
                              <m:ctrlPr>
                                <a:rPr lang="es-MX" i="1">
                                  <a:solidFill>
                                    <a:schemeClr val="bg1"/>
                                  </a:solidFill>
                                  <a:latin typeface="Cambria Math" panose="02040503050406030204" pitchFamily="18" charset="0"/>
                                  <a:ea typeface="Cambria Math" panose="02040503050406030204" pitchFamily="18" charset="0"/>
                                </a:rPr>
                              </m:ctrlPr>
                            </m:sSupPr>
                            <m:e>
                              <m:r>
                                <a:rPr lang="es-MX" i="1">
                                  <a:solidFill>
                                    <a:schemeClr val="bg1"/>
                                  </a:solidFill>
                                  <a:latin typeface="Cambria Math" panose="02040503050406030204" pitchFamily="18" charset="0"/>
                                  <a:ea typeface="Cambria Math" panose="02040503050406030204" pitchFamily="18" charset="0"/>
                                </a:rPr>
                                <m:t>𝜎</m:t>
                              </m:r>
                            </m:e>
                            <m:sup>
                              <m:r>
                                <a:rPr lang="es-MX" i="1">
                                  <a:solidFill>
                                    <a:schemeClr val="bg1"/>
                                  </a:solidFill>
                                  <a:latin typeface="Cambria Math" panose="02040503050406030204" pitchFamily="18" charset="0"/>
                                  <a:ea typeface="Cambria Math" panose="02040503050406030204" pitchFamily="18" charset="0"/>
                                </a:rPr>
                                <m:t>2</m:t>
                              </m:r>
                            </m:sup>
                          </m:sSup>
                        </m:num>
                        <m:den>
                          <m:r>
                            <a:rPr lang="es-MX" b="0" i="1" smtClean="0">
                              <a:solidFill>
                                <a:schemeClr val="bg1"/>
                              </a:solidFill>
                              <a:latin typeface="Cambria Math" panose="02040503050406030204" pitchFamily="18" charset="0"/>
                              <a:ea typeface="Cambria Math" panose="02040503050406030204" pitchFamily="18" charset="0"/>
                            </a:rPr>
                            <m:t>𝑛</m:t>
                          </m:r>
                          <m:r>
                            <a:rPr lang="es-MX" b="0" i="1" smtClean="0">
                              <a:solidFill>
                                <a:schemeClr val="bg1"/>
                              </a:solidFill>
                              <a:latin typeface="Cambria Math" panose="02040503050406030204" pitchFamily="18" charset="0"/>
                              <a:ea typeface="Cambria Math" panose="02040503050406030204" pitchFamily="18" charset="0"/>
                            </a:rPr>
                            <m:t>∙</m:t>
                          </m:r>
                          <m:sSup>
                            <m:sSupPr>
                              <m:ctrlPr>
                                <a:rPr lang="es-MX" i="1">
                                  <a:solidFill>
                                    <a:schemeClr val="bg1"/>
                                  </a:solidFill>
                                  <a:latin typeface="Cambria Math" panose="02040503050406030204" pitchFamily="18" charset="0"/>
                                  <a:ea typeface="Cambria Math" panose="02040503050406030204" pitchFamily="18" charset="0"/>
                                </a:rPr>
                              </m:ctrlPr>
                            </m:sSupPr>
                            <m:e>
                              <m:r>
                                <a:rPr lang="es-MX" i="1">
                                  <a:solidFill>
                                    <a:schemeClr val="bg1"/>
                                  </a:solidFill>
                                  <a:latin typeface="Cambria Math" panose="02040503050406030204" pitchFamily="18" charset="0"/>
                                  <a:ea typeface="Cambria Math" panose="02040503050406030204" pitchFamily="18" charset="0"/>
                                </a:rPr>
                                <m:t>𝜖</m:t>
                              </m:r>
                            </m:e>
                            <m:sup>
                              <m:r>
                                <a:rPr lang="es-MX" i="1">
                                  <a:solidFill>
                                    <a:schemeClr val="bg1"/>
                                  </a:solidFill>
                                  <a:latin typeface="Cambria Math" panose="02040503050406030204" pitchFamily="18" charset="0"/>
                                  <a:ea typeface="Cambria Math" panose="02040503050406030204" pitchFamily="18" charset="0"/>
                                </a:rPr>
                                <m:t>2</m:t>
                              </m:r>
                            </m:sup>
                          </m:sSup>
                        </m:den>
                      </m:f>
                    </m:oMath>
                  </m:oMathPara>
                </a14:m>
                <a:endParaRPr lang="es-MX" dirty="0"/>
              </a:p>
            </p:txBody>
          </p:sp>
        </mc:Choice>
        <mc:Fallback xmlns="">
          <p:sp>
            <p:nvSpPr>
              <p:cNvPr id="13" name="CuadroTexto 12">
                <a:extLst>
                  <a:ext uri="{FF2B5EF4-FFF2-40B4-BE49-F238E27FC236}">
                    <a16:creationId xmlns:a16="http://schemas.microsoft.com/office/drawing/2014/main" id="{90A25C33-4151-0191-6B4C-39D20E5E0036}"/>
                  </a:ext>
                </a:extLst>
              </p:cNvPr>
              <p:cNvSpPr txBox="1">
                <a:spLocks noRot="1" noChangeAspect="1" noMove="1" noResize="1" noEditPoints="1" noAdjustHandles="1" noChangeArrowheads="1" noChangeShapeType="1" noTextEdit="1"/>
              </p:cNvSpPr>
              <p:nvPr/>
            </p:nvSpPr>
            <p:spPr>
              <a:xfrm>
                <a:off x="1418714" y="5051870"/>
                <a:ext cx="4086114" cy="829266"/>
              </a:xfrm>
              <a:prstGeom prst="rect">
                <a:avLst/>
              </a:prstGeom>
              <a:blipFill>
                <a:blip r:embed="rId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A0E7E942-59A8-0AF5-EEB5-11215DED5BF9}"/>
                  </a:ext>
                </a:extLst>
              </p:cNvPr>
              <p:cNvSpPr txBox="1"/>
              <p:nvPr/>
            </p:nvSpPr>
            <p:spPr>
              <a:xfrm>
                <a:off x="6164240" y="2386024"/>
                <a:ext cx="5131978" cy="369332"/>
              </a:xfrm>
              <a:prstGeom prst="rect">
                <a:avLst/>
              </a:prstGeom>
              <a:noFill/>
              <a:ln>
                <a:solidFill>
                  <a:schemeClr val="tx1">
                    <a:lumMod val="85000"/>
                  </a:schemeClr>
                </a:solidFill>
              </a:ln>
            </p:spPr>
            <p:txBody>
              <a:bodyPr wrap="square" rtlCol="0">
                <a:spAutoFit/>
              </a:bodyPr>
              <a:lstStyle/>
              <a:p>
                <a:pPr lvl="0" algn="just">
                  <a:defRPr/>
                </a:pPr>
                <a:r>
                  <a:rPr lang="es-MX" dirty="0">
                    <a:solidFill>
                      <a:schemeClr val="bg1"/>
                    </a:solidFill>
                    <a:latin typeface="Times New Roman" panose="02020603050405020304" pitchFamily="18" charset="0"/>
                    <a:cs typeface="Times New Roman" panose="02020603050405020304" pitchFamily="18" charset="0"/>
                  </a:rPr>
                  <a:t>Tomando el límite cuando </a:t>
                </a:r>
                <a14:m>
                  <m:oMath xmlns:m="http://schemas.openxmlformats.org/officeDocument/2006/math">
                    <m:r>
                      <a:rPr lang="es-MX" i="1">
                        <a:solidFill>
                          <a:schemeClr val="bg1"/>
                        </a:solidFill>
                        <a:latin typeface="Cambria Math" panose="02040503050406030204" pitchFamily="18" charset="0"/>
                        <a:ea typeface="Cambria Math" panose="02040503050406030204" pitchFamily="18" charset="0"/>
                      </a:rPr>
                      <m:t>𝑛</m:t>
                    </m:r>
                    <m:r>
                      <a:rPr lang="es-MX" i="1">
                        <a:solidFill>
                          <a:schemeClr val="bg1"/>
                        </a:solidFill>
                        <a:latin typeface="Cambria Math" panose="02040503050406030204" pitchFamily="18" charset="0"/>
                        <a:ea typeface="Cambria Math" panose="02040503050406030204" pitchFamily="18" charset="0"/>
                      </a:rPr>
                      <m:t>→∞</m:t>
                    </m:r>
                  </m:oMath>
                </a14:m>
                <a:r>
                  <a:rPr lang="es-MX" dirty="0">
                    <a:solidFill>
                      <a:schemeClr val="bg1"/>
                    </a:solidFill>
                    <a:latin typeface="Times New Roman" panose="02020603050405020304" pitchFamily="18" charset="0"/>
                    <a:cs typeface="Times New Roman" panose="02020603050405020304" pitchFamily="18" charset="0"/>
                  </a:rPr>
                  <a:t>, tenemos que: </a:t>
                </a:r>
                <a:r>
                  <a:rPr lang="es-MX" dirty="0"/>
                  <a:t>:</a:t>
                </a:r>
                <a:endParaRPr kumimoji="0" lang="es-MX"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mc:Choice>
        <mc:Fallback xmlns="">
          <p:sp>
            <p:nvSpPr>
              <p:cNvPr id="14" name="CuadroTexto 13">
                <a:extLst>
                  <a:ext uri="{FF2B5EF4-FFF2-40B4-BE49-F238E27FC236}">
                    <a16:creationId xmlns:a16="http://schemas.microsoft.com/office/drawing/2014/main" id="{A0E7E942-59A8-0AF5-EEB5-11215DED5BF9}"/>
                  </a:ext>
                </a:extLst>
              </p:cNvPr>
              <p:cNvSpPr txBox="1">
                <a:spLocks noRot="1" noChangeAspect="1" noMove="1" noResize="1" noEditPoints="1" noAdjustHandles="1" noChangeArrowheads="1" noChangeShapeType="1" noTextEdit="1"/>
              </p:cNvSpPr>
              <p:nvPr/>
            </p:nvSpPr>
            <p:spPr>
              <a:xfrm>
                <a:off x="6164240" y="2386024"/>
                <a:ext cx="5131978" cy="369332"/>
              </a:xfrm>
              <a:prstGeom prst="rect">
                <a:avLst/>
              </a:prstGeom>
              <a:blipFill>
                <a:blip r:embed="rId6"/>
                <a:stretch>
                  <a:fillRect l="-829" t="-6349" b="-22222"/>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DAEF1798-40EE-0CC0-2116-55B30D6E340A}"/>
                  </a:ext>
                </a:extLst>
              </p:cNvPr>
              <p:cNvSpPr txBox="1"/>
              <p:nvPr/>
            </p:nvSpPr>
            <p:spPr>
              <a:xfrm>
                <a:off x="6816131" y="2780874"/>
                <a:ext cx="3828196" cy="6481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s-MX" i="1" smtClean="0">
                              <a:solidFill>
                                <a:schemeClr val="bg1"/>
                              </a:solidFill>
                              <a:latin typeface="Cambria Math" panose="02040503050406030204" pitchFamily="18" charset="0"/>
                            </a:rPr>
                          </m:ctrlPr>
                        </m:funcPr>
                        <m:fName>
                          <m:limLow>
                            <m:limLowPr>
                              <m:ctrlPr>
                                <a:rPr lang="es-MX" i="1" smtClean="0">
                                  <a:solidFill>
                                    <a:schemeClr val="bg1"/>
                                  </a:solidFill>
                                  <a:latin typeface="Cambria Math" panose="02040503050406030204" pitchFamily="18" charset="0"/>
                                </a:rPr>
                              </m:ctrlPr>
                            </m:limLowPr>
                            <m:e>
                              <m:r>
                                <m:rPr>
                                  <m:sty m:val="p"/>
                                </m:rPr>
                                <a:rPr lang="es-MX" i="0" smtClean="0">
                                  <a:solidFill>
                                    <a:schemeClr val="bg1"/>
                                  </a:solidFill>
                                  <a:latin typeface="Cambria Math" panose="02040503050406030204" pitchFamily="18" charset="0"/>
                                </a:rPr>
                                <m:t>lim</m:t>
                              </m:r>
                            </m:e>
                            <m:lim>
                              <m:r>
                                <a:rPr lang="es-MX" b="0" i="1" smtClean="0">
                                  <a:solidFill>
                                    <a:schemeClr val="bg1"/>
                                  </a:solidFill>
                                  <a:latin typeface="Cambria Math" panose="02040503050406030204" pitchFamily="18" charset="0"/>
                                </a:rPr>
                                <m:t>𝑛</m:t>
                              </m:r>
                              <m:r>
                                <a:rPr lang="es-MX" b="0" i="1" smtClean="0">
                                  <a:solidFill>
                                    <a:schemeClr val="bg1"/>
                                  </a:solidFill>
                                  <a:latin typeface="Cambria Math" panose="02040503050406030204" pitchFamily="18" charset="0"/>
                                  <a:ea typeface="Cambria Math" panose="02040503050406030204" pitchFamily="18" charset="0"/>
                                </a:rPr>
                                <m:t>→∞</m:t>
                              </m:r>
                            </m:lim>
                          </m:limLow>
                        </m:fName>
                        <m:e>
                          <m:r>
                            <a:rPr lang="es-MX" i="1">
                              <a:solidFill>
                                <a:schemeClr val="bg1"/>
                              </a:solidFill>
                              <a:latin typeface="Cambria Math" panose="02040503050406030204" pitchFamily="18" charset="0"/>
                            </a:rPr>
                            <m:t>𝑃</m:t>
                          </m:r>
                          <m:d>
                            <m:dPr>
                              <m:ctrlPr>
                                <a:rPr lang="es-MX" i="1">
                                  <a:solidFill>
                                    <a:schemeClr val="bg1"/>
                                  </a:solidFill>
                                  <a:latin typeface="Cambria Math" panose="02040503050406030204" pitchFamily="18" charset="0"/>
                                </a:rPr>
                              </m:ctrlPr>
                            </m:dPr>
                            <m:e>
                              <m:r>
                                <a:rPr lang="es-MX" i="1">
                                  <a:solidFill>
                                    <a:schemeClr val="bg1"/>
                                  </a:solidFill>
                                  <a:latin typeface="Cambria Math" panose="02040503050406030204" pitchFamily="18" charset="0"/>
                                </a:rPr>
                                <m:t>|</m:t>
                              </m:r>
                              <m:acc>
                                <m:accPr>
                                  <m:chr m:val="̅"/>
                                  <m:ctrlPr>
                                    <a:rPr lang="es-MX" i="1">
                                      <a:solidFill>
                                        <a:schemeClr val="bg1"/>
                                      </a:solidFill>
                                      <a:latin typeface="Cambria Math" panose="02040503050406030204" pitchFamily="18" charset="0"/>
                                    </a:rPr>
                                  </m:ctrlPr>
                                </m:accPr>
                                <m:e>
                                  <m:r>
                                    <a:rPr lang="es-MX" i="1">
                                      <a:solidFill>
                                        <a:schemeClr val="bg1"/>
                                      </a:solidFill>
                                      <a:latin typeface="Cambria Math" panose="02040503050406030204" pitchFamily="18" charset="0"/>
                                    </a:rPr>
                                    <m:t>𝑋</m:t>
                                  </m:r>
                                </m:e>
                              </m:acc>
                              <m:r>
                                <a:rPr lang="es-MX" i="1">
                                  <a:solidFill>
                                    <a:schemeClr val="bg1"/>
                                  </a:solidFill>
                                  <a:latin typeface="Cambria Math" panose="02040503050406030204" pitchFamily="18" charset="0"/>
                                </a:rPr>
                                <m:t>−</m:t>
                              </m:r>
                              <m:r>
                                <a:rPr lang="es-MX" i="1">
                                  <a:solidFill>
                                    <a:schemeClr val="bg1"/>
                                  </a:solidFill>
                                  <a:latin typeface="Cambria Math" panose="02040503050406030204" pitchFamily="18" charset="0"/>
                                  <a:ea typeface="Cambria Math" panose="02040503050406030204" pitchFamily="18" charset="0"/>
                                </a:rPr>
                                <m:t>𝜇</m:t>
                              </m:r>
                              <m:r>
                                <a:rPr lang="es-MX" i="1">
                                  <a:solidFill>
                                    <a:schemeClr val="bg1"/>
                                  </a:solidFill>
                                  <a:latin typeface="Cambria Math" panose="02040503050406030204" pitchFamily="18" charset="0"/>
                                  <a:ea typeface="Cambria Math" panose="02040503050406030204" pitchFamily="18" charset="0"/>
                                </a:rPr>
                                <m:t>|≥</m:t>
                              </m:r>
                              <m:r>
                                <a:rPr lang="es-MX" i="1">
                                  <a:solidFill>
                                    <a:schemeClr val="bg1"/>
                                  </a:solidFill>
                                  <a:latin typeface="Cambria Math" panose="02040503050406030204" pitchFamily="18" charset="0"/>
                                  <a:ea typeface="Cambria Math" panose="02040503050406030204" pitchFamily="18" charset="0"/>
                                </a:rPr>
                                <m:t>𝜖</m:t>
                              </m:r>
                            </m:e>
                          </m:d>
                          <m:r>
                            <a:rPr lang="es-MX" b="0" i="1" smtClean="0">
                              <a:solidFill>
                                <a:schemeClr val="bg1"/>
                              </a:solidFill>
                              <a:latin typeface="Cambria Math" panose="02040503050406030204" pitchFamily="18" charset="0"/>
                              <a:ea typeface="Cambria Math" panose="02040503050406030204" pitchFamily="18" charset="0"/>
                            </a:rPr>
                            <m:t>=</m:t>
                          </m:r>
                          <m:limLow>
                            <m:limLowPr>
                              <m:ctrlPr>
                                <a:rPr lang="es-MX" i="1">
                                  <a:solidFill>
                                    <a:schemeClr val="bg1"/>
                                  </a:solidFill>
                                  <a:latin typeface="Cambria Math" panose="02040503050406030204" pitchFamily="18" charset="0"/>
                                </a:rPr>
                              </m:ctrlPr>
                            </m:limLowPr>
                            <m:e>
                              <m:r>
                                <m:rPr>
                                  <m:sty m:val="p"/>
                                </m:rPr>
                                <a:rPr lang="es-MX">
                                  <a:solidFill>
                                    <a:schemeClr val="bg1"/>
                                  </a:solidFill>
                                  <a:latin typeface="Cambria Math" panose="02040503050406030204" pitchFamily="18" charset="0"/>
                                </a:rPr>
                                <m:t>lim</m:t>
                              </m:r>
                            </m:e>
                            <m:lim>
                              <m:r>
                                <a:rPr lang="es-MX" i="1">
                                  <a:solidFill>
                                    <a:schemeClr val="bg1"/>
                                  </a:solidFill>
                                  <a:latin typeface="Cambria Math" panose="02040503050406030204" pitchFamily="18" charset="0"/>
                                </a:rPr>
                                <m:t>𝑛</m:t>
                              </m:r>
                              <m:r>
                                <a:rPr lang="es-MX" i="1">
                                  <a:solidFill>
                                    <a:schemeClr val="bg1"/>
                                  </a:solidFill>
                                  <a:latin typeface="Cambria Math" panose="02040503050406030204" pitchFamily="18" charset="0"/>
                                  <a:ea typeface="Cambria Math" panose="02040503050406030204" pitchFamily="18" charset="0"/>
                                </a:rPr>
                                <m:t>→∞</m:t>
                              </m:r>
                            </m:lim>
                          </m:limLow>
                          <m:f>
                            <m:fPr>
                              <m:ctrlPr>
                                <a:rPr lang="es-MX" i="1">
                                  <a:solidFill>
                                    <a:schemeClr val="bg1"/>
                                  </a:solidFill>
                                  <a:latin typeface="Cambria Math" panose="02040503050406030204" pitchFamily="18" charset="0"/>
                                  <a:ea typeface="Cambria Math" panose="02040503050406030204" pitchFamily="18" charset="0"/>
                                </a:rPr>
                              </m:ctrlPr>
                            </m:fPr>
                            <m:num>
                              <m:sSup>
                                <m:sSupPr>
                                  <m:ctrlPr>
                                    <a:rPr lang="es-MX" i="1">
                                      <a:solidFill>
                                        <a:schemeClr val="bg1"/>
                                      </a:solidFill>
                                      <a:latin typeface="Cambria Math" panose="02040503050406030204" pitchFamily="18" charset="0"/>
                                      <a:ea typeface="Cambria Math" panose="02040503050406030204" pitchFamily="18" charset="0"/>
                                    </a:rPr>
                                  </m:ctrlPr>
                                </m:sSupPr>
                                <m:e>
                                  <m:r>
                                    <a:rPr lang="es-MX" i="1">
                                      <a:solidFill>
                                        <a:schemeClr val="bg1"/>
                                      </a:solidFill>
                                      <a:latin typeface="Cambria Math" panose="02040503050406030204" pitchFamily="18" charset="0"/>
                                      <a:ea typeface="Cambria Math" panose="02040503050406030204" pitchFamily="18" charset="0"/>
                                    </a:rPr>
                                    <m:t>𝜎</m:t>
                                  </m:r>
                                </m:e>
                                <m:sup>
                                  <m:r>
                                    <a:rPr lang="es-MX" i="1">
                                      <a:solidFill>
                                        <a:schemeClr val="bg1"/>
                                      </a:solidFill>
                                      <a:latin typeface="Cambria Math" panose="02040503050406030204" pitchFamily="18" charset="0"/>
                                      <a:ea typeface="Cambria Math" panose="02040503050406030204" pitchFamily="18" charset="0"/>
                                    </a:rPr>
                                    <m:t>2</m:t>
                                  </m:r>
                                </m:sup>
                              </m:sSup>
                            </m:num>
                            <m:den>
                              <m:r>
                                <a:rPr lang="es-MX" i="1">
                                  <a:solidFill>
                                    <a:schemeClr val="bg1"/>
                                  </a:solidFill>
                                  <a:latin typeface="Cambria Math" panose="02040503050406030204" pitchFamily="18" charset="0"/>
                                  <a:ea typeface="Cambria Math" panose="02040503050406030204" pitchFamily="18" charset="0"/>
                                </a:rPr>
                                <m:t>𝑛</m:t>
                              </m:r>
                              <m:r>
                                <a:rPr lang="es-MX" i="1">
                                  <a:solidFill>
                                    <a:schemeClr val="bg1"/>
                                  </a:solidFill>
                                  <a:latin typeface="Cambria Math" panose="02040503050406030204" pitchFamily="18" charset="0"/>
                                  <a:ea typeface="Cambria Math" panose="02040503050406030204" pitchFamily="18" charset="0"/>
                                </a:rPr>
                                <m:t>∙</m:t>
                              </m:r>
                              <m:sSup>
                                <m:sSupPr>
                                  <m:ctrlPr>
                                    <a:rPr lang="es-MX" i="1">
                                      <a:solidFill>
                                        <a:schemeClr val="bg1"/>
                                      </a:solidFill>
                                      <a:latin typeface="Cambria Math" panose="02040503050406030204" pitchFamily="18" charset="0"/>
                                      <a:ea typeface="Cambria Math" panose="02040503050406030204" pitchFamily="18" charset="0"/>
                                    </a:rPr>
                                  </m:ctrlPr>
                                </m:sSupPr>
                                <m:e>
                                  <m:r>
                                    <a:rPr lang="es-MX" i="1">
                                      <a:solidFill>
                                        <a:schemeClr val="bg1"/>
                                      </a:solidFill>
                                      <a:latin typeface="Cambria Math" panose="02040503050406030204" pitchFamily="18" charset="0"/>
                                      <a:ea typeface="Cambria Math" panose="02040503050406030204" pitchFamily="18" charset="0"/>
                                    </a:rPr>
                                    <m:t>𝜖</m:t>
                                  </m:r>
                                </m:e>
                                <m:sup>
                                  <m:r>
                                    <a:rPr lang="es-MX" i="1">
                                      <a:solidFill>
                                        <a:schemeClr val="bg1"/>
                                      </a:solidFill>
                                      <a:latin typeface="Cambria Math" panose="02040503050406030204" pitchFamily="18" charset="0"/>
                                      <a:ea typeface="Cambria Math" panose="02040503050406030204" pitchFamily="18" charset="0"/>
                                    </a:rPr>
                                    <m:t>2</m:t>
                                  </m:r>
                                </m:sup>
                              </m:sSup>
                            </m:den>
                          </m:f>
                          <m:r>
                            <a:rPr lang="es-MX" b="0" i="1" smtClean="0">
                              <a:solidFill>
                                <a:schemeClr val="bg1"/>
                              </a:solidFill>
                              <a:latin typeface="Cambria Math" panose="02040503050406030204" pitchFamily="18" charset="0"/>
                              <a:ea typeface="Cambria Math" panose="02040503050406030204" pitchFamily="18" charset="0"/>
                            </a:rPr>
                            <m:t>=0</m:t>
                          </m:r>
                        </m:e>
                      </m:func>
                    </m:oMath>
                  </m:oMathPara>
                </a14:m>
                <a:endParaRPr lang="es-MX" dirty="0"/>
              </a:p>
            </p:txBody>
          </p:sp>
        </mc:Choice>
        <mc:Fallback xmlns="">
          <p:sp>
            <p:nvSpPr>
              <p:cNvPr id="16" name="CuadroTexto 15">
                <a:extLst>
                  <a:ext uri="{FF2B5EF4-FFF2-40B4-BE49-F238E27FC236}">
                    <a16:creationId xmlns:a16="http://schemas.microsoft.com/office/drawing/2014/main" id="{DAEF1798-40EE-0CC0-2116-55B30D6E340A}"/>
                  </a:ext>
                </a:extLst>
              </p:cNvPr>
              <p:cNvSpPr txBox="1">
                <a:spLocks noRot="1" noChangeAspect="1" noMove="1" noResize="1" noEditPoints="1" noAdjustHandles="1" noChangeArrowheads="1" noChangeShapeType="1" noTextEdit="1"/>
              </p:cNvSpPr>
              <p:nvPr/>
            </p:nvSpPr>
            <p:spPr>
              <a:xfrm>
                <a:off x="6816131" y="2780874"/>
                <a:ext cx="3828196" cy="648126"/>
              </a:xfrm>
              <a:prstGeom prst="rect">
                <a:avLst/>
              </a:prstGeom>
              <a:blipFill>
                <a:blip r:embed="rId7"/>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5EA5D833-E7DA-0651-F57B-17B4D6C18330}"/>
                  </a:ext>
                </a:extLst>
              </p:cNvPr>
              <p:cNvSpPr txBox="1"/>
              <p:nvPr/>
            </p:nvSpPr>
            <p:spPr>
              <a:xfrm>
                <a:off x="6164240" y="3480404"/>
                <a:ext cx="5131978" cy="369332"/>
              </a:xfrm>
              <a:prstGeom prst="rect">
                <a:avLst/>
              </a:prstGeom>
              <a:noFill/>
              <a:ln>
                <a:solidFill>
                  <a:schemeClr val="tx1">
                    <a:lumMod val="85000"/>
                  </a:schemeClr>
                </a:solidFill>
              </a:ln>
            </p:spPr>
            <p:txBody>
              <a:bodyPr wrap="square" rtlCol="0">
                <a:spAutoFit/>
              </a:bodyPr>
              <a:lstStyle/>
              <a:p>
                <a:pPr lvl="0" algn="just">
                  <a:defRPr/>
                </a:pPr>
                <a:r>
                  <a:rPr lang="es-MX" dirty="0">
                    <a:solidFill>
                      <a:schemeClr val="bg1"/>
                    </a:solidFill>
                    <a:latin typeface="Times New Roman" panose="02020603050405020304" pitchFamily="18" charset="0"/>
                    <a:cs typeface="Times New Roman" panose="02020603050405020304" pitchFamily="18" charset="0"/>
                  </a:rPr>
                  <a:t>Esto demuestra que para </a:t>
                </a:r>
                <a14:m>
                  <m:oMath xmlns:m="http://schemas.openxmlformats.org/officeDocument/2006/math">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𝜖</m:t>
                    </m:r>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&gt;0</m:t>
                    </m:r>
                  </m:oMath>
                </a14:m>
                <a:r>
                  <a:rPr lang="es-MX" dirty="0">
                    <a:solidFill>
                      <a:schemeClr val="bg1"/>
                    </a:solidFill>
                    <a:latin typeface="Times New Roman" panose="02020603050405020304" pitchFamily="18" charset="0"/>
                    <a:cs typeface="Times New Roman" panose="02020603050405020304" pitchFamily="18" charset="0"/>
                  </a:rPr>
                  <a:t>  </a:t>
                </a:r>
                <a:r>
                  <a:rPr lang="es-MX" dirty="0"/>
                  <a:t>:</a:t>
                </a:r>
                <a:endParaRPr kumimoji="0" lang="es-MX"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mc:Choice>
        <mc:Fallback xmlns="">
          <p:sp>
            <p:nvSpPr>
              <p:cNvPr id="17" name="CuadroTexto 16">
                <a:extLst>
                  <a:ext uri="{FF2B5EF4-FFF2-40B4-BE49-F238E27FC236}">
                    <a16:creationId xmlns:a16="http://schemas.microsoft.com/office/drawing/2014/main" id="{5EA5D833-E7DA-0651-F57B-17B4D6C18330}"/>
                  </a:ext>
                </a:extLst>
              </p:cNvPr>
              <p:cNvSpPr txBox="1">
                <a:spLocks noRot="1" noChangeAspect="1" noMove="1" noResize="1" noEditPoints="1" noAdjustHandles="1" noChangeArrowheads="1" noChangeShapeType="1" noTextEdit="1"/>
              </p:cNvSpPr>
              <p:nvPr/>
            </p:nvSpPr>
            <p:spPr>
              <a:xfrm>
                <a:off x="6164240" y="3480404"/>
                <a:ext cx="5131978" cy="369332"/>
              </a:xfrm>
              <a:prstGeom prst="rect">
                <a:avLst/>
              </a:prstGeom>
              <a:blipFill>
                <a:blip r:embed="rId8"/>
                <a:stretch>
                  <a:fillRect l="-829" t="-7937" b="-22222"/>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5C31B1E2-07C2-EE4E-7717-6CDD548C7AF6}"/>
                  </a:ext>
                </a:extLst>
              </p:cNvPr>
              <p:cNvSpPr txBox="1"/>
              <p:nvPr/>
            </p:nvSpPr>
            <p:spPr>
              <a:xfrm>
                <a:off x="6775187" y="3998169"/>
                <a:ext cx="386914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i="1" smtClean="0">
                          <a:solidFill>
                            <a:schemeClr val="bg1"/>
                          </a:solidFill>
                          <a:latin typeface="Cambria Math" panose="02040503050406030204" pitchFamily="18" charset="0"/>
                        </a:rPr>
                        <m:t>𝑃</m:t>
                      </m:r>
                      <m:d>
                        <m:dPr>
                          <m:ctrlPr>
                            <a:rPr lang="es-MX" i="1">
                              <a:solidFill>
                                <a:schemeClr val="bg1"/>
                              </a:solidFill>
                              <a:latin typeface="Cambria Math" panose="02040503050406030204" pitchFamily="18" charset="0"/>
                            </a:rPr>
                          </m:ctrlPr>
                        </m:dPr>
                        <m:e>
                          <m:d>
                            <m:dPr>
                              <m:begChr m:val="|"/>
                              <m:endChr m:val="|"/>
                              <m:ctrlPr>
                                <a:rPr lang="es-MX" i="1">
                                  <a:solidFill>
                                    <a:schemeClr val="bg1"/>
                                  </a:solidFill>
                                  <a:latin typeface="Cambria Math" panose="02040503050406030204" pitchFamily="18" charset="0"/>
                                </a:rPr>
                              </m:ctrlPr>
                            </m:dPr>
                            <m:e>
                              <m:r>
                                <a:rPr lang="es-MX" i="1">
                                  <a:solidFill>
                                    <a:schemeClr val="bg1"/>
                                  </a:solidFill>
                                  <a:latin typeface="Cambria Math" panose="02040503050406030204" pitchFamily="18" charset="0"/>
                                </a:rPr>
                                <m:t>𝑋</m:t>
                              </m:r>
                              <m:r>
                                <a:rPr lang="es-MX" i="1">
                                  <a:solidFill>
                                    <a:schemeClr val="bg1"/>
                                  </a:solidFill>
                                  <a:latin typeface="Cambria Math" panose="02040503050406030204" pitchFamily="18" charset="0"/>
                                </a:rPr>
                                <m:t>−</m:t>
                              </m:r>
                              <m:r>
                                <a:rPr lang="es-MX" i="1">
                                  <a:solidFill>
                                    <a:schemeClr val="bg1"/>
                                  </a:solidFill>
                                  <a:latin typeface="Cambria Math" panose="02040503050406030204" pitchFamily="18" charset="0"/>
                                  <a:ea typeface="Cambria Math" panose="02040503050406030204" pitchFamily="18" charset="0"/>
                                </a:rPr>
                                <m:t>𝜇</m:t>
                              </m:r>
                            </m:e>
                          </m:d>
                          <m:r>
                            <a:rPr lang="es-MX" b="0" i="1" smtClean="0">
                              <a:solidFill>
                                <a:schemeClr val="bg1"/>
                              </a:solidFill>
                              <a:latin typeface="Cambria Math" panose="02040503050406030204" pitchFamily="18" charset="0"/>
                              <a:ea typeface="Cambria Math" panose="02040503050406030204" pitchFamily="18" charset="0"/>
                            </a:rPr>
                            <m:t>&lt;</m:t>
                          </m:r>
                          <m:r>
                            <a:rPr lang="es-MX" i="1">
                              <a:solidFill>
                                <a:schemeClr val="bg1"/>
                              </a:solidFill>
                              <a:latin typeface="Cambria Math" panose="02040503050406030204" pitchFamily="18" charset="0"/>
                              <a:ea typeface="Cambria Math" panose="02040503050406030204" pitchFamily="18" charset="0"/>
                            </a:rPr>
                            <m:t>𝜖</m:t>
                          </m:r>
                        </m:e>
                      </m:d>
                      <m:r>
                        <a:rPr lang="es-MX" i="1">
                          <a:solidFill>
                            <a:schemeClr val="bg1"/>
                          </a:solidFill>
                          <a:latin typeface="Cambria Math" panose="02040503050406030204" pitchFamily="18" charset="0"/>
                          <a:ea typeface="Cambria Math" panose="02040503050406030204" pitchFamily="18" charset="0"/>
                        </a:rPr>
                        <m:t>→</m:t>
                      </m:r>
                      <m:r>
                        <a:rPr lang="es-MX" b="0" i="1" smtClean="0">
                          <a:solidFill>
                            <a:schemeClr val="bg1"/>
                          </a:solidFill>
                          <a:latin typeface="Cambria Math" panose="02040503050406030204" pitchFamily="18" charset="0"/>
                          <a:ea typeface="Cambria Math" panose="02040503050406030204" pitchFamily="18" charset="0"/>
                        </a:rPr>
                        <m:t>1    </m:t>
                      </m:r>
                      <m:r>
                        <a:rPr lang="es-MX" b="0" i="1" smtClean="0">
                          <a:solidFill>
                            <a:schemeClr val="bg1"/>
                          </a:solidFill>
                          <a:latin typeface="Cambria Math" panose="02040503050406030204" pitchFamily="18" charset="0"/>
                          <a:ea typeface="Cambria Math" panose="02040503050406030204" pitchFamily="18" charset="0"/>
                        </a:rPr>
                        <m:t>𝑐𝑢𝑎𝑛𝑑𝑜</m:t>
                      </m:r>
                      <m:r>
                        <a:rPr lang="es-MX" b="0" i="1" smtClean="0">
                          <a:solidFill>
                            <a:schemeClr val="bg1"/>
                          </a:solidFill>
                          <a:latin typeface="Cambria Math" panose="02040503050406030204" pitchFamily="18" charset="0"/>
                          <a:ea typeface="Cambria Math" panose="02040503050406030204" pitchFamily="18" charset="0"/>
                        </a:rPr>
                        <m:t>   </m:t>
                      </m:r>
                      <m:r>
                        <a:rPr lang="es-MX" i="1">
                          <a:solidFill>
                            <a:schemeClr val="bg1"/>
                          </a:solidFill>
                          <a:latin typeface="Cambria Math" panose="02040503050406030204" pitchFamily="18" charset="0"/>
                          <a:ea typeface="Cambria Math" panose="02040503050406030204" pitchFamily="18" charset="0"/>
                        </a:rPr>
                        <m:t>𝑛</m:t>
                      </m:r>
                      <m:r>
                        <a:rPr lang="es-MX" i="1">
                          <a:solidFill>
                            <a:schemeClr val="bg1"/>
                          </a:solidFill>
                          <a:latin typeface="Cambria Math" panose="02040503050406030204" pitchFamily="18" charset="0"/>
                          <a:ea typeface="Cambria Math" panose="02040503050406030204" pitchFamily="18" charset="0"/>
                        </a:rPr>
                        <m:t>→∞</m:t>
                      </m:r>
                    </m:oMath>
                  </m:oMathPara>
                </a14:m>
                <a:endParaRPr lang="es-MX" dirty="0"/>
              </a:p>
            </p:txBody>
          </p:sp>
        </mc:Choice>
        <mc:Fallback xmlns="">
          <p:sp>
            <p:nvSpPr>
              <p:cNvPr id="19" name="CuadroTexto 18">
                <a:extLst>
                  <a:ext uri="{FF2B5EF4-FFF2-40B4-BE49-F238E27FC236}">
                    <a16:creationId xmlns:a16="http://schemas.microsoft.com/office/drawing/2014/main" id="{5C31B1E2-07C2-EE4E-7717-6CDD548C7AF6}"/>
                  </a:ext>
                </a:extLst>
              </p:cNvPr>
              <p:cNvSpPr txBox="1">
                <a:spLocks noRot="1" noChangeAspect="1" noMove="1" noResize="1" noEditPoints="1" noAdjustHandles="1" noChangeArrowheads="1" noChangeShapeType="1" noTextEdit="1"/>
              </p:cNvSpPr>
              <p:nvPr/>
            </p:nvSpPr>
            <p:spPr>
              <a:xfrm>
                <a:off x="6775187" y="3998169"/>
                <a:ext cx="3869140" cy="369332"/>
              </a:xfrm>
              <a:prstGeom prst="rect">
                <a:avLst/>
              </a:prstGeom>
              <a:blipFill>
                <a:blip r:embed="rId9"/>
                <a:stretch>
                  <a:fillRect b="-666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C5702CE4-8CD1-4D51-EFEB-332577D8D197}"/>
                  </a:ext>
                </a:extLst>
              </p:cNvPr>
              <p:cNvSpPr txBox="1"/>
              <p:nvPr/>
            </p:nvSpPr>
            <p:spPr>
              <a:xfrm>
                <a:off x="6164240" y="4406703"/>
                <a:ext cx="5131978" cy="646331"/>
              </a:xfrm>
              <a:prstGeom prst="rect">
                <a:avLst/>
              </a:prstGeom>
              <a:noFill/>
              <a:ln>
                <a:solidFill>
                  <a:schemeClr val="tx1">
                    <a:lumMod val="85000"/>
                  </a:schemeClr>
                </a:solidFill>
              </a:ln>
            </p:spPr>
            <p:txBody>
              <a:bodyPr wrap="square" rtlCol="0">
                <a:spAutoFit/>
              </a:bodyPr>
              <a:lstStyle/>
              <a:p>
                <a:pPr lvl="0" algn="just">
                  <a:defRPr/>
                </a:pPr>
                <a:r>
                  <a:rPr lang="es-MX" dirty="0">
                    <a:solidFill>
                      <a:schemeClr val="bg1"/>
                    </a:solidFill>
                    <a:latin typeface="Times New Roman" panose="02020603050405020304" pitchFamily="18" charset="0"/>
                    <a:cs typeface="Times New Roman" panose="02020603050405020304" pitchFamily="18" charset="0"/>
                  </a:rPr>
                  <a:t>Hemos demostrado que </a:t>
                </a:r>
                <a14:m>
                  <m:oMath xmlns:m="http://schemas.openxmlformats.org/officeDocument/2006/math">
                    <m:acc>
                      <m:accPr>
                        <m:chr m:val="̅"/>
                        <m:ctrlPr>
                          <a:rPr lang="es-MX" i="1" smtClean="0">
                            <a:solidFill>
                              <a:schemeClr val="bg1"/>
                            </a:solidFill>
                            <a:latin typeface="Cambria Math" panose="02040503050406030204" pitchFamily="18" charset="0"/>
                            <a:cs typeface="Times New Roman" panose="02020603050405020304" pitchFamily="18" charset="0"/>
                          </a:rPr>
                        </m:ctrlPr>
                      </m:accPr>
                      <m:e>
                        <m:r>
                          <a:rPr lang="es-MX" b="0" i="1" smtClean="0">
                            <a:solidFill>
                              <a:schemeClr val="bg1"/>
                            </a:solidFill>
                            <a:latin typeface="Cambria Math" panose="02040503050406030204" pitchFamily="18" charset="0"/>
                            <a:cs typeface="Times New Roman" panose="02020603050405020304" pitchFamily="18" charset="0"/>
                          </a:rPr>
                          <m:t>𝑋</m:t>
                        </m:r>
                      </m:e>
                    </m:acc>
                  </m:oMath>
                </a14:m>
                <a:r>
                  <a:rPr lang="es-MX" dirty="0">
                    <a:latin typeface="Times New Roman" panose="02020603050405020304" pitchFamily="18" charset="0"/>
                    <a:cs typeface="Times New Roman" panose="02020603050405020304" pitchFamily="18" charset="0"/>
                  </a:rPr>
                  <a:t> </a:t>
                </a:r>
                <a:r>
                  <a:rPr lang="es-MX" dirty="0">
                    <a:solidFill>
                      <a:schemeClr val="bg1"/>
                    </a:solidFill>
                    <a:latin typeface="Times New Roman" panose="02020603050405020304" pitchFamily="18" charset="0"/>
                    <a:cs typeface="Times New Roman" panose="02020603050405020304" pitchFamily="18" charset="0"/>
                  </a:rPr>
                  <a:t>converge en probabilidad a </a:t>
                </a:r>
                <a14:m>
                  <m:oMath xmlns:m="http://schemas.openxmlformats.org/officeDocument/2006/math">
                    <m:r>
                      <a:rPr lang="es-MX" i="1" smtClean="0">
                        <a:solidFill>
                          <a:schemeClr val="bg1"/>
                        </a:solidFill>
                        <a:latin typeface="Cambria Math" panose="02040503050406030204" pitchFamily="18" charset="0"/>
                        <a:ea typeface="Cambria Math" panose="02040503050406030204" pitchFamily="18" charset="0"/>
                      </a:rPr>
                      <m:t>𝜇</m:t>
                    </m:r>
                    <m:r>
                      <a:rPr lang="es-MX" b="0" i="0" smtClean="0">
                        <a:solidFill>
                          <a:schemeClr val="bg1"/>
                        </a:solidFill>
                        <a:latin typeface="Cambria Math" panose="02040503050406030204" pitchFamily="18" charset="0"/>
                        <a:ea typeface="Cambria Math" panose="02040503050406030204" pitchFamily="18" charset="0"/>
                      </a:rPr>
                      <m:t>.</m:t>
                    </m:r>
                  </m:oMath>
                </a14:m>
                <a:r>
                  <a:rPr kumimoji="0" lang="es-MX"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Por</a:t>
                </a:r>
                <a:r>
                  <a:rPr kumimoji="0" lang="es-MX" i="0" u="none" strike="noStrike" kern="1200" cap="none" spc="0" normalizeH="0" noProof="0" dirty="0">
                    <a:ln>
                      <a:noFill/>
                    </a:ln>
                    <a:solidFill>
                      <a:prstClr val="black"/>
                    </a:solidFill>
                    <a:effectLst/>
                    <a:uLnTx/>
                    <a:uFillTx/>
                    <a:latin typeface="Times New Roman" panose="02020603050405020304" pitchFamily="18" charset="0"/>
                    <a:cs typeface="Times New Roman" panose="02020603050405020304" pitchFamily="18" charset="0"/>
                  </a:rPr>
                  <a:t> lo tanto, </a:t>
                </a:r>
                <a14:m>
                  <m:oMath xmlns:m="http://schemas.openxmlformats.org/officeDocument/2006/math">
                    <m:acc>
                      <m:accPr>
                        <m:chr m:val="̅"/>
                        <m:ctrlPr>
                          <a:rPr lang="es-MX" i="1">
                            <a:solidFill>
                              <a:schemeClr val="bg1"/>
                            </a:solidFill>
                            <a:latin typeface="Cambria Math" panose="02040503050406030204" pitchFamily="18" charset="0"/>
                            <a:cs typeface="Times New Roman" panose="02020603050405020304" pitchFamily="18" charset="0"/>
                          </a:rPr>
                        </m:ctrlPr>
                      </m:accPr>
                      <m:e>
                        <m:r>
                          <a:rPr lang="es-MX" i="1">
                            <a:solidFill>
                              <a:schemeClr val="bg1"/>
                            </a:solidFill>
                            <a:latin typeface="Cambria Math" panose="02040503050406030204" pitchFamily="18" charset="0"/>
                            <a:cs typeface="Times New Roman" panose="02020603050405020304" pitchFamily="18" charset="0"/>
                          </a:rPr>
                          <m:t>𝑋</m:t>
                        </m:r>
                      </m:e>
                    </m:acc>
                  </m:oMath>
                </a14:m>
                <a:r>
                  <a:rPr kumimoji="0" lang="es-MX"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es un</a:t>
                </a:r>
                <a:r>
                  <a:rPr kumimoji="0" lang="es-MX" i="0" u="none" strike="noStrike" kern="1200" cap="none" spc="0" normalizeH="0" noProof="0" dirty="0">
                    <a:ln>
                      <a:noFill/>
                    </a:ln>
                    <a:solidFill>
                      <a:prstClr val="black"/>
                    </a:solidFill>
                    <a:effectLst/>
                    <a:uLnTx/>
                    <a:uFillTx/>
                    <a:latin typeface="Times New Roman" panose="02020603050405020304" pitchFamily="18" charset="0"/>
                    <a:cs typeface="Times New Roman" panose="02020603050405020304" pitchFamily="18" charset="0"/>
                  </a:rPr>
                  <a:t> estimador consistente de </a:t>
                </a:r>
                <a14:m>
                  <m:oMath xmlns:m="http://schemas.openxmlformats.org/officeDocument/2006/math">
                    <m:r>
                      <a:rPr lang="es-MX" i="1">
                        <a:solidFill>
                          <a:schemeClr val="bg1"/>
                        </a:solidFill>
                        <a:latin typeface="Cambria Math" panose="02040503050406030204" pitchFamily="18" charset="0"/>
                        <a:ea typeface="Cambria Math" panose="02040503050406030204" pitchFamily="18" charset="0"/>
                      </a:rPr>
                      <m:t>𝜇</m:t>
                    </m:r>
                  </m:oMath>
                </a14:m>
                <a:r>
                  <a:rPr kumimoji="0" lang="es-MX" i="0" u="none" strike="noStrike" kern="1200" cap="none" spc="0" normalizeH="0" noProof="0" dirty="0">
                    <a:ln>
                      <a:noFill/>
                    </a:ln>
                    <a:solidFill>
                      <a:prstClr val="black"/>
                    </a:solidFill>
                    <a:effectLst/>
                    <a:uLnTx/>
                    <a:uFillTx/>
                    <a:latin typeface="Times New Roman" panose="02020603050405020304" pitchFamily="18" charset="0"/>
                    <a:cs typeface="Times New Roman" panose="02020603050405020304" pitchFamily="18" charset="0"/>
                  </a:rPr>
                  <a:t> </a:t>
                </a:r>
                <a:endParaRPr kumimoji="0" lang="es-MX"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mc:Choice>
        <mc:Fallback xmlns="">
          <p:sp>
            <p:nvSpPr>
              <p:cNvPr id="20" name="CuadroTexto 19">
                <a:extLst>
                  <a:ext uri="{FF2B5EF4-FFF2-40B4-BE49-F238E27FC236}">
                    <a16:creationId xmlns:a16="http://schemas.microsoft.com/office/drawing/2014/main" id="{C5702CE4-8CD1-4D51-EFEB-332577D8D197}"/>
                  </a:ext>
                </a:extLst>
              </p:cNvPr>
              <p:cNvSpPr txBox="1">
                <a:spLocks noRot="1" noChangeAspect="1" noMove="1" noResize="1" noEditPoints="1" noAdjustHandles="1" noChangeArrowheads="1" noChangeShapeType="1" noTextEdit="1"/>
              </p:cNvSpPr>
              <p:nvPr/>
            </p:nvSpPr>
            <p:spPr>
              <a:xfrm>
                <a:off x="6164240" y="4406703"/>
                <a:ext cx="5131978" cy="646331"/>
              </a:xfrm>
              <a:prstGeom prst="rect">
                <a:avLst/>
              </a:prstGeom>
              <a:blipFill>
                <a:blip r:embed="rId10"/>
                <a:stretch>
                  <a:fillRect l="-829" t="-4630" r="-948" b="-12963"/>
                </a:stretch>
              </a:blipFill>
              <a:ln>
                <a:solidFill>
                  <a:schemeClr val="tx1">
                    <a:lumMod val="85000"/>
                  </a:schemeClr>
                </a:solidFill>
              </a:ln>
            </p:spPr>
            <p:txBody>
              <a:bodyPr/>
              <a:lstStyle/>
              <a:p>
                <a:r>
                  <a:rPr lang="es-MX">
                    <a:noFill/>
                  </a:rPr>
                  <a:t> </a:t>
                </a:r>
              </a:p>
            </p:txBody>
          </p:sp>
        </mc:Fallback>
      </mc:AlternateContent>
      <p:grpSp>
        <p:nvGrpSpPr>
          <p:cNvPr id="21" name="Grupo 20">
            <a:extLst>
              <a:ext uri="{FF2B5EF4-FFF2-40B4-BE49-F238E27FC236}">
                <a16:creationId xmlns:a16="http://schemas.microsoft.com/office/drawing/2014/main" id="{0A191769-3E6F-E73C-8F7E-B0FAFAB8B948}"/>
              </a:ext>
            </a:extLst>
          </p:cNvPr>
          <p:cNvGrpSpPr/>
          <p:nvPr/>
        </p:nvGrpSpPr>
        <p:grpSpPr>
          <a:xfrm>
            <a:off x="2540338" y="129874"/>
            <a:ext cx="1101584" cy="901425"/>
            <a:chOff x="4557" y="292098"/>
            <a:chExt cx="1412697" cy="1802850"/>
          </a:xfrm>
        </p:grpSpPr>
        <p:sp>
          <p:nvSpPr>
            <p:cNvPr id="22" name="Rectángulo: esquinas redondeadas 21">
              <a:extLst>
                <a:ext uri="{FF2B5EF4-FFF2-40B4-BE49-F238E27FC236}">
                  <a16:creationId xmlns:a16="http://schemas.microsoft.com/office/drawing/2014/main" id="{196C20C5-3590-D21A-E4B9-F4B1ED833ABD}"/>
                </a:ext>
              </a:extLst>
            </p:cNvPr>
            <p:cNvSpPr/>
            <p:nvPr/>
          </p:nvSpPr>
          <p:spPr>
            <a:xfrm>
              <a:off x="4557"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23" name="Rectángulo: esquinas redondeadas 4">
              <a:extLst>
                <a:ext uri="{FF2B5EF4-FFF2-40B4-BE49-F238E27FC236}">
                  <a16:creationId xmlns:a16="http://schemas.microsoft.com/office/drawing/2014/main" id="{645155B4-4462-202C-7592-0DB7AA8664A8}"/>
                </a:ext>
              </a:extLst>
            </p:cNvPr>
            <p:cNvSpPr txBox="1"/>
            <p:nvPr/>
          </p:nvSpPr>
          <p:spPr>
            <a:xfrm>
              <a:off x="45933"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1</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Definición de la población objetivo</a:t>
              </a:r>
            </a:p>
          </p:txBody>
        </p:sp>
      </p:grpSp>
      <p:grpSp>
        <p:nvGrpSpPr>
          <p:cNvPr id="24" name="Grupo 23">
            <a:extLst>
              <a:ext uri="{FF2B5EF4-FFF2-40B4-BE49-F238E27FC236}">
                <a16:creationId xmlns:a16="http://schemas.microsoft.com/office/drawing/2014/main" id="{CA3FA033-32B1-6A12-23E8-8EFE99769E7F}"/>
              </a:ext>
            </a:extLst>
          </p:cNvPr>
          <p:cNvGrpSpPr/>
          <p:nvPr/>
        </p:nvGrpSpPr>
        <p:grpSpPr>
          <a:xfrm>
            <a:off x="4518114" y="129874"/>
            <a:ext cx="1101584" cy="901425"/>
            <a:chOff x="1982333" y="292098"/>
            <a:chExt cx="1412697" cy="1802850"/>
          </a:xfrm>
        </p:grpSpPr>
        <p:sp>
          <p:nvSpPr>
            <p:cNvPr id="25" name="Rectángulo: esquinas redondeadas 24">
              <a:extLst>
                <a:ext uri="{FF2B5EF4-FFF2-40B4-BE49-F238E27FC236}">
                  <a16:creationId xmlns:a16="http://schemas.microsoft.com/office/drawing/2014/main" id="{5955698C-4831-83BF-4C0E-3785C91377C3}"/>
                </a:ext>
              </a:extLst>
            </p:cNvPr>
            <p:cNvSpPr/>
            <p:nvPr/>
          </p:nvSpPr>
          <p:spPr>
            <a:xfrm>
              <a:off x="1982333"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26" name="Rectángulo: esquinas redondeadas 6">
              <a:extLst>
                <a:ext uri="{FF2B5EF4-FFF2-40B4-BE49-F238E27FC236}">
                  <a16:creationId xmlns:a16="http://schemas.microsoft.com/office/drawing/2014/main" id="{21A37B15-EEBF-05D8-E987-C0B26C7C2731}"/>
                </a:ext>
              </a:extLst>
            </p:cNvPr>
            <p:cNvSpPr txBox="1"/>
            <p:nvPr/>
          </p:nvSpPr>
          <p:spPr>
            <a:xfrm>
              <a:off x="2023709"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2</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Delimitar a la población</a:t>
              </a:r>
            </a:p>
          </p:txBody>
        </p:sp>
      </p:grpSp>
      <p:grpSp>
        <p:nvGrpSpPr>
          <p:cNvPr id="27" name="Grupo 26">
            <a:extLst>
              <a:ext uri="{FF2B5EF4-FFF2-40B4-BE49-F238E27FC236}">
                <a16:creationId xmlns:a16="http://schemas.microsoft.com/office/drawing/2014/main" id="{A6747111-C850-7B2E-DE6E-D35044F71F07}"/>
              </a:ext>
            </a:extLst>
          </p:cNvPr>
          <p:cNvGrpSpPr/>
          <p:nvPr/>
        </p:nvGrpSpPr>
        <p:grpSpPr>
          <a:xfrm>
            <a:off x="6495890" y="129874"/>
            <a:ext cx="1101584" cy="901425"/>
            <a:chOff x="3960109" y="292098"/>
            <a:chExt cx="1412697" cy="1802850"/>
          </a:xfrm>
        </p:grpSpPr>
        <p:sp>
          <p:nvSpPr>
            <p:cNvPr id="28" name="Rectángulo: esquinas redondeadas 27">
              <a:extLst>
                <a:ext uri="{FF2B5EF4-FFF2-40B4-BE49-F238E27FC236}">
                  <a16:creationId xmlns:a16="http://schemas.microsoft.com/office/drawing/2014/main" id="{3ACB992C-0E0A-1CA8-889D-4A2FF5989703}"/>
                </a:ext>
              </a:extLst>
            </p:cNvPr>
            <p:cNvSpPr/>
            <p:nvPr/>
          </p:nvSpPr>
          <p:spPr>
            <a:xfrm>
              <a:off x="3960109"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29" name="Rectángulo: esquinas redondeadas 8">
              <a:extLst>
                <a:ext uri="{FF2B5EF4-FFF2-40B4-BE49-F238E27FC236}">
                  <a16:creationId xmlns:a16="http://schemas.microsoft.com/office/drawing/2014/main" id="{736AC920-3BB2-C52E-D7D1-60CE8E051A05}"/>
                </a:ext>
              </a:extLst>
            </p:cNvPr>
            <p:cNvSpPr txBox="1"/>
            <p:nvPr/>
          </p:nvSpPr>
          <p:spPr>
            <a:xfrm>
              <a:off x="4001485"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3</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Selección de las técnicas de muestreo</a:t>
              </a:r>
            </a:p>
          </p:txBody>
        </p:sp>
      </p:grpSp>
      <p:grpSp>
        <p:nvGrpSpPr>
          <p:cNvPr id="30" name="Grupo 29">
            <a:extLst>
              <a:ext uri="{FF2B5EF4-FFF2-40B4-BE49-F238E27FC236}">
                <a16:creationId xmlns:a16="http://schemas.microsoft.com/office/drawing/2014/main" id="{C7BBEFAA-3FF8-838B-367D-49EE62B3F94A}"/>
              </a:ext>
            </a:extLst>
          </p:cNvPr>
          <p:cNvGrpSpPr/>
          <p:nvPr/>
        </p:nvGrpSpPr>
        <p:grpSpPr>
          <a:xfrm>
            <a:off x="8473666" y="129874"/>
            <a:ext cx="1101584" cy="901425"/>
            <a:chOff x="5937885" y="292098"/>
            <a:chExt cx="1412697" cy="1802850"/>
          </a:xfrm>
          <a:solidFill>
            <a:srgbClr val="FFC000"/>
          </a:solidFill>
        </p:grpSpPr>
        <p:sp>
          <p:nvSpPr>
            <p:cNvPr id="31" name="Rectángulo: esquinas redondeadas 30">
              <a:extLst>
                <a:ext uri="{FF2B5EF4-FFF2-40B4-BE49-F238E27FC236}">
                  <a16:creationId xmlns:a16="http://schemas.microsoft.com/office/drawing/2014/main" id="{84C8A59B-4F81-438C-6D31-1ED127DC7E8D}"/>
                </a:ext>
              </a:extLst>
            </p:cNvPr>
            <p:cNvSpPr/>
            <p:nvPr/>
          </p:nvSpPr>
          <p:spPr>
            <a:xfrm>
              <a:off x="5937885" y="292098"/>
              <a:ext cx="1412697" cy="1802850"/>
            </a:xfrm>
            <a:prstGeom prst="roundRect">
              <a:avLst>
                <a:gd name="adj" fmla="val 10000"/>
              </a:avLst>
            </a:prstGeom>
            <a:grpFill/>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32" name="Rectángulo: esquinas redondeadas 10">
              <a:extLst>
                <a:ext uri="{FF2B5EF4-FFF2-40B4-BE49-F238E27FC236}">
                  <a16:creationId xmlns:a16="http://schemas.microsoft.com/office/drawing/2014/main" id="{F170316C-FA52-D217-C5B9-52898C2775DA}"/>
                </a:ext>
              </a:extLst>
            </p:cNvPr>
            <p:cNvSpPr txBox="1"/>
            <p:nvPr/>
          </p:nvSpPr>
          <p:spPr>
            <a:xfrm>
              <a:off x="5979261" y="333474"/>
              <a:ext cx="1329945" cy="1720098"/>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4</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Determinación del tamaño de la muestra</a:t>
              </a:r>
            </a:p>
          </p:txBody>
        </p:sp>
      </p:grpSp>
    </p:spTree>
    <p:extLst>
      <p:ext uri="{BB962C8B-B14F-4D97-AF65-F5344CB8AC3E}">
        <p14:creationId xmlns:p14="http://schemas.microsoft.com/office/powerpoint/2010/main" val="3997781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1000"/>
                                        <p:tgtEl>
                                          <p:spTgt spid="13"/>
                                        </p:tgtEl>
                                      </p:cBhvr>
                                    </p:animEffect>
                                    <p:anim calcmode="lin" valueType="num">
                                      <p:cBhvr>
                                        <p:cTn id="29" dur="1000" fill="hold"/>
                                        <p:tgtEl>
                                          <p:spTgt spid="13"/>
                                        </p:tgtEl>
                                        <p:attrNameLst>
                                          <p:attrName>ppt_x</p:attrName>
                                        </p:attrNameLst>
                                      </p:cBhvr>
                                      <p:tavLst>
                                        <p:tav tm="0">
                                          <p:val>
                                            <p:strVal val="#ppt_x"/>
                                          </p:val>
                                        </p:tav>
                                        <p:tav tm="100000">
                                          <p:val>
                                            <p:strVal val="#ppt_x"/>
                                          </p:val>
                                        </p:tav>
                                      </p:tavLst>
                                    </p:anim>
                                    <p:anim calcmode="lin" valueType="num">
                                      <p:cBhvr>
                                        <p:cTn id="3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1000"/>
                                        <p:tgtEl>
                                          <p:spTgt spid="14"/>
                                        </p:tgtEl>
                                      </p:cBhvr>
                                    </p:animEffect>
                                    <p:anim calcmode="lin" valueType="num">
                                      <p:cBhvr>
                                        <p:cTn id="36" dur="1000" fill="hold"/>
                                        <p:tgtEl>
                                          <p:spTgt spid="14"/>
                                        </p:tgtEl>
                                        <p:attrNameLst>
                                          <p:attrName>ppt_x</p:attrName>
                                        </p:attrNameLst>
                                      </p:cBhvr>
                                      <p:tavLst>
                                        <p:tav tm="0">
                                          <p:val>
                                            <p:strVal val="#ppt_x"/>
                                          </p:val>
                                        </p:tav>
                                        <p:tav tm="100000">
                                          <p:val>
                                            <p:strVal val="#ppt_x"/>
                                          </p:val>
                                        </p:tav>
                                      </p:tavLst>
                                    </p:anim>
                                    <p:anim calcmode="lin" valueType="num">
                                      <p:cBhvr>
                                        <p:cTn id="37"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1000"/>
                                        <p:tgtEl>
                                          <p:spTgt spid="16"/>
                                        </p:tgtEl>
                                      </p:cBhvr>
                                    </p:animEffect>
                                    <p:anim calcmode="lin" valueType="num">
                                      <p:cBhvr>
                                        <p:cTn id="43" dur="1000" fill="hold"/>
                                        <p:tgtEl>
                                          <p:spTgt spid="16"/>
                                        </p:tgtEl>
                                        <p:attrNameLst>
                                          <p:attrName>ppt_x</p:attrName>
                                        </p:attrNameLst>
                                      </p:cBhvr>
                                      <p:tavLst>
                                        <p:tav tm="0">
                                          <p:val>
                                            <p:strVal val="#ppt_x"/>
                                          </p:val>
                                        </p:tav>
                                        <p:tav tm="100000">
                                          <p:val>
                                            <p:strVal val="#ppt_x"/>
                                          </p:val>
                                        </p:tav>
                                      </p:tavLst>
                                    </p:anim>
                                    <p:anim calcmode="lin" valueType="num">
                                      <p:cBhvr>
                                        <p:cTn id="4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1000"/>
                                        <p:tgtEl>
                                          <p:spTgt spid="17"/>
                                        </p:tgtEl>
                                      </p:cBhvr>
                                    </p:animEffect>
                                    <p:anim calcmode="lin" valueType="num">
                                      <p:cBhvr>
                                        <p:cTn id="50" dur="1000" fill="hold"/>
                                        <p:tgtEl>
                                          <p:spTgt spid="17"/>
                                        </p:tgtEl>
                                        <p:attrNameLst>
                                          <p:attrName>ppt_x</p:attrName>
                                        </p:attrNameLst>
                                      </p:cBhvr>
                                      <p:tavLst>
                                        <p:tav tm="0">
                                          <p:val>
                                            <p:strVal val="#ppt_x"/>
                                          </p:val>
                                        </p:tav>
                                        <p:tav tm="100000">
                                          <p:val>
                                            <p:strVal val="#ppt_x"/>
                                          </p:val>
                                        </p:tav>
                                      </p:tavLst>
                                    </p:anim>
                                    <p:anim calcmode="lin" valueType="num">
                                      <p:cBhvr>
                                        <p:cTn id="51"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1000"/>
                                        <p:tgtEl>
                                          <p:spTgt spid="19"/>
                                        </p:tgtEl>
                                      </p:cBhvr>
                                    </p:animEffect>
                                    <p:anim calcmode="lin" valueType="num">
                                      <p:cBhvr>
                                        <p:cTn id="57" dur="1000" fill="hold"/>
                                        <p:tgtEl>
                                          <p:spTgt spid="19"/>
                                        </p:tgtEl>
                                        <p:attrNameLst>
                                          <p:attrName>ppt_x</p:attrName>
                                        </p:attrNameLst>
                                      </p:cBhvr>
                                      <p:tavLst>
                                        <p:tav tm="0">
                                          <p:val>
                                            <p:strVal val="#ppt_x"/>
                                          </p:val>
                                        </p:tav>
                                        <p:tav tm="100000">
                                          <p:val>
                                            <p:strVal val="#ppt_x"/>
                                          </p:val>
                                        </p:tav>
                                      </p:tavLst>
                                    </p:anim>
                                    <p:anim calcmode="lin" valueType="num">
                                      <p:cBhvr>
                                        <p:cTn id="58"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1000"/>
                                        <p:tgtEl>
                                          <p:spTgt spid="20"/>
                                        </p:tgtEl>
                                      </p:cBhvr>
                                    </p:animEffect>
                                    <p:anim calcmode="lin" valueType="num">
                                      <p:cBhvr>
                                        <p:cTn id="64" dur="1000" fill="hold"/>
                                        <p:tgtEl>
                                          <p:spTgt spid="20"/>
                                        </p:tgtEl>
                                        <p:attrNameLst>
                                          <p:attrName>ppt_x</p:attrName>
                                        </p:attrNameLst>
                                      </p:cBhvr>
                                      <p:tavLst>
                                        <p:tav tm="0">
                                          <p:val>
                                            <p:strVal val="#ppt_x"/>
                                          </p:val>
                                        </p:tav>
                                        <p:tav tm="100000">
                                          <p:val>
                                            <p:strVal val="#ppt_x"/>
                                          </p:val>
                                        </p:tav>
                                      </p:tavLst>
                                    </p:anim>
                                    <p:anim calcmode="lin" valueType="num">
                                      <p:cBhvr>
                                        <p:cTn id="65"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p:bldP spid="8" grpId="0" animBg="1"/>
      <p:bldP spid="13" grpId="0"/>
      <p:bldP spid="14" grpId="0" animBg="1"/>
      <p:bldP spid="16" grpId="0"/>
      <p:bldP spid="17" grpId="0" animBg="1"/>
      <p:bldP spid="19" grpId="0"/>
      <p:bldP spid="2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ES" sz="2800" dirty="0">
                <a:latin typeface="Times New Roman" panose="02020603050405020304" pitchFamily="18" charset="0"/>
                <a:cs typeface="Times New Roman" panose="02020603050405020304" pitchFamily="18" charset="0"/>
              </a:rPr>
              <a:t>Margen de error</a:t>
            </a:r>
          </a:p>
        </p:txBody>
      </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F494AF8A-D47C-6E15-F0A8-B546B382BBB9}"/>
                  </a:ext>
                </a:extLst>
              </p:cNvPr>
              <p:cNvSpPr txBox="1"/>
              <p:nvPr/>
            </p:nvSpPr>
            <p:spPr>
              <a:xfrm>
                <a:off x="618489" y="2184090"/>
                <a:ext cx="5031686" cy="1355179"/>
              </a:xfrm>
              <a:prstGeom prst="rect">
                <a:avLst/>
              </a:prstGeom>
              <a:noFill/>
              <a:ln>
                <a:solidFill>
                  <a:schemeClr val="tx1">
                    <a:lumMod val="85000"/>
                  </a:schemeClr>
                </a:solidFill>
              </a:ln>
            </p:spPr>
            <p:txBody>
              <a:bodyPr wrap="square" rtlCol="0">
                <a:spAutoFit/>
              </a:bodyPr>
              <a:lstStyle/>
              <a:p>
                <a:pPr lvl="0" algn="just">
                  <a:defRPr/>
                </a:pP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Supongamos una muestra aleatoria</a:t>
                </a:r>
                <a:r>
                  <a:rPr kumimoji="0" lang="es-MX" sz="1800" b="0"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14:m>
                  <m:oMath xmlns:m="http://schemas.openxmlformats.org/officeDocument/2006/math">
                    <m:sSub>
                      <m:sSubPr>
                        <m:ctrlP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sSubPr>
                      <m:e>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𝑋</m:t>
                        </m:r>
                      </m:e>
                      <m:sub>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1</m:t>
                        </m:r>
                      </m:sub>
                    </m:sSub>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m:t>
                    </m:r>
                    <m:sSub>
                      <m:sSubPr>
                        <m:ctrlP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sSubPr>
                      <m:e>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𝑋</m:t>
                        </m:r>
                      </m:e>
                      <m:sub>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2</m:t>
                        </m:r>
                      </m:sub>
                    </m:sSub>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m:t>
                    </m:r>
                    <m:sSub>
                      <m:sSubPr>
                        <m:ctrlP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sSubPr>
                      <m:e>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𝑋</m:t>
                        </m:r>
                      </m:e>
                      <m:sub>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𝑛</m:t>
                        </m:r>
                      </m:sub>
                    </m:sSub>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de tamaño</a:t>
                </a:r>
                <a:r>
                  <a:rPr kumimoji="0" lang="es-MX" sz="1800" b="0"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n de una población con media </a:t>
                </a:r>
                <a14:m>
                  <m:oMath xmlns:m="http://schemas.openxmlformats.org/officeDocument/2006/math">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𝜇</m:t>
                    </m:r>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y varianza</a:t>
                </a:r>
                <a:r>
                  <a:rPr lang="es-MX" dirty="0">
                    <a:solidFill>
                      <a:prstClr val="black"/>
                    </a:solidFill>
                    <a:cs typeface="Times New Roman" panose="02020603050405020304" pitchFamily="18" charset="0"/>
                  </a:rPr>
                  <a:t> </a:t>
                </a:r>
                <a14:m>
                  <m:oMath xmlns:m="http://schemas.openxmlformats.org/officeDocument/2006/math">
                    <m:sSup>
                      <m:sSupPr>
                        <m:ctrlPr>
                          <a:rPr lang="es-MX" i="1">
                            <a:solidFill>
                              <a:prstClr val="black"/>
                            </a:solidFill>
                            <a:latin typeface="Cambria Math" panose="02040503050406030204" pitchFamily="18" charset="0"/>
                            <a:cs typeface="Times New Roman" panose="02020603050405020304" pitchFamily="18" charset="0"/>
                          </a:rPr>
                        </m:ctrlPr>
                      </m:sSupPr>
                      <m:e>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𝜎</m:t>
                        </m:r>
                      </m:e>
                      <m:sup>
                        <m:r>
                          <a:rPr lang="es-MX" i="1">
                            <a:solidFill>
                              <a:prstClr val="black"/>
                            </a:solidFill>
                            <a:latin typeface="Cambria Math" panose="02040503050406030204" pitchFamily="18" charset="0"/>
                            <a:cs typeface="Times New Roman" panose="02020603050405020304" pitchFamily="18" charset="0"/>
                          </a:rPr>
                          <m:t>2</m:t>
                        </m:r>
                      </m:sup>
                    </m:sSup>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la media muestral </a:t>
                </a:r>
                <a14:m>
                  <m:oMath xmlns:m="http://schemas.openxmlformats.org/officeDocument/2006/math">
                    <m:acc>
                      <m:accPr>
                        <m:chr m:val="̅"/>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accPr>
                      <m:e>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𝑋</m:t>
                        </m:r>
                      </m:e>
                    </m:acc>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sigue</a:t>
                </a:r>
                <a:r>
                  <a:rPr kumimoji="0" lang="es-MX" sz="1800" b="0"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una distribución normal con media </a:t>
                </a:r>
                <a14:m>
                  <m:oMath xmlns:m="http://schemas.openxmlformats.org/officeDocument/2006/math">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oMath>
                </a14:m>
                <a:r>
                  <a:rPr kumimoji="0" lang="es-MX" sz="1800" b="0"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y varianza</a:t>
                </a: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14:m>
                  <m:oMath xmlns:m="http://schemas.openxmlformats.org/officeDocument/2006/math">
                    <m:f>
                      <m:fPr>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fPr>
                      <m:num>
                        <m:sSup>
                          <m:sSupPr>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sSupPr>
                          <m:e>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𝜎</m:t>
                            </m:r>
                          </m:e>
                          <m:sup>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2</m:t>
                            </m:r>
                          </m:sup>
                        </m:sSup>
                      </m:num>
                      <m:den>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𝑛</m:t>
                        </m:r>
                      </m:den>
                    </m:f>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p:txBody>
          </p:sp>
        </mc:Choice>
        <mc:Fallback xmlns="">
          <p:sp>
            <p:nvSpPr>
              <p:cNvPr id="28" name="CuadroTexto 27">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618489" y="2184090"/>
                <a:ext cx="5031686" cy="1355179"/>
              </a:xfrm>
              <a:prstGeom prst="rect">
                <a:avLst/>
              </a:prstGeom>
              <a:blipFill>
                <a:blip r:embed="rId3"/>
                <a:stretch>
                  <a:fillRect l="-845" t="-1778" r="-845" b="-889"/>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74E1CE5D-0829-367D-3253-0060B26FBC99}"/>
                  </a:ext>
                </a:extLst>
              </p:cNvPr>
              <p:cNvSpPr txBox="1"/>
              <p:nvPr/>
            </p:nvSpPr>
            <p:spPr>
              <a:xfrm>
                <a:off x="618488" y="3754126"/>
                <a:ext cx="5031686" cy="1200329"/>
              </a:xfrm>
              <a:prstGeom prst="rect">
                <a:avLst/>
              </a:prstGeom>
              <a:noFill/>
              <a:ln>
                <a:solidFill>
                  <a:schemeClr val="tx1">
                    <a:lumMod val="85000"/>
                  </a:schemeClr>
                </a:solidFill>
              </a:ln>
            </p:spPr>
            <p:txBody>
              <a:bodyPr wrap="square" rtlCol="0">
                <a:spAutoFit/>
              </a:bodyPr>
              <a:lstStyle/>
              <a:p>
                <a:pPr lvl="0" algn="just">
                  <a:defRPr/>
                </a:pPr>
                <a:r>
                  <a:rPr lang="es-MX" dirty="0">
                    <a:solidFill>
                      <a:prstClr val="black"/>
                    </a:solidFill>
                    <a:latin typeface="Times New Roman" panose="02020603050405020304" pitchFamily="18" charset="0"/>
                    <a:cs typeface="Times New Roman" panose="02020603050405020304" pitchFamily="18" charset="0"/>
                  </a:rPr>
                  <a:t>Para usar la distribución normal estándar, estandarizamos </a:t>
                </a:r>
                <a14:m>
                  <m:oMath xmlns:m="http://schemas.openxmlformats.org/officeDocument/2006/math">
                    <m:acc>
                      <m:accPr>
                        <m:chr m:val="̅"/>
                        <m:ctrlPr>
                          <a:rPr lang="es-MX" i="1">
                            <a:solidFill>
                              <a:prstClr val="black"/>
                            </a:solidFill>
                            <a:latin typeface="Cambria Math" panose="02040503050406030204" pitchFamily="18" charset="0"/>
                            <a:cs typeface="Times New Roman" panose="02020603050405020304" pitchFamily="18" charset="0"/>
                          </a:rPr>
                        </m:ctrlPr>
                      </m:accPr>
                      <m:e>
                        <m:r>
                          <a:rPr lang="es-MX" i="1">
                            <a:solidFill>
                              <a:prstClr val="black"/>
                            </a:solidFill>
                            <a:latin typeface="Cambria Math" panose="02040503050406030204" pitchFamily="18" charset="0"/>
                            <a:cs typeface="Times New Roman" panose="02020603050405020304" pitchFamily="18" charset="0"/>
                          </a:rPr>
                          <m:t>𝑋</m:t>
                        </m:r>
                      </m:e>
                    </m:acc>
                  </m:oMath>
                </a14:m>
                <a:r>
                  <a:rPr lang="es-MX" dirty="0">
                    <a:solidFill>
                      <a:prstClr val="black"/>
                    </a:solidFill>
                    <a:latin typeface="Times New Roman" panose="02020603050405020304" pitchFamily="18" charset="0"/>
                    <a:cs typeface="Times New Roman" panose="02020603050405020304" pitchFamily="18" charset="0"/>
                  </a:rPr>
                  <a:t> restando </a:t>
                </a:r>
                <a:r>
                  <a:rPr lang="es-MX" dirty="0">
                    <a:solidFill>
                      <a:schemeClr val="bg1"/>
                    </a:solidFill>
                    <a:latin typeface="Times New Roman" panose="02020603050405020304" pitchFamily="18" charset="0"/>
                    <a:cs typeface="Times New Roman" panose="02020603050405020304" pitchFamily="18" charset="0"/>
                  </a:rPr>
                  <a:t>la media y dividiendo por la desviación estándar. Esto nos da la variable estandarizada </a:t>
                </a:r>
                <a14:m>
                  <m:oMath xmlns:m="http://schemas.openxmlformats.org/officeDocument/2006/math">
                    <m:r>
                      <a:rPr lang="es-MX" i="1" dirty="0" smtClean="0">
                        <a:solidFill>
                          <a:schemeClr val="bg1"/>
                        </a:solidFill>
                        <a:latin typeface="Cambria Math" panose="02040503050406030204" pitchFamily="18" charset="0"/>
                        <a:cs typeface="Times New Roman" panose="02020603050405020304" pitchFamily="18" charset="0"/>
                      </a:rPr>
                      <m:t>𝑍</m:t>
                    </m:r>
                  </m:oMath>
                </a14:m>
                <a:r>
                  <a:rPr lang="es-MX" dirty="0">
                    <a:solidFill>
                      <a:schemeClr val="bg1"/>
                    </a:solidFill>
                    <a:latin typeface="Times New Roman" panose="02020603050405020304" pitchFamily="18" charset="0"/>
                    <a:cs typeface="Times New Roman" panose="02020603050405020304" pitchFamily="18" charset="0"/>
                  </a:rPr>
                  <a:t>: </a:t>
                </a:r>
                <a:endParaRPr kumimoji="0" lang="es-MX" sz="1800" b="0"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p:txBody>
          </p:sp>
        </mc:Choice>
        <mc:Fallback xmlns="">
          <p:sp>
            <p:nvSpPr>
              <p:cNvPr id="5" name="CuadroTexto 4">
                <a:extLst>
                  <a:ext uri="{FF2B5EF4-FFF2-40B4-BE49-F238E27FC236}">
                    <a16:creationId xmlns:a16="http://schemas.microsoft.com/office/drawing/2014/main" id="{74E1CE5D-0829-367D-3253-0060B26FBC99}"/>
                  </a:ext>
                </a:extLst>
              </p:cNvPr>
              <p:cNvSpPr txBox="1">
                <a:spLocks noRot="1" noChangeAspect="1" noMove="1" noResize="1" noEditPoints="1" noAdjustHandles="1" noChangeArrowheads="1" noChangeShapeType="1" noTextEdit="1"/>
              </p:cNvSpPr>
              <p:nvPr/>
            </p:nvSpPr>
            <p:spPr>
              <a:xfrm>
                <a:off x="618488" y="3754126"/>
                <a:ext cx="5031686" cy="1200329"/>
              </a:xfrm>
              <a:prstGeom prst="rect">
                <a:avLst/>
              </a:prstGeom>
              <a:blipFill>
                <a:blip r:embed="rId4"/>
                <a:stretch>
                  <a:fillRect l="-845" t="-2513" r="-845" b="-6533"/>
                </a:stretch>
              </a:blipFill>
              <a:ln>
                <a:solidFill>
                  <a:schemeClr val="tx1">
                    <a:lumMod val="85000"/>
                  </a:schemeClr>
                </a:solidFill>
              </a:ln>
            </p:spPr>
            <p:txBody>
              <a:bodyPr/>
              <a:lstStyle/>
              <a:p>
                <a:r>
                  <a:rPr lang="es-MX">
                    <a:noFill/>
                  </a:rPr>
                  <a:t> </a:t>
                </a:r>
              </a:p>
            </p:txBody>
          </p:sp>
        </mc:Fallback>
      </mc:AlternateContent>
      <p:grpSp>
        <p:nvGrpSpPr>
          <p:cNvPr id="3" name="Grupo 2">
            <a:extLst>
              <a:ext uri="{FF2B5EF4-FFF2-40B4-BE49-F238E27FC236}">
                <a16:creationId xmlns:a16="http://schemas.microsoft.com/office/drawing/2014/main" id="{222C78A9-3AAD-0FE9-E962-54DC6F4AD609}"/>
              </a:ext>
            </a:extLst>
          </p:cNvPr>
          <p:cNvGrpSpPr/>
          <p:nvPr/>
        </p:nvGrpSpPr>
        <p:grpSpPr>
          <a:xfrm>
            <a:off x="2540338" y="129874"/>
            <a:ext cx="1101584" cy="901425"/>
            <a:chOff x="4557" y="292098"/>
            <a:chExt cx="1412697" cy="1802850"/>
          </a:xfrm>
        </p:grpSpPr>
        <p:sp>
          <p:nvSpPr>
            <p:cNvPr id="7" name="Rectángulo: esquinas redondeadas 6">
              <a:extLst>
                <a:ext uri="{FF2B5EF4-FFF2-40B4-BE49-F238E27FC236}">
                  <a16:creationId xmlns:a16="http://schemas.microsoft.com/office/drawing/2014/main" id="{3BD68740-713E-5B1A-8472-F8405FD30281}"/>
                </a:ext>
              </a:extLst>
            </p:cNvPr>
            <p:cNvSpPr/>
            <p:nvPr/>
          </p:nvSpPr>
          <p:spPr>
            <a:xfrm>
              <a:off x="4557"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9" name="Rectángulo: esquinas redondeadas 4">
              <a:extLst>
                <a:ext uri="{FF2B5EF4-FFF2-40B4-BE49-F238E27FC236}">
                  <a16:creationId xmlns:a16="http://schemas.microsoft.com/office/drawing/2014/main" id="{B9CF22BB-5432-BBEC-8CCC-E60F1155C42D}"/>
                </a:ext>
              </a:extLst>
            </p:cNvPr>
            <p:cNvSpPr txBox="1"/>
            <p:nvPr/>
          </p:nvSpPr>
          <p:spPr>
            <a:xfrm>
              <a:off x="45933"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1</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Definición de la población objetivo</a:t>
              </a:r>
            </a:p>
          </p:txBody>
        </p:sp>
      </p:grpSp>
      <p:grpSp>
        <p:nvGrpSpPr>
          <p:cNvPr id="10" name="Grupo 9">
            <a:extLst>
              <a:ext uri="{FF2B5EF4-FFF2-40B4-BE49-F238E27FC236}">
                <a16:creationId xmlns:a16="http://schemas.microsoft.com/office/drawing/2014/main" id="{82BE16D3-C2F1-C7A4-93A5-8D96EA52F39B}"/>
              </a:ext>
            </a:extLst>
          </p:cNvPr>
          <p:cNvGrpSpPr/>
          <p:nvPr/>
        </p:nvGrpSpPr>
        <p:grpSpPr>
          <a:xfrm>
            <a:off x="4518114" y="129874"/>
            <a:ext cx="1101584" cy="901425"/>
            <a:chOff x="1982333" y="292098"/>
            <a:chExt cx="1412697" cy="1802850"/>
          </a:xfrm>
        </p:grpSpPr>
        <p:sp>
          <p:nvSpPr>
            <p:cNvPr id="11" name="Rectángulo: esquinas redondeadas 10">
              <a:extLst>
                <a:ext uri="{FF2B5EF4-FFF2-40B4-BE49-F238E27FC236}">
                  <a16:creationId xmlns:a16="http://schemas.microsoft.com/office/drawing/2014/main" id="{3B37A732-62BB-F41B-9B4A-CCDD0FA66518}"/>
                </a:ext>
              </a:extLst>
            </p:cNvPr>
            <p:cNvSpPr/>
            <p:nvPr/>
          </p:nvSpPr>
          <p:spPr>
            <a:xfrm>
              <a:off x="1982333"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2" name="Rectángulo: esquinas redondeadas 6">
              <a:extLst>
                <a:ext uri="{FF2B5EF4-FFF2-40B4-BE49-F238E27FC236}">
                  <a16:creationId xmlns:a16="http://schemas.microsoft.com/office/drawing/2014/main" id="{F83DF241-AEE4-1A8D-634A-C01BA32A2E78}"/>
                </a:ext>
              </a:extLst>
            </p:cNvPr>
            <p:cNvSpPr txBox="1"/>
            <p:nvPr/>
          </p:nvSpPr>
          <p:spPr>
            <a:xfrm>
              <a:off x="2023709"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2</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Delimitar a la población</a:t>
              </a:r>
            </a:p>
          </p:txBody>
        </p:sp>
      </p:grpSp>
      <p:grpSp>
        <p:nvGrpSpPr>
          <p:cNvPr id="13" name="Grupo 12">
            <a:extLst>
              <a:ext uri="{FF2B5EF4-FFF2-40B4-BE49-F238E27FC236}">
                <a16:creationId xmlns:a16="http://schemas.microsoft.com/office/drawing/2014/main" id="{DE9D0DB2-99D3-BD38-2941-E4AE4F506FE8}"/>
              </a:ext>
            </a:extLst>
          </p:cNvPr>
          <p:cNvGrpSpPr/>
          <p:nvPr/>
        </p:nvGrpSpPr>
        <p:grpSpPr>
          <a:xfrm>
            <a:off x="6495890" y="129874"/>
            <a:ext cx="1101584" cy="901425"/>
            <a:chOff x="3960109" y="292098"/>
            <a:chExt cx="1412697" cy="1802850"/>
          </a:xfrm>
        </p:grpSpPr>
        <p:sp>
          <p:nvSpPr>
            <p:cNvPr id="14" name="Rectángulo: esquinas redondeadas 13">
              <a:extLst>
                <a:ext uri="{FF2B5EF4-FFF2-40B4-BE49-F238E27FC236}">
                  <a16:creationId xmlns:a16="http://schemas.microsoft.com/office/drawing/2014/main" id="{ADB3DD13-F289-23CC-6CCF-283EB349BD4B}"/>
                </a:ext>
              </a:extLst>
            </p:cNvPr>
            <p:cNvSpPr/>
            <p:nvPr/>
          </p:nvSpPr>
          <p:spPr>
            <a:xfrm>
              <a:off x="3960109"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5" name="Rectángulo: esquinas redondeadas 8">
              <a:extLst>
                <a:ext uri="{FF2B5EF4-FFF2-40B4-BE49-F238E27FC236}">
                  <a16:creationId xmlns:a16="http://schemas.microsoft.com/office/drawing/2014/main" id="{B0A48CC2-8615-34B4-2BE9-3D703A2A425A}"/>
                </a:ext>
              </a:extLst>
            </p:cNvPr>
            <p:cNvSpPr txBox="1"/>
            <p:nvPr/>
          </p:nvSpPr>
          <p:spPr>
            <a:xfrm>
              <a:off x="4001485"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3</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Selección de las técnicas de muestreo</a:t>
              </a:r>
            </a:p>
          </p:txBody>
        </p:sp>
      </p:grpSp>
      <p:grpSp>
        <p:nvGrpSpPr>
          <p:cNvPr id="16" name="Grupo 15">
            <a:extLst>
              <a:ext uri="{FF2B5EF4-FFF2-40B4-BE49-F238E27FC236}">
                <a16:creationId xmlns:a16="http://schemas.microsoft.com/office/drawing/2014/main" id="{72503070-250D-D01C-2428-C379B735A560}"/>
              </a:ext>
            </a:extLst>
          </p:cNvPr>
          <p:cNvGrpSpPr/>
          <p:nvPr/>
        </p:nvGrpSpPr>
        <p:grpSpPr>
          <a:xfrm>
            <a:off x="8473666" y="129874"/>
            <a:ext cx="1101584" cy="901425"/>
            <a:chOff x="5937885" y="292098"/>
            <a:chExt cx="1412697" cy="1802850"/>
          </a:xfrm>
          <a:solidFill>
            <a:srgbClr val="FFC000"/>
          </a:solidFill>
        </p:grpSpPr>
        <p:sp>
          <p:nvSpPr>
            <p:cNvPr id="17" name="Rectángulo: esquinas redondeadas 16">
              <a:extLst>
                <a:ext uri="{FF2B5EF4-FFF2-40B4-BE49-F238E27FC236}">
                  <a16:creationId xmlns:a16="http://schemas.microsoft.com/office/drawing/2014/main" id="{DB323C89-D2DB-4B1C-DABC-8E110B3DE396}"/>
                </a:ext>
              </a:extLst>
            </p:cNvPr>
            <p:cNvSpPr/>
            <p:nvPr/>
          </p:nvSpPr>
          <p:spPr>
            <a:xfrm>
              <a:off x="5937885" y="292098"/>
              <a:ext cx="1412697" cy="1802850"/>
            </a:xfrm>
            <a:prstGeom prst="roundRect">
              <a:avLst>
                <a:gd name="adj" fmla="val 10000"/>
              </a:avLst>
            </a:prstGeom>
            <a:grpFill/>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8" name="Rectángulo: esquinas redondeadas 10">
              <a:extLst>
                <a:ext uri="{FF2B5EF4-FFF2-40B4-BE49-F238E27FC236}">
                  <a16:creationId xmlns:a16="http://schemas.microsoft.com/office/drawing/2014/main" id="{ED2839F4-891F-3DC7-64AC-9D3459353486}"/>
                </a:ext>
              </a:extLst>
            </p:cNvPr>
            <p:cNvSpPr txBox="1"/>
            <p:nvPr/>
          </p:nvSpPr>
          <p:spPr>
            <a:xfrm>
              <a:off x="5979261" y="333474"/>
              <a:ext cx="1329945" cy="1720098"/>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4</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Determinación del tamaño de la muestra</a:t>
              </a:r>
            </a:p>
          </p:txBody>
        </p:sp>
      </p:grp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263153A1-D89D-67D9-3E59-EF2DBD085AE8}"/>
                  </a:ext>
                </a:extLst>
              </p:cNvPr>
              <p:cNvSpPr txBox="1"/>
              <p:nvPr/>
            </p:nvSpPr>
            <p:spPr>
              <a:xfrm>
                <a:off x="1812270" y="5169312"/>
                <a:ext cx="2644122" cy="7323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solidFill>
                            <a:schemeClr val="bg1"/>
                          </a:solidFill>
                          <a:latin typeface="Cambria Math" panose="02040503050406030204" pitchFamily="18" charset="0"/>
                        </a:rPr>
                        <m:t>𝑍</m:t>
                      </m:r>
                      <m:r>
                        <a:rPr lang="es-MX" b="0" i="1" smtClean="0">
                          <a:solidFill>
                            <a:schemeClr val="bg1"/>
                          </a:solidFill>
                          <a:latin typeface="Cambria Math" panose="02040503050406030204" pitchFamily="18" charset="0"/>
                        </a:rPr>
                        <m:t>=</m:t>
                      </m:r>
                      <m:f>
                        <m:fPr>
                          <m:ctrlPr>
                            <a:rPr lang="es-MX" b="0" i="1" smtClean="0">
                              <a:solidFill>
                                <a:schemeClr val="bg1"/>
                              </a:solidFill>
                              <a:latin typeface="Cambria Math" panose="02040503050406030204" pitchFamily="18" charset="0"/>
                            </a:rPr>
                          </m:ctrlPr>
                        </m:fPr>
                        <m:num>
                          <m:acc>
                            <m:accPr>
                              <m:chr m:val="̅"/>
                              <m:ctrlPr>
                                <a:rPr lang="es-MX" i="1">
                                  <a:solidFill>
                                    <a:prstClr val="black"/>
                                  </a:solidFill>
                                  <a:latin typeface="Cambria Math" panose="02040503050406030204" pitchFamily="18" charset="0"/>
                                  <a:cs typeface="Times New Roman" panose="02020603050405020304" pitchFamily="18" charset="0"/>
                                </a:rPr>
                              </m:ctrlPr>
                            </m:accPr>
                            <m:e>
                              <m:r>
                                <a:rPr lang="es-MX" i="1">
                                  <a:solidFill>
                                    <a:prstClr val="black"/>
                                  </a:solidFill>
                                  <a:latin typeface="Cambria Math" panose="02040503050406030204" pitchFamily="18" charset="0"/>
                                  <a:cs typeface="Times New Roman" panose="02020603050405020304" pitchFamily="18" charset="0"/>
                                </a:rPr>
                                <m:t>𝑋</m:t>
                              </m:r>
                            </m:e>
                          </m:acc>
                          <m:r>
                            <a:rPr lang="es-MX" b="0" i="1" smtClean="0">
                              <a:solidFill>
                                <a:prstClr val="black"/>
                              </a:solidFill>
                              <a:latin typeface="Cambria Math" panose="02040503050406030204" pitchFamily="18" charset="0"/>
                              <a:cs typeface="Times New Roman" panose="02020603050405020304" pitchFamily="18" charset="0"/>
                            </a:rPr>
                            <m:t>−</m:t>
                          </m:r>
                          <m:r>
                            <a:rPr lang="es-MX"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num>
                        <m:den>
                          <m:f>
                            <m:fPr>
                              <m:type m:val="skw"/>
                              <m:ctrlPr>
                                <a:rPr lang="es-MX" b="0" i="1" smtClean="0">
                                  <a:solidFill>
                                    <a:schemeClr val="bg1"/>
                                  </a:solidFill>
                                  <a:latin typeface="Cambria Math" panose="02040503050406030204" pitchFamily="18" charset="0"/>
                                </a:rPr>
                              </m:ctrlPr>
                            </m:fPr>
                            <m:num>
                              <m:r>
                                <a:rPr lang="es-MX" b="0" i="1" smtClean="0">
                                  <a:solidFill>
                                    <a:schemeClr val="bg1"/>
                                  </a:solidFill>
                                  <a:latin typeface="Cambria Math" panose="02040503050406030204" pitchFamily="18" charset="0"/>
                                  <a:ea typeface="Cambria Math" panose="02040503050406030204" pitchFamily="18" charset="0"/>
                                </a:rPr>
                                <m:t>𝜎</m:t>
                              </m:r>
                            </m:num>
                            <m:den>
                              <m:rad>
                                <m:radPr>
                                  <m:degHide m:val="on"/>
                                  <m:ctrlPr>
                                    <a:rPr lang="es-MX" b="0" i="1" smtClean="0">
                                      <a:solidFill>
                                        <a:schemeClr val="bg1"/>
                                      </a:solidFill>
                                      <a:latin typeface="Cambria Math" panose="02040503050406030204" pitchFamily="18" charset="0"/>
                                    </a:rPr>
                                  </m:ctrlPr>
                                </m:radPr>
                                <m:deg/>
                                <m:e>
                                  <m:r>
                                    <a:rPr lang="es-MX" b="0" i="1" smtClean="0">
                                      <a:solidFill>
                                        <a:schemeClr val="bg1"/>
                                      </a:solidFill>
                                      <a:latin typeface="Cambria Math" panose="02040503050406030204" pitchFamily="18" charset="0"/>
                                    </a:rPr>
                                    <m:t>𝑛</m:t>
                                  </m:r>
                                </m:e>
                              </m:rad>
                            </m:den>
                          </m:f>
                        </m:den>
                      </m:f>
                      <m:r>
                        <a:rPr lang="es-MX" b="0" i="1" smtClean="0">
                          <a:solidFill>
                            <a:schemeClr val="bg1"/>
                          </a:solidFill>
                          <a:latin typeface="Cambria Math" panose="02040503050406030204" pitchFamily="18" charset="0"/>
                        </a:rPr>
                        <m:t>           </m:t>
                      </m:r>
                      <m:r>
                        <a:rPr lang="es-MX" b="0" i="1" smtClean="0">
                          <a:solidFill>
                            <a:schemeClr val="bg1"/>
                          </a:solidFill>
                          <a:latin typeface="Cambria Math" panose="02040503050406030204" pitchFamily="18" charset="0"/>
                        </a:rPr>
                        <m:t>𝑍</m:t>
                      </m:r>
                      <m:r>
                        <a:rPr lang="es-MX" b="0" i="1" smtClean="0">
                          <a:solidFill>
                            <a:schemeClr val="bg1"/>
                          </a:solidFill>
                          <a:latin typeface="Cambria Math" panose="02040503050406030204" pitchFamily="18" charset="0"/>
                          <a:ea typeface="Cambria Math" panose="02040503050406030204" pitchFamily="18" charset="0"/>
                        </a:rPr>
                        <m:t>~</m:t>
                      </m:r>
                      <m:r>
                        <a:rPr lang="es-MX" b="0" i="1" smtClean="0">
                          <a:solidFill>
                            <a:schemeClr val="bg1"/>
                          </a:solidFill>
                          <a:latin typeface="Cambria Math" panose="02040503050406030204" pitchFamily="18" charset="0"/>
                          <a:ea typeface="Cambria Math" panose="02040503050406030204" pitchFamily="18" charset="0"/>
                        </a:rPr>
                        <m:t>𝑁</m:t>
                      </m:r>
                      <m:d>
                        <m:dPr>
                          <m:ctrlPr>
                            <a:rPr lang="es-MX" b="0" i="1" smtClean="0">
                              <a:solidFill>
                                <a:schemeClr val="bg1"/>
                              </a:solidFill>
                              <a:latin typeface="Cambria Math" panose="02040503050406030204" pitchFamily="18" charset="0"/>
                              <a:ea typeface="Cambria Math" panose="02040503050406030204" pitchFamily="18" charset="0"/>
                            </a:rPr>
                          </m:ctrlPr>
                        </m:dPr>
                        <m:e>
                          <m:r>
                            <a:rPr lang="es-MX" b="0" i="1" smtClean="0">
                              <a:solidFill>
                                <a:schemeClr val="bg1"/>
                              </a:solidFill>
                              <a:latin typeface="Cambria Math" panose="02040503050406030204" pitchFamily="18" charset="0"/>
                              <a:ea typeface="Cambria Math" panose="02040503050406030204" pitchFamily="18" charset="0"/>
                            </a:rPr>
                            <m:t>0,1</m:t>
                          </m:r>
                        </m:e>
                      </m:d>
                    </m:oMath>
                  </m:oMathPara>
                </a14:m>
                <a:endParaRPr lang="es-MX" dirty="0"/>
              </a:p>
            </p:txBody>
          </p:sp>
        </mc:Choice>
        <mc:Fallback xmlns="">
          <p:sp>
            <p:nvSpPr>
              <p:cNvPr id="21" name="CuadroTexto 20">
                <a:extLst>
                  <a:ext uri="{FF2B5EF4-FFF2-40B4-BE49-F238E27FC236}">
                    <a16:creationId xmlns:a16="http://schemas.microsoft.com/office/drawing/2014/main" id="{263153A1-D89D-67D9-3E59-EF2DBD085AE8}"/>
                  </a:ext>
                </a:extLst>
              </p:cNvPr>
              <p:cNvSpPr txBox="1">
                <a:spLocks noRot="1" noChangeAspect="1" noMove="1" noResize="1" noEditPoints="1" noAdjustHandles="1" noChangeArrowheads="1" noChangeShapeType="1" noTextEdit="1"/>
              </p:cNvSpPr>
              <p:nvPr/>
            </p:nvSpPr>
            <p:spPr>
              <a:xfrm>
                <a:off x="1812270" y="5169312"/>
                <a:ext cx="2644122" cy="732316"/>
              </a:xfrm>
              <a:prstGeom prst="rect">
                <a:avLst/>
              </a:prstGeom>
              <a:blipFill>
                <a:blip r:embed="rId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AA72C99B-0957-0733-0F26-1F6954983BBA}"/>
                  </a:ext>
                </a:extLst>
              </p:cNvPr>
              <p:cNvSpPr txBox="1"/>
              <p:nvPr/>
            </p:nvSpPr>
            <p:spPr>
              <a:xfrm>
                <a:off x="6096000" y="1269683"/>
                <a:ext cx="5031686" cy="987963"/>
              </a:xfrm>
              <a:prstGeom prst="rect">
                <a:avLst/>
              </a:prstGeom>
              <a:noFill/>
              <a:ln>
                <a:solidFill>
                  <a:schemeClr val="tx1">
                    <a:lumMod val="85000"/>
                  </a:schemeClr>
                </a:solidFill>
              </a:ln>
            </p:spPr>
            <p:txBody>
              <a:bodyPr wrap="square" rtlCol="0">
                <a:spAutoFit/>
              </a:bodyPr>
              <a:lstStyle/>
              <a:p>
                <a:pPr lvl="0" algn="just">
                  <a:defRPr/>
                </a:pP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El valor</a:t>
                </a:r>
                <a:r>
                  <a:rPr kumimoji="0" lang="es-MX" sz="1800" b="0"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crítico </a:t>
                </a:r>
                <a14:m>
                  <m:oMath xmlns:m="http://schemas.openxmlformats.org/officeDocument/2006/math">
                    <m:sSub>
                      <m:sSubPr>
                        <m:ctrlP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sSubPr>
                      <m:e>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𝑧</m:t>
                        </m:r>
                      </m:e>
                      <m:sub>
                        <m:f>
                          <m:fPr>
                            <m:type m:val="skw"/>
                            <m:ctrlP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fPr>
                          <m:num>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𝛼</m:t>
                            </m:r>
                          </m:num>
                          <m:den>
                            <m:r>
                              <a:rPr kumimoji="0" lang="es-MX" sz="1800" b="0" i="1" u="none" strike="noStrike" kern="1200" cap="none" spc="0" normalizeH="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2</m:t>
                            </m:r>
                          </m:den>
                        </m:f>
                      </m:sub>
                    </m:sSub>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es un número tal que la probabilidad acumulada desde la cola superior de la distribución normal estándar es </a:t>
                </a:r>
                <a14:m>
                  <m:oMath xmlns:m="http://schemas.openxmlformats.org/officeDocument/2006/math">
                    <m:f>
                      <m:fPr>
                        <m:type m:val="skw"/>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fPr>
                      <m:num>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𝛼</m:t>
                        </m:r>
                      </m:num>
                      <m:den>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2</m:t>
                        </m:r>
                      </m:den>
                    </m:f>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p:txBody>
          </p:sp>
        </mc:Choice>
        <mc:Fallback xmlns="">
          <p:sp>
            <p:nvSpPr>
              <p:cNvPr id="22" name="CuadroTexto 21">
                <a:extLst>
                  <a:ext uri="{FF2B5EF4-FFF2-40B4-BE49-F238E27FC236}">
                    <a16:creationId xmlns:a16="http://schemas.microsoft.com/office/drawing/2014/main" id="{AA72C99B-0957-0733-0F26-1F6954983BBA}"/>
                  </a:ext>
                </a:extLst>
              </p:cNvPr>
              <p:cNvSpPr txBox="1">
                <a:spLocks noRot="1" noChangeAspect="1" noMove="1" noResize="1" noEditPoints="1" noAdjustHandles="1" noChangeArrowheads="1" noChangeShapeType="1" noTextEdit="1"/>
              </p:cNvSpPr>
              <p:nvPr/>
            </p:nvSpPr>
            <p:spPr>
              <a:xfrm>
                <a:off x="6096000" y="1269683"/>
                <a:ext cx="5031686" cy="987963"/>
              </a:xfrm>
              <a:prstGeom prst="rect">
                <a:avLst/>
              </a:prstGeom>
              <a:blipFill>
                <a:blip r:embed="rId6"/>
                <a:stretch>
                  <a:fillRect l="-846" t="-17683" r="-846" b="-62805"/>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B7DE5075-9679-D276-AB4B-63039007D245}"/>
                  </a:ext>
                </a:extLst>
              </p:cNvPr>
              <p:cNvSpPr txBox="1"/>
              <p:nvPr/>
            </p:nvSpPr>
            <p:spPr>
              <a:xfrm>
                <a:off x="7695534" y="2340913"/>
                <a:ext cx="1829475" cy="4725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solidFill>
                            <a:schemeClr val="bg1"/>
                          </a:solidFill>
                          <a:latin typeface="Cambria Math" panose="02040503050406030204" pitchFamily="18" charset="0"/>
                        </a:rPr>
                        <m:t>𝑃</m:t>
                      </m:r>
                      <m:d>
                        <m:dPr>
                          <m:ctrlPr>
                            <a:rPr lang="es-MX" b="0" i="1" smtClean="0">
                              <a:solidFill>
                                <a:schemeClr val="bg1"/>
                              </a:solidFill>
                              <a:latin typeface="Cambria Math" panose="02040503050406030204" pitchFamily="18" charset="0"/>
                            </a:rPr>
                          </m:ctrlPr>
                        </m:dPr>
                        <m:e>
                          <m:r>
                            <a:rPr lang="es-MX" b="0" i="1" smtClean="0">
                              <a:solidFill>
                                <a:schemeClr val="bg1"/>
                              </a:solidFill>
                              <a:latin typeface="Cambria Math" panose="02040503050406030204" pitchFamily="18" charset="0"/>
                            </a:rPr>
                            <m:t>𝑍</m:t>
                          </m:r>
                          <m:r>
                            <a:rPr lang="es-MX" b="0" i="1" smtClean="0">
                              <a:solidFill>
                                <a:schemeClr val="bg1"/>
                              </a:solidFill>
                              <a:latin typeface="Cambria Math" panose="02040503050406030204" pitchFamily="18" charset="0"/>
                              <a:ea typeface="Cambria Math" panose="02040503050406030204" pitchFamily="18" charset="0"/>
                            </a:rPr>
                            <m:t>≥</m:t>
                          </m:r>
                          <m:sSub>
                            <m:sSubPr>
                              <m:ctrlPr>
                                <a:rPr lang="es-MX" b="0" i="1" smtClean="0">
                                  <a:solidFill>
                                    <a:schemeClr val="bg1"/>
                                  </a:solidFill>
                                  <a:latin typeface="Cambria Math" panose="02040503050406030204" pitchFamily="18" charset="0"/>
                                  <a:ea typeface="Cambria Math" panose="02040503050406030204" pitchFamily="18" charset="0"/>
                                </a:rPr>
                              </m:ctrlPr>
                            </m:sSubPr>
                            <m:e>
                              <m:r>
                                <a:rPr lang="es-MX" b="0" i="1" smtClean="0">
                                  <a:solidFill>
                                    <a:schemeClr val="bg1"/>
                                  </a:solidFill>
                                  <a:latin typeface="Cambria Math" panose="02040503050406030204" pitchFamily="18" charset="0"/>
                                  <a:ea typeface="Cambria Math" panose="02040503050406030204" pitchFamily="18" charset="0"/>
                                </a:rPr>
                                <m:t>𝑧</m:t>
                              </m:r>
                            </m:e>
                            <m:sub>
                              <m:f>
                                <m:fPr>
                                  <m:type m:val="skw"/>
                                  <m:ctrlPr>
                                    <a:rPr lang="es-MX" b="0" i="1" smtClean="0">
                                      <a:solidFill>
                                        <a:schemeClr val="bg1"/>
                                      </a:solidFill>
                                      <a:latin typeface="Cambria Math" panose="02040503050406030204" pitchFamily="18" charset="0"/>
                                      <a:ea typeface="Cambria Math" panose="02040503050406030204" pitchFamily="18" charset="0"/>
                                    </a:rPr>
                                  </m:ctrlPr>
                                </m:fPr>
                                <m:num>
                                  <m:r>
                                    <a:rPr lang="es-MX" b="0" i="1" smtClean="0">
                                      <a:solidFill>
                                        <a:schemeClr val="bg1"/>
                                      </a:solidFill>
                                      <a:latin typeface="Cambria Math" panose="02040503050406030204" pitchFamily="18" charset="0"/>
                                      <a:ea typeface="Cambria Math" panose="02040503050406030204" pitchFamily="18" charset="0"/>
                                    </a:rPr>
                                    <m:t>𝛼</m:t>
                                  </m:r>
                                </m:num>
                                <m:den>
                                  <m:r>
                                    <a:rPr lang="es-MX" b="0" i="1" smtClean="0">
                                      <a:solidFill>
                                        <a:schemeClr val="bg1"/>
                                      </a:solidFill>
                                      <a:latin typeface="Cambria Math" panose="02040503050406030204" pitchFamily="18" charset="0"/>
                                      <a:ea typeface="Cambria Math" panose="02040503050406030204" pitchFamily="18" charset="0"/>
                                    </a:rPr>
                                    <m:t>2</m:t>
                                  </m:r>
                                </m:den>
                              </m:f>
                            </m:sub>
                          </m:sSub>
                        </m:e>
                      </m:d>
                      <m:r>
                        <a:rPr lang="es-MX" b="0" i="1" smtClean="0">
                          <a:solidFill>
                            <a:schemeClr val="bg1"/>
                          </a:solidFill>
                          <a:latin typeface="Cambria Math" panose="02040503050406030204" pitchFamily="18" charset="0"/>
                        </a:rPr>
                        <m:t>=</m:t>
                      </m:r>
                      <m:f>
                        <m:fPr>
                          <m:ctrlPr>
                            <a:rPr lang="es-MX" b="0" i="1" smtClean="0">
                              <a:solidFill>
                                <a:schemeClr val="bg1"/>
                              </a:solidFill>
                              <a:latin typeface="Cambria Math" panose="02040503050406030204" pitchFamily="18" charset="0"/>
                            </a:rPr>
                          </m:ctrlPr>
                        </m:fPr>
                        <m:num>
                          <m:r>
                            <a:rPr lang="es-MX" b="0" i="1" smtClean="0">
                              <a:solidFill>
                                <a:schemeClr val="bg1"/>
                              </a:solidFill>
                              <a:latin typeface="Cambria Math" panose="02040503050406030204" pitchFamily="18" charset="0"/>
                              <a:ea typeface="Cambria Math" panose="02040503050406030204" pitchFamily="18" charset="0"/>
                            </a:rPr>
                            <m:t>𝛼</m:t>
                          </m:r>
                        </m:num>
                        <m:den>
                          <m:r>
                            <a:rPr lang="es-MX" b="0" i="1" smtClean="0">
                              <a:solidFill>
                                <a:schemeClr val="bg1"/>
                              </a:solidFill>
                              <a:latin typeface="Cambria Math" panose="02040503050406030204" pitchFamily="18" charset="0"/>
                            </a:rPr>
                            <m:t>2</m:t>
                          </m:r>
                        </m:den>
                      </m:f>
                    </m:oMath>
                  </m:oMathPara>
                </a14:m>
                <a:endParaRPr lang="es-MX" dirty="0"/>
              </a:p>
            </p:txBody>
          </p:sp>
        </mc:Choice>
        <mc:Fallback xmlns="">
          <p:sp>
            <p:nvSpPr>
              <p:cNvPr id="23" name="CuadroTexto 22">
                <a:extLst>
                  <a:ext uri="{FF2B5EF4-FFF2-40B4-BE49-F238E27FC236}">
                    <a16:creationId xmlns:a16="http://schemas.microsoft.com/office/drawing/2014/main" id="{B7DE5075-9679-D276-AB4B-63039007D245}"/>
                  </a:ext>
                </a:extLst>
              </p:cNvPr>
              <p:cNvSpPr txBox="1">
                <a:spLocks noRot="1" noChangeAspect="1" noMove="1" noResize="1" noEditPoints="1" noAdjustHandles="1" noChangeArrowheads="1" noChangeShapeType="1" noTextEdit="1"/>
              </p:cNvSpPr>
              <p:nvPr/>
            </p:nvSpPr>
            <p:spPr>
              <a:xfrm>
                <a:off x="7695534" y="2340913"/>
                <a:ext cx="1829475" cy="472502"/>
              </a:xfrm>
              <a:prstGeom prst="rect">
                <a:avLst/>
              </a:prstGeom>
              <a:blipFill>
                <a:blip r:embed="rId7"/>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29E13668-48E9-C6C1-B6EB-16F4BE9A103F}"/>
                  </a:ext>
                </a:extLst>
              </p:cNvPr>
              <p:cNvSpPr txBox="1"/>
              <p:nvPr/>
            </p:nvSpPr>
            <p:spPr>
              <a:xfrm>
                <a:off x="7088476" y="2897336"/>
                <a:ext cx="3043590" cy="4145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solidFill>
                            <a:schemeClr val="bg1"/>
                          </a:solidFill>
                          <a:latin typeface="Cambria Math" panose="02040503050406030204" pitchFamily="18" charset="0"/>
                        </a:rPr>
                        <m:t>𝑃</m:t>
                      </m:r>
                      <m:d>
                        <m:dPr>
                          <m:ctrlPr>
                            <a:rPr lang="es-MX" b="0" i="1" smtClean="0">
                              <a:solidFill>
                                <a:schemeClr val="bg1"/>
                              </a:solidFill>
                              <a:latin typeface="Cambria Math" panose="02040503050406030204" pitchFamily="18" charset="0"/>
                            </a:rPr>
                          </m:ctrlPr>
                        </m:dPr>
                        <m:e>
                          <m:r>
                            <a:rPr lang="es-MX" b="0" i="1" smtClean="0">
                              <a:solidFill>
                                <a:schemeClr val="bg1"/>
                              </a:solidFill>
                              <a:latin typeface="Cambria Math" panose="02040503050406030204" pitchFamily="18" charset="0"/>
                            </a:rPr>
                            <m:t>−</m:t>
                          </m:r>
                          <m:sSub>
                            <m:sSubPr>
                              <m:ctrlPr>
                                <a:rPr lang="es-MX" i="1">
                                  <a:solidFill>
                                    <a:schemeClr val="bg1"/>
                                  </a:solidFill>
                                  <a:latin typeface="Cambria Math" panose="02040503050406030204" pitchFamily="18" charset="0"/>
                                  <a:ea typeface="Cambria Math" panose="02040503050406030204" pitchFamily="18" charset="0"/>
                                </a:rPr>
                              </m:ctrlPr>
                            </m:sSubPr>
                            <m:e>
                              <m:r>
                                <a:rPr lang="es-MX" i="1">
                                  <a:solidFill>
                                    <a:schemeClr val="bg1"/>
                                  </a:solidFill>
                                  <a:latin typeface="Cambria Math" panose="02040503050406030204" pitchFamily="18" charset="0"/>
                                  <a:ea typeface="Cambria Math" panose="02040503050406030204" pitchFamily="18" charset="0"/>
                                </a:rPr>
                                <m:t>𝑧</m:t>
                              </m:r>
                            </m:e>
                            <m:sub>
                              <m:f>
                                <m:fPr>
                                  <m:type m:val="skw"/>
                                  <m:ctrlPr>
                                    <a:rPr lang="es-MX" i="1">
                                      <a:solidFill>
                                        <a:schemeClr val="bg1"/>
                                      </a:solidFill>
                                      <a:latin typeface="Cambria Math" panose="02040503050406030204" pitchFamily="18" charset="0"/>
                                      <a:ea typeface="Cambria Math" panose="02040503050406030204" pitchFamily="18" charset="0"/>
                                    </a:rPr>
                                  </m:ctrlPr>
                                </m:fPr>
                                <m:num>
                                  <m:r>
                                    <a:rPr lang="es-MX" i="1">
                                      <a:solidFill>
                                        <a:schemeClr val="bg1"/>
                                      </a:solidFill>
                                      <a:latin typeface="Cambria Math" panose="02040503050406030204" pitchFamily="18" charset="0"/>
                                      <a:ea typeface="Cambria Math" panose="02040503050406030204" pitchFamily="18" charset="0"/>
                                    </a:rPr>
                                    <m:t>𝛼</m:t>
                                  </m:r>
                                </m:num>
                                <m:den>
                                  <m:r>
                                    <a:rPr lang="es-MX" i="1">
                                      <a:solidFill>
                                        <a:schemeClr val="bg1"/>
                                      </a:solidFill>
                                      <a:latin typeface="Cambria Math" panose="02040503050406030204" pitchFamily="18" charset="0"/>
                                      <a:ea typeface="Cambria Math" panose="02040503050406030204" pitchFamily="18" charset="0"/>
                                    </a:rPr>
                                    <m:t>2</m:t>
                                  </m:r>
                                </m:den>
                              </m:f>
                            </m:sub>
                          </m:sSub>
                          <m:r>
                            <a:rPr lang="es-MX" b="0" i="1" smtClean="0">
                              <a:solidFill>
                                <a:schemeClr val="bg1"/>
                              </a:solidFill>
                              <a:latin typeface="Cambria Math" panose="02040503050406030204" pitchFamily="18" charset="0"/>
                              <a:ea typeface="Cambria Math" panose="02040503050406030204" pitchFamily="18" charset="0"/>
                            </a:rPr>
                            <m:t>≤</m:t>
                          </m:r>
                          <m:r>
                            <a:rPr lang="es-MX" b="0" i="1" smtClean="0">
                              <a:solidFill>
                                <a:schemeClr val="bg1"/>
                              </a:solidFill>
                              <a:latin typeface="Cambria Math" panose="02040503050406030204" pitchFamily="18" charset="0"/>
                            </a:rPr>
                            <m:t>𝑍</m:t>
                          </m:r>
                          <m:r>
                            <a:rPr lang="es-MX" i="1">
                              <a:solidFill>
                                <a:schemeClr val="bg1"/>
                              </a:solidFill>
                              <a:latin typeface="Cambria Math" panose="02040503050406030204" pitchFamily="18" charset="0"/>
                              <a:ea typeface="Cambria Math" panose="02040503050406030204" pitchFamily="18" charset="0"/>
                            </a:rPr>
                            <m:t>≤</m:t>
                          </m:r>
                          <m:sSub>
                            <m:sSubPr>
                              <m:ctrlPr>
                                <a:rPr lang="es-MX" b="0" i="1" smtClean="0">
                                  <a:solidFill>
                                    <a:schemeClr val="bg1"/>
                                  </a:solidFill>
                                  <a:latin typeface="Cambria Math" panose="02040503050406030204" pitchFamily="18" charset="0"/>
                                  <a:ea typeface="Cambria Math" panose="02040503050406030204" pitchFamily="18" charset="0"/>
                                </a:rPr>
                              </m:ctrlPr>
                            </m:sSubPr>
                            <m:e>
                              <m:r>
                                <a:rPr lang="es-MX" b="0" i="1" smtClean="0">
                                  <a:solidFill>
                                    <a:schemeClr val="bg1"/>
                                  </a:solidFill>
                                  <a:latin typeface="Cambria Math" panose="02040503050406030204" pitchFamily="18" charset="0"/>
                                  <a:ea typeface="Cambria Math" panose="02040503050406030204" pitchFamily="18" charset="0"/>
                                </a:rPr>
                                <m:t>𝑧</m:t>
                              </m:r>
                            </m:e>
                            <m:sub>
                              <m:f>
                                <m:fPr>
                                  <m:type m:val="skw"/>
                                  <m:ctrlPr>
                                    <a:rPr lang="es-MX" b="0" i="1" smtClean="0">
                                      <a:solidFill>
                                        <a:schemeClr val="bg1"/>
                                      </a:solidFill>
                                      <a:latin typeface="Cambria Math" panose="02040503050406030204" pitchFamily="18" charset="0"/>
                                      <a:ea typeface="Cambria Math" panose="02040503050406030204" pitchFamily="18" charset="0"/>
                                    </a:rPr>
                                  </m:ctrlPr>
                                </m:fPr>
                                <m:num>
                                  <m:r>
                                    <a:rPr lang="es-MX" b="0" i="1" smtClean="0">
                                      <a:solidFill>
                                        <a:schemeClr val="bg1"/>
                                      </a:solidFill>
                                      <a:latin typeface="Cambria Math" panose="02040503050406030204" pitchFamily="18" charset="0"/>
                                      <a:ea typeface="Cambria Math" panose="02040503050406030204" pitchFamily="18" charset="0"/>
                                    </a:rPr>
                                    <m:t>𝛼</m:t>
                                  </m:r>
                                </m:num>
                                <m:den>
                                  <m:r>
                                    <a:rPr lang="es-MX" b="0" i="1" smtClean="0">
                                      <a:solidFill>
                                        <a:schemeClr val="bg1"/>
                                      </a:solidFill>
                                      <a:latin typeface="Cambria Math" panose="02040503050406030204" pitchFamily="18" charset="0"/>
                                      <a:ea typeface="Cambria Math" panose="02040503050406030204" pitchFamily="18" charset="0"/>
                                    </a:rPr>
                                    <m:t>2</m:t>
                                  </m:r>
                                </m:den>
                              </m:f>
                            </m:sub>
                          </m:sSub>
                        </m:e>
                      </m:d>
                      <m:r>
                        <a:rPr lang="es-MX" b="0" i="1" smtClean="0">
                          <a:solidFill>
                            <a:schemeClr val="bg1"/>
                          </a:solidFill>
                          <a:latin typeface="Cambria Math" panose="02040503050406030204" pitchFamily="18" charset="0"/>
                        </a:rPr>
                        <m:t>=1−</m:t>
                      </m:r>
                      <m:r>
                        <a:rPr lang="es-MX" b="0" i="1" smtClean="0">
                          <a:solidFill>
                            <a:schemeClr val="bg1"/>
                          </a:solidFill>
                          <a:latin typeface="Cambria Math" panose="02040503050406030204" pitchFamily="18" charset="0"/>
                          <a:ea typeface="Cambria Math" panose="02040503050406030204" pitchFamily="18" charset="0"/>
                        </a:rPr>
                        <m:t>𝛼</m:t>
                      </m:r>
                    </m:oMath>
                  </m:oMathPara>
                </a14:m>
                <a:endParaRPr lang="es-MX" dirty="0"/>
              </a:p>
            </p:txBody>
          </p:sp>
        </mc:Choice>
        <mc:Fallback xmlns="">
          <p:sp>
            <p:nvSpPr>
              <p:cNvPr id="24" name="CuadroTexto 23">
                <a:extLst>
                  <a:ext uri="{FF2B5EF4-FFF2-40B4-BE49-F238E27FC236}">
                    <a16:creationId xmlns:a16="http://schemas.microsoft.com/office/drawing/2014/main" id="{29E13668-48E9-C6C1-B6EB-16F4BE9A103F}"/>
                  </a:ext>
                </a:extLst>
              </p:cNvPr>
              <p:cNvSpPr txBox="1">
                <a:spLocks noRot="1" noChangeAspect="1" noMove="1" noResize="1" noEditPoints="1" noAdjustHandles="1" noChangeArrowheads="1" noChangeShapeType="1" noTextEdit="1"/>
              </p:cNvSpPr>
              <p:nvPr/>
            </p:nvSpPr>
            <p:spPr>
              <a:xfrm>
                <a:off x="7088476" y="2897336"/>
                <a:ext cx="3043590" cy="414537"/>
              </a:xfrm>
              <a:prstGeom prst="rect">
                <a:avLst/>
              </a:prstGeom>
              <a:blipFill>
                <a:blip r:embed="rId8"/>
                <a:stretch>
                  <a:fillRect l="-1403" t="-67647" r="-601" b="-163235"/>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6F9BA01F-E3AE-4802-B718-3E5F783178C3}"/>
                  </a:ext>
                </a:extLst>
              </p:cNvPr>
              <p:cNvSpPr txBox="1"/>
              <p:nvPr/>
            </p:nvSpPr>
            <p:spPr>
              <a:xfrm>
                <a:off x="6096000" y="3410437"/>
                <a:ext cx="5031686" cy="923330"/>
              </a:xfrm>
              <a:prstGeom prst="rect">
                <a:avLst/>
              </a:prstGeom>
              <a:noFill/>
              <a:ln>
                <a:solidFill>
                  <a:schemeClr val="tx1">
                    <a:lumMod val="85000"/>
                  </a:schemeClr>
                </a:solidFill>
              </a:ln>
            </p:spPr>
            <p:txBody>
              <a:bodyPr wrap="square" rtlCol="0">
                <a:spAutoFit/>
              </a:bodyPr>
              <a:lstStyle/>
              <a:p>
                <a:pPr lvl="0" algn="just">
                  <a:defRPr/>
                </a:pP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Se desea encontrar un intervalo alrededor de la media muestral </a:t>
                </a:r>
                <a14:m>
                  <m:oMath xmlns:m="http://schemas.openxmlformats.org/officeDocument/2006/math">
                    <m:acc>
                      <m:accPr>
                        <m:chr m:val="̅"/>
                        <m:ctrlPr>
                          <a:rPr lang="es-MX" i="1">
                            <a:solidFill>
                              <a:prstClr val="black"/>
                            </a:solidFill>
                            <a:latin typeface="Cambria Math" panose="02040503050406030204" pitchFamily="18" charset="0"/>
                            <a:cs typeface="Times New Roman" panose="02020603050405020304" pitchFamily="18" charset="0"/>
                          </a:rPr>
                        </m:ctrlPr>
                      </m:accPr>
                      <m:e>
                        <m:r>
                          <a:rPr lang="es-MX" i="1">
                            <a:solidFill>
                              <a:prstClr val="black"/>
                            </a:solidFill>
                            <a:latin typeface="Cambria Math" panose="02040503050406030204" pitchFamily="18" charset="0"/>
                            <a:cs typeface="Times New Roman" panose="02020603050405020304" pitchFamily="18" charset="0"/>
                          </a:rPr>
                          <m:t>𝑋</m:t>
                        </m:r>
                      </m:e>
                    </m:acc>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que</a:t>
                </a:r>
                <a:r>
                  <a:rPr kumimoji="0" lang="es-MX" sz="1800" b="0"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contenga la verdadera media poblacional </a:t>
                </a:r>
                <a14:m>
                  <m:oMath xmlns:m="http://schemas.openxmlformats.org/officeDocument/2006/math">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con una probabilidad de </a:t>
                </a:r>
                <a14:m>
                  <m:oMath xmlns:m="http://schemas.openxmlformats.org/officeDocument/2006/math">
                    <m:r>
                      <a:rPr lang="es-MX" i="1">
                        <a:solidFill>
                          <a:schemeClr val="bg1"/>
                        </a:solidFill>
                        <a:latin typeface="Cambria Math" panose="02040503050406030204" pitchFamily="18" charset="0"/>
                      </a:rPr>
                      <m:t>1−</m:t>
                    </m:r>
                    <m:r>
                      <a:rPr lang="es-MX" i="1">
                        <a:solidFill>
                          <a:schemeClr val="bg1"/>
                        </a:solidFill>
                        <a:latin typeface="Cambria Math" panose="02040503050406030204" pitchFamily="18" charset="0"/>
                        <a:ea typeface="Cambria Math" panose="02040503050406030204" pitchFamily="18" charset="0"/>
                      </a:rPr>
                      <m:t>𝛼</m:t>
                    </m:r>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p:txBody>
          </p:sp>
        </mc:Choice>
        <mc:Fallback xmlns="">
          <p:sp>
            <p:nvSpPr>
              <p:cNvPr id="25" name="CuadroTexto 24">
                <a:extLst>
                  <a:ext uri="{FF2B5EF4-FFF2-40B4-BE49-F238E27FC236}">
                    <a16:creationId xmlns:a16="http://schemas.microsoft.com/office/drawing/2014/main" id="{6F9BA01F-E3AE-4802-B718-3E5F783178C3}"/>
                  </a:ext>
                </a:extLst>
              </p:cNvPr>
              <p:cNvSpPr txBox="1">
                <a:spLocks noRot="1" noChangeAspect="1" noMove="1" noResize="1" noEditPoints="1" noAdjustHandles="1" noChangeArrowheads="1" noChangeShapeType="1" noTextEdit="1"/>
              </p:cNvSpPr>
              <p:nvPr/>
            </p:nvSpPr>
            <p:spPr>
              <a:xfrm>
                <a:off x="6096000" y="3410437"/>
                <a:ext cx="5031686" cy="923330"/>
              </a:xfrm>
              <a:prstGeom prst="rect">
                <a:avLst/>
              </a:prstGeom>
              <a:blipFill>
                <a:blip r:embed="rId9"/>
                <a:stretch>
                  <a:fillRect l="-846" t="-2597" r="-846" b="-8442"/>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A4B49542-C5A8-31AA-187B-C5DA56442929}"/>
                  </a:ext>
                </a:extLst>
              </p:cNvPr>
              <p:cNvSpPr txBox="1"/>
              <p:nvPr/>
            </p:nvSpPr>
            <p:spPr>
              <a:xfrm>
                <a:off x="7288208" y="4495509"/>
                <a:ext cx="2644121" cy="82464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b="0" i="1" smtClean="0">
                          <a:solidFill>
                            <a:schemeClr val="bg1"/>
                          </a:solidFill>
                          <a:latin typeface="Cambria Math" panose="02040503050406030204" pitchFamily="18" charset="0"/>
                        </a:rPr>
                        <m:t>−</m:t>
                      </m:r>
                      <m:sSub>
                        <m:sSubPr>
                          <m:ctrlPr>
                            <a:rPr lang="es-MX" i="1">
                              <a:solidFill>
                                <a:schemeClr val="bg1"/>
                              </a:solidFill>
                              <a:latin typeface="Cambria Math" panose="02040503050406030204" pitchFamily="18" charset="0"/>
                              <a:ea typeface="Cambria Math" panose="02040503050406030204" pitchFamily="18" charset="0"/>
                            </a:rPr>
                          </m:ctrlPr>
                        </m:sSubPr>
                        <m:e>
                          <m:r>
                            <a:rPr lang="es-MX" i="1">
                              <a:solidFill>
                                <a:schemeClr val="bg1"/>
                              </a:solidFill>
                              <a:latin typeface="Cambria Math" panose="02040503050406030204" pitchFamily="18" charset="0"/>
                              <a:ea typeface="Cambria Math" panose="02040503050406030204" pitchFamily="18" charset="0"/>
                            </a:rPr>
                            <m:t>𝑧</m:t>
                          </m:r>
                        </m:e>
                        <m:sub>
                          <m:f>
                            <m:fPr>
                              <m:type m:val="skw"/>
                              <m:ctrlPr>
                                <a:rPr lang="es-MX" i="1">
                                  <a:solidFill>
                                    <a:schemeClr val="bg1"/>
                                  </a:solidFill>
                                  <a:latin typeface="Cambria Math" panose="02040503050406030204" pitchFamily="18" charset="0"/>
                                  <a:ea typeface="Cambria Math" panose="02040503050406030204" pitchFamily="18" charset="0"/>
                                </a:rPr>
                              </m:ctrlPr>
                            </m:fPr>
                            <m:num>
                              <m:r>
                                <a:rPr lang="es-MX" i="1">
                                  <a:solidFill>
                                    <a:schemeClr val="bg1"/>
                                  </a:solidFill>
                                  <a:latin typeface="Cambria Math" panose="02040503050406030204" pitchFamily="18" charset="0"/>
                                  <a:ea typeface="Cambria Math" panose="02040503050406030204" pitchFamily="18" charset="0"/>
                                </a:rPr>
                                <m:t>𝛼</m:t>
                              </m:r>
                            </m:num>
                            <m:den>
                              <m:r>
                                <a:rPr lang="es-MX" i="1">
                                  <a:solidFill>
                                    <a:schemeClr val="bg1"/>
                                  </a:solidFill>
                                  <a:latin typeface="Cambria Math" panose="02040503050406030204" pitchFamily="18" charset="0"/>
                                  <a:ea typeface="Cambria Math" panose="02040503050406030204" pitchFamily="18" charset="0"/>
                                </a:rPr>
                                <m:t>2</m:t>
                              </m:r>
                            </m:den>
                          </m:f>
                        </m:sub>
                      </m:sSub>
                      <m:r>
                        <a:rPr lang="es-MX" b="0" i="1" smtClean="0">
                          <a:solidFill>
                            <a:schemeClr val="bg1"/>
                          </a:solidFill>
                          <a:latin typeface="Cambria Math" panose="02040503050406030204" pitchFamily="18" charset="0"/>
                          <a:ea typeface="Cambria Math" panose="02040503050406030204" pitchFamily="18" charset="0"/>
                        </a:rPr>
                        <m:t>≤</m:t>
                      </m:r>
                      <m:f>
                        <m:fPr>
                          <m:ctrlPr>
                            <a:rPr lang="es-MX" i="1">
                              <a:solidFill>
                                <a:schemeClr val="bg1"/>
                              </a:solidFill>
                              <a:latin typeface="Cambria Math" panose="02040503050406030204" pitchFamily="18" charset="0"/>
                            </a:rPr>
                          </m:ctrlPr>
                        </m:fPr>
                        <m:num>
                          <m:acc>
                            <m:accPr>
                              <m:chr m:val="̅"/>
                              <m:ctrlPr>
                                <a:rPr lang="es-MX" i="1">
                                  <a:solidFill>
                                    <a:prstClr val="black"/>
                                  </a:solidFill>
                                  <a:latin typeface="Cambria Math" panose="02040503050406030204" pitchFamily="18" charset="0"/>
                                  <a:cs typeface="Times New Roman" panose="02020603050405020304" pitchFamily="18" charset="0"/>
                                </a:rPr>
                              </m:ctrlPr>
                            </m:accPr>
                            <m:e>
                              <m:r>
                                <a:rPr lang="es-MX" i="1">
                                  <a:solidFill>
                                    <a:prstClr val="black"/>
                                  </a:solidFill>
                                  <a:latin typeface="Cambria Math" panose="02040503050406030204" pitchFamily="18" charset="0"/>
                                  <a:cs typeface="Times New Roman" panose="02020603050405020304" pitchFamily="18" charset="0"/>
                                </a:rPr>
                                <m:t>𝑋</m:t>
                              </m:r>
                            </m:e>
                          </m:acc>
                          <m:r>
                            <a:rPr lang="es-MX" i="1">
                              <a:solidFill>
                                <a:prstClr val="black"/>
                              </a:solidFill>
                              <a:latin typeface="Cambria Math" panose="02040503050406030204" pitchFamily="18" charset="0"/>
                              <a:cs typeface="Times New Roman" panose="02020603050405020304" pitchFamily="18" charset="0"/>
                            </a:rPr>
                            <m:t>−</m:t>
                          </m:r>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num>
                        <m:den>
                          <m:f>
                            <m:fPr>
                              <m:type m:val="skw"/>
                              <m:ctrlPr>
                                <a:rPr lang="es-MX" i="1">
                                  <a:solidFill>
                                    <a:schemeClr val="bg1"/>
                                  </a:solidFill>
                                  <a:latin typeface="Cambria Math" panose="02040503050406030204" pitchFamily="18" charset="0"/>
                                </a:rPr>
                              </m:ctrlPr>
                            </m:fPr>
                            <m:num>
                              <m:r>
                                <a:rPr lang="es-MX" i="1">
                                  <a:solidFill>
                                    <a:schemeClr val="bg1"/>
                                  </a:solidFill>
                                  <a:latin typeface="Cambria Math" panose="02040503050406030204" pitchFamily="18" charset="0"/>
                                  <a:ea typeface="Cambria Math" panose="02040503050406030204" pitchFamily="18" charset="0"/>
                                </a:rPr>
                                <m:t>𝜎</m:t>
                              </m:r>
                            </m:num>
                            <m:den>
                              <m:rad>
                                <m:radPr>
                                  <m:degHide m:val="on"/>
                                  <m:ctrlPr>
                                    <a:rPr lang="es-MX" i="1">
                                      <a:solidFill>
                                        <a:schemeClr val="bg1"/>
                                      </a:solidFill>
                                      <a:latin typeface="Cambria Math" panose="02040503050406030204" pitchFamily="18" charset="0"/>
                                    </a:rPr>
                                  </m:ctrlPr>
                                </m:radPr>
                                <m:deg/>
                                <m:e>
                                  <m:r>
                                    <a:rPr lang="es-MX" i="1">
                                      <a:solidFill>
                                        <a:schemeClr val="bg1"/>
                                      </a:solidFill>
                                      <a:latin typeface="Cambria Math" panose="02040503050406030204" pitchFamily="18" charset="0"/>
                                    </a:rPr>
                                    <m:t>𝑛</m:t>
                                  </m:r>
                                </m:e>
                              </m:rad>
                            </m:den>
                          </m:f>
                        </m:den>
                      </m:f>
                      <m:r>
                        <a:rPr lang="es-MX" i="1">
                          <a:solidFill>
                            <a:schemeClr val="bg1"/>
                          </a:solidFill>
                          <a:latin typeface="Cambria Math" panose="02040503050406030204" pitchFamily="18" charset="0"/>
                          <a:ea typeface="Cambria Math" panose="02040503050406030204" pitchFamily="18" charset="0"/>
                        </a:rPr>
                        <m:t>≤</m:t>
                      </m:r>
                      <m:sSub>
                        <m:sSubPr>
                          <m:ctrlPr>
                            <a:rPr lang="es-MX" b="0" i="1" smtClean="0">
                              <a:solidFill>
                                <a:schemeClr val="bg1"/>
                              </a:solidFill>
                              <a:latin typeface="Cambria Math" panose="02040503050406030204" pitchFamily="18" charset="0"/>
                              <a:ea typeface="Cambria Math" panose="02040503050406030204" pitchFamily="18" charset="0"/>
                            </a:rPr>
                          </m:ctrlPr>
                        </m:sSubPr>
                        <m:e>
                          <m:r>
                            <a:rPr lang="es-MX" b="0" i="1" smtClean="0">
                              <a:solidFill>
                                <a:schemeClr val="bg1"/>
                              </a:solidFill>
                              <a:latin typeface="Cambria Math" panose="02040503050406030204" pitchFamily="18" charset="0"/>
                              <a:ea typeface="Cambria Math" panose="02040503050406030204" pitchFamily="18" charset="0"/>
                            </a:rPr>
                            <m:t>𝑧</m:t>
                          </m:r>
                        </m:e>
                        <m:sub>
                          <m:f>
                            <m:fPr>
                              <m:type m:val="skw"/>
                              <m:ctrlPr>
                                <a:rPr lang="es-MX" b="0" i="1" smtClean="0">
                                  <a:solidFill>
                                    <a:schemeClr val="bg1"/>
                                  </a:solidFill>
                                  <a:latin typeface="Cambria Math" panose="02040503050406030204" pitchFamily="18" charset="0"/>
                                  <a:ea typeface="Cambria Math" panose="02040503050406030204" pitchFamily="18" charset="0"/>
                                </a:rPr>
                              </m:ctrlPr>
                            </m:fPr>
                            <m:num>
                              <m:r>
                                <a:rPr lang="es-MX" b="0" i="1" smtClean="0">
                                  <a:solidFill>
                                    <a:schemeClr val="bg1"/>
                                  </a:solidFill>
                                  <a:latin typeface="Cambria Math" panose="02040503050406030204" pitchFamily="18" charset="0"/>
                                  <a:ea typeface="Cambria Math" panose="02040503050406030204" pitchFamily="18" charset="0"/>
                                </a:rPr>
                                <m:t>𝛼</m:t>
                              </m:r>
                            </m:num>
                            <m:den>
                              <m:r>
                                <a:rPr lang="es-MX" b="0" i="1" smtClean="0">
                                  <a:solidFill>
                                    <a:schemeClr val="bg1"/>
                                  </a:solidFill>
                                  <a:latin typeface="Cambria Math" panose="02040503050406030204" pitchFamily="18" charset="0"/>
                                  <a:ea typeface="Cambria Math" panose="02040503050406030204" pitchFamily="18" charset="0"/>
                                </a:rPr>
                                <m:t>2</m:t>
                              </m:r>
                            </m:den>
                          </m:f>
                        </m:sub>
                      </m:sSub>
                    </m:oMath>
                  </m:oMathPara>
                </a14:m>
                <a:endParaRPr lang="es-MX" dirty="0"/>
              </a:p>
            </p:txBody>
          </p:sp>
        </mc:Choice>
        <mc:Fallback xmlns="">
          <p:sp>
            <p:nvSpPr>
              <p:cNvPr id="27" name="CuadroTexto 26">
                <a:extLst>
                  <a:ext uri="{FF2B5EF4-FFF2-40B4-BE49-F238E27FC236}">
                    <a16:creationId xmlns:a16="http://schemas.microsoft.com/office/drawing/2014/main" id="{A4B49542-C5A8-31AA-187B-C5DA56442929}"/>
                  </a:ext>
                </a:extLst>
              </p:cNvPr>
              <p:cNvSpPr txBox="1">
                <a:spLocks noRot="1" noChangeAspect="1" noMove="1" noResize="1" noEditPoints="1" noAdjustHandles="1" noChangeArrowheads="1" noChangeShapeType="1" noTextEdit="1"/>
              </p:cNvSpPr>
              <p:nvPr/>
            </p:nvSpPr>
            <p:spPr>
              <a:xfrm>
                <a:off x="7288208" y="4495509"/>
                <a:ext cx="2644121" cy="824649"/>
              </a:xfrm>
              <a:prstGeom prst="rect">
                <a:avLst/>
              </a:prstGeom>
              <a:blipFill>
                <a:blip r:embed="rId10"/>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A3755103-939F-79E0-EEC8-A1C098E5378E}"/>
                  </a:ext>
                </a:extLst>
              </p:cNvPr>
              <p:cNvSpPr txBox="1"/>
              <p:nvPr/>
            </p:nvSpPr>
            <p:spPr>
              <a:xfrm>
                <a:off x="6972691" y="5330224"/>
                <a:ext cx="3275157" cy="6166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MX" b="0" i="1" smtClean="0">
                          <a:solidFill>
                            <a:schemeClr val="bg1"/>
                          </a:solidFill>
                          <a:latin typeface="Cambria Math" panose="02040503050406030204" pitchFamily="18" charset="0"/>
                        </a:rPr>
                        <m:t>−</m:t>
                      </m:r>
                      <m:sSub>
                        <m:sSubPr>
                          <m:ctrlPr>
                            <a:rPr lang="es-MX" i="1">
                              <a:solidFill>
                                <a:schemeClr val="bg1"/>
                              </a:solidFill>
                              <a:latin typeface="Cambria Math" panose="02040503050406030204" pitchFamily="18" charset="0"/>
                              <a:ea typeface="Cambria Math" panose="02040503050406030204" pitchFamily="18" charset="0"/>
                            </a:rPr>
                          </m:ctrlPr>
                        </m:sSubPr>
                        <m:e>
                          <m:r>
                            <a:rPr lang="es-MX" i="1">
                              <a:solidFill>
                                <a:schemeClr val="bg1"/>
                              </a:solidFill>
                              <a:latin typeface="Cambria Math" panose="02040503050406030204" pitchFamily="18" charset="0"/>
                              <a:ea typeface="Cambria Math" panose="02040503050406030204" pitchFamily="18" charset="0"/>
                            </a:rPr>
                            <m:t>𝑧</m:t>
                          </m:r>
                        </m:e>
                        <m:sub>
                          <m:f>
                            <m:fPr>
                              <m:type m:val="skw"/>
                              <m:ctrlPr>
                                <a:rPr lang="es-MX" i="1">
                                  <a:solidFill>
                                    <a:schemeClr val="bg1"/>
                                  </a:solidFill>
                                  <a:latin typeface="Cambria Math" panose="02040503050406030204" pitchFamily="18" charset="0"/>
                                  <a:ea typeface="Cambria Math" panose="02040503050406030204" pitchFamily="18" charset="0"/>
                                </a:rPr>
                              </m:ctrlPr>
                            </m:fPr>
                            <m:num>
                              <m:r>
                                <a:rPr lang="es-MX" i="1">
                                  <a:solidFill>
                                    <a:schemeClr val="bg1"/>
                                  </a:solidFill>
                                  <a:latin typeface="Cambria Math" panose="02040503050406030204" pitchFamily="18" charset="0"/>
                                  <a:ea typeface="Cambria Math" panose="02040503050406030204" pitchFamily="18" charset="0"/>
                                </a:rPr>
                                <m:t>𝛼</m:t>
                              </m:r>
                            </m:num>
                            <m:den>
                              <m:r>
                                <a:rPr lang="es-MX" i="1">
                                  <a:solidFill>
                                    <a:schemeClr val="bg1"/>
                                  </a:solidFill>
                                  <a:latin typeface="Cambria Math" panose="02040503050406030204" pitchFamily="18" charset="0"/>
                                  <a:ea typeface="Cambria Math" panose="02040503050406030204" pitchFamily="18" charset="0"/>
                                </a:rPr>
                                <m:t>2</m:t>
                              </m:r>
                            </m:den>
                          </m:f>
                        </m:sub>
                      </m:sSub>
                      <m:r>
                        <a:rPr lang="es-MX" i="1">
                          <a:solidFill>
                            <a:schemeClr val="bg1"/>
                          </a:solidFill>
                          <a:latin typeface="Cambria Math" panose="02040503050406030204" pitchFamily="18" charset="0"/>
                          <a:ea typeface="Cambria Math" panose="02040503050406030204" pitchFamily="18" charset="0"/>
                        </a:rPr>
                        <m:t>∙</m:t>
                      </m:r>
                      <m:f>
                        <m:fPr>
                          <m:ctrlPr>
                            <a:rPr lang="es-MX" i="1" smtClean="0">
                              <a:solidFill>
                                <a:schemeClr val="bg1"/>
                              </a:solidFill>
                              <a:latin typeface="Cambria Math" panose="02040503050406030204" pitchFamily="18" charset="0"/>
                              <a:ea typeface="Cambria Math" panose="02040503050406030204" pitchFamily="18" charset="0"/>
                            </a:rPr>
                          </m:ctrlPr>
                        </m:fPr>
                        <m:num>
                          <m:r>
                            <a:rPr lang="es-MX" i="1" smtClean="0">
                              <a:solidFill>
                                <a:schemeClr val="bg1"/>
                              </a:solidFill>
                              <a:latin typeface="Cambria Math" panose="02040503050406030204" pitchFamily="18" charset="0"/>
                              <a:ea typeface="Cambria Math" panose="02040503050406030204" pitchFamily="18" charset="0"/>
                            </a:rPr>
                            <m:t>𝜎</m:t>
                          </m:r>
                        </m:num>
                        <m:den>
                          <m:rad>
                            <m:radPr>
                              <m:degHide m:val="on"/>
                              <m:ctrlPr>
                                <a:rPr lang="es-MX" i="1" smtClean="0">
                                  <a:solidFill>
                                    <a:schemeClr val="bg1"/>
                                  </a:solidFill>
                                  <a:latin typeface="Cambria Math" panose="02040503050406030204" pitchFamily="18" charset="0"/>
                                  <a:ea typeface="Cambria Math" panose="02040503050406030204" pitchFamily="18" charset="0"/>
                                </a:rPr>
                              </m:ctrlPr>
                            </m:radPr>
                            <m:deg/>
                            <m:e>
                              <m:r>
                                <a:rPr lang="es-MX" b="0" i="1" smtClean="0">
                                  <a:solidFill>
                                    <a:schemeClr val="bg1"/>
                                  </a:solidFill>
                                  <a:latin typeface="Cambria Math" panose="02040503050406030204" pitchFamily="18" charset="0"/>
                                  <a:ea typeface="Cambria Math" panose="02040503050406030204" pitchFamily="18" charset="0"/>
                                </a:rPr>
                                <m:t>𝑛</m:t>
                              </m:r>
                            </m:e>
                          </m:rad>
                        </m:den>
                      </m:f>
                      <m:r>
                        <a:rPr lang="es-MX" b="0" i="1" smtClean="0">
                          <a:solidFill>
                            <a:schemeClr val="bg1"/>
                          </a:solidFill>
                          <a:latin typeface="Cambria Math" panose="02040503050406030204" pitchFamily="18" charset="0"/>
                          <a:ea typeface="Cambria Math" panose="02040503050406030204" pitchFamily="18" charset="0"/>
                        </a:rPr>
                        <m:t>≤</m:t>
                      </m:r>
                      <m:acc>
                        <m:accPr>
                          <m:chr m:val="̅"/>
                          <m:ctrlPr>
                            <a:rPr lang="es-MX" i="1">
                              <a:solidFill>
                                <a:prstClr val="black"/>
                              </a:solidFill>
                              <a:latin typeface="Cambria Math" panose="02040503050406030204" pitchFamily="18" charset="0"/>
                              <a:cs typeface="Times New Roman" panose="02020603050405020304" pitchFamily="18" charset="0"/>
                            </a:rPr>
                          </m:ctrlPr>
                        </m:accPr>
                        <m:e>
                          <m:r>
                            <a:rPr lang="es-MX" i="1">
                              <a:solidFill>
                                <a:prstClr val="black"/>
                              </a:solidFill>
                              <a:latin typeface="Cambria Math" panose="02040503050406030204" pitchFamily="18" charset="0"/>
                              <a:cs typeface="Times New Roman" panose="02020603050405020304" pitchFamily="18" charset="0"/>
                            </a:rPr>
                            <m:t>𝑋</m:t>
                          </m:r>
                        </m:e>
                      </m:acc>
                      <m:r>
                        <a:rPr lang="es-MX" i="1">
                          <a:solidFill>
                            <a:prstClr val="black"/>
                          </a:solidFill>
                          <a:latin typeface="Cambria Math" panose="02040503050406030204" pitchFamily="18" charset="0"/>
                          <a:cs typeface="Times New Roman" panose="02020603050405020304" pitchFamily="18" charset="0"/>
                        </a:rPr>
                        <m:t>−</m:t>
                      </m:r>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r>
                        <a:rPr lang="es-MX" i="1">
                          <a:solidFill>
                            <a:schemeClr val="bg1"/>
                          </a:solidFill>
                          <a:latin typeface="Cambria Math" panose="02040503050406030204" pitchFamily="18" charset="0"/>
                          <a:ea typeface="Cambria Math" panose="02040503050406030204" pitchFamily="18" charset="0"/>
                        </a:rPr>
                        <m:t>≤</m:t>
                      </m:r>
                      <m:sSub>
                        <m:sSubPr>
                          <m:ctrlPr>
                            <a:rPr lang="es-MX" b="0" i="1" smtClean="0">
                              <a:solidFill>
                                <a:schemeClr val="bg1"/>
                              </a:solidFill>
                              <a:latin typeface="Cambria Math" panose="02040503050406030204" pitchFamily="18" charset="0"/>
                              <a:ea typeface="Cambria Math" panose="02040503050406030204" pitchFamily="18" charset="0"/>
                            </a:rPr>
                          </m:ctrlPr>
                        </m:sSubPr>
                        <m:e>
                          <m:r>
                            <a:rPr lang="es-MX" b="0" i="1" smtClean="0">
                              <a:solidFill>
                                <a:schemeClr val="bg1"/>
                              </a:solidFill>
                              <a:latin typeface="Cambria Math" panose="02040503050406030204" pitchFamily="18" charset="0"/>
                              <a:ea typeface="Cambria Math" panose="02040503050406030204" pitchFamily="18" charset="0"/>
                            </a:rPr>
                            <m:t>𝑧</m:t>
                          </m:r>
                        </m:e>
                        <m:sub>
                          <m:f>
                            <m:fPr>
                              <m:type m:val="skw"/>
                              <m:ctrlPr>
                                <a:rPr lang="es-MX" b="0" i="1" smtClean="0">
                                  <a:solidFill>
                                    <a:schemeClr val="bg1"/>
                                  </a:solidFill>
                                  <a:latin typeface="Cambria Math" panose="02040503050406030204" pitchFamily="18" charset="0"/>
                                  <a:ea typeface="Cambria Math" panose="02040503050406030204" pitchFamily="18" charset="0"/>
                                </a:rPr>
                              </m:ctrlPr>
                            </m:fPr>
                            <m:num>
                              <m:r>
                                <a:rPr lang="es-MX" b="0" i="1" smtClean="0">
                                  <a:solidFill>
                                    <a:schemeClr val="bg1"/>
                                  </a:solidFill>
                                  <a:latin typeface="Cambria Math" panose="02040503050406030204" pitchFamily="18" charset="0"/>
                                  <a:ea typeface="Cambria Math" panose="02040503050406030204" pitchFamily="18" charset="0"/>
                                </a:rPr>
                                <m:t>𝛼</m:t>
                              </m:r>
                            </m:num>
                            <m:den>
                              <m:r>
                                <a:rPr lang="es-MX" b="0" i="1" smtClean="0">
                                  <a:solidFill>
                                    <a:schemeClr val="bg1"/>
                                  </a:solidFill>
                                  <a:latin typeface="Cambria Math" panose="02040503050406030204" pitchFamily="18" charset="0"/>
                                  <a:ea typeface="Cambria Math" panose="02040503050406030204" pitchFamily="18" charset="0"/>
                                </a:rPr>
                                <m:t>2</m:t>
                              </m:r>
                            </m:den>
                          </m:f>
                        </m:sub>
                      </m:sSub>
                      <m:r>
                        <a:rPr lang="es-MX" b="0" i="1" smtClean="0">
                          <a:solidFill>
                            <a:schemeClr val="bg1"/>
                          </a:solidFill>
                          <a:latin typeface="Cambria Math" panose="02040503050406030204" pitchFamily="18" charset="0"/>
                          <a:ea typeface="Cambria Math" panose="02040503050406030204" pitchFamily="18" charset="0"/>
                        </a:rPr>
                        <m:t>∙</m:t>
                      </m:r>
                      <m:f>
                        <m:fPr>
                          <m:ctrlPr>
                            <a:rPr lang="es-MX" i="1">
                              <a:solidFill>
                                <a:schemeClr val="bg1"/>
                              </a:solidFill>
                              <a:latin typeface="Cambria Math" panose="02040503050406030204" pitchFamily="18" charset="0"/>
                              <a:ea typeface="Cambria Math" panose="02040503050406030204" pitchFamily="18" charset="0"/>
                            </a:rPr>
                          </m:ctrlPr>
                        </m:fPr>
                        <m:num>
                          <m:r>
                            <a:rPr lang="es-MX" i="1">
                              <a:solidFill>
                                <a:schemeClr val="bg1"/>
                              </a:solidFill>
                              <a:latin typeface="Cambria Math" panose="02040503050406030204" pitchFamily="18" charset="0"/>
                              <a:ea typeface="Cambria Math" panose="02040503050406030204" pitchFamily="18" charset="0"/>
                            </a:rPr>
                            <m:t>𝜎</m:t>
                          </m:r>
                        </m:num>
                        <m:den>
                          <m:rad>
                            <m:radPr>
                              <m:degHide m:val="on"/>
                              <m:ctrlPr>
                                <a:rPr lang="es-MX" i="1">
                                  <a:solidFill>
                                    <a:schemeClr val="bg1"/>
                                  </a:solidFill>
                                  <a:latin typeface="Cambria Math" panose="02040503050406030204" pitchFamily="18" charset="0"/>
                                  <a:ea typeface="Cambria Math" panose="02040503050406030204" pitchFamily="18" charset="0"/>
                                </a:rPr>
                              </m:ctrlPr>
                            </m:radPr>
                            <m:deg/>
                            <m:e>
                              <m:r>
                                <a:rPr lang="es-MX" i="1">
                                  <a:solidFill>
                                    <a:schemeClr val="bg1"/>
                                  </a:solidFill>
                                  <a:latin typeface="Cambria Math" panose="02040503050406030204" pitchFamily="18" charset="0"/>
                                  <a:ea typeface="Cambria Math" panose="02040503050406030204" pitchFamily="18" charset="0"/>
                                </a:rPr>
                                <m:t>𝑛</m:t>
                              </m:r>
                            </m:e>
                          </m:rad>
                        </m:den>
                      </m:f>
                    </m:oMath>
                  </m:oMathPara>
                </a14:m>
                <a:endParaRPr lang="es-MX" dirty="0"/>
              </a:p>
            </p:txBody>
          </p:sp>
        </mc:Choice>
        <mc:Fallback xmlns="">
          <p:sp>
            <p:nvSpPr>
              <p:cNvPr id="29" name="CuadroTexto 28">
                <a:extLst>
                  <a:ext uri="{FF2B5EF4-FFF2-40B4-BE49-F238E27FC236}">
                    <a16:creationId xmlns:a16="http://schemas.microsoft.com/office/drawing/2014/main" id="{A3755103-939F-79E0-EEC8-A1C098E5378E}"/>
                  </a:ext>
                </a:extLst>
              </p:cNvPr>
              <p:cNvSpPr txBox="1">
                <a:spLocks noRot="1" noChangeAspect="1" noMove="1" noResize="1" noEditPoints="1" noAdjustHandles="1" noChangeArrowheads="1" noChangeShapeType="1" noTextEdit="1"/>
              </p:cNvSpPr>
              <p:nvPr/>
            </p:nvSpPr>
            <p:spPr>
              <a:xfrm>
                <a:off x="6972691" y="5330224"/>
                <a:ext cx="3275157" cy="616644"/>
              </a:xfrm>
              <a:prstGeom prst="rect">
                <a:avLst/>
              </a:prstGeom>
              <a:blipFill>
                <a:blip r:embed="rId11"/>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BB418C22-E419-3FA1-BE7C-673130012376}"/>
                  </a:ext>
                </a:extLst>
              </p:cNvPr>
              <p:cNvSpPr txBox="1"/>
              <p:nvPr/>
            </p:nvSpPr>
            <p:spPr>
              <a:xfrm>
                <a:off x="7089872" y="5956934"/>
                <a:ext cx="3514438" cy="6166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s-MX" i="1" smtClean="0">
                              <a:solidFill>
                                <a:prstClr val="black"/>
                              </a:solidFill>
                              <a:latin typeface="Cambria Math" panose="02040503050406030204" pitchFamily="18" charset="0"/>
                              <a:cs typeface="Times New Roman" panose="02020603050405020304" pitchFamily="18" charset="0"/>
                            </a:rPr>
                          </m:ctrlPr>
                        </m:accPr>
                        <m:e>
                          <m:r>
                            <a:rPr lang="es-MX" i="1">
                              <a:solidFill>
                                <a:prstClr val="black"/>
                              </a:solidFill>
                              <a:latin typeface="Cambria Math" panose="02040503050406030204" pitchFamily="18" charset="0"/>
                              <a:cs typeface="Times New Roman" panose="02020603050405020304" pitchFamily="18" charset="0"/>
                            </a:rPr>
                            <m:t>𝑋</m:t>
                          </m:r>
                        </m:e>
                      </m:acc>
                      <m:r>
                        <a:rPr lang="es-MX" b="0" i="1" smtClean="0">
                          <a:solidFill>
                            <a:schemeClr val="bg1"/>
                          </a:solidFill>
                          <a:latin typeface="Cambria Math" panose="02040503050406030204" pitchFamily="18" charset="0"/>
                        </a:rPr>
                        <m:t>−</m:t>
                      </m:r>
                      <m:sSub>
                        <m:sSubPr>
                          <m:ctrlPr>
                            <a:rPr lang="es-MX" i="1">
                              <a:solidFill>
                                <a:schemeClr val="bg1"/>
                              </a:solidFill>
                              <a:latin typeface="Cambria Math" panose="02040503050406030204" pitchFamily="18" charset="0"/>
                              <a:ea typeface="Cambria Math" panose="02040503050406030204" pitchFamily="18" charset="0"/>
                            </a:rPr>
                          </m:ctrlPr>
                        </m:sSubPr>
                        <m:e>
                          <m:r>
                            <a:rPr lang="es-MX" i="1">
                              <a:solidFill>
                                <a:schemeClr val="bg1"/>
                              </a:solidFill>
                              <a:latin typeface="Cambria Math" panose="02040503050406030204" pitchFamily="18" charset="0"/>
                              <a:ea typeface="Cambria Math" panose="02040503050406030204" pitchFamily="18" charset="0"/>
                            </a:rPr>
                            <m:t>𝑧</m:t>
                          </m:r>
                        </m:e>
                        <m:sub>
                          <m:f>
                            <m:fPr>
                              <m:type m:val="skw"/>
                              <m:ctrlPr>
                                <a:rPr lang="es-MX" i="1">
                                  <a:solidFill>
                                    <a:schemeClr val="bg1"/>
                                  </a:solidFill>
                                  <a:latin typeface="Cambria Math" panose="02040503050406030204" pitchFamily="18" charset="0"/>
                                  <a:ea typeface="Cambria Math" panose="02040503050406030204" pitchFamily="18" charset="0"/>
                                </a:rPr>
                              </m:ctrlPr>
                            </m:fPr>
                            <m:num>
                              <m:r>
                                <a:rPr lang="es-MX" i="1">
                                  <a:solidFill>
                                    <a:schemeClr val="bg1"/>
                                  </a:solidFill>
                                  <a:latin typeface="Cambria Math" panose="02040503050406030204" pitchFamily="18" charset="0"/>
                                  <a:ea typeface="Cambria Math" panose="02040503050406030204" pitchFamily="18" charset="0"/>
                                </a:rPr>
                                <m:t>𝛼</m:t>
                              </m:r>
                            </m:num>
                            <m:den>
                              <m:r>
                                <a:rPr lang="es-MX" i="1">
                                  <a:solidFill>
                                    <a:schemeClr val="bg1"/>
                                  </a:solidFill>
                                  <a:latin typeface="Cambria Math" panose="02040503050406030204" pitchFamily="18" charset="0"/>
                                  <a:ea typeface="Cambria Math" panose="02040503050406030204" pitchFamily="18" charset="0"/>
                                </a:rPr>
                                <m:t>2</m:t>
                              </m:r>
                            </m:den>
                          </m:f>
                        </m:sub>
                      </m:sSub>
                      <m:r>
                        <a:rPr lang="es-MX" i="1">
                          <a:solidFill>
                            <a:schemeClr val="bg1"/>
                          </a:solidFill>
                          <a:latin typeface="Cambria Math" panose="02040503050406030204" pitchFamily="18" charset="0"/>
                          <a:ea typeface="Cambria Math" panose="02040503050406030204" pitchFamily="18" charset="0"/>
                        </a:rPr>
                        <m:t>∙</m:t>
                      </m:r>
                      <m:f>
                        <m:fPr>
                          <m:ctrlPr>
                            <a:rPr lang="es-MX" i="1" smtClean="0">
                              <a:solidFill>
                                <a:schemeClr val="bg1"/>
                              </a:solidFill>
                              <a:latin typeface="Cambria Math" panose="02040503050406030204" pitchFamily="18" charset="0"/>
                              <a:ea typeface="Cambria Math" panose="02040503050406030204" pitchFamily="18" charset="0"/>
                            </a:rPr>
                          </m:ctrlPr>
                        </m:fPr>
                        <m:num>
                          <m:r>
                            <a:rPr lang="es-MX" i="1" smtClean="0">
                              <a:solidFill>
                                <a:schemeClr val="bg1"/>
                              </a:solidFill>
                              <a:latin typeface="Cambria Math" panose="02040503050406030204" pitchFamily="18" charset="0"/>
                              <a:ea typeface="Cambria Math" panose="02040503050406030204" pitchFamily="18" charset="0"/>
                            </a:rPr>
                            <m:t>𝜎</m:t>
                          </m:r>
                        </m:num>
                        <m:den>
                          <m:rad>
                            <m:radPr>
                              <m:degHide m:val="on"/>
                              <m:ctrlPr>
                                <a:rPr lang="es-MX" i="1" smtClean="0">
                                  <a:solidFill>
                                    <a:schemeClr val="bg1"/>
                                  </a:solidFill>
                                  <a:latin typeface="Cambria Math" panose="02040503050406030204" pitchFamily="18" charset="0"/>
                                  <a:ea typeface="Cambria Math" panose="02040503050406030204" pitchFamily="18" charset="0"/>
                                </a:rPr>
                              </m:ctrlPr>
                            </m:radPr>
                            <m:deg/>
                            <m:e>
                              <m:r>
                                <a:rPr lang="es-MX" b="0" i="1" smtClean="0">
                                  <a:solidFill>
                                    <a:schemeClr val="bg1"/>
                                  </a:solidFill>
                                  <a:latin typeface="Cambria Math" panose="02040503050406030204" pitchFamily="18" charset="0"/>
                                  <a:ea typeface="Cambria Math" panose="02040503050406030204" pitchFamily="18" charset="0"/>
                                </a:rPr>
                                <m:t>𝑛</m:t>
                              </m:r>
                            </m:e>
                          </m:rad>
                        </m:den>
                      </m:f>
                      <m:r>
                        <a:rPr lang="es-MX" b="0" i="1" smtClean="0">
                          <a:solidFill>
                            <a:schemeClr val="bg1"/>
                          </a:solidFill>
                          <a:latin typeface="Cambria Math" panose="02040503050406030204" pitchFamily="18" charset="0"/>
                          <a:ea typeface="Cambria Math" panose="02040503050406030204" pitchFamily="18" charset="0"/>
                        </a:rPr>
                        <m:t>≤</m:t>
                      </m:r>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𝜇</m:t>
                      </m:r>
                      <m:r>
                        <a:rPr lang="es-MX" i="1">
                          <a:solidFill>
                            <a:schemeClr val="bg1"/>
                          </a:solidFill>
                          <a:latin typeface="Cambria Math" panose="02040503050406030204" pitchFamily="18" charset="0"/>
                          <a:ea typeface="Cambria Math" panose="02040503050406030204" pitchFamily="18" charset="0"/>
                        </a:rPr>
                        <m:t>≤</m:t>
                      </m:r>
                      <m:acc>
                        <m:accPr>
                          <m:chr m:val="̅"/>
                          <m:ctrlPr>
                            <a:rPr lang="es-MX" i="1">
                              <a:solidFill>
                                <a:prstClr val="black"/>
                              </a:solidFill>
                              <a:latin typeface="Cambria Math" panose="02040503050406030204" pitchFamily="18" charset="0"/>
                              <a:cs typeface="Times New Roman" panose="02020603050405020304" pitchFamily="18" charset="0"/>
                            </a:rPr>
                          </m:ctrlPr>
                        </m:accPr>
                        <m:e>
                          <m:r>
                            <a:rPr lang="es-MX" i="1">
                              <a:solidFill>
                                <a:prstClr val="black"/>
                              </a:solidFill>
                              <a:latin typeface="Cambria Math" panose="02040503050406030204" pitchFamily="18" charset="0"/>
                              <a:cs typeface="Times New Roman" panose="02020603050405020304" pitchFamily="18" charset="0"/>
                            </a:rPr>
                            <m:t>𝑋</m:t>
                          </m:r>
                        </m:e>
                      </m:acc>
                      <m:r>
                        <a:rPr lang="es-MX" b="0" i="1" smtClean="0">
                          <a:solidFill>
                            <a:prstClr val="black"/>
                          </a:solidFill>
                          <a:latin typeface="Cambria Math" panose="02040503050406030204" pitchFamily="18" charset="0"/>
                          <a:cs typeface="Times New Roman" panose="02020603050405020304" pitchFamily="18" charset="0"/>
                        </a:rPr>
                        <m:t>+</m:t>
                      </m:r>
                      <m:sSub>
                        <m:sSubPr>
                          <m:ctrlPr>
                            <a:rPr lang="es-MX" b="0" i="1" smtClean="0">
                              <a:solidFill>
                                <a:schemeClr val="bg1"/>
                              </a:solidFill>
                              <a:latin typeface="Cambria Math" panose="02040503050406030204" pitchFamily="18" charset="0"/>
                              <a:ea typeface="Cambria Math" panose="02040503050406030204" pitchFamily="18" charset="0"/>
                            </a:rPr>
                          </m:ctrlPr>
                        </m:sSubPr>
                        <m:e>
                          <m:r>
                            <a:rPr lang="es-MX" b="0" i="1" smtClean="0">
                              <a:solidFill>
                                <a:schemeClr val="bg1"/>
                              </a:solidFill>
                              <a:latin typeface="Cambria Math" panose="02040503050406030204" pitchFamily="18" charset="0"/>
                              <a:ea typeface="Cambria Math" panose="02040503050406030204" pitchFamily="18" charset="0"/>
                            </a:rPr>
                            <m:t>𝑧</m:t>
                          </m:r>
                        </m:e>
                        <m:sub>
                          <m:f>
                            <m:fPr>
                              <m:type m:val="skw"/>
                              <m:ctrlPr>
                                <a:rPr lang="es-MX" b="0" i="1" smtClean="0">
                                  <a:solidFill>
                                    <a:schemeClr val="bg1"/>
                                  </a:solidFill>
                                  <a:latin typeface="Cambria Math" panose="02040503050406030204" pitchFamily="18" charset="0"/>
                                  <a:ea typeface="Cambria Math" panose="02040503050406030204" pitchFamily="18" charset="0"/>
                                </a:rPr>
                              </m:ctrlPr>
                            </m:fPr>
                            <m:num>
                              <m:r>
                                <a:rPr lang="es-MX" b="0" i="1" smtClean="0">
                                  <a:solidFill>
                                    <a:schemeClr val="bg1"/>
                                  </a:solidFill>
                                  <a:latin typeface="Cambria Math" panose="02040503050406030204" pitchFamily="18" charset="0"/>
                                  <a:ea typeface="Cambria Math" panose="02040503050406030204" pitchFamily="18" charset="0"/>
                                </a:rPr>
                                <m:t>𝛼</m:t>
                              </m:r>
                            </m:num>
                            <m:den>
                              <m:r>
                                <a:rPr lang="es-MX" b="0" i="1" smtClean="0">
                                  <a:solidFill>
                                    <a:schemeClr val="bg1"/>
                                  </a:solidFill>
                                  <a:latin typeface="Cambria Math" panose="02040503050406030204" pitchFamily="18" charset="0"/>
                                  <a:ea typeface="Cambria Math" panose="02040503050406030204" pitchFamily="18" charset="0"/>
                                </a:rPr>
                                <m:t>2</m:t>
                              </m:r>
                            </m:den>
                          </m:f>
                        </m:sub>
                      </m:sSub>
                      <m:r>
                        <a:rPr lang="es-MX" b="0" i="1" smtClean="0">
                          <a:solidFill>
                            <a:schemeClr val="bg1"/>
                          </a:solidFill>
                          <a:latin typeface="Cambria Math" panose="02040503050406030204" pitchFamily="18" charset="0"/>
                          <a:ea typeface="Cambria Math" panose="02040503050406030204" pitchFamily="18" charset="0"/>
                        </a:rPr>
                        <m:t>∙</m:t>
                      </m:r>
                      <m:f>
                        <m:fPr>
                          <m:ctrlPr>
                            <a:rPr lang="es-MX" i="1">
                              <a:solidFill>
                                <a:schemeClr val="bg1"/>
                              </a:solidFill>
                              <a:latin typeface="Cambria Math" panose="02040503050406030204" pitchFamily="18" charset="0"/>
                              <a:ea typeface="Cambria Math" panose="02040503050406030204" pitchFamily="18" charset="0"/>
                            </a:rPr>
                          </m:ctrlPr>
                        </m:fPr>
                        <m:num>
                          <m:r>
                            <a:rPr lang="es-MX" i="1">
                              <a:solidFill>
                                <a:schemeClr val="bg1"/>
                              </a:solidFill>
                              <a:latin typeface="Cambria Math" panose="02040503050406030204" pitchFamily="18" charset="0"/>
                              <a:ea typeface="Cambria Math" panose="02040503050406030204" pitchFamily="18" charset="0"/>
                            </a:rPr>
                            <m:t>𝜎</m:t>
                          </m:r>
                        </m:num>
                        <m:den>
                          <m:rad>
                            <m:radPr>
                              <m:degHide m:val="on"/>
                              <m:ctrlPr>
                                <a:rPr lang="es-MX" i="1">
                                  <a:solidFill>
                                    <a:schemeClr val="bg1"/>
                                  </a:solidFill>
                                  <a:latin typeface="Cambria Math" panose="02040503050406030204" pitchFamily="18" charset="0"/>
                                  <a:ea typeface="Cambria Math" panose="02040503050406030204" pitchFamily="18" charset="0"/>
                                </a:rPr>
                              </m:ctrlPr>
                            </m:radPr>
                            <m:deg/>
                            <m:e>
                              <m:r>
                                <a:rPr lang="es-MX" i="1">
                                  <a:solidFill>
                                    <a:schemeClr val="bg1"/>
                                  </a:solidFill>
                                  <a:latin typeface="Cambria Math" panose="02040503050406030204" pitchFamily="18" charset="0"/>
                                  <a:ea typeface="Cambria Math" panose="02040503050406030204" pitchFamily="18" charset="0"/>
                                </a:rPr>
                                <m:t>𝑛</m:t>
                              </m:r>
                            </m:e>
                          </m:rad>
                        </m:den>
                      </m:f>
                    </m:oMath>
                  </m:oMathPara>
                </a14:m>
                <a:endParaRPr lang="es-MX" dirty="0"/>
              </a:p>
            </p:txBody>
          </p:sp>
        </mc:Choice>
        <mc:Fallback xmlns="">
          <p:sp>
            <p:nvSpPr>
              <p:cNvPr id="30" name="CuadroTexto 29">
                <a:extLst>
                  <a:ext uri="{FF2B5EF4-FFF2-40B4-BE49-F238E27FC236}">
                    <a16:creationId xmlns:a16="http://schemas.microsoft.com/office/drawing/2014/main" id="{BB418C22-E419-3FA1-BE7C-673130012376}"/>
                  </a:ext>
                </a:extLst>
              </p:cNvPr>
              <p:cNvSpPr txBox="1">
                <a:spLocks noRot="1" noChangeAspect="1" noMove="1" noResize="1" noEditPoints="1" noAdjustHandles="1" noChangeArrowheads="1" noChangeShapeType="1" noTextEdit="1"/>
              </p:cNvSpPr>
              <p:nvPr/>
            </p:nvSpPr>
            <p:spPr>
              <a:xfrm>
                <a:off x="7089872" y="5956934"/>
                <a:ext cx="3514438" cy="616644"/>
              </a:xfrm>
              <a:prstGeom prst="rect">
                <a:avLst/>
              </a:prstGeom>
              <a:blipFill>
                <a:blip r:embed="rId12"/>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1431383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1000"/>
                                        <p:tgtEl>
                                          <p:spTgt spid="21"/>
                                        </p:tgtEl>
                                      </p:cBhvr>
                                    </p:animEffect>
                                    <p:anim calcmode="lin" valueType="num">
                                      <p:cBhvr>
                                        <p:cTn id="22" dur="1000" fill="hold"/>
                                        <p:tgtEl>
                                          <p:spTgt spid="21"/>
                                        </p:tgtEl>
                                        <p:attrNameLst>
                                          <p:attrName>ppt_x</p:attrName>
                                        </p:attrNameLst>
                                      </p:cBhvr>
                                      <p:tavLst>
                                        <p:tav tm="0">
                                          <p:val>
                                            <p:strVal val="#ppt_x"/>
                                          </p:val>
                                        </p:tav>
                                        <p:tav tm="100000">
                                          <p:val>
                                            <p:strVal val="#ppt_x"/>
                                          </p:val>
                                        </p:tav>
                                      </p:tavLst>
                                    </p:anim>
                                    <p:anim calcmode="lin" valueType="num">
                                      <p:cBhvr>
                                        <p:cTn id="23"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1000"/>
                                        <p:tgtEl>
                                          <p:spTgt spid="22"/>
                                        </p:tgtEl>
                                      </p:cBhvr>
                                    </p:animEffect>
                                    <p:anim calcmode="lin" valueType="num">
                                      <p:cBhvr>
                                        <p:cTn id="29" dur="1000" fill="hold"/>
                                        <p:tgtEl>
                                          <p:spTgt spid="22"/>
                                        </p:tgtEl>
                                        <p:attrNameLst>
                                          <p:attrName>ppt_x</p:attrName>
                                        </p:attrNameLst>
                                      </p:cBhvr>
                                      <p:tavLst>
                                        <p:tav tm="0">
                                          <p:val>
                                            <p:strVal val="#ppt_x"/>
                                          </p:val>
                                        </p:tav>
                                        <p:tav tm="100000">
                                          <p:val>
                                            <p:strVal val="#ppt_x"/>
                                          </p:val>
                                        </p:tav>
                                      </p:tavLst>
                                    </p:anim>
                                    <p:anim calcmode="lin" valueType="num">
                                      <p:cBhvr>
                                        <p:cTn id="30"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1000"/>
                                        <p:tgtEl>
                                          <p:spTgt spid="23"/>
                                        </p:tgtEl>
                                      </p:cBhvr>
                                    </p:animEffect>
                                    <p:anim calcmode="lin" valueType="num">
                                      <p:cBhvr>
                                        <p:cTn id="36" dur="1000" fill="hold"/>
                                        <p:tgtEl>
                                          <p:spTgt spid="23"/>
                                        </p:tgtEl>
                                        <p:attrNameLst>
                                          <p:attrName>ppt_x</p:attrName>
                                        </p:attrNameLst>
                                      </p:cBhvr>
                                      <p:tavLst>
                                        <p:tav tm="0">
                                          <p:val>
                                            <p:strVal val="#ppt_x"/>
                                          </p:val>
                                        </p:tav>
                                        <p:tav tm="100000">
                                          <p:val>
                                            <p:strVal val="#ppt_x"/>
                                          </p:val>
                                        </p:tav>
                                      </p:tavLst>
                                    </p:anim>
                                    <p:anim calcmode="lin" valueType="num">
                                      <p:cBhvr>
                                        <p:cTn id="37"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1000"/>
                                        <p:tgtEl>
                                          <p:spTgt spid="24"/>
                                        </p:tgtEl>
                                      </p:cBhvr>
                                    </p:animEffect>
                                    <p:anim calcmode="lin" valueType="num">
                                      <p:cBhvr>
                                        <p:cTn id="43" dur="1000" fill="hold"/>
                                        <p:tgtEl>
                                          <p:spTgt spid="24"/>
                                        </p:tgtEl>
                                        <p:attrNameLst>
                                          <p:attrName>ppt_x</p:attrName>
                                        </p:attrNameLst>
                                      </p:cBhvr>
                                      <p:tavLst>
                                        <p:tav tm="0">
                                          <p:val>
                                            <p:strVal val="#ppt_x"/>
                                          </p:val>
                                        </p:tav>
                                        <p:tav tm="100000">
                                          <p:val>
                                            <p:strVal val="#ppt_x"/>
                                          </p:val>
                                        </p:tav>
                                      </p:tavLst>
                                    </p:anim>
                                    <p:anim calcmode="lin" valueType="num">
                                      <p:cBhvr>
                                        <p:cTn id="44"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1000"/>
                                        <p:tgtEl>
                                          <p:spTgt spid="25"/>
                                        </p:tgtEl>
                                      </p:cBhvr>
                                    </p:animEffect>
                                    <p:anim calcmode="lin" valueType="num">
                                      <p:cBhvr>
                                        <p:cTn id="50" dur="1000" fill="hold"/>
                                        <p:tgtEl>
                                          <p:spTgt spid="25"/>
                                        </p:tgtEl>
                                        <p:attrNameLst>
                                          <p:attrName>ppt_x</p:attrName>
                                        </p:attrNameLst>
                                      </p:cBhvr>
                                      <p:tavLst>
                                        <p:tav tm="0">
                                          <p:val>
                                            <p:strVal val="#ppt_x"/>
                                          </p:val>
                                        </p:tav>
                                        <p:tav tm="100000">
                                          <p:val>
                                            <p:strVal val="#ppt_x"/>
                                          </p:val>
                                        </p:tav>
                                      </p:tavLst>
                                    </p:anim>
                                    <p:anim calcmode="lin" valueType="num">
                                      <p:cBhvr>
                                        <p:cTn id="51"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1000"/>
                                        <p:tgtEl>
                                          <p:spTgt spid="27"/>
                                        </p:tgtEl>
                                      </p:cBhvr>
                                    </p:animEffect>
                                    <p:anim calcmode="lin" valueType="num">
                                      <p:cBhvr>
                                        <p:cTn id="57" dur="1000" fill="hold"/>
                                        <p:tgtEl>
                                          <p:spTgt spid="27"/>
                                        </p:tgtEl>
                                        <p:attrNameLst>
                                          <p:attrName>ppt_x</p:attrName>
                                        </p:attrNameLst>
                                      </p:cBhvr>
                                      <p:tavLst>
                                        <p:tav tm="0">
                                          <p:val>
                                            <p:strVal val="#ppt_x"/>
                                          </p:val>
                                        </p:tav>
                                        <p:tav tm="100000">
                                          <p:val>
                                            <p:strVal val="#ppt_x"/>
                                          </p:val>
                                        </p:tav>
                                      </p:tavLst>
                                    </p:anim>
                                    <p:anim calcmode="lin" valueType="num">
                                      <p:cBhvr>
                                        <p:cTn id="58"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fade">
                                      <p:cBhvr>
                                        <p:cTn id="63" dur="1000"/>
                                        <p:tgtEl>
                                          <p:spTgt spid="29"/>
                                        </p:tgtEl>
                                      </p:cBhvr>
                                    </p:animEffect>
                                    <p:anim calcmode="lin" valueType="num">
                                      <p:cBhvr>
                                        <p:cTn id="64" dur="1000" fill="hold"/>
                                        <p:tgtEl>
                                          <p:spTgt spid="29"/>
                                        </p:tgtEl>
                                        <p:attrNameLst>
                                          <p:attrName>ppt_x</p:attrName>
                                        </p:attrNameLst>
                                      </p:cBhvr>
                                      <p:tavLst>
                                        <p:tav tm="0">
                                          <p:val>
                                            <p:strVal val="#ppt_x"/>
                                          </p:val>
                                        </p:tav>
                                        <p:tav tm="100000">
                                          <p:val>
                                            <p:strVal val="#ppt_x"/>
                                          </p:val>
                                        </p:tav>
                                      </p:tavLst>
                                    </p:anim>
                                    <p:anim calcmode="lin" valueType="num">
                                      <p:cBhvr>
                                        <p:cTn id="65"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1000"/>
                                        <p:tgtEl>
                                          <p:spTgt spid="30"/>
                                        </p:tgtEl>
                                      </p:cBhvr>
                                    </p:animEffect>
                                    <p:anim calcmode="lin" valueType="num">
                                      <p:cBhvr>
                                        <p:cTn id="71" dur="1000" fill="hold"/>
                                        <p:tgtEl>
                                          <p:spTgt spid="30"/>
                                        </p:tgtEl>
                                        <p:attrNameLst>
                                          <p:attrName>ppt_x</p:attrName>
                                        </p:attrNameLst>
                                      </p:cBhvr>
                                      <p:tavLst>
                                        <p:tav tm="0">
                                          <p:val>
                                            <p:strVal val="#ppt_x"/>
                                          </p:val>
                                        </p:tav>
                                        <p:tav tm="100000">
                                          <p:val>
                                            <p:strVal val="#ppt_x"/>
                                          </p:val>
                                        </p:tav>
                                      </p:tavLst>
                                    </p:anim>
                                    <p:anim calcmode="lin" valueType="num">
                                      <p:cBhvr>
                                        <p:cTn id="72"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5" grpId="0" animBg="1"/>
      <p:bldP spid="21" grpId="0"/>
      <p:bldP spid="22" grpId="0" animBg="1"/>
      <p:bldP spid="23" grpId="0"/>
      <p:bldP spid="24" grpId="0"/>
      <p:bldP spid="25" grpId="0" animBg="1"/>
      <p:bldP spid="27" grpId="0"/>
      <p:bldP spid="29" grpId="0"/>
      <p:bldP spid="3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ES" sz="2800" dirty="0">
                <a:latin typeface="Times New Roman" panose="02020603050405020304" pitchFamily="18" charset="0"/>
                <a:cs typeface="Times New Roman" panose="02020603050405020304" pitchFamily="18" charset="0"/>
              </a:rPr>
              <a:t>Intervalo de confianza</a:t>
            </a: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D98598C9-41DF-A8A6-760A-57F329688F08}"/>
                  </a:ext>
                </a:extLst>
              </p:cNvPr>
              <p:cNvSpPr txBox="1"/>
              <p:nvPr/>
            </p:nvSpPr>
            <p:spPr>
              <a:xfrm>
                <a:off x="964022" y="2277295"/>
                <a:ext cx="9332916" cy="616644"/>
              </a:xfrm>
              <a:prstGeom prst="rect">
                <a:avLst/>
              </a:prstGeom>
              <a:noFill/>
              <a:ln>
                <a:solidFill>
                  <a:schemeClr val="tx1">
                    <a:lumMod val="85000"/>
                  </a:schemeClr>
                </a:solidFill>
              </a:ln>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𝐸</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m:t>
                      </m:r>
                      <m:sSub>
                        <m:sSubPr>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sSubPr>
                        <m:e>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𝑧</m:t>
                          </m:r>
                        </m:e>
                        <m:sub>
                          <m:f>
                            <m:fPr>
                              <m:type m:val="skw"/>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fPr>
                            <m:num>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𝛼</m:t>
                              </m:r>
                            </m:num>
                            <m:den>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2</m:t>
                              </m:r>
                            </m:den>
                          </m:f>
                        </m:sub>
                      </m:sSub>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f>
                        <m:fPr>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𝜎</m:t>
                          </m:r>
                        </m:num>
                        <m:den>
                          <m:rad>
                            <m:radPr>
                              <m:degHide m:val="on"/>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radPr>
                            <m:deg/>
                            <m:e>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𝑛</m:t>
                              </m:r>
                            </m:e>
                          </m:rad>
                        </m:den>
                      </m:f>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𝑚𝑎𝑟𝑔𝑒𝑛</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𝑑𝑒</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𝑒𝑟𝑟𝑜𝑟</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𝑝𝑎𝑟𝑎</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𝑙𝑎</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𝑚𝑒𝑑𝑖𝑎</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𝑐𝑜𝑛</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𝜎</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𝑐𝑜𝑛𝑜𝑐𝑖𝑑𝑎</m:t>
                      </m:r>
                    </m:oMath>
                  </m:oMathPara>
                </a14:m>
                <a:endPar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mc:Choice>
        <mc:Fallback xmlns="">
          <p:sp>
            <p:nvSpPr>
              <p:cNvPr id="4" name="CuadroTexto 3">
                <a:extLst>
                  <a:ext uri="{FF2B5EF4-FFF2-40B4-BE49-F238E27FC236}">
                    <a16:creationId xmlns:a16="http://schemas.microsoft.com/office/drawing/2014/main" id="{D98598C9-41DF-A8A6-760A-57F329688F08}"/>
                  </a:ext>
                </a:extLst>
              </p:cNvPr>
              <p:cNvSpPr txBox="1">
                <a:spLocks noRot="1" noChangeAspect="1" noMove="1" noResize="1" noEditPoints="1" noAdjustHandles="1" noChangeArrowheads="1" noChangeShapeType="1" noTextEdit="1"/>
              </p:cNvSpPr>
              <p:nvPr/>
            </p:nvSpPr>
            <p:spPr>
              <a:xfrm>
                <a:off x="964022" y="2277295"/>
                <a:ext cx="9332916" cy="616644"/>
              </a:xfrm>
              <a:prstGeom prst="rect">
                <a:avLst/>
              </a:prstGeom>
              <a:blipFill>
                <a:blip r:embed="rId3"/>
                <a:stretch>
                  <a:fillRect/>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74E1CE5D-0829-367D-3253-0060B26FBC99}"/>
                  </a:ext>
                </a:extLst>
              </p:cNvPr>
              <p:cNvSpPr txBox="1"/>
              <p:nvPr/>
            </p:nvSpPr>
            <p:spPr>
              <a:xfrm>
                <a:off x="964022" y="3187418"/>
                <a:ext cx="9332916" cy="646331"/>
              </a:xfrm>
              <a:prstGeom prst="rect">
                <a:avLst/>
              </a:prstGeom>
              <a:noFill/>
              <a:ln>
                <a:solidFill>
                  <a:schemeClr val="tx1">
                    <a:lumMod val="85000"/>
                  </a:schemeClr>
                </a:solidFill>
              </a:ln>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Utilizando el margen de error E, ahora podemos identificar el intervalo de confianza para la media poblacional </a:t>
                </a:r>
                <a14:m>
                  <m:oMath xmlns:m="http://schemas.openxmlformats.org/officeDocument/2006/math">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𝜇</m:t>
                    </m:r>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(si se satisfacen los tres requisitos) </a:t>
                </a:r>
              </a:p>
            </p:txBody>
          </p:sp>
        </mc:Choice>
        <mc:Fallback xmlns="">
          <p:sp>
            <p:nvSpPr>
              <p:cNvPr id="5" name="CuadroTexto 4">
                <a:extLst>
                  <a:ext uri="{FF2B5EF4-FFF2-40B4-BE49-F238E27FC236}">
                    <a16:creationId xmlns:a16="http://schemas.microsoft.com/office/drawing/2014/main" id="{74E1CE5D-0829-367D-3253-0060B26FBC99}"/>
                  </a:ext>
                </a:extLst>
              </p:cNvPr>
              <p:cNvSpPr txBox="1">
                <a:spLocks noRot="1" noChangeAspect="1" noMove="1" noResize="1" noEditPoints="1" noAdjustHandles="1" noChangeArrowheads="1" noChangeShapeType="1" noTextEdit="1"/>
              </p:cNvSpPr>
              <p:nvPr/>
            </p:nvSpPr>
            <p:spPr>
              <a:xfrm>
                <a:off x="964022" y="3187418"/>
                <a:ext cx="9332916" cy="646331"/>
              </a:xfrm>
              <a:prstGeom prst="rect">
                <a:avLst/>
              </a:prstGeom>
              <a:blipFill>
                <a:blip r:embed="rId4"/>
                <a:stretch>
                  <a:fillRect l="-457" t="-4630" r="-522" b="-12963"/>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BE6040B7-759F-1371-2E60-53B2F470EE54}"/>
                  </a:ext>
                </a:extLst>
              </p:cNvPr>
              <p:cNvSpPr txBox="1"/>
              <p:nvPr/>
            </p:nvSpPr>
            <p:spPr>
              <a:xfrm>
                <a:off x="964022" y="4139935"/>
                <a:ext cx="9332916" cy="369332"/>
              </a:xfrm>
              <a:prstGeom prst="rect">
                <a:avLst/>
              </a:prstGeom>
              <a:noFill/>
              <a:ln>
                <a:solidFill>
                  <a:schemeClr val="tx1">
                    <a:lumMod val="85000"/>
                  </a:schemeClr>
                </a:solidFill>
              </a:ln>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accPr>
                        <m:e>
                          <m: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t>𝑥</m:t>
                          </m:r>
                        </m:e>
                      </m:acc>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𝐸</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&lt;</m:t>
                      </m:r>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𝜇</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&lt;</m:t>
                      </m:r>
                      <m:acc>
                        <m:accPr>
                          <m:chr m:val="̅"/>
                          <m:ctrlP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ctrlPr>
                        </m:accPr>
                        <m:e>
                          <m:r>
                            <a:rPr kumimoji="0" lang="es-MX"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Times New Roman" panose="02020603050405020304" pitchFamily="18" charset="0"/>
                            </a:rPr>
                            <m:t>𝑥</m:t>
                          </m:r>
                        </m:e>
                      </m:acc>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m:t>
                      </m:r>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t>𝐸</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𝐼𝑛𝑡𝑒𝑟𝑣𝑎𝑙𝑜</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𝑑𝑒</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𝑐𝑜𝑛𝑓𝑖𝑎𝑛𝑧𝑎</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𝑝𝑎𝑟𝑎</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𝑙𝑎</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𝑚𝑒𝑑𝑖𝑎</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𝑝𝑜𝑏𝑙𝑎𝑐𝑖𝑜𝑛𝑎𝑙</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𝜇</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𝑐𝑜𝑛</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𝜎</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𝑐𝑜𝑛𝑜𝑐𝑖𝑑𝑎</m:t>
                      </m:r>
                    </m:oMath>
                  </m:oMathPara>
                </a14:m>
                <a:endPar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mc:Choice>
        <mc:Fallback xmlns="">
          <p:sp>
            <p:nvSpPr>
              <p:cNvPr id="6" name="CuadroTexto 5">
                <a:extLst>
                  <a:ext uri="{FF2B5EF4-FFF2-40B4-BE49-F238E27FC236}">
                    <a16:creationId xmlns:a16="http://schemas.microsoft.com/office/drawing/2014/main" id="{BE6040B7-759F-1371-2E60-53B2F470EE54}"/>
                  </a:ext>
                </a:extLst>
              </p:cNvPr>
              <p:cNvSpPr txBox="1">
                <a:spLocks noRot="1" noChangeAspect="1" noMove="1" noResize="1" noEditPoints="1" noAdjustHandles="1" noChangeArrowheads="1" noChangeShapeType="1" noTextEdit="1"/>
              </p:cNvSpPr>
              <p:nvPr/>
            </p:nvSpPr>
            <p:spPr>
              <a:xfrm>
                <a:off x="964022" y="4139935"/>
                <a:ext cx="9332916" cy="369332"/>
              </a:xfrm>
              <a:prstGeom prst="rect">
                <a:avLst/>
              </a:prstGeom>
              <a:blipFill>
                <a:blip r:embed="rId5"/>
                <a:stretch>
                  <a:fillRect b="-12698"/>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7BAA0F8B-5EE0-2DED-91A1-D3B454C775C0}"/>
                  </a:ext>
                </a:extLst>
              </p:cNvPr>
              <p:cNvSpPr txBox="1"/>
              <p:nvPr/>
            </p:nvSpPr>
            <p:spPr>
              <a:xfrm>
                <a:off x="964022" y="4815453"/>
                <a:ext cx="9332916" cy="923330"/>
              </a:xfrm>
              <a:prstGeom prst="rect">
                <a:avLst/>
              </a:prstGeom>
              <a:noFill/>
              <a:ln>
                <a:solidFill>
                  <a:schemeClr val="tx1">
                    <a:lumMod val="85000"/>
                  </a:schemeClr>
                </a:solidFill>
              </a:ln>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Actividad 1:</a:t>
                </a: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Cree en </a:t>
                </a:r>
                <a:r>
                  <a:rPr kumimoji="0" lang="es-MX"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RStudio</a:t>
                </a: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una función para calcular el intervalo de confianza para la media poblacional </a:t>
                </a:r>
                <a14:m>
                  <m:oMath xmlns:m="http://schemas.openxmlformats.org/officeDocument/2006/math">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𝜇</m:t>
                    </m:r>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Luego, calcule el intervalo de confianza del 95% para la media poblacional </a:t>
                </a:r>
                <a14:m>
                  <m:oMath xmlns:m="http://schemas.openxmlformats.org/officeDocument/2006/math">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𝜇</m:t>
                    </m:r>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del problema del pulso cardiaco en mujeres.</a:t>
                </a:r>
              </a:p>
            </p:txBody>
          </p:sp>
        </mc:Choice>
        <mc:Fallback xmlns="">
          <p:sp>
            <p:nvSpPr>
              <p:cNvPr id="8" name="CuadroTexto 7">
                <a:extLst>
                  <a:ext uri="{FF2B5EF4-FFF2-40B4-BE49-F238E27FC236}">
                    <a16:creationId xmlns:a16="http://schemas.microsoft.com/office/drawing/2014/main" id="{7BAA0F8B-5EE0-2DED-91A1-D3B454C775C0}"/>
                  </a:ext>
                </a:extLst>
              </p:cNvPr>
              <p:cNvSpPr txBox="1">
                <a:spLocks noRot="1" noChangeAspect="1" noMove="1" noResize="1" noEditPoints="1" noAdjustHandles="1" noChangeArrowheads="1" noChangeShapeType="1" noTextEdit="1"/>
              </p:cNvSpPr>
              <p:nvPr/>
            </p:nvSpPr>
            <p:spPr>
              <a:xfrm>
                <a:off x="964022" y="4815453"/>
                <a:ext cx="9332916" cy="923330"/>
              </a:xfrm>
              <a:prstGeom prst="rect">
                <a:avLst/>
              </a:prstGeom>
              <a:blipFill>
                <a:blip r:embed="rId6"/>
                <a:stretch>
                  <a:fillRect l="-457" t="-3268" r="-522" b="-9150"/>
                </a:stretch>
              </a:blipFill>
              <a:ln>
                <a:solidFill>
                  <a:schemeClr val="tx1">
                    <a:lumMod val="85000"/>
                  </a:schemeClr>
                </a:solidFill>
              </a:ln>
            </p:spPr>
            <p:txBody>
              <a:bodyPr/>
              <a:lstStyle/>
              <a:p>
                <a:r>
                  <a:rPr lang="es-MX">
                    <a:noFill/>
                  </a:rPr>
                  <a:t> </a:t>
                </a:r>
              </a:p>
            </p:txBody>
          </p:sp>
        </mc:Fallback>
      </mc:AlternateContent>
      <p:grpSp>
        <p:nvGrpSpPr>
          <p:cNvPr id="3" name="Grupo 2">
            <a:extLst>
              <a:ext uri="{FF2B5EF4-FFF2-40B4-BE49-F238E27FC236}">
                <a16:creationId xmlns:a16="http://schemas.microsoft.com/office/drawing/2014/main" id="{222C78A9-3AAD-0FE9-E962-54DC6F4AD609}"/>
              </a:ext>
            </a:extLst>
          </p:cNvPr>
          <p:cNvGrpSpPr/>
          <p:nvPr/>
        </p:nvGrpSpPr>
        <p:grpSpPr>
          <a:xfrm>
            <a:off x="2540338" y="129874"/>
            <a:ext cx="1101584" cy="901425"/>
            <a:chOff x="4557" y="292098"/>
            <a:chExt cx="1412697" cy="1802850"/>
          </a:xfrm>
        </p:grpSpPr>
        <p:sp>
          <p:nvSpPr>
            <p:cNvPr id="7" name="Rectángulo: esquinas redondeadas 6">
              <a:extLst>
                <a:ext uri="{FF2B5EF4-FFF2-40B4-BE49-F238E27FC236}">
                  <a16:creationId xmlns:a16="http://schemas.microsoft.com/office/drawing/2014/main" id="{3BD68740-713E-5B1A-8472-F8405FD30281}"/>
                </a:ext>
              </a:extLst>
            </p:cNvPr>
            <p:cNvSpPr/>
            <p:nvPr/>
          </p:nvSpPr>
          <p:spPr>
            <a:xfrm>
              <a:off x="4557"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9" name="Rectángulo: esquinas redondeadas 4">
              <a:extLst>
                <a:ext uri="{FF2B5EF4-FFF2-40B4-BE49-F238E27FC236}">
                  <a16:creationId xmlns:a16="http://schemas.microsoft.com/office/drawing/2014/main" id="{B9CF22BB-5432-BBEC-8CCC-E60F1155C42D}"/>
                </a:ext>
              </a:extLst>
            </p:cNvPr>
            <p:cNvSpPr txBox="1"/>
            <p:nvPr/>
          </p:nvSpPr>
          <p:spPr>
            <a:xfrm>
              <a:off x="45933"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1</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Definición de la población objetivo</a:t>
              </a:r>
            </a:p>
          </p:txBody>
        </p:sp>
      </p:grpSp>
      <p:grpSp>
        <p:nvGrpSpPr>
          <p:cNvPr id="10" name="Grupo 9">
            <a:extLst>
              <a:ext uri="{FF2B5EF4-FFF2-40B4-BE49-F238E27FC236}">
                <a16:creationId xmlns:a16="http://schemas.microsoft.com/office/drawing/2014/main" id="{82BE16D3-C2F1-C7A4-93A5-8D96EA52F39B}"/>
              </a:ext>
            </a:extLst>
          </p:cNvPr>
          <p:cNvGrpSpPr/>
          <p:nvPr/>
        </p:nvGrpSpPr>
        <p:grpSpPr>
          <a:xfrm>
            <a:off x="4518114" y="129874"/>
            <a:ext cx="1101584" cy="901425"/>
            <a:chOff x="1982333" y="292098"/>
            <a:chExt cx="1412697" cy="1802850"/>
          </a:xfrm>
        </p:grpSpPr>
        <p:sp>
          <p:nvSpPr>
            <p:cNvPr id="11" name="Rectángulo: esquinas redondeadas 10">
              <a:extLst>
                <a:ext uri="{FF2B5EF4-FFF2-40B4-BE49-F238E27FC236}">
                  <a16:creationId xmlns:a16="http://schemas.microsoft.com/office/drawing/2014/main" id="{3B37A732-62BB-F41B-9B4A-CCDD0FA66518}"/>
                </a:ext>
              </a:extLst>
            </p:cNvPr>
            <p:cNvSpPr/>
            <p:nvPr/>
          </p:nvSpPr>
          <p:spPr>
            <a:xfrm>
              <a:off x="1982333"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2" name="Rectángulo: esquinas redondeadas 6">
              <a:extLst>
                <a:ext uri="{FF2B5EF4-FFF2-40B4-BE49-F238E27FC236}">
                  <a16:creationId xmlns:a16="http://schemas.microsoft.com/office/drawing/2014/main" id="{F83DF241-AEE4-1A8D-634A-C01BA32A2E78}"/>
                </a:ext>
              </a:extLst>
            </p:cNvPr>
            <p:cNvSpPr txBox="1"/>
            <p:nvPr/>
          </p:nvSpPr>
          <p:spPr>
            <a:xfrm>
              <a:off x="2023709"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2</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Delimitar a la población</a:t>
              </a:r>
            </a:p>
          </p:txBody>
        </p:sp>
      </p:grpSp>
      <p:grpSp>
        <p:nvGrpSpPr>
          <p:cNvPr id="13" name="Grupo 12">
            <a:extLst>
              <a:ext uri="{FF2B5EF4-FFF2-40B4-BE49-F238E27FC236}">
                <a16:creationId xmlns:a16="http://schemas.microsoft.com/office/drawing/2014/main" id="{DE9D0DB2-99D3-BD38-2941-E4AE4F506FE8}"/>
              </a:ext>
            </a:extLst>
          </p:cNvPr>
          <p:cNvGrpSpPr/>
          <p:nvPr/>
        </p:nvGrpSpPr>
        <p:grpSpPr>
          <a:xfrm>
            <a:off x="6495890" y="129874"/>
            <a:ext cx="1101584" cy="901425"/>
            <a:chOff x="3960109" y="292098"/>
            <a:chExt cx="1412697" cy="1802850"/>
          </a:xfrm>
        </p:grpSpPr>
        <p:sp>
          <p:nvSpPr>
            <p:cNvPr id="14" name="Rectángulo: esquinas redondeadas 13">
              <a:extLst>
                <a:ext uri="{FF2B5EF4-FFF2-40B4-BE49-F238E27FC236}">
                  <a16:creationId xmlns:a16="http://schemas.microsoft.com/office/drawing/2014/main" id="{ADB3DD13-F289-23CC-6CCF-283EB349BD4B}"/>
                </a:ext>
              </a:extLst>
            </p:cNvPr>
            <p:cNvSpPr/>
            <p:nvPr/>
          </p:nvSpPr>
          <p:spPr>
            <a:xfrm>
              <a:off x="3960109"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5" name="Rectángulo: esquinas redondeadas 8">
              <a:extLst>
                <a:ext uri="{FF2B5EF4-FFF2-40B4-BE49-F238E27FC236}">
                  <a16:creationId xmlns:a16="http://schemas.microsoft.com/office/drawing/2014/main" id="{B0A48CC2-8615-34B4-2BE9-3D703A2A425A}"/>
                </a:ext>
              </a:extLst>
            </p:cNvPr>
            <p:cNvSpPr txBox="1"/>
            <p:nvPr/>
          </p:nvSpPr>
          <p:spPr>
            <a:xfrm>
              <a:off x="4001485"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3</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Selección de las técnicas de muestreo</a:t>
              </a:r>
            </a:p>
          </p:txBody>
        </p:sp>
      </p:grpSp>
      <p:grpSp>
        <p:nvGrpSpPr>
          <p:cNvPr id="16" name="Grupo 15">
            <a:extLst>
              <a:ext uri="{FF2B5EF4-FFF2-40B4-BE49-F238E27FC236}">
                <a16:creationId xmlns:a16="http://schemas.microsoft.com/office/drawing/2014/main" id="{72503070-250D-D01C-2428-C379B735A560}"/>
              </a:ext>
            </a:extLst>
          </p:cNvPr>
          <p:cNvGrpSpPr/>
          <p:nvPr/>
        </p:nvGrpSpPr>
        <p:grpSpPr>
          <a:xfrm>
            <a:off x="8473666" y="129874"/>
            <a:ext cx="1101584" cy="901425"/>
            <a:chOff x="5937885" y="292098"/>
            <a:chExt cx="1412697" cy="1802850"/>
          </a:xfrm>
          <a:solidFill>
            <a:srgbClr val="FFC000"/>
          </a:solidFill>
        </p:grpSpPr>
        <p:sp>
          <p:nvSpPr>
            <p:cNvPr id="17" name="Rectángulo: esquinas redondeadas 16">
              <a:extLst>
                <a:ext uri="{FF2B5EF4-FFF2-40B4-BE49-F238E27FC236}">
                  <a16:creationId xmlns:a16="http://schemas.microsoft.com/office/drawing/2014/main" id="{DB323C89-D2DB-4B1C-DABC-8E110B3DE396}"/>
                </a:ext>
              </a:extLst>
            </p:cNvPr>
            <p:cNvSpPr/>
            <p:nvPr/>
          </p:nvSpPr>
          <p:spPr>
            <a:xfrm>
              <a:off x="5937885" y="292098"/>
              <a:ext cx="1412697" cy="1802850"/>
            </a:xfrm>
            <a:prstGeom prst="roundRect">
              <a:avLst>
                <a:gd name="adj" fmla="val 10000"/>
              </a:avLst>
            </a:prstGeom>
            <a:grpFill/>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8" name="Rectángulo: esquinas redondeadas 10">
              <a:extLst>
                <a:ext uri="{FF2B5EF4-FFF2-40B4-BE49-F238E27FC236}">
                  <a16:creationId xmlns:a16="http://schemas.microsoft.com/office/drawing/2014/main" id="{ED2839F4-891F-3DC7-64AC-9D3459353486}"/>
                </a:ext>
              </a:extLst>
            </p:cNvPr>
            <p:cNvSpPr txBox="1"/>
            <p:nvPr/>
          </p:nvSpPr>
          <p:spPr>
            <a:xfrm>
              <a:off x="5979261" y="333474"/>
              <a:ext cx="1329945" cy="1720098"/>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4</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Determinación del tamaño de la muestra</a:t>
              </a:r>
            </a:p>
          </p:txBody>
        </p:sp>
      </p:grpSp>
    </p:spTree>
    <p:extLst>
      <p:ext uri="{BB962C8B-B14F-4D97-AF65-F5344CB8AC3E}">
        <p14:creationId xmlns:p14="http://schemas.microsoft.com/office/powerpoint/2010/main" val="604557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a:r>
              <a:rPr lang="es-ES" sz="2600" dirty="0">
                <a:latin typeface="Times New Roman" panose="02020603050405020304" pitchFamily="18" charset="0"/>
                <a:cs typeface="Times New Roman" panose="02020603050405020304" pitchFamily="18" charset="0"/>
              </a:rPr>
              <a:t>Problema 1</a:t>
            </a:r>
          </a:p>
        </p:txBody>
      </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F494AF8A-D47C-6E15-F0A8-B546B382BBB9}"/>
                  </a:ext>
                </a:extLst>
              </p:cNvPr>
              <p:cNvSpPr txBox="1"/>
              <p:nvPr/>
            </p:nvSpPr>
            <p:spPr>
              <a:xfrm>
                <a:off x="964023" y="2186609"/>
                <a:ext cx="9332916" cy="2585323"/>
              </a:xfrm>
              <a:prstGeom prst="rect">
                <a:avLst/>
              </a:prstGeom>
              <a:noFill/>
              <a:ln>
                <a:solidFill>
                  <a:schemeClr val="tx1">
                    <a:lumMod val="85000"/>
                  </a:schemeClr>
                </a:solidFill>
              </a:ln>
            </p:spPr>
            <p:txBody>
              <a:bodyPr wrap="square" rtlCol="0">
                <a:spAutoFit/>
              </a:bodyPr>
              <a:lstStyle/>
              <a:p>
                <a:pPr lvl="0" algn="just">
                  <a:defRPr/>
                </a:pPr>
                <a:r>
                  <a:rPr kumimoji="0" lang="es-MX"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Pulso cardiaco de mujeres. </a:t>
                </a:r>
                <a:r>
                  <a:rPr lang="es-MX" dirty="0">
                    <a:solidFill>
                      <a:prstClr val="black"/>
                    </a:solidFill>
                    <a:latin typeface="Times New Roman" panose="02020603050405020304" pitchFamily="18" charset="0"/>
                    <a:cs typeface="Times New Roman" panose="02020603050405020304" pitchFamily="18" charset="0"/>
                  </a:rPr>
                  <a:t>Tienes una base de datos “Pulso Cardiaco Mujeres” que contiene información sobre 40 mujeres seleccionadas aleatoriamente de un grupo que sufre de presión alta. Las variables registradas en la base de datos son: Edad, Estatura (en m), Peso (en kg), Cintura (en cm) y Pulso (en pulsaciones por minuto).</a:t>
                </a:r>
              </a:p>
              <a:p>
                <a:pPr lvl="0" algn="just">
                  <a:defRPr/>
                </a:pPr>
                <a:endParaRPr lang="es-MX" dirty="0">
                  <a:solidFill>
                    <a:prstClr val="black"/>
                  </a:solidFill>
                  <a:latin typeface="Times New Roman" panose="02020603050405020304" pitchFamily="18" charset="0"/>
                  <a:cs typeface="Times New Roman" panose="02020603050405020304" pitchFamily="18" charset="0"/>
                </a:endParaRPr>
              </a:p>
              <a:p>
                <a:pPr marL="342900" lvl="0" indent="-342900" algn="just">
                  <a:buAutoNum type="alphaLcPeriod"/>
                  <a:defRPr/>
                </a:pPr>
                <a:r>
                  <a:rPr lang="es-MX" dirty="0">
                    <a:solidFill>
                      <a:prstClr val="black"/>
                    </a:solidFill>
                    <a:latin typeface="Times New Roman" panose="02020603050405020304" pitchFamily="18" charset="0"/>
                    <a:cs typeface="Times New Roman" panose="02020603050405020304" pitchFamily="18" charset="0"/>
                  </a:rPr>
                  <a:t>Calcular e interpreta el intervalo de confianza del 95% para la estatura media de las mujeres en la base de datos. Considera que </a:t>
                </a:r>
                <a14:m>
                  <m:oMath xmlns:m="http://schemas.openxmlformats.org/officeDocument/2006/math">
                    <m:r>
                      <a:rPr lang="es-MX"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𝜎</m:t>
                    </m:r>
                    <m:r>
                      <a:rPr lang="es-MX"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=0.07</m:t>
                    </m:r>
                  </m:oMath>
                </a14:m>
                <a:endParaRPr lang="es-MX" dirty="0">
                  <a:solidFill>
                    <a:prstClr val="black"/>
                  </a:solidFill>
                  <a:latin typeface="Times New Roman" panose="02020603050405020304" pitchFamily="18" charset="0"/>
                  <a:cs typeface="Times New Roman" panose="02020603050405020304" pitchFamily="18" charset="0"/>
                </a:endParaRPr>
              </a:p>
              <a:p>
                <a:pPr marL="342900" indent="-342900" algn="just">
                  <a:buFontTx/>
                  <a:buAutoNum type="alphaLcPeriod"/>
                  <a:defRPr/>
                </a:pPr>
                <a:r>
                  <a:rPr lang="es-MX" dirty="0">
                    <a:solidFill>
                      <a:prstClr val="black"/>
                    </a:solidFill>
                    <a:latin typeface="Times New Roman" panose="02020603050405020304" pitchFamily="18" charset="0"/>
                    <a:cs typeface="Times New Roman" panose="02020603050405020304" pitchFamily="18" charset="0"/>
                  </a:rPr>
                  <a:t>Calcular e interpreta el intervalo de confianza del 95% para el pulso medio de las mujeres en la base de datos. Considera que </a:t>
                </a:r>
                <a14:m>
                  <m:oMath xmlns:m="http://schemas.openxmlformats.org/officeDocument/2006/math">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𝜎</m:t>
                    </m:r>
                    <m:r>
                      <a:rPr lang="es-MX"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=10</m:t>
                    </m:r>
                  </m:oMath>
                </a14:m>
                <a:endParaRPr lang="es-MX" dirty="0">
                  <a:solidFill>
                    <a:prstClr val="black"/>
                  </a:solidFill>
                  <a:latin typeface="Times New Roman" panose="02020603050405020304" pitchFamily="18" charset="0"/>
                  <a:cs typeface="Times New Roman" panose="02020603050405020304" pitchFamily="18" charset="0"/>
                </a:endParaRPr>
              </a:p>
            </p:txBody>
          </p:sp>
        </mc:Choice>
        <mc:Fallback xmlns="">
          <p:sp>
            <p:nvSpPr>
              <p:cNvPr id="28" name="CuadroTexto 27">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3" y="2186609"/>
                <a:ext cx="9332916" cy="2585323"/>
              </a:xfrm>
              <a:prstGeom prst="rect">
                <a:avLst/>
              </a:prstGeom>
              <a:blipFill>
                <a:blip r:embed="rId3"/>
                <a:stretch>
                  <a:fillRect l="-457" t="-1174" r="-522" b="-2582"/>
                </a:stretch>
              </a:blipFill>
              <a:ln>
                <a:solidFill>
                  <a:schemeClr val="tx1">
                    <a:lumMod val="85000"/>
                  </a:schemeClr>
                </a:solidFill>
              </a:ln>
            </p:spPr>
            <p:txBody>
              <a:bodyPr/>
              <a:lstStyle/>
              <a:p>
                <a:r>
                  <a:rPr lang="es-MX">
                    <a:noFill/>
                  </a:rPr>
                  <a:t> </a:t>
                </a:r>
              </a:p>
            </p:txBody>
          </p:sp>
        </mc:Fallback>
      </mc:AlternateContent>
      <p:grpSp>
        <p:nvGrpSpPr>
          <p:cNvPr id="3" name="Grupo 2">
            <a:extLst>
              <a:ext uri="{FF2B5EF4-FFF2-40B4-BE49-F238E27FC236}">
                <a16:creationId xmlns:a16="http://schemas.microsoft.com/office/drawing/2014/main" id="{B87A0A68-937C-2A55-21C7-6E0694B102AA}"/>
              </a:ext>
            </a:extLst>
          </p:cNvPr>
          <p:cNvGrpSpPr/>
          <p:nvPr/>
        </p:nvGrpSpPr>
        <p:grpSpPr>
          <a:xfrm>
            <a:off x="2540338" y="129874"/>
            <a:ext cx="1101584" cy="901425"/>
            <a:chOff x="4557" y="292098"/>
            <a:chExt cx="1412697" cy="1802850"/>
          </a:xfrm>
        </p:grpSpPr>
        <p:sp>
          <p:nvSpPr>
            <p:cNvPr id="5" name="Rectángulo: esquinas redondeadas 4">
              <a:extLst>
                <a:ext uri="{FF2B5EF4-FFF2-40B4-BE49-F238E27FC236}">
                  <a16:creationId xmlns:a16="http://schemas.microsoft.com/office/drawing/2014/main" id="{8AF8B89E-6FF3-CA5E-7AF2-1BC59B805653}"/>
                </a:ext>
              </a:extLst>
            </p:cNvPr>
            <p:cNvSpPr/>
            <p:nvPr/>
          </p:nvSpPr>
          <p:spPr>
            <a:xfrm>
              <a:off x="4557"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6" name="Rectángulo: esquinas redondeadas 4">
              <a:extLst>
                <a:ext uri="{FF2B5EF4-FFF2-40B4-BE49-F238E27FC236}">
                  <a16:creationId xmlns:a16="http://schemas.microsoft.com/office/drawing/2014/main" id="{E3DEF85A-9B10-26B6-3FC2-83DDFCE5DA00}"/>
                </a:ext>
              </a:extLst>
            </p:cNvPr>
            <p:cNvSpPr txBox="1"/>
            <p:nvPr/>
          </p:nvSpPr>
          <p:spPr>
            <a:xfrm>
              <a:off x="45933"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1</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Definición de la población objetivo</a:t>
              </a:r>
            </a:p>
          </p:txBody>
        </p:sp>
      </p:grpSp>
      <p:grpSp>
        <p:nvGrpSpPr>
          <p:cNvPr id="7" name="Grupo 6">
            <a:extLst>
              <a:ext uri="{FF2B5EF4-FFF2-40B4-BE49-F238E27FC236}">
                <a16:creationId xmlns:a16="http://schemas.microsoft.com/office/drawing/2014/main" id="{FB5D9AAD-25D9-9CD0-3126-CEA47A173689}"/>
              </a:ext>
            </a:extLst>
          </p:cNvPr>
          <p:cNvGrpSpPr/>
          <p:nvPr/>
        </p:nvGrpSpPr>
        <p:grpSpPr>
          <a:xfrm>
            <a:off x="4518114" y="129874"/>
            <a:ext cx="1101584" cy="901425"/>
            <a:chOff x="1982333" y="292098"/>
            <a:chExt cx="1412697" cy="1802850"/>
          </a:xfrm>
        </p:grpSpPr>
        <p:sp>
          <p:nvSpPr>
            <p:cNvPr id="8" name="Rectángulo: esquinas redondeadas 7">
              <a:extLst>
                <a:ext uri="{FF2B5EF4-FFF2-40B4-BE49-F238E27FC236}">
                  <a16:creationId xmlns:a16="http://schemas.microsoft.com/office/drawing/2014/main" id="{9DE053D8-4EBF-51A5-CA68-30413BBD8D92}"/>
                </a:ext>
              </a:extLst>
            </p:cNvPr>
            <p:cNvSpPr/>
            <p:nvPr/>
          </p:nvSpPr>
          <p:spPr>
            <a:xfrm>
              <a:off x="1982333"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9" name="Rectángulo: esquinas redondeadas 6">
              <a:extLst>
                <a:ext uri="{FF2B5EF4-FFF2-40B4-BE49-F238E27FC236}">
                  <a16:creationId xmlns:a16="http://schemas.microsoft.com/office/drawing/2014/main" id="{D92B7D18-D280-B149-E9F9-E895563EA42A}"/>
                </a:ext>
              </a:extLst>
            </p:cNvPr>
            <p:cNvSpPr txBox="1"/>
            <p:nvPr/>
          </p:nvSpPr>
          <p:spPr>
            <a:xfrm>
              <a:off x="2023709"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2</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Delimitar a la población</a:t>
              </a:r>
            </a:p>
          </p:txBody>
        </p:sp>
      </p:grpSp>
      <p:grpSp>
        <p:nvGrpSpPr>
          <p:cNvPr id="10" name="Grupo 9">
            <a:extLst>
              <a:ext uri="{FF2B5EF4-FFF2-40B4-BE49-F238E27FC236}">
                <a16:creationId xmlns:a16="http://schemas.microsoft.com/office/drawing/2014/main" id="{61DFF292-0AB6-3CD9-5C23-0A6156D69B38}"/>
              </a:ext>
            </a:extLst>
          </p:cNvPr>
          <p:cNvGrpSpPr/>
          <p:nvPr/>
        </p:nvGrpSpPr>
        <p:grpSpPr>
          <a:xfrm>
            <a:off x="6495890" y="129874"/>
            <a:ext cx="1101584" cy="901425"/>
            <a:chOff x="3960109" y="292098"/>
            <a:chExt cx="1412697" cy="1802850"/>
          </a:xfrm>
        </p:grpSpPr>
        <p:sp>
          <p:nvSpPr>
            <p:cNvPr id="11" name="Rectángulo: esquinas redondeadas 10">
              <a:extLst>
                <a:ext uri="{FF2B5EF4-FFF2-40B4-BE49-F238E27FC236}">
                  <a16:creationId xmlns:a16="http://schemas.microsoft.com/office/drawing/2014/main" id="{22D16E27-5AB0-90FC-12A4-46A1D0BAD3B4}"/>
                </a:ext>
              </a:extLst>
            </p:cNvPr>
            <p:cNvSpPr/>
            <p:nvPr/>
          </p:nvSpPr>
          <p:spPr>
            <a:xfrm>
              <a:off x="3960109"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2" name="Rectángulo: esquinas redondeadas 8">
              <a:extLst>
                <a:ext uri="{FF2B5EF4-FFF2-40B4-BE49-F238E27FC236}">
                  <a16:creationId xmlns:a16="http://schemas.microsoft.com/office/drawing/2014/main" id="{F1D558E3-DC1E-E8C0-8CFD-62D00E6F6A2A}"/>
                </a:ext>
              </a:extLst>
            </p:cNvPr>
            <p:cNvSpPr txBox="1"/>
            <p:nvPr/>
          </p:nvSpPr>
          <p:spPr>
            <a:xfrm>
              <a:off x="4001485"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3</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Selección de las técnicas de muestreo</a:t>
              </a:r>
            </a:p>
          </p:txBody>
        </p:sp>
      </p:grpSp>
      <p:grpSp>
        <p:nvGrpSpPr>
          <p:cNvPr id="13" name="Grupo 12">
            <a:extLst>
              <a:ext uri="{FF2B5EF4-FFF2-40B4-BE49-F238E27FC236}">
                <a16:creationId xmlns:a16="http://schemas.microsoft.com/office/drawing/2014/main" id="{04ABEAF1-944B-DDC5-C54A-DEE8AE5C4752}"/>
              </a:ext>
            </a:extLst>
          </p:cNvPr>
          <p:cNvGrpSpPr/>
          <p:nvPr/>
        </p:nvGrpSpPr>
        <p:grpSpPr>
          <a:xfrm>
            <a:off x="8473666" y="129874"/>
            <a:ext cx="1101584" cy="901425"/>
            <a:chOff x="5937885" y="292098"/>
            <a:chExt cx="1412697" cy="1802850"/>
          </a:xfrm>
          <a:solidFill>
            <a:srgbClr val="FFC000"/>
          </a:solidFill>
        </p:grpSpPr>
        <p:sp>
          <p:nvSpPr>
            <p:cNvPr id="14" name="Rectángulo: esquinas redondeadas 13">
              <a:extLst>
                <a:ext uri="{FF2B5EF4-FFF2-40B4-BE49-F238E27FC236}">
                  <a16:creationId xmlns:a16="http://schemas.microsoft.com/office/drawing/2014/main" id="{8DFFF4B7-C6C5-7B03-7C22-1144ECF42408}"/>
                </a:ext>
              </a:extLst>
            </p:cNvPr>
            <p:cNvSpPr/>
            <p:nvPr/>
          </p:nvSpPr>
          <p:spPr>
            <a:xfrm>
              <a:off x="5937885" y="292098"/>
              <a:ext cx="1412697" cy="1802850"/>
            </a:xfrm>
            <a:prstGeom prst="roundRect">
              <a:avLst>
                <a:gd name="adj" fmla="val 10000"/>
              </a:avLst>
            </a:prstGeom>
            <a:grpFill/>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5" name="Rectángulo: esquinas redondeadas 10">
              <a:extLst>
                <a:ext uri="{FF2B5EF4-FFF2-40B4-BE49-F238E27FC236}">
                  <a16:creationId xmlns:a16="http://schemas.microsoft.com/office/drawing/2014/main" id="{C09F64F1-D04D-6070-2293-5388880C71EE}"/>
                </a:ext>
              </a:extLst>
            </p:cNvPr>
            <p:cNvSpPr txBox="1"/>
            <p:nvPr/>
          </p:nvSpPr>
          <p:spPr>
            <a:xfrm>
              <a:off x="5979261" y="333474"/>
              <a:ext cx="1329945" cy="1720098"/>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4</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Determinación del tamaño de la muestra</a:t>
              </a:r>
            </a:p>
          </p:txBody>
        </p:sp>
      </p:grpSp>
    </p:spTree>
    <p:extLst>
      <p:ext uri="{BB962C8B-B14F-4D97-AF65-F5344CB8AC3E}">
        <p14:creationId xmlns:p14="http://schemas.microsoft.com/office/powerpoint/2010/main" val="1613410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548640"/>
                <a:ext cx="8276908" cy="941286"/>
              </a:xfrm>
            </p:spPr>
            <p:txBody>
              <a:bodyPr rtlCol="0">
                <a:noAutofit/>
              </a:bodyPr>
              <a:lstStyle/>
              <a:p>
                <a:pPr algn="just"/>
                <a:r>
                  <a:rPr lang="es-ES" sz="2800" dirty="0">
                    <a:latin typeface="Times New Roman" panose="02020603050405020304" pitchFamily="18" charset="0"/>
                    <a:cs typeface="Times New Roman" panose="02020603050405020304" pitchFamily="18" charset="0"/>
                  </a:rPr>
                  <a:t>Tamaño muestral para estimar </a:t>
                </a:r>
                <a14:m>
                  <m:oMath xmlns:m="http://schemas.openxmlformats.org/officeDocument/2006/math">
                    <m:r>
                      <a:rPr lang="es-ES" sz="2800" i="1">
                        <a:latin typeface="Cambria Math" panose="02040503050406030204" pitchFamily="18" charset="0"/>
                        <a:ea typeface="Cambria Math" panose="02040503050406030204" pitchFamily="18" charset="0"/>
                        <a:cs typeface="Times New Roman" panose="02020603050405020304" pitchFamily="18" charset="0"/>
                      </a:rPr>
                      <m:t>𝝁</m:t>
                    </m:r>
                  </m:oMath>
                </a14:m>
                <a:r>
                  <a:rPr lang="es-ES" sz="2800" dirty="0">
                    <a:latin typeface="Times New Roman" panose="02020603050405020304" pitchFamily="18" charset="0"/>
                    <a:cs typeface="Times New Roman" panose="02020603050405020304" pitchFamily="18" charset="0"/>
                  </a:rPr>
                  <a:t> con </a:t>
                </a:r>
                <a14:m>
                  <m:oMath xmlns:m="http://schemas.openxmlformats.org/officeDocument/2006/math">
                    <m:r>
                      <a:rPr lang="es-ES" sz="2800" i="1">
                        <a:latin typeface="Cambria Math" panose="02040503050406030204" pitchFamily="18" charset="0"/>
                        <a:ea typeface="Cambria Math" panose="02040503050406030204" pitchFamily="18" charset="0"/>
                        <a:cs typeface="Times New Roman" panose="02020603050405020304" pitchFamily="18" charset="0"/>
                      </a:rPr>
                      <m:t>𝝈</m:t>
                    </m:r>
                  </m:oMath>
                </a14:m>
                <a:r>
                  <a:rPr lang="es-ES" sz="2800" dirty="0">
                    <a:latin typeface="Times New Roman" panose="02020603050405020304" pitchFamily="18" charset="0"/>
                    <a:cs typeface="Times New Roman" panose="02020603050405020304" pitchFamily="18" charset="0"/>
                  </a:rPr>
                  <a:t> conocida</a:t>
                </a:r>
                <a:endParaRPr lang="es-ES" sz="2600" dirty="0">
                  <a:latin typeface="Times New Roman" panose="02020603050405020304" pitchFamily="18" charset="0"/>
                  <a:cs typeface="Times New Roman" panose="02020603050405020304" pitchFamily="18" charset="0"/>
                </a:endParaRPr>
              </a:p>
            </p:txBody>
          </p:sp>
        </mc:Choice>
        <mc:Fallback xmlns="">
          <p:sp>
            <p:nvSpPr>
              <p:cNvPr id="2" name="Título 1">
                <a:extLst>
                  <a:ext uri="{FF2B5EF4-FFF2-40B4-BE49-F238E27FC236}">
                    <a16:creationId xmlns:a16="http://schemas.microsoft.com/office/drawing/2014/main" id="{8C122DF8-59D4-D94D-8ED9-F2F319899DBF}"/>
                  </a:ext>
                </a:extLst>
              </p:cNvPr>
              <p:cNvSpPr>
                <a:spLocks noGrp="1" noRot="1" noChangeAspect="1" noMove="1" noResize="1" noEditPoints="1" noAdjustHandles="1" noChangeArrowheads="1" noChangeShapeType="1" noTextEdit="1"/>
              </p:cNvSpPr>
              <p:nvPr>
                <p:ph type="title"/>
              </p:nvPr>
            </p:nvSpPr>
            <p:spPr>
              <a:xfrm>
                <a:off x="964022" y="548640"/>
                <a:ext cx="8276908" cy="941286"/>
              </a:xfrm>
              <a:blipFill>
                <a:blip r:embed="rId3"/>
                <a:stretch>
                  <a:fillRect l="-2577" b="-23377"/>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F494AF8A-D47C-6E15-F0A8-B546B382BBB9}"/>
                  </a:ext>
                </a:extLst>
              </p:cNvPr>
              <p:cNvSpPr txBox="1"/>
              <p:nvPr/>
            </p:nvSpPr>
            <p:spPr>
              <a:xfrm>
                <a:off x="964023" y="2186609"/>
                <a:ext cx="9332916" cy="646331"/>
              </a:xfrm>
              <a:prstGeom prst="rect">
                <a:avLst/>
              </a:prstGeom>
              <a:noFill/>
              <a:ln>
                <a:solidFill>
                  <a:schemeClr val="tx1">
                    <a:lumMod val="85000"/>
                  </a:schemeClr>
                </a:solidFill>
              </a:ln>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Cuando se planea reunir una muestra aleatoria simple de datos que se usarán para estimar una media poblacional </a:t>
                </a:r>
                <a14:m>
                  <m:oMath xmlns:m="http://schemas.openxmlformats.org/officeDocument/2006/math">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𝜇</m:t>
                    </m:r>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s-MX" sz="18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cuántos</a:t>
                </a: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valores muestrales deben obtenerse?</a:t>
                </a:r>
              </a:p>
            </p:txBody>
          </p:sp>
        </mc:Choice>
        <mc:Fallback xmlns="">
          <p:sp>
            <p:nvSpPr>
              <p:cNvPr id="28" name="CuadroTexto 27">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3" y="2186609"/>
                <a:ext cx="9332916" cy="646331"/>
              </a:xfrm>
              <a:prstGeom prst="rect">
                <a:avLst/>
              </a:prstGeom>
              <a:blipFill>
                <a:blip r:embed="rId4"/>
                <a:stretch>
                  <a:fillRect l="-457" t="-4630" r="-522" b="-12963"/>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6CCDAF9B-574D-57A5-ACD7-1A9C955D6B0F}"/>
                  </a:ext>
                </a:extLst>
              </p:cNvPr>
              <p:cNvSpPr txBox="1"/>
              <p:nvPr/>
            </p:nvSpPr>
            <p:spPr>
              <a:xfrm>
                <a:off x="964022" y="3001054"/>
                <a:ext cx="9332916" cy="1270604"/>
              </a:xfrm>
              <a:prstGeom prst="rect">
                <a:avLst/>
              </a:prstGeom>
              <a:noFill/>
              <a:ln>
                <a:solidFill>
                  <a:schemeClr val="tx1">
                    <a:lumMod val="85000"/>
                  </a:schemeClr>
                </a:solidFill>
              </a:ln>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Utilizando la fórmula para el margen de error </a:t>
                </a:r>
                <a14:m>
                  <m:oMath xmlns:m="http://schemas.openxmlformats.org/officeDocument/2006/math">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𝐸</m:t>
                    </m:r>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y luego despejando </a:t>
                </a:r>
                <a14:m>
                  <m:oMath xmlns:m="http://schemas.openxmlformats.org/officeDocument/2006/math">
                    <m:r>
                      <a:rPr kumimoji="0" lang="es-MX"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𝑛</m:t>
                    </m:r>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obtenemos la fórmula:</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t>𝐸</m:t>
                      </m:r>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t>=</m:t>
                      </m:r>
                      <m:sSub>
                        <m:sSubPr>
                          <m:ctrlP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ctrlPr>
                        </m:sSubPr>
                        <m:e>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t>𝑧</m:t>
                          </m:r>
                        </m:e>
                        <m:sub>
                          <m:f>
                            <m:fPr>
                              <m:type m:val="skw"/>
                              <m:ctrlP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ctrlPr>
                            </m:fPr>
                            <m:num>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𝛼</m:t>
                              </m:r>
                            </m:num>
                            <m:den>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t>2</m:t>
                              </m:r>
                            </m:den>
                          </m:f>
                        </m:sub>
                      </m:sSub>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f>
                        <m:fPr>
                          <m:ctrlP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𝜎</m:t>
                          </m:r>
                        </m:num>
                        <m:den>
                          <m:rad>
                            <m:radPr>
                              <m:degHide m:val="on"/>
                              <m:ctrlP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radPr>
                            <m:deg/>
                            <m:e>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𝑛</m:t>
                              </m:r>
                            </m:e>
                          </m:rad>
                        </m:den>
                      </m:f>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𝑒𝑛𝑡𝑜𝑛𝑐𝑒𝑠</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      </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𝑛</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m:t>
                      </m:r>
                      <m:sSup>
                        <m:sSupPr>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sSupPr>
                        <m:e>
                          <m:d>
                            <m:dPr>
                              <m:begChr m:val="["/>
                              <m:endChr m:val="]"/>
                              <m:ctrlP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ctrlPr>
                            </m:dPr>
                            <m:e>
                              <m:f>
                                <m:fPr>
                                  <m:ctrlP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ctrlPr>
                                </m:fPr>
                                <m:num>
                                  <m:sSub>
                                    <m:sSubPr>
                                      <m:ctrlP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ctrlPr>
                                    </m:sSubPr>
                                    <m:e>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t>𝑧</m:t>
                                      </m:r>
                                    </m:e>
                                    <m:sub>
                                      <m:f>
                                        <m:fPr>
                                          <m:type m:val="skw"/>
                                          <m:ctrlP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ctrlPr>
                                        </m:fPr>
                                        <m:num>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𝛼</m:t>
                                          </m:r>
                                        </m:num>
                                        <m:den>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t>2</m:t>
                                          </m:r>
                                        </m:den>
                                      </m:f>
                                    </m:sub>
                                  </m:sSub>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𝜎</m:t>
                                  </m:r>
                                </m:num>
                                <m:den>
                                  <m:r>
                                    <a:rPr kumimoji="0" lang="es-MX" sz="1800" b="0" i="1" u="none" strike="noStrike" kern="1200" cap="none" spc="0" normalizeH="0" baseline="0" noProof="0">
                                      <a:ln>
                                        <a:noFill/>
                                      </a:ln>
                                      <a:solidFill>
                                        <a:prstClr val="black"/>
                                      </a:solidFill>
                                      <a:effectLst/>
                                      <a:uLnTx/>
                                      <a:uFillTx/>
                                      <a:latin typeface="Cambria Math" panose="02040503050406030204" pitchFamily="18" charset="0"/>
                                      <a:ea typeface="+mn-ea"/>
                                      <a:cs typeface="Times New Roman" panose="02020603050405020304" pitchFamily="18" charset="0"/>
                                    </a:rPr>
                                    <m:t>𝐸</m:t>
                                  </m:r>
                                </m:den>
                              </m:f>
                            </m:e>
                          </m:d>
                        </m:e>
                        <m:sup>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Times New Roman" panose="02020603050405020304" pitchFamily="18" charset="0"/>
                            </a:rPr>
                            <m:t>2</m:t>
                          </m:r>
                        </m:sup>
                      </m:sSup>
                    </m:oMath>
                  </m:oMathPara>
                </a14:m>
                <a:endPar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mc:Choice>
        <mc:Fallback xmlns="">
          <p:sp>
            <p:nvSpPr>
              <p:cNvPr id="3" name="CuadroTexto 2">
                <a:extLst>
                  <a:ext uri="{FF2B5EF4-FFF2-40B4-BE49-F238E27FC236}">
                    <a16:creationId xmlns:a16="http://schemas.microsoft.com/office/drawing/2014/main" id="{6CCDAF9B-574D-57A5-ACD7-1A9C955D6B0F}"/>
                  </a:ext>
                </a:extLst>
              </p:cNvPr>
              <p:cNvSpPr txBox="1">
                <a:spLocks noRot="1" noChangeAspect="1" noMove="1" noResize="1" noEditPoints="1" noAdjustHandles="1" noChangeArrowheads="1" noChangeShapeType="1" noTextEdit="1"/>
              </p:cNvSpPr>
              <p:nvPr/>
            </p:nvSpPr>
            <p:spPr>
              <a:xfrm>
                <a:off x="964022" y="3001054"/>
                <a:ext cx="9332916" cy="1270604"/>
              </a:xfrm>
              <a:prstGeom prst="rect">
                <a:avLst/>
              </a:prstGeom>
              <a:blipFill>
                <a:blip r:embed="rId5"/>
                <a:stretch>
                  <a:fillRect l="-457" t="-1896"/>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209BE4A0-4D86-2A79-AFF9-7C4B28528239}"/>
                  </a:ext>
                </a:extLst>
              </p:cNvPr>
              <p:cNvSpPr txBox="1"/>
              <p:nvPr/>
            </p:nvSpPr>
            <p:spPr>
              <a:xfrm>
                <a:off x="964022" y="4439772"/>
                <a:ext cx="9332916" cy="1200329"/>
              </a:xfrm>
              <a:prstGeom prst="rect">
                <a:avLst/>
              </a:prstGeom>
              <a:noFill/>
              <a:ln>
                <a:solidFill>
                  <a:schemeClr val="tx1">
                    <a:lumMod val="85000"/>
                  </a:schemeClr>
                </a:solidFill>
              </a:ln>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Problema</a:t>
                </a:r>
                <a:r>
                  <a:rPr kumimoji="0" lang="es-MX" sz="1800" b="1"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s-MX"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 </a:t>
                </a:r>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Suponga que queremos estimar la puntuación media del CI de la población de profesores de estadística. ¿Cuántos profesores de estadística deben seleccionarse al azar para efectuar pruebas de CI, si queremos tener una confianza del 95% de que la media muestral estará dentro de 2 puntos del CI de la media poblacional? Considere a </a:t>
                </a:r>
                <a14:m>
                  <m:oMath xmlns:m="http://schemas.openxmlformats.org/officeDocument/2006/math">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𝜎</m:t>
                    </m:r>
                    <m:r>
                      <a:rPr kumimoji="0" lang="es-MX"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=15</m:t>
                    </m:r>
                  </m:oMath>
                </a14:m>
                <a:r>
                  <a:rPr kumimoji="0" 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p:txBody>
          </p:sp>
        </mc:Choice>
        <mc:Fallback xmlns="">
          <p:sp>
            <p:nvSpPr>
              <p:cNvPr id="4" name="CuadroTexto 3">
                <a:extLst>
                  <a:ext uri="{FF2B5EF4-FFF2-40B4-BE49-F238E27FC236}">
                    <a16:creationId xmlns:a16="http://schemas.microsoft.com/office/drawing/2014/main" id="{209BE4A0-4D86-2A79-AFF9-7C4B28528239}"/>
                  </a:ext>
                </a:extLst>
              </p:cNvPr>
              <p:cNvSpPr txBox="1">
                <a:spLocks noRot="1" noChangeAspect="1" noMove="1" noResize="1" noEditPoints="1" noAdjustHandles="1" noChangeArrowheads="1" noChangeShapeType="1" noTextEdit="1"/>
              </p:cNvSpPr>
              <p:nvPr/>
            </p:nvSpPr>
            <p:spPr>
              <a:xfrm>
                <a:off x="964022" y="4439772"/>
                <a:ext cx="9332916" cy="1200329"/>
              </a:xfrm>
              <a:prstGeom prst="rect">
                <a:avLst/>
              </a:prstGeom>
              <a:blipFill>
                <a:blip r:embed="rId6"/>
                <a:stretch>
                  <a:fillRect l="-457" t="-2010" r="-522" b="-6533"/>
                </a:stretch>
              </a:blipFill>
              <a:ln>
                <a:solidFill>
                  <a:schemeClr val="tx1">
                    <a:lumMod val="85000"/>
                  </a:schemeClr>
                </a:solidFill>
              </a:ln>
            </p:spPr>
            <p:txBody>
              <a:bodyPr/>
              <a:lstStyle/>
              <a:p>
                <a:r>
                  <a:rPr lang="es-MX">
                    <a:noFill/>
                  </a:rPr>
                  <a:t> </a:t>
                </a:r>
              </a:p>
            </p:txBody>
          </p:sp>
        </mc:Fallback>
      </mc:AlternateContent>
      <p:grpSp>
        <p:nvGrpSpPr>
          <p:cNvPr id="5" name="Grupo 4">
            <a:extLst>
              <a:ext uri="{FF2B5EF4-FFF2-40B4-BE49-F238E27FC236}">
                <a16:creationId xmlns:a16="http://schemas.microsoft.com/office/drawing/2014/main" id="{11A88C53-7480-C0F7-B68F-6EA3DD1081A7}"/>
              </a:ext>
            </a:extLst>
          </p:cNvPr>
          <p:cNvGrpSpPr/>
          <p:nvPr/>
        </p:nvGrpSpPr>
        <p:grpSpPr>
          <a:xfrm>
            <a:off x="2540338" y="129874"/>
            <a:ext cx="1101584" cy="901425"/>
            <a:chOff x="4557" y="292098"/>
            <a:chExt cx="1412697" cy="1802850"/>
          </a:xfrm>
        </p:grpSpPr>
        <p:sp>
          <p:nvSpPr>
            <p:cNvPr id="6" name="Rectángulo: esquinas redondeadas 5">
              <a:extLst>
                <a:ext uri="{FF2B5EF4-FFF2-40B4-BE49-F238E27FC236}">
                  <a16:creationId xmlns:a16="http://schemas.microsoft.com/office/drawing/2014/main" id="{20A2AF9F-F83C-B452-9438-21EDF35718A1}"/>
                </a:ext>
              </a:extLst>
            </p:cNvPr>
            <p:cNvSpPr/>
            <p:nvPr/>
          </p:nvSpPr>
          <p:spPr>
            <a:xfrm>
              <a:off x="4557"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7" name="Rectángulo: esquinas redondeadas 4">
              <a:extLst>
                <a:ext uri="{FF2B5EF4-FFF2-40B4-BE49-F238E27FC236}">
                  <a16:creationId xmlns:a16="http://schemas.microsoft.com/office/drawing/2014/main" id="{FC304ACB-DE2E-8FE0-DBBB-B19C52D73B7F}"/>
                </a:ext>
              </a:extLst>
            </p:cNvPr>
            <p:cNvSpPr txBox="1"/>
            <p:nvPr/>
          </p:nvSpPr>
          <p:spPr>
            <a:xfrm>
              <a:off x="45933"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1</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Definición de la población objetivo</a:t>
              </a:r>
            </a:p>
          </p:txBody>
        </p:sp>
      </p:grpSp>
      <p:grpSp>
        <p:nvGrpSpPr>
          <p:cNvPr id="8" name="Grupo 7">
            <a:extLst>
              <a:ext uri="{FF2B5EF4-FFF2-40B4-BE49-F238E27FC236}">
                <a16:creationId xmlns:a16="http://schemas.microsoft.com/office/drawing/2014/main" id="{8980A0E3-7931-AAD4-7D70-3395403FB302}"/>
              </a:ext>
            </a:extLst>
          </p:cNvPr>
          <p:cNvGrpSpPr/>
          <p:nvPr/>
        </p:nvGrpSpPr>
        <p:grpSpPr>
          <a:xfrm>
            <a:off x="4518114" y="129874"/>
            <a:ext cx="1101584" cy="901425"/>
            <a:chOff x="1982333" y="292098"/>
            <a:chExt cx="1412697" cy="1802850"/>
          </a:xfrm>
        </p:grpSpPr>
        <p:sp>
          <p:nvSpPr>
            <p:cNvPr id="9" name="Rectángulo: esquinas redondeadas 8">
              <a:extLst>
                <a:ext uri="{FF2B5EF4-FFF2-40B4-BE49-F238E27FC236}">
                  <a16:creationId xmlns:a16="http://schemas.microsoft.com/office/drawing/2014/main" id="{7042CD7C-38D3-69CB-AAF2-A04A19B893FD}"/>
                </a:ext>
              </a:extLst>
            </p:cNvPr>
            <p:cNvSpPr/>
            <p:nvPr/>
          </p:nvSpPr>
          <p:spPr>
            <a:xfrm>
              <a:off x="1982333"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0" name="Rectángulo: esquinas redondeadas 6">
              <a:extLst>
                <a:ext uri="{FF2B5EF4-FFF2-40B4-BE49-F238E27FC236}">
                  <a16:creationId xmlns:a16="http://schemas.microsoft.com/office/drawing/2014/main" id="{D44E79FC-44F0-7B21-D5CE-00A1B2E1C9CA}"/>
                </a:ext>
              </a:extLst>
            </p:cNvPr>
            <p:cNvSpPr txBox="1"/>
            <p:nvPr/>
          </p:nvSpPr>
          <p:spPr>
            <a:xfrm>
              <a:off x="2023709"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2</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Delimitar a la población</a:t>
              </a:r>
            </a:p>
          </p:txBody>
        </p:sp>
      </p:grpSp>
      <p:grpSp>
        <p:nvGrpSpPr>
          <p:cNvPr id="11" name="Grupo 10">
            <a:extLst>
              <a:ext uri="{FF2B5EF4-FFF2-40B4-BE49-F238E27FC236}">
                <a16:creationId xmlns:a16="http://schemas.microsoft.com/office/drawing/2014/main" id="{6F374750-8862-B23C-6612-A769AB41950C}"/>
              </a:ext>
            </a:extLst>
          </p:cNvPr>
          <p:cNvGrpSpPr/>
          <p:nvPr/>
        </p:nvGrpSpPr>
        <p:grpSpPr>
          <a:xfrm>
            <a:off x="6495890" y="129874"/>
            <a:ext cx="1101584" cy="901425"/>
            <a:chOff x="3960109" y="292098"/>
            <a:chExt cx="1412697" cy="1802850"/>
          </a:xfrm>
        </p:grpSpPr>
        <p:sp>
          <p:nvSpPr>
            <p:cNvPr id="12" name="Rectángulo: esquinas redondeadas 11">
              <a:extLst>
                <a:ext uri="{FF2B5EF4-FFF2-40B4-BE49-F238E27FC236}">
                  <a16:creationId xmlns:a16="http://schemas.microsoft.com/office/drawing/2014/main" id="{816F5D21-B722-D446-E9DC-E1434E5B0C60}"/>
                </a:ext>
              </a:extLst>
            </p:cNvPr>
            <p:cNvSpPr/>
            <p:nvPr/>
          </p:nvSpPr>
          <p:spPr>
            <a:xfrm>
              <a:off x="3960109"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3" name="Rectángulo: esquinas redondeadas 8">
              <a:extLst>
                <a:ext uri="{FF2B5EF4-FFF2-40B4-BE49-F238E27FC236}">
                  <a16:creationId xmlns:a16="http://schemas.microsoft.com/office/drawing/2014/main" id="{91FA79C8-AF48-CCF4-9C8D-8781FDE40E3B}"/>
                </a:ext>
              </a:extLst>
            </p:cNvPr>
            <p:cNvSpPr txBox="1"/>
            <p:nvPr/>
          </p:nvSpPr>
          <p:spPr>
            <a:xfrm>
              <a:off x="4001485"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3</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Selección de las técnicas de muestreo</a:t>
              </a:r>
            </a:p>
          </p:txBody>
        </p:sp>
      </p:grpSp>
      <p:grpSp>
        <p:nvGrpSpPr>
          <p:cNvPr id="14" name="Grupo 13">
            <a:extLst>
              <a:ext uri="{FF2B5EF4-FFF2-40B4-BE49-F238E27FC236}">
                <a16:creationId xmlns:a16="http://schemas.microsoft.com/office/drawing/2014/main" id="{DBAAF3FD-2545-41C7-B931-E978A04EFD55}"/>
              </a:ext>
            </a:extLst>
          </p:cNvPr>
          <p:cNvGrpSpPr/>
          <p:nvPr/>
        </p:nvGrpSpPr>
        <p:grpSpPr>
          <a:xfrm>
            <a:off x="8473666" y="129874"/>
            <a:ext cx="1101584" cy="901425"/>
            <a:chOff x="5937885" y="292098"/>
            <a:chExt cx="1412697" cy="1802850"/>
          </a:xfrm>
          <a:solidFill>
            <a:srgbClr val="FFC000"/>
          </a:solidFill>
        </p:grpSpPr>
        <p:sp>
          <p:nvSpPr>
            <p:cNvPr id="15" name="Rectángulo: esquinas redondeadas 14">
              <a:extLst>
                <a:ext uri="{FF2B5EF4-FFF2-40B4-BE49-F238E27FC236}">
                  <a16:creationId xmlns:a16="http://schemas.microsoft.com/office/drawing/2014/main" id="{7E69E07F-FF2D-A018-2255-AE3935740703}"/>
                </a:ext>
              </a:extLst>
            </p:cNvPr>
            <p:cNvSpPr/>
            <p:nvPr/>
          </p:nvSpPr>
          <p:spPr>
            <a:xfrm>
              <a:off x="5937885" y="292098"/>
              <a:ext cx="1412697" cy="1802850"/>
            </a:xfrm>
            <a:prstGeom prst="roundRect">
              <a:avLst>
                <a:gd name="adj" fmla="val 10000"/>
              </a:avLst>
            </a:prstGeom>
            <a:grpFill/>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6" name="Rectángulo: esquinas redondeadas 10">
              <a:extLst>
                <a:ext uri="{FF2B5EF4-FFF2-40B4-BE49-F238E27FC236}">
                  <a16:creationId xmlns:a16="http://schemas.microsoft.com/office/drawing/2014/main" id="{89C00ACD-0F42-62CB-7C85-3909B219863B}"/>
                </a:ext>
              </a:extLst>
            </p:cNvPr>
            <p:cNvSpPr txBox="1"/>
            <p:nvPr/>
          </p:nvSpPr>
          <p:spPr>
            <a:xfrm>
              <a:off x="5979261" y="333474"/>
              <a:ext cx="1329945" cy="1720098"/>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4</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Determinación del tamaño de la muestra</a:t>
              </a:r>
            </a:p>
          </p:txBody>
        </p:sp>
      </p:grpSp>
    </p:spTree>
    <p:extLst>
      <p:ext uri="{BB962C8B-B14F-4D97-AF65-F5344CB8AC3E}">
        <p14:creationId xmlns:p14="http://schemas.microsoft.com/office/powerpoint/2010/main" val="1867033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 grpId="0" animBg="1"/>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1" y="879063"/>
            <a:ext cx="9770237" cy="610863"/>
          </a:xfrm>
        </p:spPr>
        <p:txBody>
          <a:bodyPr rtlCol="0">
            <a:noAutofit/>
          </a:bodyPr>
          <a:lstStyle/>
          <a:p>
            <a:pPr algn="just" rtl="0"/>
            <a:r>
              <a:rPr lang="es-ES" sz="2200" dirty="0">
                <a:latin typeface="Times New Roman" panose="02020603050405020304" pitchFamily="18" charset="0"/>
                <a:cs typeface="Times New Roman" panose="02020603050405020304" pitchFamily="18" charset="0"/>
              </a:rPr>
              <a:t>Intervalo de confianza y tamaño de muestra con N conocida.</a:t>
            </a:r>
          </a:p>
        </p:txBody>
      </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F494AF8A-D47C-6E15-F0A8-B546B382BBB9}"/>
                  </a:ext>
                </a:extLst>
              </p:cNvPr>
              <p:cNvSpPr txBox="1"/>
              <p:nvPr/>
            </p:nvSpPr>
            <p:spPr>
              <a:xfrm>
                <a:off x="964022" y="2166869"/>
                <a:ext cx="6938326" cy="1085875"/>
              </a:xfrm>
              <a:prstGeom prst="rect">
                <a:avLst/>
              </a:prstGeom>
              <a:noFill/>
              <a:ln>
                <a:solidFill>
                  <a:schemeClr val="tx1">
                    <a:lumMod val="85000"/>
                  </a:schemeClr>
                </a:solidFill>
              </a:ln>
            </p:spPr>
            <p:txBody>
              <a:bodyPr wrap="square" rtlCol="0">
                <a:spAutoFit/>
              </a:bodyPr>
              <a:lstStyle/>
              <a:p>
                <a:pPr marL="285750" lvl="0" indent="-285750" algn="just">
                  <a:buFont typeface="Arial" panose="020B0604020202020204" pitchFamily="34" charset="0"/>
                  <a:buChar char="•"/>
                  <a:defRPr/>
                </a:pPr>
                <a:r>
                  <a:rPr kumimoji="0" lang="es-MX" sz="16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Intervalo de confianza con N conocida. </a:t>
                </a:r>
                <a:r>
                  <a:rPr kumimoji="0" lang="es-MX"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Si el tamaño de la población es finito, entonces el factor de corrección </a:t>
                </a:r>
                <a14:m>
                  <m:oMath xmlns:m="http://schemas.openxmlformats.org/officeDocument/2006/math">
                    <m:rad>
                      <m:radPr>
                        <m:degHide m:val="on"/>
                        <m:ctrlPr>
                          <a:rPr kumimoji="0" lang="es-MX"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radPr>
                      <m:deg/>
                      <m:e>
                        <m:f>
                          <m:fPr>
                            <m:ctrlPr>
                              <a:rPr kumimoji="0" lang="es-MX"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r>
                              <a:rPr kumimoji="0" lang="es-MX"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𝑁</m:t>
                            </m:r>
                            <m:r>
                              <a:rPr kumimoji="0" lang="es-MX"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s-MX"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𝑛</m:t>
                            </m:r>
                          </m:num>
                          <m:den>
                            <m:r>
                              <a:rPr kumimoji="0" lang="es-MX"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𝑁</m:t>
                            </m:r>
                            <m:r>
                              <a:rPr kumimoji="0" lang="es-MX"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−1</m:t>
                            </m:r>
                          </m:den>
                        </m:f>
                      </m:e>
                    </m:rad>
                  </m:oMath>
                </a14:m>
                <a:r>
                  <a:rPr kumimoji="0" lang="es-MX"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debe usarse</a:t>
                </a:r>
                <a:r>
                  <a:rPr lang="es-MX" sz="1600" dirty="0">
                    <a:solidFill>
                      <a:prstClr val="black"/>
                    </a:solidFill>
                    <a:latin typeface="Times New Roman" panose="02020603050405020304" pitchFamily="18" charset="0"/>
                    <a:cs typeface="Times New Roman" panose="02020603050405020304" pitchFamily="18" charset="0"/>
                  </a:rPr>
                  <a:t>. Debemos entonces modificar </a:t>
                </a:r>
                <a14:m>
                  <m:oMath xmlns:m="http://schemas.openxmlformats.org/officeDocument/2006/math">
                    <m:r>
                      <a:rPr lang="es-MX" sz="1600" i="1" dirty="0" smtClean="0">
                        <a:solidFill>
                          <a:prstClr val="black"/>
                        </a:solidFill>
                        <a:latin typeface="Cambria Math" panose="02040503050406030204" pitchFamily="18" charset="0"/>
                        <a:cs typeface="Times New Roman" panose="02020603050405020304" pitchFamily="18" charset="0"/>
                      </a:rPr>
                      <m:t>𝐸</m:t>
                    </m:r>
                  </m:oMath>
                </a14:m>
                <a:r>
                  <a:rPr lang="es-MX" sz="1600" dirty="0">
                    <a:solidFill>
                      <a:prstClr val="black"/>
                    </a:solidFill>
                    <a:latin typeface="Times New Roman" panose="02020603050405020304" pitchFamily="18" charset="0"/>
                    <a:cs typeface="Times New Roman" panose="02020603050405020304" pitchFamily="18" charset="0"/>
                  </a:rPr>
                  <a:t> para incluir un factor de corrección por población finita. </a:t>
                </a:r>
                <a:endParaRPr kumimoji="0" lang="es-MX"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mc:Choice>
        <mc:Fallback xmlns="">
          <p:sp>
            <p:nvSpPr>
              <p:cNvPr id="28" name="CuadroTexto 27">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2" y="2166869"/>
                <a:ext cx="6938326" cy="1085875"/>
              </a:xfrm>
              <a:prstGeom prst="rect">
                <a:avLst/>
              </a:prstGeom>
              <a:blipFill>
                <a:blip r:embed="rId3"/>
                <a:stretch>
                  <a:fillRect l="-263" t="-1105" r="-439" b="-5525"/>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F494AF8A-D47C-6E15-F0A8-B546B382BBB9}"/>
                  </a:ext>
                </a:extLst>
              </p:cNvPr>
              <p:cNvSpPr txBox="1"/>
              <p:nvPr/>
            </p:nvSpPr>
            <p:spPr>
              <a:xfrm>
                <a:off x="964020" y="3548591"/>
                <a:ext cx="6938326" cy="584775"/>
              </a:xfrm>
              <a:prstGeom prst="rect">
                <a:avLst/>
              </a:prstGeom>
              <a:noFill/>
              <a:ln>
                <a:solidFill>
                  <a:schemeClr val="tx1">
                    <a:lumMod val="85000"/>
                  </a:schemeClr>
                </a:solidFill>
              </a:ln>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MX" sz="16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Tamaño Muestral con N conocida. </a:t>
                </a:r>
                <a:r>
                  <a:rPr kumimoji="0" lang="es-MX"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Del margen de error se despeja </a:t>
                </a:r>
                <a14:m>
                  <m:oMath xmlns:m="http://schemas.openxmlformats.org/officeDocument/2006/math">
                    <m:r>
                      <a:rPr kumimoji="0" lang="es-MX" sz="16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𝑛</m:t>
                    </m:r>
                  </m:oMath>
                </a14:m>
                <a:r>
                  <a:rPr kumimoji="0" lang="es-MX"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para obtener el tamaño de muestra con </a:t>
                </a:r>
                <a14:m>
                  <m:oMath xmlns:m="http://schemas.openxmlformats.org/officeDocument/2006/math">
                    <m:r>
                      <a:rPr kumimoji="0" lang="es-MX" sz="16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Times New Roman" panose="02020603050405020304" pitchFamily="18" charset="0"/>
                      </a:rPr>
                      <m:t>𝑁</m:t>
                    </m:r>
                  </m:oMath>
                </a14:m>
                <a:r>
                  <a:rPr kumimoji="0" lang="es-MX"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conocida. </a:t>
                </a:r>
              </a:p>
            </p:txBody>
          </p:sp>
        </mc:Choice>
        <mc:Fallback xmlns="">
          <p:sp>
            <p:nvSpPr>
              <p:cNvPr id="5" name="CuadroTexto 4">
                <a:extLst>
                  <a:ext uri="{FF2B5EF4-FFF2-40B4-BE49-F238E27FC236}">
                    <a16:creationId xmlns:a16="http://schemas.microsoft.com/office/drawing/2014/main" id="{F494AF8A-D47C-6E15-F0A8-B546B382BBB9}"/>
                  </a:ext>
                </a:extLst>
              </p:cNvPr>
              <p:cNvSpPr txBox="1">
                <a:spLocks noRot="1" noChangeAspect="1" noMove="1" noResize="1" noEditPoints="1" noAdjustHandles="1" noChangeArrowheads="1" noChangeShapeType="1" noTextEdit="1"/>
              </p:cNvSpPr>
              <p:nvPr/>
            </p:nvSpPr>
            <p:spPr>
              <a:xfrm>
                <a:off x="964020" y="3548591"/>
                <a:ext cx="6938326" cy="584775"/>
              </a:xfrm>
              <a:prstGeom prst="rect">
                <a:avLst/>
              </a:prstGeom>
              <a:blipFill>
                <a:blip r:embed="rId4"/>
                <a:stretch>
                  <a:fillRect l="-263" t="-2041" r="-439" b="-11224"/>
                </a:stretch>
              </a:blipFill>
              <a:ln>
                <a:solidFill>
                  <a:schemeClr val="tx1">
                    <a:lumMod val="85000"/>
                  </a:schemeClr>
                </a:solidFill>
              </a:ln>
            </p:spPr>
            <p:txBody>
              <a:bodyPr/>
              <a:lstStyle/>
              <a:p>
                <a:r>
                  <a:rPr lang="es-MX">
                    <a:noFill/>
                  </a:rPr>
                  <a:t> </a:t>
                </a:r>
              </a:p>
            </p:txBody>
          </p:sp>
        </mc:Fallback>
      </mc:AlternateContent>
      <p:grpSp>
        <p:nvGrpSpPr>
          <p:cNvPr id="4" name="Grupo 3">
            <a:extLst>
              <a:ext uri="{FF2B5EF4-FFF2-40B4-BE49-F238E27FC236}">
                <a16:creationId xmlns:a16="http://schemas.microsoft.com/office/drawing/2014/main" id="{E82AA41F-6A92-395F-EF4F-43F0234B621B}"/>
              </a:ext>
            </a:extLst>
          </p:cNvPr>
          <p:cNvGrpSpPr/>
          <p:nvPr/>
        </p:nvGrpSpPr>
        <p:grpSpPr>
          <a:xfrm>
            <a:off x="2540338" y="129874"/>
            <a:ext cx="1101584" cy="901425"/>
            <a:chOff x="4557" y="292098"/>
            <a:chExt cx="1412697" cy="1802850"/>
          </a:xfrm>
        </p:grpSpPr>
        <p:sp>
          <p:nvSpPr>
            <p:cNvPr id="6" name="Rectángulo: esquinas redondeadas 5">
              <a:extLst>
                <a:ext uri="{FF2B5EF4-FFF2-40B4-BE49-F238E27FC236}">
                  <a16:creationId xmlns:a16="http://schemas.microsoft.com/office/drawing/2014/main" id="{CBF4D20E-FFD2-18C8-3412-5B72E0B6BFB5}"/>
                </a:ext>
              </a:extLst>
            </p:cNvPr>
            <p:cNvSpPr/>
            <p:nvPr/>
          </p:nvSpPr>
          <p:spPr>
            <a:xfrm>
              <a:off x="4557"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7" name="Rectángulo: esquinas redondeadas 4">
              <a:extLst>
                <a:ext uri="{FF2B5EF4-FFF2-40B4-BE49-F238E27FC236}">
                  <a16:creationId xmlns:a16="http://schemas.microsoft.com/office/drawing/2014/main" id="{E669736F-9317-ED42-E46B-3216F79F2F05}"/>
                </a:ext>
              </a:extLst>
            </p:cNvPr>
            <p:cNvSpPr txBox="1"/>
            <p:nvPr/>
          </p:nvSpPr>
          <p:spPr>
            <a:xfrm>
              <a:off x="45933"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1</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Definición de la población objetivo</a:t>
              </a:r>
            </a:p>
          </p:txBody>
        </p:sp>
      </p:grpSp>
      <p:grpSp>
        <p:nvGrpSpPr>
          <p:cNvPr id="8" name="Grupo 7">
            <a:extLst>
              <a:ext uri="{FF2B5EF4-FFF2-40B4-BE49-F238E27FC236}">
                <a16:creationId xmlns:a16="http://schemas.microsoft.com/office/drawing/2014/main" id="{169511D1-803A-0ACF-7C86-8F1E969AC4F7}"/>
              </a:ext>
            </a:extLst>
          </p:cNvPr>
          <p:cNvGrpSpPr/>
          <p:nvPr/>
        </p:nvGrpSpPr>
        <p:grpSpPr>
          <a:xfrm>
            <a:off x="4518114" y="129874"/>
            <a:ext cx="1101584" cy="901425"/>
            <a:chOff x="1982333" y="292098"/>
            <a:chExt cx="1412697" cy="1802850"/>
          </a:xfrm>
        </p:grpSpPr>
        <p:sp>
          <p:nvSpPr>
            <p:cNvPr id="9" name="Rectángulo: esquinas redondeadas 8">
              <a:extLst>
                <a:ext uri="{FF2B5EF4-FFF2-40B4-BE49-F238E27FC236}">
                  <a16:creationId xmlns:a16="http://schemas.microsoft.com/office/drawing/2014/main" id="{4B94A4E5-8211-A58F-8E27-F64820061D0A}"/>
                </a:ext>
              </a:extLst>
            </p:cNvPr>
            <p:cNvSpPr/>
            <p:nvPr/>
          </p:nvSpPr>
          <p:spPr>
            <a:xfrm>
              <a:off x="1982333"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0" name="Rectángulo: esquinas redondeadas 6">
              <a:extLst>
                <a:ext uri="{FF2B5EF4-FFF2-40B4-BE49-F238E27FC236}">
                  <a16:creationId xmlns:a16="http://schemas.microsoft.com/office/drawing/2014/main" id="{4B4B363B-41FB-A552-6207-43DA906F5211}"/>
                </a:ext>
              </a:extLst>
            </p:cNvPr>
            <p:cNvSpPr txBox="1"/>
            <p:nvPr/>
          </p:nvSpPr>
          <p:spPr>
            <a:xfrm>
              <a:off x="2023709"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2</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Delimitar a la población</a:t>
              </a:r>
            </a:p>
          </p:txBody>
        </p:sp>
      </p:grpSp>
      <p:grpSp>
        <p:nvGrpSpPr>
          <p:cNvPr id="11" name="Grupo 10">
            <a:extLst>
              <a:ext uri="{FF2B5EF4-FFF2-40B4-BE49-F238E27FC236}">
                <a16:creationId xmlns:a16="http://schemas.microsoft.com/office/drawing/2014/main" id="{2FE4B2B4-4B39-C153-80EF-983CE29685F4}"/>
              </a:ext>
            </a:extLst>
          </p:cNvPr>
          <p:cNvGrpSpPr/>
          <p:nvPr/>
        </p:nvGrpSpPr>
        <p:grpSpPr>
          <a:xfrm>
            <a:off x="6495890" y="129874"/>
            <a:ext cx="1101584" cy="901425"/>
            <a:chOff x="3960109" y="292098"/>
            <a:chExt cx="1412697" cy="1802850"/>
          </a:xfrm>
        </p:grpSpPr>
        <p:sp>
          <p:nvSpPr>
            <p:cNvPr id="12" name="Rectángulo: esquinas redondeadas 11">
              <a:extLst>
                <a:ext uri="{FF2B5EF4-FFF2-40B4-BE49-F238E27FC236}">
                  <a16:creationId xmlns:a16="http://schemas.microsoft.com/office/drawing/2014/main" id="{0617F4CF-6802-B0FA-90E3-2EDBFD25EB43}"/>
                </a:ext>
              </a:extLst>
            </p:cNvPr>
            <p:cNvSpPr/>
            <p:nvPr/>
          </p:nvSpPr>
          <p:spPr>
            <a:xfrm>
              <a:off x="3960109" y="292098"/>
              <a:ext cx="1412697" cy="1802850"/>
            </a:xfrm>
            <a:prstGeom prst="roundRect">
              <a:avLst>
                <a:gd name="adj" fmla="val 10000"/>
              </a:avLst>
            </a:pr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3" name="Rectángulo: esquinas redondeadas 8">
              <a:extLst>
                <a:ext uri="{FF2B5EF4-FFF2-40B4-BE49-F238E27FC236}">
                  <a16:creationId xmlns:a16="http://schemas.microsoft.com/office/drawing/2014/main" id="{7D2BA438-3A78-EEAB-2FF5-32402CA8C674}"/>
                </a:ext>
              </a:extLst>
            </p:cNvPr>
            <p:cNvSpPr txBox="1"/>
            <p:nvPr/>
          </p:nvSpPr>
          <p:spPr>
            <a:xfrm>
              <a:off x="4001485" y="333474"/>
              <a:ext cx="1329945" cy="1720098"/>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3</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Selección de las técnicas de muestreo</a:t>
              </a:r>
            </a:p>
          </p:txBody>
        </p:sp>
      </p:grpSp>
      <p:grpSp>
        <p:nvGrpSpPr>
          <p:cNvPr id="14" name="Grupo 13">
            <a:extLst>
              <a:ext uri="{FF2B5EF4-FFF2-40B4-BE49-F238E27FC236}">
                <a16:creationId xmlns:a16="http://schemas.microsoft.com/office/drawing/2014/main" id="{F158AC2A-3C9C-8E6F-45AB-C5ED95FCCE05}"/>
              </a:ext>
            </a:extLst>
          </p:cNvPr>
          <p:cNvGrpSpPr/>
          <p:nvPr/>
        </p:nvGrpSpPr>
        <p:grpSpPr>
          <a:xfrm>
            <a:off x="8473666" y="129874"/>
            <a:ext cx="1101584" cy="901425"/>
            <a:chOff x="5937885" y="292098"/>
            <a:chExt cx="1412697" cy="1802850"/>
          </a:xfrm>
          <a:solidFill>
            <a:srgbClr val="FFC000"/>
          </a:solidFill>
        </p:grpSpPr>
        <p:sp>
          <p:nvSpPr>
            <p:cNvPr id="15" name="Rectángulo: esquinas redondeadas 14">
              <a:extLst>
                <a:ext uri="{FF2B5EF4-FFF2-40B4-BE49-F238E27FC236}">
                  <a16:creationId xmlns:a16="http://schemas.microsoft.com/office/drawing/2014/main" id="{3318175F-6A9E-A23A-0E2F-D1561236B1DF}"/>
                </a:ext>
              </a:extLst>
            </p:cNvPr>
            <p:cNvSpPr/>
            <p:nvPr/>
          </p:nvSpPr>
          <p:spPr>
            <a:xfrm>
              <a:off x="5937885" y="292098"/>
              <a:ext cx="1412697" cy="1802850"/>
            </a:xfrm>
            <a:prstGeom prst="roundRect">
              <a:avLst>
                <a:gd name="adj" fmla="val 10000"/>
              </a:avLst>
            </a:prstGeom>
            <a:grpFill/>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MX" sz="1000"/>
            </a:p>
          </p:txBody>
        </p:sp>
        <p:sp>
          <p:nvSpPr>
            <p:cNvPr id="16" name="Rectángulo: esquinas redondeadas 10">
              <a:extLst>
                <a:ext uri="{FF2B5EF4-FFF2-40B4-BE49-F238E27FC236}">
                  <a16:creationId xmlns:a16="http://schemas.microsoft.com/office/drawing/2014/main" id="{873EE400-6C1A-8B83-DC41-817E7A9D08BC}"/>
                </a:ext>
              </a:extLst>
            </p:cNvPr>
            <p:cNvSpPr txBox="1"/>
            <p:nvPr/>
          </p:nvSpPr>
          <p:spPr>
            <a:xfrm>
              <a:off x="5979261" y="333474"/>
              <a:ext cx="1329945" cy="1720098"/>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MX" sz="1000" b="1" kern="1200" dirty="0">
                  <a:latin typeface="Times New Roman" panose="02020603050405020304" pitchFamily="18" charset="0"/>
                  <a:cs typeface="Times New Roman" panose="02020603050405020304" pitchFamily="18" charset="0"/>
                </a:rPr>
                <a:t>ETAPA 4</a:t>
              </a:r>
            </a:p>
            <a:p>
              <a:pPr marL="0" lvl="0" indent="0" algn="ctr" defTabSz="711200">
                <a:lnSpc>
                  <a:spcPct val="90000"/>
                </a:lnSpc>
                <a:spcBef>
                  <a:spcPct val="0"/>
                </a:spcBef>
                <a:spcAft>
                  <a:spcPct val="35000"/>
                </a:spcAft>
                <a:buNone/>
              </a:pPr>
              <a:r>
                <a:rPr lang="es-MX" sz="1000" kern="1200" dirty="0">
                  <a:latin typeface="Times New Roman" panose="02020603050405020304" pitchFamily="18" charset="0"/>
                  <a:cs typeface="Times New Roman" panose="02020603050405020304" pitchFamily="18" charset="0"/>
                </a:rPr>
                <a:t>Determinación del tamaño de la muestra</a:t>
              </a:r>
            </a:p>
          </p:txBody>
        </p:sp>
      </p:grpSp>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C9ADB9CE-CC43-08F3-270E-E9760DF93BFB}"/>
                  </a:ext>
                </a:extLst>
              </p:cNvPr>
              <p:cNvSpPr txBox="1"/>
              <p:nvPr/>
            </p:nvSpPr>
            <p:spPr>
              <a:xfrm>
                <a:off x="7902348" y="2254456"/>
                <a:ext cx="2831910" cy="8198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s-MX" sz="16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𝐸</m:t>
                      </m:r>
                      <m:r>
                        <a:rPr kumimoji="0" lang="es-MX" sz="16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m:t>
                      </m:r>
                      <m:sSub>
                        <m:sSubPr>
                          <m:ctrlPr>
                            <a:rPr kumimoji="0" lang="es-MX" sz="16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s-MX" sz="16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𝑧</m:t>
                          </m:r>
                        </m:e>
                        <m:sub>
                          <m:f>
                            <m:fPr>
                              <m:type m:val="skw"/>
                              <m:ctrlPr>
                                <a:rPr kumimoji="0" lang="es-MX" sz="16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fPr>
                            <m:num>
                              <m:r>
                                <a:rPr kumimoji="0" lang="es-MX" sz="16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𝛼</m:t>
                              </m:r>
                            </m:num>
                            <m:den>
                              <m:r>
                                <a:rPr kumimoji="0" lang="es-MX" sz="16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2</m:t>
                              </m:r>
                            </m:den>
                          </m:f>
                        </m:sub>
                      </m:sSub>
                      <m:r>
                        <a:rPr kumimoji="0" lang="es-MX" sz="16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f>
                        <m:fPr>
                          <m:ctrlPr>
                            <a:rPr kumimoji="0" lang="es-MX" sz="16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r>
                            <a:rPr kumimoji="0" lang="es-MX" sz="16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𝜎</m:t>
                          </m:r>
                        </m:num>
                        <m:den>
                          <m:rad>
                            <m:radPr>
                              <m:degHide m:val="on"/>
                              <m:ctrlPr>
                                <a:rPr kumimoji="0" lang="es-MX" sz="16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radPr>
                            <m:deg/>
                            <m:e>
                              <m:r>
                                <a:rPr kumimoji="0" lang="es-MX" sz="16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𝑛</m:t>
                              </m:r>
                            </m:e>
                          </m:rad>
                        </m:den>
                      </m:f>
                      <m:r>
                        <a:rPr kumimoji="0" lang="es-MX" sz="16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ad>
                        <m:radPr>
                          <m:degHide m:val="on"/>
                          <m:ctrlPr>
                            <a:rPr kumimoji="0" lang="es-MX" sz="16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radPr>
                        <m:deg/>
                        <m:e>
                          <m:f>
                            <m:fPr>
                              <m:ctrlPr>
                                <a:rPr kumimoji="0" lang="es-MX" sz="16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r>
                                <a:rPr kumimoji="0" lang="es-MX" sz="16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𝑁</m:t>
                              </m:r>
                              <m:r>
                                <a:rPr kumimoji="0" lang="es-MX" sz="16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s-MX" sz="16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𝑛</m:t>
                              </m:r>
                            </m:num>
                            <m:den>
                              <m:r>
                                <a:rPr kumimoji="0" lang="es-MX" sz="16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𝑁</m:t>
                              </m:r>
                              <m:r>
                                <a:rPr kumimoji="0" lang="es-MX" sz="16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−1</m:t>
                              </m:r>
                            </m:den>
                          </m:f>
                        </m:e>
                      </m:rad>
                      <m:r>
                        <a:rPr kumimoji="0" lang="es-MX" sz="1600" b="0" i="1" u="none" strike="noStrike" kern="120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 </m:t>
                      </m:r>
                    </m:oMath>
                  </m:oMathPara>
                </a14:m>
                <a:endParaRPr lang="es-MX" sz="1600" dirty="0"/>
              </a:p>
            </p:txBody>
          </p:sp>
        </mc:Choice>
        <mc:Fallback xmlns="">
          <p:sp>
            <p:nvSpPr>
              <p:cNvPr id="18" name="CuadroTexto 17">
                <a:extLst>
                  <a:ext uri="{FF2B5EF4-FFF2-40B4-BE49-F238E27FC236}">
                    <a16:creationId xmlns:a16="http://schemas.microsoft.com/office/drawing/2014/main" id="{C9ADB9CE-CC43-08F3-270E-E9760DF93BFB}"/>
                  </a:ext>
                </a:extLst>
              </p:cNvPr>
              <p:cNvSpPr txBox="1">
                <a:spLocks noRot="1" noChangeAspect="1" noMove="1" noResize="1" noEditPoints="1" noAdjustHandles="1" noChangeArrowheads="1" noChangeShapeType="1" noTextEdit="1"/>
              </p:cNvSpPr>
              <p:nvPr/>
            </p:nvSpPr>
            <p:spPr>
              <a:xfrm>
                <a:off x="7902348" y="2254456"/>
                <a:ext cx="2831910" cy="819840"/>
              </a:xfrm>
              <a:prstGeom prst="rect">
                <a:avLst/>
              </a:prstGeom>
              <a:blipFill>
                <a:blip r:embed="rId5"/>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CD6A6785-6FCF-BA12-8352-4AC4E7BC9001}"/>
                  </a:ext>
                </a:extLst>
              </p:cNvPr>
              <p:cNvSpPr txBox="1"/>
              <p:nvPr/>
            </p:nvSpPr>
            <p:spPr>
              <a:xfrm>
                <a:off x="8002345" y="3259456"/>
                <a:ext cx="3145809" cy="9618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s-MX" sz="16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𝑛</m:t>
                      </m:r>
                      <m:r>
                        <a:rPr kumimoji="0" lang="es-MX" sz="1600" b="0" i="1" u="none" strike="noStrike" kern="1200" cap="none" spc="0" normalizeH="0" baseline="0" noProof="0" dirty="0" smtClean="0">
                          <a:ln>
                            <a:noFill/>
                          </a:ln>
                          <a:solidFill>
                            <a:prstClr val="black"/>
                          </a:solidFill>
                          <a:effectLst/>
                          <a:uLnTx/>
                          <a:uFillTx/>
                          <a:latin typeface="Cambria Math" panose="02040503050406030204" pitchFamily="18" charset="0"/>
                          <a:cs typeface="Times New Roman" panose="02020603050405020304" pitchFamily="18" charset="0"/>
                        </a:rPr>
                        <m:t>=</m:t>
                      </m:r>
                      <m:f>
                        <m:fPr>
                          <m:ctrlPr>
                            <a:rPr kumimoji="0" lang="es-MX" sz="1600" b="0" i="1" u="none" strike="noStrike" kern="1200" cap="none" spc="0" normalizeH="0" baseline="0" noProof="0" dirty="0">
                              <a:ln>
                                <a:noFill/>
                              </a:ln>
                              <a:solidFill>
                                <a:prstClr val="black"/>
                              </a:solidFill>
                              <a:effectLst/>
                              <a:uLnTx/>
                              <a:uFillTx/>
                              <a:latin typeface="Cambria Math" panose="02040503050406030204" pitchFamily="18" charset="0"/>
                              <a:cs typeface="Times New Roman" panose="02020603050405020304" pitchFamily="18" charset="0"/>
                            </a:rPr>
                          </m:ctrlPr>
                        </m:fPr>
                        <m:num>
                          <m:sSup>
                            <m:sSupPr>
                              <m:ctrlPr>
                                <a:rPr kumimoji="0" lang="es-MX" sz="1600" b="0" i="1" u="none" strike="noStrike" kern="1200" cap="none" spc="0" normalizeH="0" baseline="0" noProof="0" dirty="0">
                                  <a:ln>
                                    <a:noFill/>
                                  </a:ln>
                                  <a:solidFill>
                                    <a:prstClr val="black"/>
                                  </a:solidFill>
                                  <a:effectLst/>
                                  <a:uLnTx/>
                                  <a:uFillTx/>
                                  <a:latin typeface="Cambria Math" panose="02040503050406030204" pitchFamily="18" charset="0"/>
                                  <a:cs typeface="Times New Roman" panose="02020603050405020304" pitchFamily="18" charset="0"/>
                                </a:rPr>
                              </m:ctrlPr>
                            </m:sSupPr>
                            <m:e>
                              <m:d>
                                <m:dPr>
                                  <m:ctrlPr>
                                    <a:rPr kumimoji="0" lang="es-MX" sz="1600" b="0" i="1" u="none" strike="noStrike" kern="1200" cap="none" spc="0" normalizeH="0" baseline="0" noProof="0" dirty="0">
                                      <a:ln>
                                        <a:noFill/>
                                      </a:ln>
                                      <a:solidFill>
                                        <a:prstClr val="black"/>
                                      </a:solidFill>
                                      <a:effectLst/>
                                      <a:uLnTx/>
                                      <a:uFillTx/>
                                      <a:latin typeface="Cambria Math" panose="02040503050406030204" pitchFamily="18" charset="0"/>
                                      <a:cs typeface="Times New Roman" panose="02020603050405020304" pitchFamily="18" charset="0"/>
                                    </a:rPr>
                                  </m:ctrlPr>
                                </m:dPr>
                                <m:e>
                                  <m:sSub>
                                    <m:sSubPr>
                                      <m:ctrlPr>
                                        <a:rPr kumimoji="0" lang="es-MX" sz="16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s-MX" sz="16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𝑧</m:t>
                                      </m:r>
                                    </m:e>
                                    <m:sub>
                                      <m:f>
                                        <m:fPr>
                                          <m:type m:val="skw"/>
                                          <m:ctrlPr>
                                            <a:rPr kumimoji="0" lang="es-MX" sz="16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ctrlPr>
                                        </m:fPr>
                                        <m:num>
                                          <m:r>
                                            <a:rPr kumimoji="0" lang="es-MX"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𝛼</m:t>
                                          </m:r>
                                        </m:num>
                                        <m:den>
                                          <m:r>
                                            <a:rPr kumimoji="0" lang="es-MX" sz="16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2</m:t>
                                          </m:r>
                                        </m:den>
                                      </m:f>
                                    </m:sub>
                                  </m:sSub>
                                </m:e>
                              </m:d>
                            </m:e>
                            <m:sup>
                              <m:r>
                                <a:rPr kumimoji="0" lang="es-MX" sz="1600" b="0" i="1" u="none" strike="noStrike" kern="1200" cap="none" spc="0" normalizeH="0" baseline="0" noProof="0" dirty="0">
                                  <a:ln>
                                    <a:noFill/>
                                  </a:ln>
                                  <a:solidFill>
                                    <a:prstClr val="black"/>
                                  </a:solidFill>
                                  <a:effectLst/>
                                  <a:uLnTx/>
                                  <a:uFillTx/>
                                  <a:latin typeface="Cambria Math" panose="02040503050406030204" pitchFamily="18" charset="0"/>
                                  <a:cs typeface="Times New Roman" panose="02020603050405020304" pitchFamily="18" charset="0"/>
                                </a:rPr>
                                <m:t>2</m:t>
                              </m:r>
                            </m:sup>
                          </m:sSup>
                          <m:r>
                            <a:rPr kumimoji="0" lang="es-MX" sz="1600" b="0" i="1"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Sup>
                            <m:sSupPr>
                              <m:ctrlPr>
                                <a:rPr kumimoji="0" lang="es-MX" sz="1600" b="0" i="1"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s-MX" sz="1600" b="0" i="1"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𝜎</m:t>
                              </m:r>
                            </m:e>
                            <m:sup>
                              <m:r>
                                <a:rPr kumimoji="0" lang="es-MX" sz="1600" b="0" i="1"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2</m:t>
                              </m:r>
                            </m:sup>
                          </m:sSup>
                          <m:r>
                            <a:rPr kumimoji="0" lang="es-MX"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s-MX"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𝑁</m:t>
                          </m:r>
                        </m:num>
                        <m:den>
                          <m:sSup>
                            <m:sSupPr>
                              <m:ctrlPr>
                                <a:rPr kumimoji="0" lang="es-MX" sz="1600" b="0" i="1" u="none" strike="noStrike" kern="1200" cap="none" spc="0" normalizeH="0" baseline="0" noProof="0" dirty="0">
                                  <a:ln>
                                    <a:noFill/>
                                  </a:ln>
                                  <a:solidFill>
                                    <a:prstClr val="black"/>
                                  </a:solidFill>
                                  <a:effectLst/>
                                  <a:uLnTx/>
                                  <a:uFillTx/>
                                  <a:latin typeface="Cambria Math" panose="02040503050406030204" pitchFamily="18" charset="0"/>
                                  <a:cs typeface="Times New Roman" panose="02020603050405020304" pitchFamily="18" charset="0"/>
                                </a:rPr>
                              </m:ctrlPr>
                            </m:sSupPr>
                            <m:e>
                              <m:sSup>
                                <m:sSupPr>
                                  <m:ctrlPr>
                                    <a:rPr kumimoji="0" lang="es-MX" sz="1600" b="0" i="1" u="none" strike="noStrike" kern="1200" cap="none" spc="0" normalizeH="0" baseline="0" noProof="0" dirty="0">
                                      <a:ln>
                                        <a:noFill/>
                                      </a:ln>
                                      <a:solidFill>
                                        <a:prstClr val="black"/>
                                      </a:solidFill>
                                      <a:effectLst/>
                                      <a:uLnTx/>
                                      <a:uFillTx/>
                                      <a:latin typeface="Cambria Math" panose="02040503050406030204" pitchFamily="18" charset="0"/>
                                      <a:cs typeface="Times New Roman" panose="02020603050405020304" pitchFamily="18" charset="0"/>
                                    </a:rPr>
                                  </m:ctrlPr>
                                </m:sSupPr>
                                <m:e>
                                  <m:d>
                                    <m:dPr>
                                      <m:ctrlPr>
                                        <a:rPr kumimoji="0" lang="es-MX" sz="1600" b="0" i="1" u="none" strike="noStrike" kern="1200" cap="none" spc="0" normalizeH="0" baseline="0" noProof="0" dirty="0">
                                          <a:ln>
                                            <a:noFill/>
                                          </a:ln>
                                          <a:solidFill>
                                            <a:prstClr val="black"/>
                                          </a:solidFill>
                                          <a:effectLst/>
                                          <a:uLnTx/>
                                          <a:uFillTx/>
                                          <a:latin typeface="Cambria Math" panose="02040503050406030204" pitchFamily="18" charset="0"/>
                                          <a:cs typeface="Times New Roman" panose="02020603050405020304" pitchFamily="18" charset="0"/>
                                        </a:rPr>
                                      </m:ctrlPr>
                                    </m:dPr>
                                    <m:e>
                                      <m:sSub>
                                        <m:sSubPr>
                                          <m:ctrlPr>
                                            <a:rPr kumimoji="0" lang="es-MX" sz="16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ctrlPr>
                                        </m:sSubPr>
                                        <m:e>
                                          <m:r>
                                            <a:rPr kumimoji="0" lang="es-MX" sz="16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𝑧</m:t>
                                          </m:r>
                                        </m:e>
                                        <m:sub>
                                          <m:f>
                                            <m:fPr>
                                              <m:type m:val="skw"/>
                                              <m:ctrlPr>
                                                <a:rPr kumimoji="0" lang="es-MX" sz="16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ctrlPr>
                                            </m:fPr>
                                            <m:num>
                                              <m:r>
                                                <a:rPr kumimoji="0" lang="es-MX" sz="16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𝛼</m:t>
                                              </m:r>
                                            </m:num>
                                            <m:den>
                                              <m:r>
                                                <a:rPr kumimoji="0" lang="es-MX" sz="16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2</m:t>
                                              </m:r>
                                            </m:den>
                                          </m:f>
                                        </m:sub>
                                      </m:sSub>
                                    </m:e>
                                  </m:d>
                                </m:e>
                                <m:sup>
                                  <m:r>
                                    <a:rPr kumimoji="0" lang="es-MX" sz="1600" b="0" i="1" u="none" strike="noStrike" kern="1200" cap="none" spc="0" normalizeH="0" baseline="0" noProof="0" dirty="0">
                                      <a:ln>
                                        <a:noFill/>
                                      </a:ln>
                                      <a:solidFill>
                                        <a:prstClr val="black"/>
                                      </a:solidFill>
                                      <a:effectLst/>
                                      <a:uLnTx/>
                                      <a:uFillTx/>
                                      <a:latin typeface="Cambria Math" panose="02040503050406030204" pitchFamily="18" charset="0"/>
                                      <a:cs typeface="Times New Roman" panose="02020603050405020304" pitchFamily="18" charset="0"/>
                                    </a:rPr>
                                    <m:t>2</m:t>
                                  </m:r>
                                </m:sup>
                              </m:sSup>
                              <m:r>
                                <a:rPr kumimoji="0" lang="es-MX" sz="1600" b="0" i="1"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Sup>
                                <m:sSupPr>
                                  <m:ctrlPr>
                                    <a:rPr kumimoji="0" lang="es-MX" sz="1600" b="0" i="1"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s-MX" sz="1600" b="0" i="1"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𝜎</m:t>
                                  </m:r>
                                </m:e>
                                <m:sup>
                                  <m:r>
                                    <a:rPr kumimoji="0" lang="es-MX" sz="1600" b="0" i="1"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2</m:t>
                                  </m:r>
                                </m:sup>
                              </m:sSup>
                              <m:r>
                                <a:rPr kumimoji="0" lang="es-MX" sz="16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m:t>
                              </m:r>
                              <m:d>
                                <m:dPr>
                                  <m:ctrlPr>
                                    <a:rPr kumimoji="0" lang="es-MX" sz="16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ctrlPr>
                                </m:dPr>
                                <m:e>
                                  <m:r>
                                    <a:rPr kumimoji="0" lang="es-MX" sz="16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𝑁</m:t>
                                  </m:r>
                                  <m:r>
                                    <a:rPr kumimoji="0" lang="es-MX" sz="1600" b="0" i="1" u="none" strike="noStrike" kern="120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t>−1</m:t>
                                  </m:r>
                                </m:e>
                              </m:d>
                              <m:r>
                                <a:rPr kumimoji="0" lang="es-MX" sz="1600" b="0" i="1" u="none" strike="noStrike" kern="1200" cap="none" spc="0" normalizeH="0" baseline="0" noProof="0" dirty="0">
                                  <a:ln>
                                    <a:noFill/>
                                  </a:ln>
                                  <a:solidFill>
                                    <a:prstClr val="black"/>
                                  </a:solidFill>
                                  <a:effectLst/>
                                  <a:uLnTx/>
                                  <a:uFillTx/>
                                  <a:latin typeface="Cambria Math" panose="02040503050406030204" pitchFamily="18" charset="0"/>
                                  <a:cs typeface="Times New Roman" panose="02020603050405020304" pitchFamily="18" charset="0"/>
                                </a:rPr>
                                <m:t>𝐸</m:t>
                              </m:r>
                            </m:e>
                            <m:sup>
                              <m:r>
                                <a:rPr kumimoji="0" lang="es-MX" sz="1600" b="0" i="1" u="none" strike="noStrike" kern="1200" cap="none" spc="0" normalizeH="0" baseline="0" noProof="0" dirty="0">
                                  <a:ln>
                                    <a:noFill/>
                                  </a:ln>
                                  <a:solidFill>
                                    <a:prstClr val="black"/>
                                  </a:solidFill>
                                  <a:effectLst/>
                                  <a:uLnTx/>
                                  <a:uFillTx/>
                                  <a:latin typeface="Cambria Math" panose="02040503050406030204" pitchFamily="18" charset="0"/>
                                  <a:cs typeface="Times New Roman" panose="02020603050405020304" pitchFamily="18" charset="0"/>
                                </a:rPr>
                                <m:t>2</m:t>
                              </m:r>
                            </m:sup>
                          </m:sSup>
                        </m:den>
                      </m:f>
                    </m:oMath>
                  </m:oMathPara>
                </a14:m>
                <a:endParaRPr lang="es-MX" sz="1600" dirty="0"/>
              </a:p>
            </p:txBody>
          </p:sp>
        </mc:Choice>
        <mc:Fallback xmlns="">
          <p:sp>
            <p:nvSpPr>
              <p:cNvPr id="20" name="CuadroTexto 19">
                <a:extLst>
                  <a:ext uri="{FF2B5EF4-FFF2-40B4-BE49-F238E27FC236}">
                    <a16:creationId xmlns:a16="http://schemas.microsoft.com/office/drawing/2014/main" id="{CD6A6785-6FCF-BA12-8352-4AC4E7BC9001}"/>
                  </a:ext>
                </a:extLst>
              </p:cNvPr>
              <p:cNvSpPr txBox="1">
                <a:spLocks noRot="1" noChangeAspect="1" noMove="1" noResize="1" noEditPoints="1" noAdjustHandles="1" noChangeArrowheads="1" noChangeShapeType="1" noTextEdit="1"/>
              </p:cNvSpPr>
              <p:nvPr/>
            </p:nvSpPr>
            <p:spPr>
              <a:xfrm>
                <a:off x="8002345" y="3259456"/>
                <a:ext cx="3145809" cy="961866"/>
              </a:xfrm>
              <a:prstGeom prst="rect">
                <a:avLst/>
              </a:prstGeom>
              <a:blipFill>
                <a:blip r:embed="rId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4DD866D8-F63B-5744-2A21-A3DDBCA0D75E}"/>
                  </a:ext>
                </a:extLst>
              </p:cNvPr>
              <p:cNvSpPr txBox="1"/>
              <p:nvPr/>
            </p:nvSpPr>
            <p:spPr>
              <a:xfrm>
                <a:off x="964020" y="4318177"/>
                <a:ext cx="2677902" cy="1323439"/>
              </a:xfrm>
              <a:prstGeom prst="rect">
                <a:avLst/>
              </a:prstGeom>
              <a:noFill/>
              <a:ln>
                <a:solidFill>
                  <a:schemeClr val="tx1">
                    <a:lumMod val="85000"/>
                  </a:schemeClr>
                </a:solidFill>
              </a:ln>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1. </a:t>
                </a:r>
                <a:r>
                  <a:rPr lang="es-MX" sz="1600" dirty="0">
                    <a:solidFill>
                      <a:prstClr val="black"/>
                    </a:solidFill>
                    <a:latin typeface="Times New Roman" panose="02020603050405020304" pitchFamily="18" charset="0"/>
                    <a:cs typeface="Times New Roman" panose="02020603050405020304" pitchFamily="18" charset="0"/>
                  </a:rPr>
                  <a:t>Crea una función en R que construya el intervalo de confianza para estimar a la media poblacional cuando N y </a:t>
                </a:r>
                <a14:m>
                  <m:oMath xmlns:m="http://schemas.openxmlformats.org/officeDocument/2006/math">
                    <m:r>
                      <a:rPr lang="es-MX" sz="16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𝜎</m:t>
                    </m:r>
                  </m:oMath>
                </a14:m>
                <a:r>
                  <a:rPr kumimoji="0" lang="es-MX"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son conocidas.</a:t>
                </a:r>
              </a:p>
            </p:txBody>
          </p:sp>
        </mc:Choice>
        <mc:Fallback xmlns="">
          <p:sp>
            <p:nvSpPr>
              <p:cNvPr id="21" name="CuadroTexto 20">
                <a:extLst>
                  <a:ext uri="{FF2B5EF4-FFF2-40B4-BE49-F238E27FC236}">
                    <a16:creationId xmlns:a16="http://schemas.microsoft.com/office/drawing/2014/main" id="{4DD866D8-F63B-5744-2A21-A3DDBCA0D75E}"/>
                  </a:ext>
                </a:extLst>
              </p:cNvPr>
              <p:cNvSpPr txBox="1">
                <a:spLocks noRot="1" noChangeAspect="1" noMove="1" noResize="1" noEditPoints="1" noAdjustHandles="1" noChangeArrowheads="1" noChangeShapeType="1" noTextEdit="1"/>
              </p:cNvSpPr>
              <p:nvPr/>
            </p:nvSpPr>
            <p:spPr>
              <a:xfrm>
                <a:off x="964020" y="4318177"/>
                <a:ext cx="2677902" cy="1323439"/>
              </a:xfrm>
              <a:prstGeom prst="rect">
                <a:avLst/>
              </a:prstGeom>
              <a:blipFill>
                <a:blip r:embed="rId7"/>
                <a:stretch>
                  <a:fillRect l="-907" t="-913" r="-1134" b="-4566"/>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459238B0-E805-0F5A-D8C1-37C207F90CE1}"/>
                  </a:ext>
                </a:extLst>
              </p:cNvPr>
              <p:cNvSpPr txBox="1"/>
              <p:nvPr/>
            </p:nvSpPr>
            <p:spPr>
              <a:xfrm>
                <a:off x="3634384" y="4318177"/>
                <a:ext cx="4090249" cy="1291444"/>
              </a:xfrm>
              <a:prstGeom prst="rect">
                <a:avLst/>
              </a:prstGeom>
              <a:noFill/>
              <a:ln>
                <a:solidFill>
                  <a:schemeClr val="tx1">
                    <a:lumMod val="85000"/>
                  </a:schemeClr>
                </a:solidFill>
              </a:ln>
            </p:spPr>
            <p:txBody>
              <a:bodyPr wrap="square" rtlCol="0">
                <a:spAutoFit/>
              </a:bodyPr>
              <a:lstStyle/>
              <a:p>
                <a:pPr algn="ctr">
                  <a:defRPr/>
                </a:pPr>
                <a:r>
                  <a:rPr lang="es-MX" sz="1400" dirty="0">
                    <a:solidFill>
                      <a:prstClr val="black"/>
                    </a:solidFill>
                    <a:latin typeface="Times New Roman" panose="02020603050405020304" pitchFamily="18" charset="0"/>
                    <a:cs typeface="Times New Roman" panose="02020603050405020304" pitchFamily="18" charset="0"/>
                  </a:rPr>
                  <a:t>2</a:t>
                </a:r>
                <a:r>
                  <a:rPr kumimoji="0" lang="es-MX"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kumimoji="0" lang="es-MX" sz="1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Tarea:</a:t>
                </a:r>
                <a:r>
                  <a:rPr kumimoji="0" lang="es-MX" sz="1400" b="1" i="0" u="none" strike="noStrike" kern="1200" cap="none" spc="0" normalizeH="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lang="es-MX" sz="1400" noProof="0" dirty="0">
                    <a:solidFill>
                      <a:prstClr val="black"/>
                    </a:solidFill>
                    <a:latin typeface="Times New Roman" panose="02020603050405020304" pitchFamily="18" charset="0"/>
                    <a:cs typeface="Times New Roman" panose="02020603050405020304" pitchFamily="18" charset="0"/>
                  </a:rPr>
                  <a:t>Demuestra que si</a:t>
                </a:r>
                <a14:m>
                  <m:oMath xmlns:m="http://schemas.openxmlformats.org/officeDocument/2006/math">
                    <m:r>
                      <a:rPr lang="es-MX" sz="1400" b="0" i="0" smtClean="0">
                        <a:solidFill>
                          <a:prstClr val="black"/>
                        </a:solidFill>
                        <a:latin typeface="Cambria Math" panose="02040503050406030204" pitchFamily="18" charset="0"/>
                        <a:cs typeface="Times New Roman" panose="02020603050405020304" pitchFamily="18" charset="0"/>
                      </a:rPr>
                      <m:t> </m:t>
                    </m:r>
                    <m:r>
                      <a:rPr lang="es-MX" sz="1400" i="1">
                        <a:solidFill>
                          <a:prstClr val="black"/>
                        </a:solidFill>
                        <a:latin typeface="Cambria Math" panose="02040503050406030204" pitchFamily="18" charset="0"/>
                        <a:cs typeface="Times New Roman" panose="02020603050405020304" pitchFamily="18" charset="0"/>
                      </a:rPr>
                      <m:t>𝐸</m:t>
                    </m:r>
                    <m:r>
                      <a:rPr lang="es-MX" sz="1400" i="1">
                        <a:solidFill>
                          <a:prstClr val="black"/>
                        </a:solidFill>
                        <a:latin typeface="Cambria Math" panose="02040503050406030204" pitchFamily="18" charset="0"/>
                        <a:cs typeface="Times New Roman" panose="02020603050405020304" pitchFamily="18" charset="0"/>
                      </a:rPr>
                      <m:t>=</m:t>
                    </m:r>
                    <m:sSub>
                      <m:sSubPr>
                        <m:ctrlPr>
                          <a:rPr lang="es-MX" sz="1400" i="1">
                            <a:solidFill>
                              <a:prstClr val="black"/>
                            </a:solidFill>
                            <a:latin typeface="Cambria Math" panose="02040503050406030204" pitchFamily="18" charset="0"/>
                            <a:cs typeface="Times New Roman" panose="02020603050405020304" pitchFamily="18" charset="0"/>
                          </a:rPr>
                        </m:ctrlPr>
                      </m:sSubPr>
                      <m:e>
                        <m:r>
                          <a:rPr lang="es-MX" sz="1400" i="1">
                            <a:solidFill>
                              <a:prstClr val="black"/>
                            </a:solidFill>
                            <a:latin typeface="Cambria Math" panose="02040503050406030204" pitchFamily="18" charset="0"/>
                            <a:cs typeface="Times New Roman" panose="02020603050405020304" pitchFamily="18" charset="0"/>
                          </a:rPr>
                          <m:t>𝑧</m:t>
                        </m:r>
                      </m:e>
                      <m:sub>
                        <m:f>
                          <m:fPr>
                            <m:type m:val="skw"/>
                            <m:ctrlPr>
                              <a:rPr lang="es-MX" sz="1400" i="1">
                                <a:solidFill>
                                  <a:prstClr val="black"/>
                                </a:solidFill>
                                <a:latin typeface="Cambria Math" panose="02040503050406030204" pitchFamily="18" charset="0"/>
                                <a:cs typeface="Times New Roman" panose="02020603050405020304" pitchFamily="18" charset="0"/>
                              </a:rPr>
                            </m:ctrlPr>
                          </m:fPr>
                          <m:num>
                            <m:r>
                              <a:rPr lang="es-MX"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s-MX" sz="1400" i="1">
                                <a:solidFill>
                                  <a:prstClr val="black"/>
                                </a:solidFill>
                                <a:latin typeface="Cambria Math" panose="02040503050406030204" pitchFamily="18" charset="0"/>
                                <a:cs typeface="Times New Roman" panose="02020603050405020304" pitchFamily="18" charset="0"/>
                              </a:rPr>
                              <m:t>2</m:t>
                            </m:r>
                          </m:den>
                        </m:f>
                      </m:sub>
                    </m:sSub>
                    <m:r>
                      <a:rPr lang="es-MX"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s-MX"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s-MX"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𝜎</m:t>
                        </m:r>
                      </m:num>
                      <m:den>
                        <m:rad>
                          <m:radPr>
                            <m:degHide m:val="on"/>
                            <m:ctrlPr>
                              <a:rPr lang="es-MX"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radPr>
                          <m:deg/>
                          <m:e>
                            <m:r>
                              <a:rPr lang="es-MX"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𝑛</m:t>
                            </m:r>
                          </m:e>
                        </m:rad>
                      </m:den>
                    </m:f>
                    <m:r>
                      <a:rPr lang="es-MX"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ad>
                      <m:radPr>
                        <m:degHide m:val="on"/>
                        <m:ctrlPr>
                          <a:rPr lang="es-MX"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radPr>
                      <m:deg/>
                      <m:e>
                        <m:f>
                          <m:fPr>
                            <m:ctrlPr>
                              <a:rPr lang="es-MX"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fPr>
                          <m:num>
                            <m:r>
                              <a:rPr lang="es-MX"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𝑁</m:t>
                            </m:r>
                            <m:r>
                              <a:rPr lang="es-MX"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s-MX"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𝑛</m:t>
                            </m:r>
                          </m:num>
                          <m:den>
                            <m:r>
                              <a:rPr lang="es-MX"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𝑁</m:t>
                            </m:r>
                            <m:r>
                              <a:rPr lang="es-MX"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−1</m:t>
                            </m:r>
                          </m:den>
                        </m:f>
                      </m:e>
                    </m:rad>
                    <m:r>
                      <a:rPr lang="es-MX" sz="1400" i="1">
                        <a:solidFill>
                          <a:prstClr val="black"/>
                        </a:solidFill>
                        <a:latin typeface="Cambria Math" panose="02040503050406030204" pitchFamily="18" charset="0"/>
                        <a:cs typeface="Times New Roman" panose="02020603050405020304" pitchFamily="18" charset="0"/>
                      </a:rPr>
                      <m:t> </m:t>
                    </m:r>
                  </m:oMath>
                </a14:m>
                <a:endParaRPr lang="es-MX" sz="1400" i="1" dirty="0">
                  <a:solidFill>
                    <a:prstClr val="black"/>
                  </a:solidFill>
                  <a:latin typeface="Cambria Math" panose="02040503050406030204" pitchFamily="18" charset="0"/>
                  <a:cs typeface="Times New Roman" panose="02020603050405020304" pitchFamily="18" charset="0"/>
                </a:endParaRPr>
              </a:p>
              <a:p>
                <a:pPr algn="ctr">
                  <a:defRPr/>
                </a:pPr>
                <a14:m>
                  <m:oMathPara xmlns:m="http://schemas.openxmlformats.org/officeDocument/2006/math">
                    <m:oMathParaPr>
                      <m:jc m:val="centerGroup"/>
                    </m:oMathParaPr>
                    <m:oMath xmlns:m="http://schemas.openxmlformats.org/officeDocument/2006/math">
                      <m:r>
                        <a:rPr lang="es-MX" sz="14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s-MX" sz="1400" i="1" dirty="0">
                          <a:solidFill>
                            <a:prstClr val="black"/>
                          </a:solidFill>
                          <a:latin typeface="Cambria Math" panose="02040503050406030204" pitchFamily="18" charset="0"/>
                          <a:cs typeface="Times New Roman" panose="02020603050405020304" pitchFamily="18" charset="0"/>
                        </a:rPr>
                        <m:t>𝑛</m:t>
                      </m:r>
                      <m:r>
                        <a:rPr lang="es-MX" sz="1400" i="1" dirty="0">
                          <a:solidFill>
                            <a:prstClr val="black"/>
                          </a:solidFill>
                          <a:latin typeface="Cambria Math" panose="02040503050406030204" pitchFamily="18" charset="0"/>
                          <a:cs typeface="Times New Roman" panose="02020603050405020304" pitchFamily="18" charset="0"/>
                        </a:rPr>
                        <m:t>=</m:t>
                      </m:r>
                      <m:f>
                        <m:fPr>
                          <m:ctrlPr>
                            <a:rPr lang="es-MX" sz="1400" i="1" dirty="0">
                              <a:solidFill>
                                <a:prstClr val="black"/>
                              </a:solidFill>
                              <a:latin typeface="Cambria Math" panose="02040503050406030204" pitchFamily="18" charset="0"/>
                              <a:cs typeface="Times New Roman" panose="02020603050405020304" pitchFamily="18" charset="0"/>
                            </a:rPr>
                          </m:ctrlPr>
                        </m:fPr>
                        <m:num>
                          <m:sSup>
                            <m:sSupPr>
                              <m:ctrlPr>
                                <a:rPr lang="es-MX" sz="1400" i="1" dirty="0">
                                  <a:solidFill>
                                    <a:prstClr val="black"/>
                                  </a:solidFill>
                                  <a:latin typeface="Cambria Math" panose="02040503050406030204" pitchFamily="18" charset="0"/>
                                  <a:cs typeface="Times New Roman" panose="02020603050405020304" pitchFamily="18" charset="0"/>
                                </a:rPr>
                              </m:ctrlPr>
                            </m:sSupPr>
                            <m:e>
                              <m:d>
                                <m:dPr>
                                  <m:ctrlPr>
                                    <a:rPr lang="es-MX" sz="1400" i="1" dirty="0">
                                      <a:solidFill>
                                        <a:prstClr val="black"/>
                                      </a:solidFill>
                                      <a:latin typeface="Cambria Math" panose="02040503050406030204" pitchFamily="18" charset="0"/>
                                      <a:cs typeface="Times New Roman" panose="02020603050405020304" pitchFamily="18" charset="0"/>
                                    </a:rPr>
                                  </m:ctrlPr>
                                </m:dPr>
                                <m:e>
                                  <m:sSub>
                                    <m:sSubPr>
                                      <m:ctrlPr>
                                        <a:rPr lang="es-MX" sz="1400" i="1">
                                          <a:solidFill>
                                            <a:prstClr val="black"/>
                                          </a:solidFill>
                                          <a:latin typeface="Cambria Math" panose="02040503050406030204" pitchFamily="18" charset="0"/>
                                          <a:cs typeface="Times New Roman" panose="02020603050405020304" pitchFamily="18" charset="0"/>
                                        </a:rPr>
                                      </m:ctrlPr>
                                    </m:sSubPr>
                                    <m:e>
                                      <m:r>
                                        <a:rPr lang="es-MX" sz="1400" i="1">
                                          <a:solidFill>
                                            <a:prstClr val="black"/>
                                          </a:solidFill>
                                          <a:latin typeface="Cambria Math" panose="02040503050406030204" pitchFamily="18" charset="0"/>
                                          <a:cs typeface="Times New Roman" panose="02020603050405020304" pitchFamily="18" charset="0"/>
                                        </a:rPr>
                                        <m:t>𝑧</m:t>
                                      </m:r>
                                    </m:e>
                                    <m:sub>
                                      <m:f>
                                        <m:fPr>
                                          <m:type m:val="skw"/>
                                          <m:ctrlPr>
                                            <a:rPr lang="es-MX" sz="1400" i="1">
                                              <a:solidFill>
                                                <a:prstClr val="black"/>
                                              </a:solidFill>
                                              <a:latin typeface="Cambria Math" panose="02040503050406030204" pitchFamily="18" charset="0"/>
                                              <a:cs typeface="Times New Roman" panose="02020603050405020304" pitchFamily="18" charset="0"/>
                                            </a:rPr>
                                          </m:ctrlPr>
                                        </m:fPr>
                                        <m:num>
                                          <m:r>
                                            <a:rPr lang="es-MX"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s-MX" sz="1400" i="1">
                                              <a:solidFill>
                                                <a:prstClr val="black"/>
                                              </a:solidFill>
                                              <a:latin typeface="Cambria Math" panose="02040503050406030204" pitchFamily="18" charset="0"/>
                                              <a:cs typeface="Times New Roman" panose="02020603050405020304" pitchFamily="18" charset="0"/>
                                            </a:rPr>
                                            <m:t>2</m:t>
                                          </m:r>
                                        </m:den>
                                      </m:f>
                                    </m:sub>
                                  </m:sSub>
                                </m:e>
                              </m:d>
                            </m:e>
                            <m:sup>
                              <m:r>
                                <a:rPr lang="es-MX" sz="1400" i="1" dirty="0">
                                  <a:solidFill>
                                    <a:prstClr val="black"/>
                                  </a:solidFill>
                                  <a:latin typeface="Cambria Math" panose="02040503050406030204" pitchFamily="18" charset="0"/>
                                  <a:cs typeface="Times New Roman" panose="02020603050405020304" pitchFamily="18" charset="0"/>
                                </a:rPr>
                                <m:t>2</m:t>
                              </m:r>
                            </m:sup>
                          </m:sSup>
                          <m:r>
                            <a:rPr lang="es-MX" sz="1400" i="1"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s-MX" sz="1400" i="1"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s-MX" sz="1400" i="1"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𝜎</m:t>
                              </m:r>
                            </m:e>
                            <m:sup>
                              <m:r>
                                <a:rPr lang="es-MX" sz="1400" i="1"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m:t>
                              </m:r>
                            </m:sup>
                          </m:sSup>
                          <m:r>
                            <a:rPr lang="es-MX"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r>
                            <a:rPr lang="es-MX"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𝑁</m:t>
                          </m:r>
                        </m:num>
                        <m:den>
                          <m:sSup>
                            <m:sSupPr>
                              <m:ctrlPr>
                                <a:rPr lang="es-MX" sz="1400" i="1" dirty="0">
                                  <a:solidFill>
                                    <a:prstClr val="black"/>
                                  </a:solidFill>
                                  <a:latin typeface="Cambria Math" panose="02040503050406030204" pitchFamily="18" charset="0"/>
                                  <a:cs typeface="Times New Roman" panose="02020603050405020304" pitchFamily="18" charset="0"/>
                                </a:rPr>
                              </m:ctrlPr>
                            </m:sSupPr>
                            <m:e>
                              <m:sSup>
                                <m:sSupPr>
                                  <m:ctrlPr>
                                    <a:rPr lang="es-MX" sz="1400" i="1" dirty="0">
                                      <a:solidFill>
                                        <a:prstClr val="black"/>
                                      </a:solidFill>
                                      <a:latin typeface="Cambria Math" panose="02040503050406030204" pitchFamily="18" charset="0"/>
                                      <a:cs typeface="Times New Roman" panose="02020603050405020304" pitchFamily="18" charset="0"/>
                                    </a:rPr>
                                  </m:ctrlPr>
                                </m:sSupPr>
                                <m:e>
                                  <m:d>
                                    <m:dPr>
                                      <m:ctrlPr>
                                        <a:rPr lang="es-MX" sz="1400" i="1" dirty="0">
                                          <a:solidFill>
                                            <a:prstClr val="black"/>
                                          </a:solidFill>
                                          <a:latin typeface="Cambria Math" panose="02040503050406030204" pitchFamily="18" charset="0"/>
                                          <a:cs typeface="Times New Roman" panose="02020603050405020304" pitchFamily="18" charset="0"/>
                                        </a:rPr>
                                      </m:ctrlPr>
                                    </m:dPr>
                                    <m:e>
                                      <m:sSub>
                                        <m:sSubPr>
                                          <m:ctrlPr>
                                            <a:rPr lang="es-MX" sz="1400" i="1">
                                              <a:solidFill>
                                                <a:prstClr val="black"/>
                                              </a:solidFill>
                                              <a:latin typeface="Cambria Math" panose="02040503050406030204" pitchFamily="18" charset="0"/>
                                              <a:cs typeface="Times New Roman" panose="02020603050405020304" pitchFamily="18" charset="0"/>
                                            </a:rPr>
                                          </m:ctrlPr>
                                        </m:sSubPr>
                                        <m:e>
                                          <m:r>
                                            <a:rPr lang="es-MX" sz="1400" i="1">
                                              <a:solidFill>
                                                <a:prstClr val="black"/>
                                              </a:solidFill>
                                              <a:latin typeface="Cambria Math" panose="02040503050406030204" pitchFamily="18" charset="0"/>
                                              <a:cs typeface="Times New Roman" panose="02020603050405020304" pitchFamily="18" charset="0"/>
                                            </a:rPr>
                                            <m:t>𝑧</m:t>
                                          </m:r>
                                        </m:e>
                                        <m:sub>
                                          <m:f>
                                            <m:fPr>
                                              <m:type m:val="skw"/>
                                              <m:ctrlPr>
                                                <a:rPr lang="es-MX" sz="1400" i="1">
                                                  <a:solidFill>
                                                    <a:prstClr val="black"/>
                                                  </a:solidFill>
                                                  <a:latin typeface="Cambria Math" panose="02040503050406030204" pitchFamily="18" charset="0"/>
                                                  <a:cs typeface="Times New Roman" panose="02020603050405020304" pitchFamily="18" charset="0"/>
                                                </a:rPr>
                                              </m:ctrlPr>
                                            </m:fPr>
                                            <m:num>
                                              <m:r>
                                                <a:rPr lang="es-MX" sz="14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𝛼</m:t>
                                              </m:r>
                                            </m:num>
                                            <m:den>
                                              <m:r>
                                                <a:rPr lang="es-MX" sz="1400" i="1">
                                                  <a:solidFill>
                                                    <a:prstClr val="black"/>
                                                  </a:solidFill>
                                                  <a:latin typeface="Cambria Math" panose="02040503050406030204" pitchFamily="18" charset="0"/>
                                                  <a:cs typeface="Times New Roman" panose="02020603050405020304" pitchFamily="18" charset="0"/>
                                                </a:rPr>
                                                <m:t>2</m:t>
                                              </m:r>
                                            </m:den>
                                          </m:f>
                                        </m:sub>
                                      </m:sSub>
                                    </m:e>
                                  </m:d>
                                </m:e>
                                <m:sup>
                                  <m:r>
                                    <a:rPr lang="es-MX" sz="1400" i="1" dirty="0">
                                      <a:solidFill>
                                        <a:prstClr val="black"/>
                                      </a:solidFill>
                                      <a:latin typeface="Cambria Math" panose="02040503050406030204" pitchFamily="18" charset="0"/>
                                      <a:cs typeface="Times New Roman" panose="02020603050405020304" pitchFamily="18" charset="0"/>
                                    </a:rPr>
                                    <m:t>2</m:t>
                                  </m:r>
                                </m:sup>
                              </m:sSup>
                              <m:r>
                                <a:rPr lang="es-MX" sz="1400" i="1"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s-MX" sz="1400" i="1"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s-MX" sz="1400" i="1"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𝜎</m:t>
                                  </m:r>
                                </m:e>
                                <m:sup>
                                  <m:r>
                                    <a:rPr lang="es-MX" sz="1400" i="1"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2</m:t>
                                  </m:r>
                                </m:sup>
                              </m:sSup>
                              <m:r>
                                <a:rPr lang="es-MX" sz="1400" i="1">
                                  <a:solidFill>
                                    <a:prstClr val="black"/>
                                  </a:solidFill>
                                  <a:latin typeface="Cambria Math" panose="02040503050406030204" pitchFamily="18" charset="0"/>
                                  <a:cs typeface="Times New Roman" panose="02020603050405020304" pitchFamily="18" charset="0"/>
                                </a:rPr>
                                <m:t>+</m:t>
                              </m:r>
                              <m:d>
                                <m:dPr>
                                  <m:ctrlPr>
                                    <a:rPr lang="es-MX" sz="1400" i="1">
                                      <a:solidFill>
                                        <a:prstClr val="black"/>
                                      </a:solidFill>
                                      <a:latin typeface="Cambria Math" panose="02040503050406030204" pitchFamily="18" charset="0"/>
                                      <a:cs typeface="Times New Roman" panose="02020603050405020304" pitchFamily="18" charset="0"/>
                                    </a:rPr>
                                  </m:ctrlPr>
                                </m:dPr>
                                <m:e>
                                  <m:r>
                                    <a:rPr lang="es-MX" sz="1400" i="1">
                                      <a:solidFill>
                                        <a:prstClr val="black"/>
                                      </a:solidFill>
                                      <a:latin typeface="Cambria Math" panose="02040503050406030204" pitchFamily="18" charset="0"/>
                                      <a:cs typeface="Times New Roman" panose="02020603050405020304" pitchFamily="18" charset="0"/>
                                    </a:rPr>
                                    <m:t>𝑁</m:t>
                                  </m:r>
                                  <m:r>
                                    <a:rPr lang="es-MX" sz="1400" i="1">
                                      <a:solidFill>
                                        <a:prstClr val="black"/>
                                      </a:solidFill>
                                      <a:latin typeface="Cambria Math" panose="02040503050406030204" pitchFamily="18" charset="0"/>
                                      <a:cs typeface="Times New Roman" panose="02020603050405020304" pitchFamily="18" charset="0"/>
                                    </a:rPr>
                                    <m:t>−1</m:t>
                                  </m:r>
                                </m:e>
                              </m:d>
                              <m:r>
                                <a:rPr lang="es-MX" sz="1400" i="1" dirty="0">
                                  <a:solidFill>
                                    <a:prstClr val="black"/>
                                  </a:solidFill>
                                  <a:latin typeface="Cambria Math" panose="02040503050406030204" pitchFamily="18" charset="0"/>
                                  <a:cs typeface="Times New Roman" panose="02020603050405020304" pitchFamily="18" charset="0"/>
                                </a:rPr>
                                <m:t>𝐸</m:t>
                              </m:r>
                            </m:e>
                            <m:sup>
                              <m:r>
                                <a:rPr lang="es-MX" sz="1400" i="1" dirty="0">
                                  <a:solidFill>
                                    <a:prstClr val="black"/>
                                  </a:solidFill>
                                  <a:latin typeface="Cambria Math" panose="02040503050406030204" pitchFamily="18" charset="0"/>
                                  <a:cs typeface="Times New Roman" panose="02020603050405020304" pitchFamily="18" charset="0"/>
                                </a:rPr>
                                <m:t>2</m:t>
                              </m:r>
                            </m:sup>
                          </m:sSup>
                        </m:den>
                      </m:f>
                    </m:oMath>
                  </m:oMathPara>
                </a14:m>
                <a:endParaRPr lang="es-MX" sz="1400" dirty="0"/>
              </a:p>
            </p:txBody>
          </p:sp>
        </mc:Choice>
        <mc:Fallback xmlns="">
          <p:sp>
            <p:nvSpPr>
              <p:cNvPr id="22" name="CuadroTexto 21">
                <a:extLst>
                  <a:ext uri="{FF2B5EF4-FFF2-40B4-BE49-F238E27FC236}">
                    <a16:creationId xmlns:a16="http://schemas.microsoft.com/office/drawing/2014/main" id="{459238B0-E805-0F5A-D8C1-37C207F90CE1}"/>
                  </a:ext>
                </a:extLst>
              </p:cNvPr>
              <p:cNvSpPr txBox="1">
                <a:spLocks noRot="1" noChangeAspect="1" noMove="1" noResize="1" noEditPoints="1" noAdjustHandles="1" noChangeArrowheads="1" noChangeShapeType="1" noTextEdit="1"/>
              </p:cNvSpPr>
              <p:nvPr/>
            </p:nvSpPr>
            <p:spPr>
              <a:xfrm>
                <a:off x="3634384" y="4318177"/>
                <a:ext cx="4090249" cy="1291444"/>
              </a:xfrm>
              <a:prstGeom prst="rect">
                <a:avLst/>
              </a:prstGeom>
              <a:blipFill>
                <a:blip r:embed="rId8"/>
                <a:stretch>
                  <a:fillRect/>
                </a:stretch>
              </a:blipFill>
              <a:ln>
                <a:solidFill>
                  <a:schemeClr val="tx1">
                    <a:lumMod val="85000"/>
                  </a:schemeClr>
                </a:solidFill>
              </a:ln>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46659F17-C382-9270-0288-A9D472CA5806}"/>
                  </a:ext>
                </a:extLst>
              </p:cNvPr>
              <p:cNvSpPr txBox="1"/>
              <p:nvPr/>
            </p:nvSpPr>
            <p:spPr>
              <a:xfrm>
                <a:off x="7724633" y="4318177"/>
                <a:ext cx="2831910" cy="1323439"/>
              </a:xfrm>
              <a:prstGeom prst="rect">
                <a:avLst/>
              </a:prstGeom>
              <a:noFill/>
              <a:ln>
                <a:solidFill>
                  <a:schemeClr val="tx1">
                    <a:lumMod val="85000"/>
                  </a:schemeClr>
                </a:solidFill>
              </a:ln>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MX" sz="1600" dirty="0">
                    <a:solidFill>
                      <a:prstClr val="black"/>
                    </a:solidFill>
                    <a:latin typeface="Times New Roman" panose="02020603050405020304" pitchFamily="18" charset="0"/>
                    <a:cs typeface="Times New Roman" panose="02020603050405020304" pitchFamily="18" charset="0"/>
                  </a:rPr>
                  <a:t>3</a:t>
                </a:r>
                <a:r>
                  <a:rPr kumimoji="0" lang="es-MX"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r>
                  <a:rPr lang="es-MX" sz="1600" dirty="0">
                    <a:solidFill>
                      <a:prstClr val="black"/>
                    </a:solidFill>
                    <a:latin typeface="Times New Roman" panose="02020603050405020304" pitchFamily="18" charset="0"/>
                    <a:cs typeface="Times New Roman" panose="02020603050405020304" pitchFamily="18" charset="0"/>
                  </a:rPr>
                  <a:t>Crea una función en R que calcule el tamaño de muestra necesario para estimar a la media poblacional cuando N y </a:t>
                </a:r>
                <a14:m>
                  <m:oMath xmlns:m="http://schemas.openxmlformats.org/officeDocument/2006/math">
                    <m:r>
                      <a:rPr lang="es-MX" sz="160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𝜎</m:t>
                    </m:r>
                  </m:oMath>
                </a14:m>
                <a:r>
                  <a:rPr kumimoji="0" lang="es-MX" sz="16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son conocidas.</a:t>
                </a:r>
              </a:p>
            </p:txBody>
          </p:sp>
        </mc:Choice>
        <mc:Fallback xmlns="">
          <p:sp>
            <p:nvSpPr>
              <p:cNvPr id="25" name="CuadroTexto 24">
                <a:extLst>
                  <a:ext uri="{FF2B5EF4-FFF2-40B4-BE49-F238E27FC236}">
                    <a16:creationId xmlns:a16="http://schemas.microsoft.com/office/drawing/2014/main" id="{46659F17-C382-9270-0288-A9D472CA5806}"/>
                  </a:ext>
                </a:extLst>
              </p:cNvPr>
              <p:cNvSpPr txBox="1">
                <a:spLocks noRot="1" noChangeAspect="1" noMove="1" noResize="1" noEditPoints="1" noAdjustHandles="1" noChangeArrowheads="1" noChangeShapeType="1" noTextEdit="1"/>
              </p:cNvSpPr>
              <p:nvPr/>
            </p:nvSpPr>
            <p:spPr>
              <a:xfrm>
                <a:off x="7724633" y="4318177"/>
                <a:ext cx="2831910" cy="1323439"/>
              </a:xfrm>
              <a:prstGeom prst="rect">
                <a:avLst/>
              </a:prstGeom>
              <a:blipFill>
                <a:blip r:embed="rId9"/>
                <a:stretch>
                  <a:fillRect l="-857" t="-913" r="-857" b="-4566"/>
                </a:stretch>
              </a:blipFill>
              <a:ln>
                <a:solidFill>
                  <a:schemeClr val="tx1">
                    <a:lumMod val="85000"/>
                  </a:schemeClr>
                </a:solidFill>
              </a:ln>
            </p:spPr>
            <p:txBody>
              <a:bodyPr/>
              <a:lstStyle/>
              <a:p>
                <a:r>
                  <a:rPr lang="es-MX">
                    <a:noFill/>
                  </a:rPr>
                  <a:t> </a:t>
                </a:r>
              </a:p>
            </p:txBody>
          </p:sp>
        </mc:Fallback>
      </mc:AlternateContent>
    </p:spTree>
    <p:extLst>
      <p:ext uri="{BB962C8B-B14F-4D97-AF65-F5344CB8AC3E}">
        <p14:creationId xmlns:p14="http://schemas.microsoft.com/office/powerpoint/2010/main" val="2921823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circle(in)">
                                      <p:cBhvr>
                                        <p:cTn id="7" dur="20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ircle(in)">
                                      <p:cBhvr>
                                        <p:cTn id="12" dur="2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1000"/>
                                        <p:tgtEl>
                                          <p:spTgt spid="21"/>
                                        </p:tgtEl>
                                      </p:cBhvr>
                                    </p:animEffect>
                                    <p:anim calcmode="lin" valueType="num">
                                      <p:cBhvr>
                                        <p:cTn id="18" dur="1000" fill="hold"/>
                                        <p:tgtEl>
                                          <p:spTgt spid="21"/>
                                        </p:tgtEl>
                                        <p:attrNameLst>
                                          <p:attrName>ppt_x</p:attrName>
                                        </p:attrNameLst>
                                      </p:cBhvr>
                                      <p:tavLst>
                                        <p:tav tm="0">
                                          <p:val>
                                            <p:strVal val="#ppt_x"/>
                                          </p:val>
                                        </p:tav>
                                        <p:tav tm="100000">
                                          <p:val>
                                            <p:strVal val="#ppt_x"/>
                                          </p:val>
                                        </p:tav>
                                      </p:tavLst>
                                    </p:anim>
                                    <p:anim calcmode="lin" valueType="num">
                                      <p:cBhvr>
                                        <p:cTn id="19"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1000"/>
                                        <p:tgtEl>
                                          <p:spTgt spid="22"/>
                                        </p:tgtEl>
                                      </p:cBhvr>
                                    </p:animEffect>
                                    <p:anim calcmode="lin" valueType="num">
                                      <p:cBhvr>
                                        <p:cTn id="25" dur="1000" fill="hold"/>
                                        <p:tgtEl>
                                          <p:spTgt spid="22"/>
                                        </p:tgtEl>
                                        <p:attrNameLst>
                                          <p:attrName>ppt_x</p:attrName>
                                        </p:attrNameLst>
                                      </p:cBhvr>
                                      <p:tavLst>
                                        <p:tav tm="0">
                                          <p:val>
                                            <p:strVal val="#ppt_x"/>
                                          </p:val>
                                        </p:tav>
                                        <p:tav tm="100000">
                                          <p:val>
                                            <p:strVal val="#ppt_x"/>
                                          </p:val>
                                        </p:tav>
                                      </p:tavLst>
                                    </p:anim>
                                    <p:anim calcmode="lin" valueType="num">
                                      <p:cBhvr>
                                        <p:cTn id="26"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1000"/>
                                        <p:tgtEl>
                                          <p:spTgt spid="25"/>
                                        </p:tgtEl>
                                      </p:cBhvr>
                                    </p:animEffect>
                                    <p:anim calcmode="lin" valueType="num">
                                      <p:cBhvr>
                                        <p:cTn id="32" dur="1000" fill="hold"/>
                                        <p:tgtEl>
                                          <p:spTgt spid="25"/>
                                        </p:tgtEl>
                                        <p:attrNameLst>
                                          <p:attrName>ppt_x</p:attrName>
                                        </p:attrNameLst>
                                      </p:cBhvr>
                                      <p:tavLst>
                                        <p:tav tm="0">
                                          <p:val>
                                            <p:strVal val="#ppt_x"/>
                                          </p:val>
                                        </p:tav>
                                        <p:tav tm="100000">
                                          <p:val>
                                            <p:strVal val="#ppt_x"/>
                                          </p:val>
                                        </p:tav>
                                      </p:tavLst>
                                    </p:anim>
                                    <p:anim calcmode="lin" valueType="num">
                                      <p:cBhvr>
                                        <p:cTn id="33"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5" grpId="0" animBg="1"/>
      <p:bldP spid="21" grpId="0" animBg="1"/>
      <p:bldP spid="22" grpId="0" animBg="1"/>
      <p:bldP spid="25" grpId="0" animBg="1"/>
    </p:bldLst>
  </p:timing>
</p:sld>
</file>

<file path=ppt/theme/theme1.xml><?xml version="1.0" encoding="utf-8"?>
<a:theme xmlns:a="http://schemas.openxmlformats.org/drawingml/2006/main" name="Tema1">
  <a:themeElements>
    <a:clrScheme name="Naranja amarillo">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9129432_TF78853419_Win32.potx" id="{F85094AE-F951-45B6-B003-F9F3B4BD38C5}" vid="{E124D037-8587-41C3-AB02-2A120C8407E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1005</TotalTime>
  <Words>1333</Words>
  <Application>Microsoft Office PowerPoint</Application>
  <PresentationFormat>Panorámica</PresentationFormat>
  <Paragraphs>153</Paragraphs>
  <Slides>10</Slides>
  <Notes>10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10</vt:i4>
      </vt:variant>
    </vt:vector>
  </HeadingPairs>
  <TitlesOfParts>
    <vt:vector size="18" baseType="lpstr">
      <vt:lpstr>Arial</vt:lpstr>
      <vt:lpstr>Calibri</vt:lpstr>
      <vt:lpstr>Cambria Math</vt:lpstr>
      <vt:lpstr>Franklin Gothic Book</vt:lpstr>
      <vt:lpstr>Franklin Gothic Demi</vt:lpstr>
      <vt:lpstr>Times New Roman</vt:lpstr>
      <vt:lpstr>Wingdings</vt:lpstr>
      <vt:lpstr>Tema1</vt:lpstr>
      <vt:lpstr>Sesión 10: Estimaciones para la media poblacional μ</vt:lpstr>
      <vt:lpstr>Estimación de la media poblacional: σ conocida</vt:lpstr>
      <vt:lpstr>Insesgadez</vt:lpstr>
      <vt:lpstr>Consistencia</vt:lpstr>
      <vt:lpstr>Consistencia</vt:lpstr>
      <vt:lpstr>Margen de error</vt:lpstr>
      <vt:lpstr>Intervalo de confianza</vt:lpstr>
      <vt:lpstr>Problema 1</vt:lpstr>
      <vt:lpstr>Tamaño muestral para estimar μ con σ conocida</vt:lpstr>
      <vt:lpstr>Intervalo de confianza y tamaño de muestra con N conocida.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7: Estimaciones para la media poblacional μ</dc:title>
  <dc:creator>David Nexticapan Cortes</dc:creator>
  <cp:lastModifiedBy>DAVID NEXTICAPAN - CORTES</cp:lastModifiedBy>
  <cp:revision>28</cp:revision>
  <dcterms:created xsi:type="dcterms:W3CDTF">2023-09-16T20:42:33Z</dcterms:created>
  <dcterms:modified xsi:type="dcterms:W3CDTF">2025-05-10T17:37:56Z</dcterms:modified>
</cp:coreProperties>
</file>