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2.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68" r:id="rId2"/>
    <p:sldId id="269" r:id="rId3"/>
    <p:sldId id="303" r:id="rId4"/>
    <p:sldId id="302" r:id="rId5"/>
    <p:sldId id="304" r:id="rId6"/>
    <p:sldId id="305" r:id="rId7"/>
    <p:sldId id="306" r:id="rId8"/>
    <p:sldId id="307" r:id="rId9"/>
    <p:sldId id="281" r:id="rId10"/>
    <p:sldId id="308" r:id="rId11"/>
    <p:sldId id="309" r:id="rId12"/>
    <p:sldId id="310" r:id="rId13"/>
    <p:sldId id="311" r:id="rId14"/>
    <p:sldId id="313" r:id="rId15"/>
    <p:sldId id="312" r:id="rId1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1" Type="http://schemas.openxmlformats.org/officeDocument/2006/relationships/image" Target="../media/image60.pn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3E2438-1587-4A20-8F76-7EA946E13B9F}" type="doc">
      <dgm:prSet loTypeId="urn:microsoft.com/office/officeart/2005/8/layout/process1" loCatId="process" qsTypeId="urn:microsoft.com/office/officeart/2005/8/quickstyle/simple1" qsCatId="simple" csTypeId="urn:microsoft.com/office/officeart/2005/8/colors/accent2_1" csCatId="accent2" phldr="1"/>
      <dgm:spPr/>
    </dgm:pt>
    <mc:AlternateContent xmlns:mc="http://schemas.openxmlformats.org/markup-compatibility/2006" xmlns:a14="http://schemas.microsoft.com/office/drawing/2010/main">
      <mc:Choice Requires="a14">
        <dgm:pt modelId="{5F4E21B6-B62D-4A06-876D-63F11251B8B0}">
          <dgm:prSet phldrT="[Texto]"/>
          <dgm:spPr/>
          <dgm:t>
            <a:bodyPr/>
            <a:lstStyle/>
            <a:p>
              <a:r>
                <a:rPr lang="es-MX" b="1" dirty="0">
                  <a:latin typeface="Times New Roman" panose="02020603050405020304" pitchFamily="18" charset="0"/>
                  <a:cs typeface="Times New Roman" panose="02020603050405020304" pitchFamily="18" charset="0"/>
                </a:rPr>
                <a:t>Paso 1</a:t>
              </a:r>
              <a:r>
                <a:rPr lang="es-MX" dirty="0">
                  <a:latin typeface="Times New Roman" panose="02020603050405020304" pitchFamily="18" charset="0"/>
                  <a:cs typeface="Times New Roman" panose="02020603050405020304" pitchFamily="18" charset="0"/>
                </a:rPr>
                <a:t>: Se representa el histograma de </a:t>
              </a:r>
              <a14:m>
                <m:oMath xmlns:m="http://schemas.openxmlformats.org/officeDocument/2006/math">
                  <m:sSub>
                    <m:sSubPr>
                      <m:ctrlPr>
                        <a:rPr lang="es-MX"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𝑘</m:t>
                      </m:r>
                    </m:sub>
                  </m:sSub>
                </m:oMath>
              </a14:m>
              <a:endParaRPr lang="es-MX" dirty="0">
                <a:latin typeface="Times New Roman" panose="02020603050405020304" pitchFamily="18" charset="0"/>
                <a:cs typeface="Times New Roman" panose="02020603050405020304" pitchFamily="18" charset="0"/>
              </a:endParaRPr>
            </a:p>
          </dgm:t>
        </dgm:pt>
      </mc:Choice>
      <mc:Fallback xmlns="">
        <dgm:pt modelId="{5F4E21B6-B62D-4A06-876D-63F11251B8B0}">
          <dgm:prSet phldrT="[Texto]"/>
          <dgm:spPr/>
          <dgm:t>
            <a:bodyPr/>
            <a:lstStyle/>
            <a:p>
              <a:r>
                <a:rPr lang="es-MX" b="1" dirty="0">
                  <a:latin typeface="Times New Roman" panose="02020603050405020304" pitchFamily="18" charset="0"/>
                  <a:cs typeface="Times New Roman" panose="02020603050405020304" pitchFamily="18" charset="0"/>
                </a:rPr>
                <a:t>Paso 1</a:t>
              </a:r>
              <a:r>
                <a:rPr lang="es-MX" dirty="0">
                  <a:latin typeface="Times New Roman" panose="02020603050405020304" pitchFamily="18" charset="0"/>
                  <a:cs typeface="Times New Roman" panose="02020603050405020304" pitchFamily="18" charset="0"/>
                </a:rPr>
                <a:t>: Se representa el histograma de </a:t>
              </a:r>
              <a:r>
                <a:rPr lang="es-MX" b="0" i="0">
                  <a:latin typeface="Cambria Math" panose="02040503050406030204" pitchFamily="18" charset="0"/>
                </a:rPr>
                <a:t>𝑋_𝑘</a:t>
              </a:r>
              <a:endParaRPr lang="es-MX" dirty="0">
                <a:latin typeface="Times New Roman" panose="02020603050405020304" pitchFamily="18" charset="0"/>
                <a:cs typeface="Times New Roman" panose="02020603050405020304" pitchFamily="18" charset="0"/>
              </a:endParaRPr>
            </a:p>
          </dgm:t>
        </dgm:pt>
      </mc:Fallback>
    </mc:AlternateContent>
    <dgm:pt modelId="{96221D13-A2C8-4F16-B7EB-F3CA73943CDB}" type="parTrans" cxnId="{689B2848-60EF-483E-87FB-2E1F26FE0F66}">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E74A351-5B81-4047-8038-1FEAD1A7D83E}" type="sibTrans" cxnId="{689B2848-60EF-483E-87FB-2E1F26FE0F66}">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272B9378-25F2-480B-B29E-63DE8ED4A33D}">
      <dgm:prSet phldrT="[Texto]"/>
      <dgm:spPr/>
      <dgm:t>
        <a:bodyPr/>
        <a:lstStyle/>
        <a:p>
          <a:r>
            <a:rPr lang="es-MX" b="1">
              <a:latin typeface="Times New Roman" panose="02020603050405020304" pitchFamily="18" charset="0"/>
              <a:cs typeface="Times New Roman" panose="02020603050405020304" pitchFamily="18" charset="0"/>
            </a:rPr>
            <a:t>Paso 2: </a:t>
          </a:r>
          <a:r>
            <a:rPr lang="es-MX">
              <a:latin typeface="Times New Roman" panose="02020603050405020304" pitchFamily="18" charset="0"/>
              <a:cs typeface="Times New Roman" panose="02020603050405020304" pitchFamily="18" charset="0"/>
            </a:rPr>
            <a:t>Se superpone la curva de densidad empírica.</a:t>
          </a:r>
          <a:endParaRPr lang="es-MX" dirty="0">
            <a:latin typeface="Times New Roman" panose="02020603050405020304" pitchFamily="18" charset="0"/>
            <a:cs typeface="Times New Roman" panose="02020603050405020304" pitchFamily="18" charset="0"/>
          </a:endParaRPr>
        </a:p>
      </dgm:t>
    </dgm:pt>
    <dgm:pt modelId="{BB51D330-6107-4879-8FA1-478CD66C6388}" type="parTrans" cxnId="{8B032649-892D-4A88-967D-9D38E05DF5A2}">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731D863-3AC1-4152-9FCC-61A408FD3422}" type="sibTrans" cxnId="{8B032649-892D-4A88-967D-9D38E05DF5A2}">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A14ED169-3BD7-47FB-846F-79CBE0204E1E}">
      <dgm:prSet phldrT="[Texto]"/>
      <dgm:spPr/>
      <dgm:t>
        <a:bodyPr/>
        <a:lstStyle/>
        <a:p>
          <a:r>
            <a:rPr lang="es-MX" b="1">
              <a:latin typeface="Times New Roman" panose="02020603050405020304" pitchFamily="18" charset="0"/>
              <a:cs typeface="Times New Roman" panose="02020603050405020304" pitchFamily="18" charset="0"/>
            </a:rPr>
            <a:t>Paso 3: </a:t>
          </a:r>
          <a:r>
            <a:rPr lang="es-MX">
              <a:latin typeface="Times New Roman" panose="02020603050405020304" pitchFamily="18" charset="0"/>
              <a:cs typeface="Times New Roman" panose="02020603050405020304" pitchFamily="18" charset="0"/>
            </a:rPr>
            <a:t>Se superpone la curva de densidad teórica.</a:t>
          </a:r>
          <a:endParaRPr lang="es-MX" dirty="0">
            <a:latin typeface="Times New Roman" panose="02020603050405020304" pitchFamily="18" charset="0"/>
            <a:cs typeface="Times New Roman" panose="02020603050405020304" pitchFamily="18" charset="0"/>
          </a:endParaRPr>
        </a:p>
      </dgm:t>
    </dgm:pt>
    <dgm:pt modelId="{F61C4DD3-DC32-4E0E-9DF7-996CBC33389E}" type="parTrans" cxnId="{FFB837C2-DE54-4D90-A6A1-065FC6B29A7B}">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46B93B29-8E78-4A22-9DB6-87108875C9FB}" type="sibTrans" cxnId="{FFB837C2-DE54-4D90-A6A1-065FC6B29A7B}">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2E39495E-2466-4C80-AE56-1FCC73B1E7B5}">
      <dgm:prSet phldrT="[Texto]"/>
      <dgm:spPr/>
      <dgm:t>
        <a:bodyPr/>
        <a:lstStyle/>
        <a:p>
          <a:r>
            <a:rPr lang="es-MX" b="1" dirty="0">
              <a:latin typeface="Times New Roman" panose="02020603050405020304" pitchFamily="18" charset="0"/>
              <a:cs typeface="Times New Roman" panose="02020603050405020304" pitchFamily="18" charset="0"/>
            </a:rPr>
            <a:t>Paso 4: </a:t>
          </a:r>
          <a:r>
            <a:rPr lang="es-MX" dirty="0">
              <a:latin typeface="Times New Roman" panose="02020603050405020304" pitchFamily="18" charset="0"/>
              <a:cs typeface="Times New Roman" panose="02020603050405020304" pitchFamily="18" charset="0"/>
            </a:rPr>
            <a:t>Se analiza si la curva de densidad se ajusta a los datos.</a:t>
          </a:r>
        </a:p>
      </dgm:t>
    </dgm:pt>
    <dgm:pt modelId="{6668EF29-2326-40CC-8803-DC0B6BBABDEB}" type="parTrans" cxnId="{0B5BDBB7-AB36-45B1-B227-1B667C3462D7}">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6331665-0105-4112-B927-D91DF6A8FD24}" type="sibTrans" cxnId="{0B5BDBB7-AB36-45B1-B227-1B667C3462D7}">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CADA5A70-5F1B-44C5-AD80-E96F0E21D904}" type="pres">
      <dgm:prSet presAssocID="{583E2438-1587-4A20-8F76-7EA946E13B9F}" presName="Name0" presStyleCnt="0">
        <dgm:presLayoutVars>
          <dgm:dir/>
          <dgm:resizeHandles val="exact"/>
        </dgm:presLayoutVars>
      </dgm:prSet>
      <dgm:spPr/>
    </dgm:pt>
    <dgm:pt modelId="{F6DAC7E7-B999-4635-9563-0F377F284C52}" type="pres">
      <dgm:prSet presAssocID="{5F4E21B6-B62D-4A06-876D-63F11251B8B0}" presName="node" presStyleLbl="node1" presStyleIdx="0" presStyleCnt="4" custScaleY="251817">
        <dgm:presLayoutVars>
          <dgm:bulletEnabled val="1"/>
        </dgm:presLayoutVars>
      </dgm:prSet>
      <dgm:spPr/>
    </dgm:pt>
    <dgm:pt modelId="{170CEF95-47A6-4DE0-BDE8-783D218D410D}" type="pres">
      <dgm:prSet presAssocID="{DE74A351-5B81-4047-8038-1FEAD1A7D83E}" presName="sibTrans" presStyleLbl="sibTrans2D1" presStyleIdx="0" presStyleCnt="3"/>
      <dgm:spPr/>
    </dgm:pt>
    <dgm:pt modelId="{530BEC3F-552D-4FA4-928A-865F4291712D}" type="pres">
      <dgm:prSet presAssocID="{DE74A351-5B81-4047-8038-1FEAD1A7D83E}" presName="connectorText" presStyleLbl="sibTrans2D1" presStyleIdx="0" presStyleCnt="3"/>
      <dgm:spPr/>
    </dgm:pt>
    <dgm:pt modelId="{E01EF9CD-8B2F-4057-B84E-F5C7B2149E77}" type="pres">
      <dgm:prSet presAssocID="{272B9378-25F2-480B-B29E-63DE8ED4A33D}" presName="node" presStyleLbl="node1" presStyleIdx="1" presStyleCnt="4" custScaleY="251817">
        <dgm:presLayoutVars>
          <dgm:bulletEnabled val="1"/>
        </dgm:presLayoutVars>
      </dgm:prSet>
      <dgm:spPr/>
    </dgm:pt>
    <dgm:pt modelId="{240844B4-F993-4E1B-9B81-171C9ACF308C}" type="pres">
      <dgm:prSet presAssocID="{D731D863-3AC1-4152-9FCC-61A408FD3422}" presName="sibTrans" presStyleLbl="sibTrans2D1" presStyleIdx="1" presStyleCnt="3"/>
      <dgm:spPr/>
    </dgm:pt>
    <dgm:pt modelId="{5A0CB759-ACF9-42F6-B308-351B633F4E48}" type="pres">
      <dgm:prSet presAssocID="{D731D863-3AC1-4152-9FCC-61A408FD3422}" presName="connectorText" presStyleLbl="sibTrans2D1" presStyleIdx="1" presStyleCnt="3"/>
      <dgm:spPr/>
    </dgm:pt>
    <dgm:pt modelId="{E983E9AA-4A65-4D54-A94B-BA282E258659}" type="pres">
      <dgm:prSet presAssocID="{A14ED169-3BD7-47FB-846F-79CBE0204E1E}" presName="node" presStyleLbl="node1" presStyleIdx="2" presStyleCnt="4" custScaleY="251817">
        <dgm:presLayoutVars>
          <dgm:bulletEnabled val="1"/>
        </dgm:presLayoutVars>
      </dgm:prSet>
      <dgm:spPr/>
    </dgm:pt>
    <dgm:pt modelId="{46B8E922-8036-4B9A-B523-F3D252CC62A3}" type="pres">
      <dgm:prSet presAssocID="{46B93B29-8E78-4A22-9DB6-87108875C9FB}" presName="sibTrans" presStyleLbl="sibTrans2D1" presStyleIdx="2" presStyleCnt="3"/>
      <dgm:spPr/>
    </dgm:pt>
    <dgm:pt modelId="{929DFFD7-F0B6-4A41-9B2C-DA46A4288FB1}" type="pres">
      <dgm:prSet presAssocID="{46B93B29-8E78-4A22-9DB6-87108875C9FB}" presName="connectorText" presStyleLbl="sibTrans2D1" presStyleIdx="2" presStyleCnt="3"/>
      <dgm:spPr/>
    </dgm:pt>
    <dgm:pt modelId="{1F77A355-8780-4543-A78D-393423523357}" type="pres">
      <dgm:prSet presAssocID="{2E39495E-2466-4C80-AE56-1FCC73B1E7B5}" presName="node" presStyleLbl="node1" presStyleIdx="3" presStyleCnt="4" custScaleY="251817">
        <dgm:presLayoutVars>
          <dgm:bulletEnabled val="1"/>
        </dgm:presLayoutVars>
      </dgm:prSet>
      <dgm:spPr/>
    </dgm:pt>
  </dgm:ptLst>
  <dgm:cxnLst>
    <dgm:cxn modelId="{F2C6510B-A3B7-4B7B-8523-C7DC9C86187F}" type="presOf" srcId="{D731D863-3AC1-4152-9FCC-61A408FD3422}" destId="{240844B4-F993-4E1B-9B81-171C9ACF308C}" srcOrd="0" destOrd="0" presId="urn:microsoft.com/office/officeart/2005/8/layout/process1"/>
    <dgm:cxn modelId="{9498CA20-771D-4BCF-B4A4-A0EF37F711B1}" type="presOf" srcId="{DE74A351-5B81-4047-8038-1FEAD1A7D83E}" destId="{170CEF95-47A6-4DE0-BDE8-783D218D410D}" srcOrd="0" destOrd="0" presId="urn:microsoft.com/office/officeart/2005/8/layout/process1"/>
    <dgm:cxn modelId="{2835AF32-C7D9-4A25-8EAC-9D2E48E771AC}" type="presOf" srcId="{A14ED169-3BD7-47FB-846F-79CBE0204E1E}" destId="{E983E9AA-4A65-4D54-A94B-BA282E258659}" srcOrd="0" destOrd="0" presId="urn:microsoft.com/office/officeart/2005/8/layout/process1"/>
    <dgm:cxn modelId="{48D2BE47-BAAD-4B51-8E72-09969AAAD876}" type="presOf" srcId="{583E2438-1587-4A20-8F76-7EA946E13B9F}" destId="{CADA5A70-5F1B-44C5-AD80-E96F0E21D904}" srcOrd="0" destOrd="0" presId="urn:microsoft.com/office/officeart/2005/8/layout/process1"/>
    <dgm:cxn modelId="{689B2848-60EF-483E-87FB-2E1F26FE0F66}" srcId="{583E2438-1587-4A20-8F76-7EA946E13B9F}" destId="{5F4E21B6-B62D-4A06-876D-63F11251B8B0}" srcOrd="0" destOrd="0" parTransId="{96221D13-A2C8-4F16-B7EB-F3CA73943CDB}" sibTransId="{DE74A351-5B81-4047-8038-1FEAD1A7D83E}"/>
    <dgm:cxn modelId="{8B032649-892D-4A88-967D-9D38E05DF5A2}" srcId="{583E2438-1587-4A20-8F76-7EA946E13B9F}" destId="{272B9378-25F2-480B-B29E-63DE8ED4A33D}" srcOrd="1" destOrd="0" parTransId="{BB51D330-6107-4879-8FA1-478CD66C6388}" sibTransId="{D731D863-3AC1-4152-9FCC-61A408FD3422}"/>
    <dgm:cxn modelId="{01DBFA6B-71AE-42B7-91B3-E2E3B817F560}" type="presOf" srcId="{DE74A351-5B81-4047-8038-1FEAD1A7D83E}" destId="{530BEC3F-552D-4FA4-928A-865F4291712D}" srcOrd="1" destOrd="0" presId="urn:microsoft.com/office/officeart/2005/8/layout/process1"/>
    <dgm:cxn modelId="{9FBE4893-2BE3-4BF4-AFC3-4CBB02CB6A13}" type="presOf" srcId="{5F4E21B6-B62D-4A06-876D-63F11251B8B0}" destId="{F6DAC7E7-B999-4635-9563-0F377F284C52}" srcOrd="0" destOrd="0" presId="urn:microsoft.com/office/officeart/2005/8/layout/process1"/>
    <dgm:cxn modelId="{2409B9B3-8A5B-4F49-8400-020514B4E372}" type="presOf" srcId="{272B9378-25F2-480B-B29E-63DE8ED4A33D}" destId="{E01EF9CD-8B2F-4057-B84E-F5C7B2149E77}" srcOrd="0" destOrd="0" presId="urn:microsoft.com/office/officeart/2005/8/layout/process1"/>
    <dgm:cxn modelId="{0B5BDBB7-AB36-45B1-B227-1B667C3462D7}" srcId="{583E2438-1587-4A20-8F76-7EA946E13B9F}" destId="{2E39495E-2466-4C80-AE56-1FCC73B1E7B5}" srcOrd="3" destOrd="0" parTransId="{6668EF29-2326-40CC-8803-DC0B6BBABDEB}" sibTransId="{D6331665-0105-4112-B927-D91DF6A8FD24}"/>
    <dgm:cxn modelId="{FFB837C2-DE54-4D90-A6A1-065FC6B29A7B}" srcId="{583E2438-1587-4A20-8F76-7EA946E13B9F}" destId="{A14ED169-3BD7-47FB-846F-79CBE0204E1E}" srcOrd="2" destOrd="0" parTransId="{F61C4DD3-DC32-4E0E-9DF7-996CBC33389E}" sibTransId="{46B93B29-8E78-4A22-9DB6-87108875C9FB}"/>
    <dgm:cxn modelId="{4FFBAFD7-E603-4B53-AA22-59F240B06E42}" type="presOf" srcId="{D731D863-3AC1-4152-9FCC-61A408FD3422}" destId="{5A0CB759-ACF9-42F6-B308-351B633F4E48}" srcOrd="1" destOrd="0" presId="urn:microsoft.com/office/officeart/2005/8/layout/process1"/>
    <dgm:cxn modelId="{D2CD8FDB-A871-444C-9093-7206218C9BFA}" type="presOf" srcId="{2E39495E-2466-4C80-AE56-1FCC73B1E7B5}" destId="{1F77A355-8780-4543-A78D-393423523357}" srcOrd="0" destOrd="0" presId="urn:microsoft.com/office/officeart/2005/8/layout/process1"/>
    <dgm:cxn modelId="{9859E8E2-48D4-4E7D-A683-A36876102842}" type="presOf" srcId="{46B93B29-8E78-4A22-9DB6-87108875C9FB}" destId="{929DFFD7-F0B6-4A41-9B2C-DA46A4288FB1}" srcOrd="1" destOrd="0" presId="urn:microsoft.com/office/officeart/2005/8/layout/process1"/>
    <dgm:cxn modelId="{F24261EA-B954-4FE6-B63A-D102094CFAAF}" type="presOf" srcId="{46B93B29-8E78-4A22-9DB6-87108875C9FB}" destId="{46B8E922-8036-4B9A-B523-F3D252CC62A3}" srcOrd="0" destOrd="0" presId="urn:microsoft.com/office/officeart/2005/8/layout/process1"/>
    <dgm:cxn modelId="{B3199E8F-054A-445D-A7CD-09BBC853C56D}" type="presParOf" srcId="{CADA5A70-5F1B-44C5-AD80-E96F0E21D904}" destId="{F6DAC7E7-B999-4635-9563-0F377F284C52}" srcOrd="0" destOrd="0" presId="urn:microsoft.com/office/officeart/2005/8/layout/process1"/>
    <dgm:cxn modelId="{BFC38DFF-C603-4514-B168-EF0EFAEFC16D}" type="presParOf" srcId="{CADA5A70-5F1B-44C5-AD80-E96F0E21D904}" destId="{170CEF95-47A6-4DE0-BDE8-783D218D410D}" srcOrd="1" destOrd="0" presId="urn:microsoft.com/office/officeart/2005/8/layout/process1"/>
    <dgm:cxn modelId="{CF03CF03-F1FF-4435-88DC-15F4071FAC49}" type="presParOf" srcId="{170CEF95-47A6-4DE0-BDE8-783D218D410D}" destId="{530BEC3F-552D-4FA4-928A-865F4291712D}" srcOrd="0" destOrd="0" presId="urn:microsoft.com/office/officeart/2005/8/layout/process1"/>
    <dgm:cxn modelId="{CEE85144-17A9-4693-B62D-D8BE4F3D709D}" type="presParOf" srcId="{CADA5A70-5F1B-44C5-AD80-E96F0E21D904}" destId="{E01EF9CD-8B2F-4057-B84E-F5C7B2149E77}" srcOrd="2" destOrd="0" presId="urn:microsoft.com/office/officeart/2005/8/layout/process1"/>
    <dgm:cxn modelId="{13418E97-4F0E-4106-92E4-3EC17D3EF2A0}" type="presParOf" srcId="{CADA5A70-5F1B-44C5-AD80-E96F0E21D904}" destId="{240844B4-F993-4E1B-9B81-171C9ACF308C}" srcOrd="3" destOrd="0" presId="urn:microsoft.com/office/officeart/2005/8/layout/process1"/>
    <dgm:cxn modelId="{0AC75575-CDA3-44DA-837A-7E84C42BAA7B}" type="presParOf" srcId="{240844B4-F993-4E1B-9B81-171C9ACF308C}" destId="{5A0CB759-ACF9-42F6-B308-351B633F4E48}" srcOrd="0" destOrd="0" presId="urn:microsoft.com/office/officeart/2005/8/layout/process1"/>
    <dgm:cxn modelId="{79D5E43B-B937-49F6-88AA-58B0D25CD381}" type="presParOf" srcId="{CADA5A70-5F1B-44C5-AD80-E96F0E21D904}" destId="{E983E9AA-4A65-4D54-A94B-BA282E258659}" srcOrd="4" destOrd="0" presId="urn:microsoft.com/office/officeart/2005/8/layout/process1"/>
    <dgm:cxn modelId="{CB21BD6D-2961-47E1-85F2-2767FAC270EE}" type="presParOf" srcId="{CADA5A70-5F1B-44C5-AD80-E96F0E21D904}" destId="{46B8E922-8036-4B9A-B523-F3D252CC62A3}" srcOrd="5" destOrd="0" presId="urn:microsoft.com/office/officeart/2005/8/layout/process1"/>
    <dgm:cxn modelId="{D027C117-97E5-40A1-B310-972EF4736744}" type="presParOf" srcId="{46B8E922-8036-4B9A-B523-F3D252CC62A3}" destId="{929DFFD7-F0B6-4A41-9B2C-DA46A4288FB1}" srcOrd="0" destOrd="0" presId="urn:microsoft.com/office/officeart/2005/8/layout/process1"/>
    <dgm:cxn modelId="{D57E92F6-F53B-4BDA-B8F0-0D5CC9071BE3}" type="presParOf" srcId="{CADA5A70-5F1B-44C5-AD80-E96F0E21D904}" destId="{1F77A355-8780-4543-A78D-393423523357}" srcOrd="6"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3E2438-1587-4A20-8F76-7EA946E13B9F}" type="doc">
      <dgm:prSet loTypeId="urn:microsoft.com/office/officeart/2005/8/layout/process1" loCatId="process" qsTypeId="urn:microsoft.com/office/officeart/2005/8/quickstyle/simple1" qsCatId="simple" csTypeId="urn:microsoft.com/office/officeart/2005/8/colors/accent2_1" csCatId="accent2" phldr="1"/>
      <dgm:spPr/>
    </dgm:pt>
    <dgm:pt modelId="{5F4E21B6-B62D-4A06-876D-63F11251B8B0}">
      <dgm:prSet phldrT="[Texto]"/>
      <dgm:spPr>
        <a:blipFill>
          <a:blip xmlns:r="http://schemas.openxmlformats.org/officeDocument/2006/relationships" r:embed="rId1"/>
          <a:stretch>
            <a:fillRect r="-5298"/>
          </a:stretch>
        </a:blipFill>
      </dgm:spPr>
      <dgm:t>
        <a:bodyPr/>
        <a:lstStyle/>
        <a:p>
          <a:r>
            <a:rPr lang="es-MX">
              <a:noFill/>
            </a:rPr>
            <a:t> </a:t>
          </a:r>
        </a:p>
      </dgm:t>
    </dgm:pt>
    <dgm:pt modelId="{96221D13-A2C8-4F16-B7EB-F3CA73943CDB}" type="parTrans" cxnId="{689B2848-60EF-483E-87FB-2E1F26FE0F66}">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E74A351-5B81-4047-8038-1FEAD1A7D83E}" type="sibTrans" cxnId="{689B2848-60EF-483E-87FB-2E1F26FE0F66}">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272B9378-25F2-480B-B29E-63DE8ED4A33D}">
      <dgm:prSet phldrT="[Texto]"/>
      <dgm:spPr/>
      <dgm:t>
        <a:bodyPr/>
        <a:lstStyle/>
        <a:p>
          <a:r>
            <a:rPr lang="es-MX" b="1">
              <a:latin typeface="Times New Roman" panose="02020603050405020304" pitchFamily="18" charset="0"/>
              <a:cs typeface="Times New Roman" panose="02020603050405020304" pitchFamily="18" charset="0"/>
            </a:rPr>
            <a:t>Paso 2: </a:t>
          </a:r>
          <a:r>
            <a:rPr lang="es-MX">
              <a:latin typeface="Times New Roman" panose="02020603050405020304" pitchFamily="18" charset="0"/>
              <a:cs typeface="Times New Roman" panose="02020603050405020304" pitchFamily="18" charset="0"/>
            </a:rPr>
            <a:t>Se superpone la curva de densidad empírica.</a:t>
          </a:r>
          <a:endParaRPr lang="es-MX" dirty="0">
            <a:latin typeface="Times New Roman" panose="02020603050405020304" pitchFamily="18" charset="0"/>
            <a:cs typeface="Times New Roman" panose="02020603050405020304" pitchFamily="18" charset="0"/>
          </a:endParaRPr>
        </a:p>
      </dgm:t>
    </dgm:pt>
    <dgm:pt modelId="{BB51D330-6107-4879-8FA1-478CD66C6388}" type="parTrans" cxnId="{8B032649-892D-4A88-967D-9D38E05DF5A2}">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731D863-3AC1-4152-9FCC-61A408FD3422}" type="sibTrans" cxnId="{8B032649-892D-4A88-967D-9D38E05DF5A2}">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A14ED169-3BD7-47FB-846F-79CBE0204E1E}">
      <dgm:prSet phldrT="[Texto]"/>
      <dgm:spPr/>
      <dgm:t>
        <a:bodyPr/>
        <a:lstStyle/>
        <a:p>
          <a:r>
            <a:rPr lang="es-MX" b="1">
              <a:latin typeface="Times New Roman" panose="02020603050405020304" pitchFamily="18" charset="0"/>
              <a:cs typeface="Times New Roman" panose="02020603050405020304" pitchFamily="18" charset="0"/>
            </a:rPr>
            <a:t>Paso 3: </a:t>
          </a:r>
          <a:r>
            <a:rPr lang="es-MX">
              <a:latin typeface="Times New Roman" panose="02020603050405020304" pitchFamily="18" charset="0"/>
              <a:cs typeface="Times New Roman" panose="02020603050405020304" pitchFamily="18" charset="0"/>
            </a:rPr>
            <a:t>Se superpone la curva de densidad teórica.</a:t>
          </a:r>
          <a:endParaRPr lang="es-MX" dirty="0">
            <a:latin typeface="Times New Roman" panose="02020603050405020304" pitchFamily="18" charset="0"/>
            <a:cs typeface="Times New Roman" panose="02020603050405020304" pitchFamily="18" charset="0"/>
          </a:endParaRPr>
        </a:p>
      </dgm:t>
    </dgm:pt>
    <dgm:pt modelId="{F61C4DD3-DC32-4E0E-9DF7-996CBC33389E}" type="parTrans" cxnId="{FFB837C2-DE54-4D90-A6A1-065FC6B29A7B}">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46B93B29-8E78-4A22-9DB6-87108875C9FB}" type="sibTrans" cxnId="{FFB837C2-DE54-4D90-A6A1-065FC6B29A7B}">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2E39495E-2466-4C80-AE56-1FCC73B1E7B5}">
      <dgm:prSet phldrT="[Texto]"/>
      <dgm:spPr/>
      <dgm:t>
        <a:bodyPr/>
        <a:lstStyle/>
        <a:p>
          <a:r>
            <a:rPr lang="es-MX" b="1">
              <a:latin typeface="Times New Roman" panose="02020603050405020304" pitchFamily="18" charset="0"/>
              <a:cs typeface="Times New Roman" panose="02020603050405020304" pitchFamily="18" charset="0"/>
            </a:rPr>
            <a:t>Paso 4: </a:t>
          </a:r>
          <a:r>
            <a:rPr lang="es-MX">
              <a:latin typeface="Times New Roman" panose="02020603050405020304" pitchFamily="18" charset="0"/>
              <a:cs typeface="Times New Roman" panose="02020603050405020304" pitchFamily="18" charset="0"/>
            </a:rPr>
            <a:t>Se analiza si la curva de densidad se ajusta a los datos.</a:t>
          </a:r>
          <a:endParaRPr lang="es-MX" dirty="0">
            <a:latin typeface="Times New Roman" panose="02020603050405020304" pitchFamily="18" charset="0"/>
            <a:cs typeface="Times New Roman" panose="02020603050405020304" pitchFamily="18" charset="0"/>
          </a:endParaRPr>
        </a:p>
      </dgm:t>
    </dgm:pt>
    <dgm:pt modelId="{6668EF29-2326-40CC-8803-DC0B6BBABDEB}" type="parTrans" cxnId="{0B5BDBB7-AB36-45B1-B227-1B667C3462D7}">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6331665-0105-4112-B927-D91DF6A8FD24}" type="sibTrans" cxnId="{0B5BDBB7-AB36-45B1-B227-1B667C3462D7}">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CADA5A70-5F1B-44C5-AD80-E96F0E21D904}" type="pres">
      <dgm:prSet presAssocID="{583E2438-1587-4A20-8F76-7EA946E13B9F}" presName="Name0" presStyleCnt="0">
        <dgm:presLayoutVars>
          <dgm:dir/>
          <dgm:resizeHandles val="exact"/>
        </dgm:presLayoutVars>
      </dgm:prSet>
      <dgm:spPr/>
    </dgm:pt>
    <dgm:pt modelId="{F6DAC7E7-B999-4635-9563-0F377F284C52}" type="pres">
      <dgm:prSet presAssocID="{5F4E21B6-B62D-4A06-876D-63F11251B8B0}" presName="node" presStyleLbl="node1" presStyleIdx="0" presStyleCnt="4" custScaleY="251817">
        <dgm:presLayoutVars>
          <dgm:bulletEnabled val="1"/>
        </dgm:presLayoutVars>
      </dgm:prSet>
      <dgm:spPr/>
    </dgm:pt>
    <dgm:pt modelId="{170CEF95-47A6-4DE0-BDE8-783D218D410D}" type="pres">
      <dgm:prSet presAssocID="{DE74A351-5B81-4047-8038-1FEAD1A7D83E}" presName="sibTrans" presStyleLbl="sibTrans2D1" presStyleIdx="0" presStyleCnt="3"/>
      <dgm:spPr/>
    </dgm:pt>
    <dgm:pt modelId="{530BEC3F-552D-4FA4-928A-865F4291712D}" type="pres">
      <dgm:prSet presAssocID="{DE74A351-5B81-4047-8038-1FEAD1A7D83E}" presName="connectorText" presStyleLbl="sibTrans2D1" presStyleIdx="0" presStyleCnt="3"/>
      <dgm:spPr/>
    </dgm:pt>
    <dgm:pt modelId="{E01EF9CD-8B2F-4057-B84E-F5C7B2149E77}" type="pres">
      <dgm:prSet presAssocID="{272B9378-25F2-480B-B29E-63DE8ED4A33D}" presName="node" presStyleLbl="node1" presStyleIdx="1" presStyleCnt="4" custScaleY="251817">
        <dgm:presLayoutVars>
          <dgm:bulletEnabled val="1"/>
        </dgm:presLayoutVars>
      </dgm:prSet>
      <dgm:spPr/>
    </dgm:pt>
    <dgm:pt modelId="{240844B4-F993-4E1B-9B81-171C9ACF308C}" type="pres">
      <dgm:prSet presAssocID="{D731D863-3AC1-4152-9FCC-61A408FD3422}" presName="sibTrans" presStyleLbl="sibTrans2D1" presStyleIdx="1" presStyleCnt="3"/>
      <dgm:spPr/>
    </dgm:pt>
    <dgm:pt modelId="{5A0CB759-ACF9-42F6-B308-351B633F4E48}" type="pres">
      <dgm:prSet presAssocID="{D731D863-3AC1-4152-9FCC-61A408FD3422}" presName="connectorText" presStyleLbl="sibTrans2D1" presStyleIdx="1" presStyleCnt="3"/>
      <dgm:spPr/>
    </dgm:pt>
    <dgm:pt modelId="{E983E9AA-4A65-4D54-A94B-BA282E258659}" type="pres">
      <dgm:prSet presAssocID="{A14ED169-3BD7-47FB-846F-79CBE0204E1E}" presName="node" presStyleLbl="node1" presStyleIdx="2" presStyleCnt="4" custScaleY="251817">
        <dgm:presLayoutVars>
          <dgm:bulletEnabled val="1"/>
        </dgm:presLayoutVars>
      </dgm:prSet>
      <dgm:spPr/>
    </dgm:pt>
    <dgm:pt modelId="{46B8E922-8036-4B9A-B523-F3D252CC62A3}" type="pres">
      <dgm:prSet presAssocID="{46B93B29-8E78-4A22-9DB6-87108875C9FB}" presName="sibTrans" presStyleLbl="sibTrans2D1" presStyleIdx="2" presStyleCnt="3"/>
      <dgm:spPr/>
    </dgm:pt>
    <dgm:pt modelId="{929DFFD7-F0B6-4A41-9B2C-DA46A4288FB1}" type="pres">
      <dgm:prSet presAssocID="{46B93B29-8E78-4A22-9DB6-87108875C9FB}" presName="connectorText" presStyleLbl="sibTrans2D1" presStyleIdx="2" presStyleCnt="3"/>
      <dgm:spPr/>
    </dgm:pt>
    <dgm:pt modelId="{1F77A355-8780-4543-A78D-393423523357}" type="pres">
      <dgm:prSet presAssocID="{2E39495E-2466-4C80-AE56-1FCC73B1E7B5}" presName="node" presStyleLbl="node1" presStyleIdx="3" presStyleCnt="4" custScaleY="251817">
        <dgm:presLayoutVars>
          <dgm:bulletEnabled val="1"/>
        </dgm:presLayoutVars>
      </dgm:prSet>
      <dgm:spPr/>
    </dgm:pt>
  </dgm:ptLst>
  <dgm:cxnLst>
    <dgm:cxn modelId="{F2C6510B-A3B7-4B7B-8523-C7DC9C86187F}" type="presOf" srcId="{D731D863-3AC1-4152-9FCC-61A408FD3422}" destId="{240844B4-F993-4E1B-9B81-171C9ACF308C}" srcOrd="0" destOrd="0" presId="urn:microsoft.com/office/officeart/2005/8/layout/process1"/>
    <dgm:cxn modelId="{9498CA20-771D-4BCF-B4A4-A0EF37F711B1}" type="presOf" srcId="{DE74A351-5B81-4047-8038-1FEAD1A7D83E}" destId="{170CEF95-47A6-4DE0-BDE8-783D218D410D}" srcOrd="0" destOrd="0" presId="urn:microsoft.com/office/officeart/2005/8/layout/process1"/>
    <dgm:cxn modelId="{2835AF32-C7D9-4A25-8EAC-9D2E48E771AC}" type="presOf" srcId="{A14ED169-3BD7-47FB-846F-79CBE0204E1E}" destId="{E983E9AA-4A65-4D54-A94B-BA282E258659}" srcOrd="0" destOrd="0" presId="urn:microsoft.com/office/officeart/2005/8/layout/process1"/>
    <dgm:cxn modelId="{48D2BE47-BAAD-4B51-8E72-09969AAAD876}" type="presOf" srcId="{583E2438-1587-4A20-8F76-7EA946E13B9F}" destId="{CADA5A70-5F1B-44C5-AD80-E96F0E21D904}" srcOrd="0" destOrd="0" presId="urn:microsoft.com/office/officeart/2005/8/layout/process1"/>
    <dgm:cxn modelId="{689B2848-60EF-483E-87FB-2E1F26FE0F66}" srcId="{583E2438-1587-4A20-8F76-7EA946E13B9F}" destId="{5F4E21B6-B62D-4A06-876D-63F11251B8B0}" srcOrd="0" destOrd="0" parTransId="{96221D13-A2C8-4F16-B7EB-F3CA73943CDB}" sibTransId="{DE74A351-5B81-4047-8038-1FEAD1A7D83E}"/>
    <dgm:cxn modelId="{8B032649-892D-4A88-967D-9D38E05DF5A2}" srcId="{583E2438-1587-4A20-8F76-7EA946E13B9F}" destId="{272B9378-25F2-480B-B29E-63DE8ED4A33D}" srcOrd="1" destOrd="0" parTransId="{BB51D330-6107-4879-8FA1-478CD66C6388}" sibTransId="{D731D863-3AC1-4152-9FCC-61A408FD3422}"/>
    <dgm:cxn modelId="{01DBFA6B-71AE-42B7-91B3-E2E3B817F560}" type="presOf" srcId="{DE74A351-5B81-4047-8038-1FEAD1A7D83E}" destId="{530BEC3F-552D-4FA4-928A-865F4291712D}" srcOrd="1" destOrd="0" presId="urn:microsoft.com/office/officeart/2005/8/layout/process1"/>
    <dgm:cxn modelId="{9FBE4893-2BE3-4BF4-AFC3-4CBB02CB6A13}" type="presOf" srcId="{5F4E21B6-B62D-4A06-876D-63F11251B8B0}" destId="{F6DAC7E7-B999-4635-9563-0F377F284C52}" srcOrd="0" destOrd="0" presId="urn:microsoft.com/office/officeart/2005/8/layout/process1"/>
    <dgm:cxn modelId="{2409B9B3-8A5B-4F49-8400-020514B4E372}" type="presOf" srcId="{272B9378-25F2-480B-B29E-63DE8ED4A33D}" destId="{E01EF9CD-8B2F-4057-B84E-F5C7B2149E77}" srcOrd="0" destOrd="0" presId="urn:microsoft.com/office/officeart/2005/8/layout/process1"/>
    <dgm:cxn modelId="{0B5BDBB7-AB36-45B1-B227-1B667C3462D7}" srcId="{583E2438-1587-4A20-8F76-7EA946E13B9F}" destId="{2E39495E-2466-4C80-AE56-1FCC73B1E7B5}" srcOrd="3" destOrd="0" parTransId="{6668EF29-2326-40CC-8803-DC0B6BBABDEB}" sibTransId="{D6331665-0105-4112-B927-D91DF6A8FD24}"/>
    <dgm:cxn modelId="{FFB837C2-DE54-4D90-A6A1-065FC6B29A7B}" srcId="{583E2438-1587-4A20-8F76-7EA946E13B9F}" destId="{A14ED169-3BD7-47FB-846F-79CBE0204E1E}" srcOrd="2" destOrd="0" parTransId="{F61C4DD3-DC32-4E0E-9DF7-996CBC33389E}" sibTransId="{46B93B29-8E78-4A22-9DB6-87108875C9FB}"/>
    <dgm:cxn modelId="{4FFBAFD7-E603-4B53-AA22-59F240B06E42}" type="presOf" srcId="{D731D863-3AC1-4152-9FCC-61A408FD3422}" destId="{5A0CB759-ACF9-42F6-B308-351B633F4E48}" srcOrd="1" destOrd="0" presId="urn:microsoft.com/office/officeart/2005/8/layout/process1"/>
    <dgm:cxn modelId="{D2CD8FDB-A871-444C-9093-7206218C9BFA}" type="presOf" srcId="{2E39495E-2466-4C80-AE56-1FCC73B1E7B5}" destId="{1F77A355-8780-4543-A78D-393423523357}" srcOrd="0" destOrd="0" presId="urn:microsoft.com/office/officeart/2005/8/layout/process1"/>
    <dgm:cxn modelId="{9859E8E2-48D4-4E7D-A683-A36876102842}" type="presOf" srcId="{46B93B29-8E78-4A22-9DB6-87108875C9FB}" destId="{929DFFD7-F0B6-4A41-9B2C-DA46A4288FB1}" srcOrd="1" destOrd="0" presId="urn:microsoft.com/office/officeart/2005/8/layout/process1"/>
    <dgm:cxn modelId="{F24261EA-B954-4FE6-B63A-D102094CFAAF}" type="presOf" srcId="{46B93B29-8E78-4A22-9DB6-87108875C9FB}" destId="{46B8E922-8036-4B9A-B523-F3D252CC62A3}" srcOrd="0" destOrd="0" presId="urn:microsoft.com/office/officeart/2005/8/layout/process1"/>
    <dgm:cxn modelId="{B3199E8F-054A-445D-A7CD-09BBC853C56D}" type="presParOf" srcId="{CADA5A70-5F1B-44C5-AD80-E96F0E21D904}" destId="{F6DAC7E7-B999-4635-9563-0F377F284C52}" srcOrd="0" destOrd="0" presId="urn:microsoft.com/office/officeart/2005/8/layout/process1"/>
    <dgm:cxn modelId="{BFC38DFF-C603-4514-B168-EF0EFAEFC16D}" type="presParOf" srcId="{CADA5A70-5F1B-44C5-AD80-E96F0E21D904}" destId="{170CEF95-47A6-4DE0-BDE8-783D218D410D}" srcOrd="1" destOrd="0" presId="urn:microsoft.com/office/officeart/2005/8/layout/process1"/>
    <dgm:cxn modelId="{CF03CF03-F1FF-4435-88DC-15F4071FAC49}" type="presParOf" srcId="{170CEF95-47A6-4DE0-BDE8-783D218D410D}" destId="{530BEC3F-552D-4FA4-928A-865F4291712D}" srcOrd="0" destOrd="0" presId="urn:microsoft.com/office/officeart/2005/8/layout/process1"/>
    <dgm:cxn modelId="{CEE85144-17A9-4693-B62D-D8BE4F3D709D}" type="presParOf" srcId="{CADA5A70-5F1B-44C5-AD80-E96F0E21D904}" destId="{E01EF9CD-8B2F-4057-B84E-F5C7B2149E77}" srcOrd="2" destOrd="0" presId="urn:microsoft.com/office/officeart/2005/8/layout/process1"/>
    <dgm:cxn modelId="{13418E97-4F0E-4106-92E4-3EC17D3EF2A0}" type="presParOf" srcId="{CADA5A70-5F1B-44C5-AD80-E96F0E21D904}" destId="{240844B4-F993-4E1B-9B81-171C9ACF308C}" srcOrd="3" destOrd="0" presId="urn:microsoft.com/office/officeart/2005/8/layout/process1"/>
    <dgm:cxn modelId="{0AC75575-CDA3-44DA-837A-7E84C42BAA7B}" type="presParOf" srcId="{240844B4-F993-4E1B-9B81-171C9ACF308C}" destId="{5A0CB759-ACF9-42F6-B308-351B633F4E48}" srcOrd="0" destOrd="0" presId="urn:microsoft.com/office/officeart/2005/8/layout/process1"/>
    <dgm:cxn modelId="{79D5E43B-B937-49F6-88AA-58B0D25CD381}" type="presParOf" srcId="{CADA5A70-5F1B-44C5-AD80-E96F0E21D904}" destId="{E983E9AA-4A65-4D54-A94B-BA282E258659}" srcOrd="4" destOrd="0" presId="urn:microsoft.com/office/officeart/2005/8/layout/process1"/>
    <dgm:cxn modelId="{CB21BD6D-2961-47E1-85F2-2767FAC270EE}" type="presParOf" srcId="{CADA5A70-5F1B-44C5-AD80-E96F0E21D904}" destId="{46B8E922-8036-4B9A-B523-F3D252CC62A3}" srcOrd="5" destOrd="0" presId="urn:microsoft.com/office/officeart/2005/8/layout/process1"/>
    <dgm:cxn modelId="{D027C117-97E5-40A1-B310-972EF4736744}" type="presParOf" srcId="{46B8E922-8036-4B9A-B523-F3D252CC62A3}" destId="{929DFFD7-F0B6-4A41-9B2C-DA46A4288FB1}" srcOrd="0" destOrd="0" presId="urn:microsoft.com/office/officeart/2005/8/layout/process1"/>
    <dgm:cxn modelId="{D57E92F6-F53B-4BDA-B8F0-0D5CC9071BE3}" type="presParOf" srcId="{CADA5A70-5F1B-44C5-AD80-E96F0E21D904}" destId="{1F77A355-8780-4543-A78D-393423523357}" srcOrd="6"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DAC7E7-B999-4635-9563-0F377F284C52}">
      <dsp:nvSpPr>
        <dsp:cNvPr id="0" name=""/>
        <dsp:cNvSpPr/>
      </dsp:nvSpPr>
      <dsp:spPr>
        <a:xfrm>
          <a:off x="2065" y="0"/>
          <a:ext cx="903013" cy="17094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MX" sz="1300" b="1" kern="1200" dirty="0">
              <a:latin typeface="Times New Roman" panose="02020603050405020304" pitchFamily="18" charset="0"/>
              <a:cs typeface="Times New Roman" panose="02020603050405020304" pitchFamily="18" charset="0"/>
            </a:rPr>
            <a:t>Paso 1</a:t>
          </a:r>
          <a:r>
            <a:rPr lang="es-MX" sz="1300" kern="1200" dirty="0">
              <a:latin typeface="Times New Roman" panose="02020603050405020304" pitchFamily="18" charset="0"/>
              <a:cs typeface="Times New Roman" panose="02020603050405020304" pitchFamily="18" charset="0"/>
            </a:rPr>
            <a:t>: Se representa el histograma de </a:t>
          </a:r>
          <a14:m xmlns:a14="http://schemas.microsoft.com/office/drawing/2010/main">
            <m:oMath xmlns:m="http://schemas.openxmlformats.org/officeDocument/2006/math">
              <m:sSub>
                <m:sSubPr>
                  <m:ctrlPr>
                    <a:rPr lang="es-MX" sz="1300" i="1" kern="1200" smtClean="0">
                      <a:latin typeface="Cambria Math" panose="02040503050406030204" pitchFamily="18" charset="0"/>
                    </a:rPr>
                  </m:ctrlPr>
                </m:sSubPr>
                <m:e>
                  <m:r>
                    <a:rPr lang="es-MX" sz="1300" b="0" i="1" kern="1200" smtClean="0">
                      <a:latin typeface="Cambria Math" panose="02040503050406030204" pitchFamily="18" charset="0"/>
                    </a:rPr>
                    <m:t>𝑋</m:t>
                  </m:r>
                </m:e>
                <m:sub>
                  <m:r>
                    <a:rPr lang="es-MX" sz="1300" b="0" i="1" kern="1200" smtClean="0">
                      <a:latin typeface="Cambria Math" panose="02040503050406030204" pitchFamily="18" charset="0"/>
                    </a:rPr>
                    <m:t>𝑘</m:t>
                  </m:r>
                </m:sub>
              </m:sSub>
            </m:oMath>
          </a14:m>
          <a:endParaRPr lang="es-MX" sz="1300" kern="1200" dirty="0">
            <a:latin typeface="Times New Roman" panose="02020603050405020304" pitchFamily="18" charset="0"/>
            <a:cs typeface="Times New Roman" panose="02020603050405020304" pitchFamily="18" charset="0"/>
          </a:endParaRPr>
        </a:p>
      </dsp:txBody>
      <dsp:txXfrm>
        <a:off x="28513" y="26448"/>
        <a:ext cx="850117" cy="1656557"/>
      </dsp:txXfrm>
    </dsp:sp>
    <dsp:sp modelId="{170CEF95-47A6-4DE0-BDE8-783D218D410D}">
      <dsp:nvSpPr>
        <dsp:cNvPr id="0" name=""/>
        <dsp:cNvSpPr/>
      </dsp:nvSpPr>
      <dsp:spPr>
        <a:xfrm>
          <a:off x="995379" y="742752"/>
          <a:ext cx="191438" cy="22394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solidFill>
              <a:schemeClr val="bg1"/>
            </a:solidFill>
            <a:latin typeface="Times New Roman" panose="02020603050405020304" pitchFamily="18" charset="0"/>
            <a:cs typeface="Times New Roman" panose="02020603050405020304" pitchFamily="18" charset="0"/>
          </a:endParaRPr>
        </a:p>
      </dsp:txBody>
      <dsp:txXfrm>
        <a:off x="995379" y="787541"/>
        <a:ext cx="134007" cy="134369"/>
      </dsp:txXfrm>
    </dsp:sp>
    <dsp:sp modelId="{E01EF9CD-8B2F-4057-B84E-F5C7B2149E77}">
      <dsp:nvSpPr>
        <dsp:cNvPr id="0" name=""/>
        <dsp:cNvSpPr/>
      </dsp:nvSpPr>
      <dsp:spPr>
        <a:xfrm>
          <a:off x="1266283" y="0"/>
          <a:ext cx="903013" cy="17094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MX" sz="1300" b="1" kern="1200">
              <a:latin typeface="Times New Roman" panose="02020603050405020304" pitchFamily="18" charset="0"/>
              <a:cs typeface="Times New Roman" panose="02020603050405020304" pitchFamily="18" charset="0"/>
            </a:rPr>
            <a:t>Paso 2: </a:t>
          </a:r>
          <a:r>
            <a:rPr lang="es-MX" sz="1300" kern="1200">
              <a:latin typeface="Times New Roman" panose="02020603050405020304" pitchFamily="18" charset="0"/>
              <a:cs typeface="Times New Roman" panose="02020603050405020304" pitchFamily="18" charset="0"/>
            </a:rPr>
            <a:t>Se superpone la curva de densidad empírica.</a:t>
          </a:r>
          <a:endParaRPr lang="es-MX" sz="1300" kern="1200" dirty="0">
            <a:latin typeface="Times New Roman" panose="02020603050405020304" pitchFamily="18" charset="0"/>
            <a:cs typeface="Times New Roman" panose="02020603050405020304" pitchFamily="18" charset="0"/>
          </a:endParaRPr>
        </a:p>
      </dsp:txBody>
      <dsp:txXfrm>
        <a:off x="1292731" y="26448"/>
        <a:ext cx="850117" cy="1656557"/>
      </dsp:txXfrm>
    </dsp:sp>
    <dsp:sp modelId="{240844B4-F993-4E1B-9B81-171C9ACF308C}">
      <dsp:nvSpPr>
        <dsp:cNvPr id="0" name=""/>
        <dsp:cNvSpPr/>
      </dsp:nvSpPr>
      <dsp:spPr>
        <a:xfrm>
          <a:off x="2259598" y="742752"/>
          <a:ext cx="191438" cy="22394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solidFill>
              <a:schemeClr val="bg1"/>
            </a:solidFill>
            <a:latin typeface="Times New Roman" panose="02020603050405020304" pitchFamily="18" charset="0"/>
            <a:cs typeface="Times New Roman" panose="02020603050405020304" pitchFamily="18" charset="0"/>
          </a:endParaRPr>
        </a:p>
      </dsp:txBody>
      <dsp:txXfrm>
        <a:off x="2259598" y="787541"/>
        <a:ext cx="134007" cy="134369"/>
      </dsp:txXfrm>
    </dsp:sp>
    <dsp:sp modelId="{E983E9AA-4A65-4D54-A94B-BA282E258659}">
      <dsp:nvSpPr>
        <dsp:cNvPr id="0" name=""/>
        <dsp:cNvSpPr/>
      </dsp:nvSpPr>
      <dsp:spPr>
        <a:xfrm>
          <a:off x="2530502" y="0"/>
          <a:ext cx="903013" cy="17094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MX" sz="1300" b="1" kern="1200">
              <a:latin typeface="Times New Roman" panose="02020603050405020304" pitchFamily="18" charset="0"/>
              <a:cs typeface="Times New Roman" panose="02020603050405020304" pitchFamily="18" charset="0"/>
            </a:rPr>
            <a:t>Paso 3: </a:t>
          </a:r>
          <a:r>
            <a:rPr lang="es-MX" sz="1300" kern="1200">
              <a:latin typeface="Times New Roman" panose="02020603050405020304" pitchFamily="18" charset="0"/>
              <a:cs typeface="Times New Roman" panose="02020603050405020304" pitchFamily="18" charset="0"/>
            </a:rPr>
            <a:t>Se superpone la curva de densidad teórica.</a:t>
          </a:r>
          <a:endParaRPr lang="es-MX" sz="1300" kern="1200" dirty="0">
            <a:latin typeface="Times New Roman" panose="02020603050405020304" pitchFamily="18" charset="0"/>
            <a:cs typeface="Times New Roman" panose="02020603050405020304" pitchFamily="18" charset="0"/>
          </a:endParaRPr>
        </a:p>
      </dsp:txBody>
      <dsp:txXfrm>
        <a:off x="2556950" y="26448"/>
        <a:ext cx="850117" cy="1656557"/>
      </dsp:txXfrm>
    </dsp:sp>
    <dsp:sp modelId="{46B8E922-8036-4B9A-B523-F3D252CC62A3}">
      <dsp:nvSpPr>
        <dsp:cNvPr id="0" name=""/>
        <dsp:cNvSpPr/>
      </dsp:nvSpPr>
      <dsp:spPr>
        <a:xfrm>
          <a:off x="3523816" y="742752"/>
          <a:ext cx="191438" cy="22394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solidFill>
              <a:schemeClr val="bg1"/>
            </a:solidFill>
            <a:latin typeface="Times New Roman" panose="02020603050405020304" pitchFamily="18" charset="0"/>
            <a:cs typeface="Times New Roman" panose="02020603050405020304" pitchFamily="18" charset="0"/>
          </a:endParaRPr>
        </a:p>
      </dsp:txBody>
      <dsp:txXfrm>
        <a:off x="3523816" y="787541"/>
        <a:ext cx="134007" cy="134369"/>
      </dsp:txXfrm>
    </dsp:sp>
    <dsp:sp modelId="{1F77A355-8780-4543-A78D-393423523357}">
      <dsp:nvSpPr>
        <dsp:cNvPr id="0" name=""/>
        <dsp:cNvSpPr/>
      </dsp:nvSpPr>
      <dsp:spPr>
        <a:xfrm>
          <a:off x="3794720" y="0"/>
          <a:ext cx="903013" cy="17094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MX" sz="1300" b="1" kern="1200" dirty="0">
              <a:latin typeface="Times New Roman" panose="02020603050405020304" pitchFamily="18" charset="0"/>
              <a:cs typeface="Times New Roman" panose="02020603050405020304" pitchFamily="18" charset="0"/>
            </a:rPr>
            <a:t>Paso 4: </a:t>
          </a:r>
          <a:r>
            <a:rPr lang="es-MX" sz="1300" kern="1200" dirty="0">
              <a:latin typeface="Times New Roman" panose="02020603050405020304" pitchFamily="18" charset="0"/>
              <a:cs typeface="Times New Roman" panose="02020603050405020304" pitchFamily="18" charset="0"/>
            </a:rPr>
            <a:t>Se analiza si la curva de densidad se ajusta a los datos.</a:t>
          </a:r>
        </a:p>
      </dsp:txBody>
      <dsp:txXfrm>
        <a:off x="3821168" y="26448"/>
        <a:ext cx="850117" cy="165655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21/04/2025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B5757-CC68-50ED-B1A7-CBC436844A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28F7C3-885B-F923-F1D1-363C931E61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8217CC-C980-D175-BEDB-68094CA70A2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20F7053-187C-A4CE-938E-66B4C1CFA2FB}"/>
              </a:ext>
            </a:extLst>
          </p:cNvPr>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1765967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CF49-620A-FF1C-74B9-28C034F2DE5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B74DDD-8004-DC2A-80B9-36E4E83713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F023C01-F5FA-4D21-EA60-B44BA866EA9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E883298-784D-EA34-D3A8-2C7FF777F446}"/>
              </a:ext>
            </a:extLst>
          </p:cNvPr>
          <p:cNvSpPr>
            <a:spLocks noGrp="1"/>
          </p:cNvSpPr>
          <p:nvPr>
            <p:ph type="sldNum" sz="quarter" idx="5"/>
          </p:nvPr>
        </p:nvSpPr>
        <p:spPr/>
        <p:txBody>
          <a:bodyPr/>
          <a:lstStyle/>
          <a:p>
            <a:pPr rtl="0"/>
            <a:fld id="{A89C7E07-3C67-C64C-8DA0-0404F6303970}" type="slidenum">
              <a:rPr lang="es-ES" smtClean="0"/>
              <a:t>4</a:t>
            </a:fld>
            <a:endParaRPr lang="es-ES"/>
          </a:p>
        </p:txBody>
      </p:sp>
    </p:spTree>
    <p:extLst>
      <p:ext uri="{BB962C8B-B14F-4D97-AF65-F5344CB8AC3E}">
        <p14:creationId xmlns:p14="http://schemas.microsoft.com/office/powerpoint/2010/main" val="122600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4076-A388-81C2-8428-E97AB16AD35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71B5E8-1EC5-E361-CC3D-95FD59CAEED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DDC775F-1E80-DEDF-3EA9-785FD5BAA62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4ECCCDE-6D42-A982-712B-777FC6AE43C0}"/>
              </a:ext>
            </a:extLst>
          </p:cNvPr>
          <p:cNvSpPr>
            <a:spLocks noGrp="1"/>
          </p:cNvSpPr>
          <p:nvPr>
            <p:ph type="sldNum" sz="quarter" idx="5"/>
          </p:nvPr>
        </p:nvSpPr>
        <p:spPr/>
        <p:txBody>
          <a:bodyPr/>
          <a:lstStyle/>
          <a:p>
            <a:pPr rtl="0"/>
            <a:fld id="{A89C7E07-3C67-C64C-8DA0-0404F6303970}" type="slidenum">
              <a:rPr lang="es-ES" smtClean="0"/>
              <a:t>5</a:t>
            </a:fld>
            <a:endParaRPr lang="es-ES"/>
          </a:p>
        </p:txBody>
      </p:sp>
    </p:spTree>
    <p:extLst>
      <p:ext uri="{BB962C8B-B14F-4D97-AF65-F5344CB8AC3E}">
        <p14:creationId xmlns:p14="http://schemas.microsoft.com/office/powerpoint/2010/main" val="1083167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A635C-4465-ADE5-DE17-3AB6A1E535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4E3E89-55F6-A933-AC39-8253E41AD0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337EDE-EDA0-F3ED-F514-737C837F560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B930371-8169-70B7-EF84-58837BDF6218}"/>
              </a:ext>
            </a:extLst>
          </p:cNvPr>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2549069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91101-CA7C-853E-8E2C-F5D2E549A4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22F1CD-8A0C-6933-E313-DB932A2F02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863498-E74B-E18A-E6CF-8B983B9E1AD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75E92D6-7369-6967-0271-F4631D32E755}"/>
              </a:ext>
            </a:extLst>
          </p:cNvPr>
          <p:cNvSpPr>
            <a:spLocks noGrp="1"/>
          </p:cNvSpPr>
          <p:nvPr>
            <p:ph type="sldNum" sz="quarter" idx="5"/>
          </p:nvPr>
        </p:nvSpPr>
        <p:spPr/>
        <p:txBody>
          <a:bodyPr/>
          <a:lstStyle/>
          <a:p>
            <a:pPr rtl="0"/>
            <a:fld id="{A89C7E07-3C67-C64C-8DA0-0404F6303970}" type="slidenum">
              <a:rPr lang="es-ES" smtClean="0"/>
              <a:t>7</a:t>
            </a:fld>
            <a:endParaRPr lang="es-ES"/>
          </a:p>
        </p:txBody>
      </p:sp>
    </p:spTree>
    <p:extLst>
      <p:ext uri="{BB962C8B-B14F-4D97-AF65-F5344CB8AC3E}">
        <p14:creationId xmlns:p14="http://schemas.microsoft.com/office/powerpoint/2010/main" val="2254199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8</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9</a:t>
            </a:fld>
            <a:endParaRPr lang="es-ES"/>
          </a:p>
        </p:txBody>
      </p:sp>
    </p:spTree>
    <p:extLst>
      <p:ext uri="{BB962C8B-B14F-4D97-AF65-F5344CB8AC3E}">
        <p14:creationId xmlns:p14="http://schemas.microsoft.com/office/powerpoint/2010/main" val="468970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24A55-20DB-85A1-2EDE-66A02C7A06A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E2D61F-BB61-3E1E-35F9-D38753B84E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03D4B5-FAC2-5A1F-81BA-4D8AE20A33E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6D74662-610D-6E13-8043-211CEBC608E0}"/>
              </a:ext>
            </a:extLst>
          </p:cNvPr>
          <p:cNvSpPr>
            <a:spLocks noGrp="1"/>
          </p:cNvSpPr>
          <p:nvPr>
            <p:ph type="sldNum" sz="quarter" idx="5"/>
          </p:nvPr>
        </p:nvSpPr>
        <p:spPr/>
        <p:txBody>
          <a:bodyPr/>
          <a:lstStyle/>
          <a:p>
            <a:pPr rtl="0"/>
            <a:fld id="{A89C7E07-3C67-C64C-8DA0-0404F6303970}" type="slidenum">
              <a:rPr lang="es-ES" smtClean="0"/>
              <a:t>10</a:t>
            </a:fld>
            <a:endParaRPr lang="es-ES"/>
          </a:p>
        </p:txBody>
      </p:sp>
    </p:spTree>
    <p:extLst>
      <p:ext uri="{BB962C8B-B14F-4D97-AF65-F5344CB8AC3E}">
        <p14:creationId xmlns:p14="http://schemas.microsoft.com/office/powerpoint/2010/main" val="595432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09523-F470-346C-D6E0-0FE22312C8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B4CEC8-7883-137E-3211-7D9EEB25FA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CA0547-FAFA-17F7-368C-24CA7702CF4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D6A99DF-6B7B-C8ED-1936-3BC4B9F4938C}"/>
              </a:ext>
            </a:extLst>
          </p:cNvPr>
          <p:cNvSpPr>
            <a:spLocks noGrp="1"/>
          </p:cNvSpPr>
          <p:nvPr>
            <p:ph type="sldNum" sz="quarter" idx="5"/>
          </p:nvPr>
        </p:nvSpPr>
        <p:spPr/>
        <p:txBody>
          <a:bodyPr/>
          <a:lstStyle/>
          <a:p>
            <a:pPr rtl="0"/>
            <a:fld id="{A89C7E07-3C67-C64C-8DA0-0404F6303970}" type="slidenum">
              <a:rPr lang="es-ES" smtClean="0"/>
              <a:t>11</a:t>
            </a:fld>
            <a:endParaRPr lang="es-ES"/>
          </a:p>
        </p:txBody>
      </p:sp>
    </p:spTree>
    <p:extLst>
      <p:ext uri="{BB962C8B-B14F-4D97-AF65-F5344CB8AC3E}">
        <p14:creationId xmlns:p14="http://schemas.microsoft.com/office/powerpoint/2010/main" val="3136377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D748E-2D8F-F68C-7EE7-98BAF46299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ABE78B4-125A-6B4C-28DB-4DA4B08A96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EF8B34-FC92-E784-AFEB-9826D03FA90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C51CCA7-C5DA-C6E2-EE50-0016B27B8F0D}"/>
              </a:ext>
            </a:extLst>
          </p:cNvPr>
          <p:cNvSpPr>
            <a:spLocks noGrp="1"/>
          </p:cNvSpPr>
          <p:nvPr>
            <p:ph type="sldNum" sz="quarter" idx="5"/>
          </p:nvPr>
        </p:nvSpPr>
        <p:spPr/>
        <p:txBody>
          <a:bodyPr/>
          <a:lstStyle/>
          <a:p>
            <a:pPr rtl="0"/>
            <a:fld id="{A89C7E07-3C67-C64C-8DA0-0404F6303970}" type="slidenum">
              <a:rPr lang="es-ES" smtClean="0"/>
              <a:t>12</a:t>
            </a:fld>
            <a:endParaRPr lang="es-ES"/>
          </a:p>
        </p:txBody>
      </p:sp>
    </p:spTree>
    <p:extLst>
      <p:ext uri="{BB962C8B-B14F-4D97-AF65-F5344CB8AC3E}">
        <p14:creationId xmlns:p14="http://schemas.microsoft.com/office/powerpoint/2010/main" val="1687440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AD430-0143-3B0A-A52E-00C54E2F492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231802-4F49-A38B-CAA2-D47AF98D6A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8438777-B716-D520-FBEC-D41516308E3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A9BDD06-C504-DA66-6B9B-425F29A15BE1}"/>
              </a:ext>
            </a:extLst>
          </p:cNvPr>
          <p:cNvSpPr>
            <a:spLocks noGrp="1"/>
          </p:cNvSpPr>
          <p:nvPr>
            <p:ph type="sldNum" sz="quarter" idx="5"/>
          </p:nvPr>
        </p:nvSpPr>
        <p:spPr/>
        <p:txBody>
          <a:bodyPr/>
          <a:lstStyle/>
          <a:p>
            <a:pPr rtl="0"/>
            <a:fld id="{A89C7E07-3C67-C64C-8DA0-0404F6303970}" type="slidenum">
              <a:rPr lang="es-ES" smtClean="0"/>
              <a:t>13</a:t>
            </a:fld>
            <a:endParaRPr lang="es-ES"/>
          </a:p>
        </p:txBody>
      </p:sp>
    </p:spTree>
    <p:extLst>
      <p:ext uri="{BB962C8B-B14F-4D97-AF65-F5344CB8AC3E}">
        <p14:creationId xmlns:p14="http://schemas.microsoft.com/office/powerpoint/2010/main" val="1833245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DF070-D4E2-24C2-0D0B-82D10704B5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7BA405-9A49-150C-F012-81197C2619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AC61F8-95D6-F9C8-9BFC-644F5EF980B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91F98F0-A977-97D3-BA13-9AE673C546F7}"/>
              </a:ext>
            </a:extLst>
          </p:cNvPr>
          <p:cNvSpPr>
            <a:spLocks noGrp="1"/>
          </p:cNvSpPr>
          <p:nvPr>
            <p:ph type="sldNum" sz="quarter" idx="5"/>
          </p:nvPr>
        </p:nvSpPr>
        <p:spPr/>
        <p:txBody>
          <a:bodyPr/>
          <a:lstStyle/>
          <a:p>
            <a:pPr rtl="0"/>
            <a:fld id="{A89C7E07-3C67-C64C-8DA0-0404F6303970}" type="slidenum">
              <a:rPr lang="es-ES" smtClean="0"/>
              <a:t>14</a:t>
            </a:fld>
            <a:endParaRPr lang="es-ES"/>
          </a:p>
        </p:txBody>
      </p:sp>
    </p:spTree>
    <p:extLst>
      <p:ext uri="{BB962C8B-B14F-4D97-AF65-F5344CB8AC3E}">
        <p14:creationId xmlns:p14="http://schemas.microsoft.com/office/powerpoint/2010/main" val="2824896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459A7-1E63-6488-A259-71F6D2605E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921167-E9C4-4B54-0C86-1659AD7090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70DF0F-8D25-9AD6-3C99-5FE345539AE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5ACCDE8-4101-8C16-7356-E4CFAB71F725}"/>
              </a:ext>
            </a:extLst>
          </p:cNvPr>
          <p:cNvSpPr>
            <a:spLocks noGrp="1"/>
          </p:cNvSpPr>
          <p:nvPr>
            <p:ph type="sldNum" sz="quarter" idx="5"/>
          </p:nvPr>
        </p:nvSpPr>
        <p:spPr/>
        <p:txBody>
          <a:bodyPr/>
          <a:lstStyle/>
          <a:p>
            <a:pPr rtl="0"/>
            <a:fld id="{A89C7E07-3C67-C64C-8DA0-0404F6303970}" type="slidenum">
              <a:rPr lang="es-ES" smtClean="0"/>
              <a:t>15</a:t>
            </a:fld>
            <a:endParaRPr lang="es-ES"/>
          </a:p>
        </p:txBody>
      </p:sp>
    </p:spTree>
    <p:extLst>
      <p:ext uri="{BB962C8B-B14F-4D97-AF65-F5344CB8AC3E}">
        <p14:creationId xmlns:p14="http://schemas.microsoft.com/office/powerpoint/2010/main" val="3082529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abril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abril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abril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abril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diagramColors" Target="../diagrams/colors1.xml"/><Relationship Id="rId12"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QuickStyle" Target="../diagrams/quickStyle1.xml"/><Relationship Id="rId11"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400" dirty="0">
                <a:latin typeface="Times New Roman" panose="02020603050405020304" pitchFamily="18" charset="0"/>
                <a:cs typeface="Times New Roman" panose="02020603050405020304" pitchFamily="18" charset="0"/>
              </a:rPr>
              <a:t>Sesión 24: Prueba de Hipótesis de una media</a:t>
            </a: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B77887F-BB86-8BB4-8E75-761FE414B5F2}"/>
                  </a:ext>
                </a:extLst>
              </p:cNvPr>
              <p:cNvSpPr txBox="1"/>
              <p:nvPr/>
            </p:nvSpPr>
            <p:spPr>
              <a:xfrm>
                <a:off x="964022" y="2353304"/>
                <a:ext cx="9332916" cy="665118"/>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Consideremos una población </a:t>
                </a:r>
                <a14:m>
                  <m:oMath xmlns:m="http://schemas.openxmlformats.org/officeDocument/2006/math">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𝑃</m:t>
                    </m:r>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MX" b="0" i="1" smtClean="0">
                            <a:solidFill>
                              <a:schemeClr val="bg1"/>
                            </a:solidFill>
                            <a:latin typeface="Cambria Math" panose="02040503050406030204" pitchFamily="18" charset="0"/>
                            <a:cs typeface="Times New Roman" panose="02020603050405020304" pitchFamily="18" charset="0"/>
                          </a:rPr>
                        </m:ctrlPr>
                      </m:dPr>
                      <m:e>
                        <m:sSub>
                          <m:sSubPr>
                            <m:ctrlPr>
                              <a:rPr lang="es-MX" b="0"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𝑝</m:t>
                            </m:r>
                          </m:e>
                          <m:sub>
                            <m:r>
                              <a:rPr lang="es-MX" b="0" i="1" smtClean="0">
                                <a:solidFill>
                                  <a:schemeClr val="bg1"/>
                                </a:solidFill>
                                <a:latin typeface="Cambria Math" panose="02040503050406030204" pitchFamily="18" charset="0"/>
                                <a:cs typeface="Times New Roman" panose="02020603050405020304" pitchFamily="18" charset="0"/>
                              </a:rPr>
                              <m:t>1</m:t>
                            </m:r>
                          </m:sub>
                        </m:sSub>
                        <m:r>
                          <a:rPr lang="es-MX" b="0" i="1" smtClean="0">
                            <a:solidFill>
                              <a:schemeClr val="bg1"/>
                            </a:solidFill>
                            <a:latin typeface="Cambria Math" panose="02040503050406030204" pitchFamily="18" charset="0"/>
                            <a:cs typeface="Times New Roman" panose="02020603050405020304" pitchFamily="18" charset="0"/>
                          </a:rPr>
                          <m:t>,</m:t>
                        </m:r>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𝑝</m:t>
                            </m:r>
                          </m:e>
                          <m:sub>
                            <m:r>
                              <a:rPr lang="es-MX" b="0" i="1" smtClean="0">
                                <a:solidFill>
                                  <a:schemeClr val="bg1"/>
                                </a:solidFill>
                                <a:latin typeface="Cambria Math" panose="02040503050406030204" pitchFamily="18" charset="0"/>
                                <a:cs typeface="Times New Roman" panose="02020603050405020304" pitchFamily="18" charset="0"/>
                              </a:rPr>
                              <m:t>2</m:t>
                            </m:r>
                          </m:sub>
                        </m:sSub>
                        <m:r>
                          <a:rPr lang="es-MX" b="0" i="1" smtClean="0">
                            <a:solidFill>
                              <a:schemeClr val="bg1"/>
                            </a:solidFill>
                            <a:latin typeface="Cambria Math" panose="02040503050406030204" pitchFamily="18" charset="0"/>
                            <a:cs typeface="Times New Roman" panose="02020603050405020304" pitchFamily="18" charset="0"/>
                          </a:rPr>
                          <m:t>,…,</m:t>
                        </m:r>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𝑝</m:t>
                            </m:r>
                          </m:e>
                          <m:sub>
                            <m:r>
                              <a:rPr lang="es-MX" b="0" i="1" smtClean="0">
                                <a:solidFill>
                                  <a:schemeClr val="bg1"/>
                                </a:solidFill>
                                <a:latin typeface="Cambria Math" panose="02040503050406030204" pitchFamily="18" charset="0"/>
                                <a:cs typeface="Times New Roman" panose="02020603050405020304" pitchFamily="18" charset="0"/>
                              </a:rPr>
                              <m:t>𝑁</m:t>
                            </m:r>
                          </m:sub>
                        </m:sSub>
                      </m:e>
                    </m:d>
                  </m:oMath>
                </a14:m>
                <a:r>
                  <a:rPr lang="es-MX" dirty="0">
                    <a:solidFill>
                      <a:schemeClr val="bg1"/>
                    </a:solidFill>
                    <a:latin typeface="Times New Roman" panose="02020603050405020304" pitchFamily="18" charset="0"/>
                    <a:cs typeface="Times New Roman" panose="02020603050405020304" pitchFamily="18" charset="0"/>
                  </a:rPr>
                  <a:t> y tomamos una muestra </a:t>
                </a:r>
                <a14:m>
                  <m:oMath xmlns:m="http://schemas.openxmlformats.org/officeDocument/2006/math">
                    <m:r>
                      <a:rPr lang="es-MX" b="0" i="1" smtClean="0">
                        <a:solidFill>
                          <a:schemeClr val="bg1"/>
                        </a:solidFill>
                        <a:latin typeface="Cambria Math" panose="02040503050406030204" pitchFamily="18" charset="0"/>
                        <a:cs typeface="Times New Roman" panose="02020603050405020304" pitchFamily="18" charset="0"/>
                      </a:rPr>
                      <m:t>𝑀</m:t>
                    </m:r>
                    <m:r>
                      <a:rPr lang="es-MX" b="0" i="1" smtClean="0">
                        <a:solidFill>
                          <a:schemeClr val="bg1"/>
                        </a:solidFill>
                        <a:latin typeface="Cambria Math" panose="02040503050406030204" pitchFamily="18" charset="0"/>
                        <a:cs typeface="Times New Roman" panose="02020603050405020304" pitchFamily="18" charset="0"/>
                      </a:rPr>
                      <m:t>=</m:t>
                    </m:r>
                    <m:d>
                      <m:dPr>
                        <m:begChr m:val="{"/>
                        <m:endChr m:val="}"/>
                        <m:ctrlPr>
                          <a:rPr lang="es-MX" i="1">
                            <a:solidFill>
                              <a:schemeClr val="bg1"/>
                            </a:solidFill>
                            <a:latin typeface="Cambria Math" panose="02040503050406030204" pitchFamily="18" charset="0"/>
                            <a:cs typeface="Times New Roman" panose="02020603050405020304" pitchFamily="18" charset="0"/>
                          </a:rPr>
                        </m:ctrlPr>
                      </m:dPr>
                      <m:e>
                        <m:sSub>
                          <m:sSubPr>
                            <m:ctrlPr>
                              <a:rPr lang="es-MX" i="1">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𝑚</m:t>
                            </m:r>
                          </m:e>
                          <m:sub>
                            <m:r>
                              <a:rPr lang="es-MX" i="1">
                                <a:solidFill>
                                  <a:schemeClr val="bg1"/>
                                </a:solidFill>
                                <a:latin typeface="Cambria Math" panose="02040503050406030204" pitchFamily="18" charset="0"/>
                                <a:cs typeface="Times New Roman" panose="02020603050405020304" pitchFamily="18" charset="0"/>
                              </a:rPr>
                              <m:t>1</m:t>
                            </m:r>
                          </m:sub>
                        </m:sSub>
                        <m:r>
                          <a:rPr lang="es-MX" i="1">
                            <a:solidFill>
                              <a:schemeClr val="bg1"/>
                            </a:solidFill>
                            <a:latin typeface="Cambria Math" panose="02040503050406030204" pitchFamily="18" charset="0"/>
                            <a:cs typeface="Times New Roman" panose="02020603050405020304" pitchFamily="18" charset="0"/>
                          </a:rPr>
                          <m:t>,</m:t>
                        </m:r>
                        <m:sSub>
                          <m:sSubPr>
                            <m:ctrlPr>
                              <a:rPr lang="es-MX"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𝑚</m:t>
                            </m:r>
                          </m:e>
                          <m:sub>
                            <m:r>
                              <a:rPr lang="es-MX" i="1">
                                <a:solidFill>
                                  <a:schemeClr val="bg1"/>
                                </a:solidFill>
                                <a:latin typeface="Cambria Math" panose="02040503050406030204" pitchFamily="18" charset="0"/>
                                <a:cs typeface="Times New Roman" panose="02020603050405020304" pitchFamily="18" charset="0"/>
                              </a:rPr>
                              <m:t>2</m:t>
                            </m:r>
                          </m:sub>
                        </m:sSub>
                        <m:r>
                          <a:rPr lang="es-MX" i="1">
                            <a:solidFill>
                              <a:schemeClr val="bg1"/>
                            </a:solidFill>
                            <a:latin typeface="Cambria Math" panose="02040503050406030204" pitchFamily="18" charset="0"/>
                            <a:cs typeface="Times New Roman" panose="02020603050405020304" pitchFamily="18" charset="0"/>
                          </a:rPr>
                          <m:t>,…,</m:t>
                        </m:r>
                        <m:sSub>
                          <m:sSubPr>
                            <m:ctrlPr>
                              <a:rPr lang="es-MX" i="1">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𝑚</m:t>
                            </m:r>
                          </m:e>
                          <m:sub>
                            <m:r>
                              <a:rPr lang="es-MX" b="0" i="1" smtClean="0">
                                <a:solidFill>
                                  <a:schemeClr val="bg1"/>
                                </a:solidFill>
                                <a:latin typeface="Cambria Math" panose="02040503050406030204" pitchFamily="18" charset="0"/>
                                <a:cs typeface="Times New Roman" panose="02020603050405020304" pitchFamily="18" charset="0"/>
                              </a:rPr>
                              <m:t>𝑛</m:t>
                            </m:r>
                          </m:sub>
                        </m:sSub>
                      </m:e>
                    </m:d>
                  </m:oMath>
                </a14:m>
                <a:r>
                  <a:rPr lang="es-MX" dirty="0">
                    <a:solidFill>
                      <a:schemeClr val="bg1"/>
                    </a:solidFill>
                    <a:latin typeface="Times New Roman" panose="02020603050405020304" pitchFamily="18" charset="0"/>
                    <a:cs typeface="Times New Roman" panose="02020603050405020304" pitchFamily="18" charset="0"/>
                  </a:rPr>
                  <a:t> de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𝑛</m:t>
                    </m:r>
                  </m:oMath>
                </a14:m>
                <a:r>
                  <a:rPr lang="es-MX" dirty="0">
                    <a:solidFill>
                      <a:schemeClr val="bg1"/>
                    </a:solidFill>
                    <a:latin typeface="Times New Roman" panose="02020603050405020304" pitchFamily="18" charset="0"/>
                    <a:cs typeface="Times New Roman" panose="02020603050405020304" pitchFamily="18" charset="0"/>
                  </a:rPr>
                  <a:t> elementos extraída de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𝑃</m:t>
                    </m:r>
                  </m:oMath>
                </a14:m>
                <a:r>
                  <a:rPr lang="es-MX" dirty="0">
                    <a:solidFill>
                      <a:schemeClr val="bg1"/>
                    </a:solidFill>
                    <a:latin typeface="Times New Roman" panose="02020603050405020304" pitchFamily="18" charset="0"/>
                    <a:cs typeface="Times New Roman" panose="02020603050405020304" pitchFamily="18" charset="0"/>
                  </a:rPr>
                  <a:t>, donde </a:t>
                </a:r>
                <a14:m>
                  <m:oMath xmlns:m="http://schemas.openxmlformats.org/officeDocument/2006/math">
                    <m:r>
                      <a:rPr lang="es-MX" b="0" i="1" smtClean="0">
                        <a:solidFill>
                          <a:schemeClr val="bg1"/>
                        </a:solidFill>
                        <a:latin typeface="Cambria Math" panose="02040503050406030204" pitchFamily="18" charset="0"/>
                        <a:cs typeface="Times New Roman" panose="02020603050405020304" pitchFamily="18" charset="0"/>
                      </a:rPr>
                      <m:t>𝑛</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oMath>
                </a14:m>
                <a:r>
                  <a:rPr lang="es-MX" dirty="0">
                    <a:solidFill>
                      <a:schemeClr val="bg1"/>
                    </a:solidFill>
                    <a:latin typeface="Times New Roman" panose="02020603050405020304" pitchFamily="18" charset="0"/>
                    <a:cs typeface="Times New Roman" panose="02020603050405020304" pitchFamily="18" charset="0"/>
                  </a:rPr>
                  <a:t>.</a:t>
                </a:r>
              </a:p>
            </p:txBody>
          </p:sp>
        </mc:Choice>
        <mc:Fallback xmlns="">
          <p:sp>
            <p:nvSpPr>
              <p:cNvPr id="5" name="CuadroTexto 4">
                <a:extLst>
                  <a:ext uri="{FF2B5EF4-FFF2-40B4-BE49-F238E27FC236}">
                    <a16:creationId xmlns:a16="http://schemas.microsoft.com/office/drawing/2014/main" id="{4B77887F-BB86-8BB4-8E75-761FE414B5F2}"/>
                  </a:ext>
                </a:extLst>
              </p:cNvPr>
              <p:cNvSpPr txBox="1">
                <a:spLocks noRot="1" noChangeAspect="1" noMove="1" noResize="1" noEditPoints="1" noAdjustHandles="1" noChangeArrowheads="1" noChangeShapeType="1" noTextEdit="1"/>
              </p:cNvSpPr>
              <p:nvPr/>
            </p:nvSpPr>
            <p:spPr>
              <a:xfrm>
                <a:off x="964022" y="2353304"/>
                <a:ext cx="9332916" cy="665118"/>
              </a:xfrm>
              <a:prstGeom prst="rect">
                <a:avLst/>
              </a:prstGeom>
              <a:blipFill>
                <a:blip r:embed="rId3"/>
                <a:stretch>
                  <a:fillRect l="-457" t="-3604" r="-522" b="-1261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1FDC0F84-EF36-F694-7238-639BFFBFBC24}"/>
                  </a:ext>
                </a:extLst>
              </p:cNvPr>
              <p:cNvSpPr txBox="1"/>
              <p:nvPr/>
            </p:nvSpPr>
            <p:spPr>
              <a:xfrm>
                <a:off x="964022" y="3096441"/>
                <a:ext cx="9332916" cy="67819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Definimos a la variable </a:t>
                </a:r>
                <a14:m>
                  <m:oMath xmlns:m="http://schemas.openxmlformats.org/officeDocument/2006/math">
                    <m:sSub>
                      <m:sSubPr>
                        <m:ctrlPr>
                          <a:rPr lang="es-MX"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𝑋</m:t>
                        </m:r>
                      </m:e>
                      <m:sub>
                        <m:r>
                          <a:rPr lang="es-MX" b="0" i="1" smtClean="0">
                            <a:solidFill>
                              <a:schemeClr val="bg1"/>
                            </a:solidFill>
                            <a:latin typeface="Cambria Math" panose="02040503050406030204" pitchFamily="18" charset="0"/>
                            <a:cs typeface="Times New Roman" panose="02020603050405020304" pitchFamily="18" charset="0"/>
                          </a:rPr>
                          <m:t>𝑘</m:t>
                        </m:r>
                        <m:r>
                          <a:rPr lang="es-MX" b="0" i="1" smtClean="0">
                            <a:solidFill>
                              <a:schemeClr val="bg1"/>
                            </a:solidFill>
                            <a:latin typeface="Cambria Math" panose="02040503050406030204" pitchFamily="18" charset="0"/>
                            <a:cs typeface="Times New Roman" panose="02020603050405020304" pitchFamily="18" charset="0"/>
                          </a:rPr>
                          <m:t>,</m:t>
                        </m:r>
                        <m:r>
                          <a:rPr lang="es-MX" b="0" i="1" smtClean="0">
                            <a:solidFill>
                              <a:schemeClr val="bg1"/>
                            </a:solidFill>
                            <a:latin typeface="Cambria Math" panose="02040503050406030204" pitchFamily="18" charset="0"/>
                            <a:cs typeface="Times New Roman" panose="02020603050405020304" pitchFamily="18" charset="0"/>
                          </a:rPr>
                          <m:t>𝑃</m:t>
                        </m:r>
                      </m:sub>
                    </m:sSub>
                  </m:oMath>
                </a14:m>
                <a:r>
                  <a:rPr lang="es-MX" dirty="0">
                    <a:solidFill>
                      <a:schemeClr val="bg1"/>
                    </a:solidFill>
                    <a:latin typeface="Times New Roman" panose="02020603050405020304" pitchFamily="18" charset="0"/>
                    <a:cs typeface="Times New Roman" panose="02020603050405020304" pitchFamily="18" charset="0"/>
                  </a:rPr>
                  <a:t> como la variable </a:t>
                </a:r>
                <a14:m>
                  <m:oMath xmlns:m="http://schemas.openxmlformats.org/officeDocument/2006/math">
                    <m:sSub>
                      <m:sSubPr>
                        <m:ctrlPr>
                          <a:rPr lang="es-MX"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𝑋</m:t>
                        </m:r>
                      </m:e>
                      <m:sub>
                        <m:r>
                          <a:rPr lang="es-MX" b="0" i="1" smtClean="0">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cs typeface="Times New Roman" panose="02020603050405020304" pitchFamily="18" charset="0"/>
                  </a:rPr>
                  <a:t> medida sobre la población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𝑃</m:t>
                    </m:r>
                  </m:oMath>
                </a14:m>
                <a:r>
                  <a:rPr lang="es-MX" dirty="0">
                    <a:solidFill>
                      <a:schemeClr val="bg1"/>
                    </a:solidFill>
                    <a:latin typeface="Times New Roman" panose="02020603050405020304" pitchFamily="18" charset="0"/>
                    <a:cs typeface="Times New Roman" panose="02020603050405020304" pitchFamily="18" charset="0"/>
                  </a:rPr>
                  <a:t> que representa alguna característica  de interés medida sobre cada uno de los elementos de la población. </a:t>
                </a:r>
              </a:p>
            </p:txBody>
          </p:sp>
        </mc:Choice>
        <mc:Fallback xmlns="">
          <p:sp>
            <p:nvSpPr>
              <p:cNvPr id="3" name="CuadroTexto 2">
                <a:extLst>
                  <a:ext uri="{FF2B5EF4-FFF2-40B4-BE49-F238E27FC236}">
                    <a16:creationId xmlns:a16="http://schemas.microsoft.com/office/drawing/2014/main" id="{1FDC0F84-EF36-F694-7238-639BFFBFBC24}"/>
                  </a:ext>
                </a:extLst>
              </p:cNvPr>
              <p:cNvSpPr txBox="1">
                <a:spLocks noRot="1" noChangeAspect="1" noMove="1" noResize="1" noEditPoints="1" noAdjustHandles="1" noChangeArrowheads="1" noChangeShapeType="1" noTextEdit="1"/>
              </p:cNvSpPr>
              <p:nvPr/>
            </p:nvSpPr>
            <p:spPr>
              <a:xfrm>
                <a:off x="964022" y="3096441"/>
                <a:ext cx="9332916" cy="678199"/>
              </a:xfrm>
              <a:prstGeom prst="rect">
                <a:avLst/>
              </a:prstGeom>
              <a:blipFill>
                <a:blip r:embed="rId4"/>
                <a:stretch>
                  <a:fillRect l="-457" t="-2655" r="-522" b="-12389"/>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EAFB8D2D-3BAE-CBED-694C-1F393C81CA1E}"/>
                  </a:ext>
                </a:extLst>
              </p:cNvPr>
              <p:cNvSpPr txBox="1"/>
              <p:nvPr/>
            </p:nvSpPr>
            <p:spPr>
              <a:xfrm>
                <a:off x="964022" y="3839579"/>
                <a:ext cx="9332916" cy="97456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Conocemos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pero no</a:t>
                </a:r>
                <a:r>
                  <a:rPr lang="es-MX" dirty="0">
                    <a:solidFill>
                      <a:schemeClr val="bg1"/>
                    </a:solidFill>
                    <a:cs typeface="Times New Roman" panose="02020603050405020304" pitchFamily="18" charset="0"/>
                  </a:rPr>
                  <a:t>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r>
                          <a:rPr lang="es-MX" i="1">
                            <a:solidFill>
                              <a:schemeClr val="bg1"/>
                            </a:solidFill>
                            <a:latin typeface="Cambria Math" panose="02040503050406030204" pitchFamily="18" charset="0"/>
                            <a:cs typeface="Times New Roman" panose="02020603050405020304" pitchFamily="18" charset="0"/>
                          </a:rPr>
                          <m:t>,</m:t>
                        </m:r>
                        <m:r>
                          <a:rPr lang="es-MX" i="1">
                            <a:solidFill>
                              <a:schemeClr val="bg1"/>
                            </a:solidFill>
                            <a:latin typeface="Cambria Math" panose="02040503050406030204" pitchFamily="18" charset="0"/>
                            <a:cs typeface="Times New Roman" panose="02020603050405020304" pitchFamily="18" charset="0"/>
                          </a:rPr>
                          <m:t>𝑃</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Esto significa que tenemos acceso a los valores de la variable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en la muestra </a:t>
                </a:r>
                <a14:m>
                  <m:oMath xmlns:m="http://schemas.openxmlformats.org/officeDocument/2006/math">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𝑀</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pero no tenemos información sobre los valores de esta misma variable en la población </a:t>
                </a:r>
                <a14:m>
                  <m:oMath xmlns:m="http://schemas.openxmlformats.org/officeDocument/2006/math">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𝑃</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s-MX"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4" name="CuadroTexto 3">
                <a:extLst>
                  <a:ext uri="{FF2B5EF4-FFF2-40B4-BE49-F238E27FC236}">
                    <a16:creationId xmlns:a16="http://schemas.microsoft.com/office/drawing/2014/main" id="{EAFB8D2D-3BAE-CBED-694C-1F393C81CA1E}"/>
                  </a:ext>
                </a:extLst>
              </p:cNvPr>
              <p:cNvSpPr txBox="1">
                <a:spLocks noRot="1" noChangeAspect="1" noMove="1" noResize="1" noEditPoints="1" noAdjustHandles="1" noChangeArrowheads="1" noChangeShapeType="1" noTextEdit="1"/>
              </p:cNvSpPr>
              <p:nvPr/>
            </p:nvSpPr>
            <p:spPr>
              <a:xfrm>
                <a:off x="964022" y="3839579"/>
                <a:ext cx="9332916" cy="974562"/>
              </a:xfrm>
              <a:prstGeom prst="rect">
                <a:avLst/>
              </a:prstGeom>
              <a:blipFill>
                <a:blip r:embed="rId5"/>
                <a:stretch>
                  <a:fillRect l="-457" t="-1852" r="-522" b="-8642"/>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AA593F9-495D-87A4-5C34-CDDBA47F82EB}"/>
                  </a:ext>
                </a:extLst>
              </p:cNvPr>
              <p:cNvSpPr txBox="1"/>
              <p:nvPr/>
            </p:nvSpPr>
            <p:spPr>
              <a:xfrm>
                <a:off x="964022" y="4879080"/>
                <a:ext cx="9332916" cy="67819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Principio Básico: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Se acepta que la distribución de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r>
                          <a:rPr lang="es-MX" i="1">
                            <a:solidFill>
                              <a:schemeClr val="bg1"/>
                            </a:solidFill>
                            <a:latin typeface="Cambria Math" panose="02040503050406030204" pitchFamily="18" charset="0"/>
                            <a:cs typeface="Times New Roman" panose="02020603050405020304" pitchFamily="18" charset="0"/>
                          </a:rPr>
                          <m:t>,</m:t>
                        </m:r>
                        <m:r>
                          <a:rPr lang="es-MX" i="1">
                            <a:solidFill>
                              <a:schemeClr val="bg1"/>
                            </a:solidFill>
                            <a:latin typeface="Cambria Math" panose="02040503050406030204" pitchFamily="18" charset="0"/>
                            <a:cs typeface="Times New Roman" panose="02020603050405020304" pitchFamily="18" charset="0"/>
                          </a:rPr>
                          <m:t>𝑃</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sigue una distribución Normal sí y solo sí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tiene una distribución significativamente normal.   </a:t>
                </a:r>
                <a:endParaRPr lang="es-MX"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6" name="CuadroTexto 5">
                <a:extLst>
                  <a:ext uri="{FF2B5EF4-FFF2-40B4-BE49-F238E27FC236}">
                    <a16:creationId xmlns:a16="http://schemas.microsoft.com/office/drawing/2014/main" id="{DAA593F9-495D-87A4-5C34-CDDBA47F82EB}"/>
                  </a:ext>
                </a:extLst>
              </p:cNvPr>
              <p:cNvSpPr txBox="1">
                <a:spLocks noRot="1" noChangeAspect="1" noMove="1" noResize="1" noEditPoints="1" noAdjustHandles="1" noChangeArrowheads="1" noChangeShapeType="1" noTextEdit="1"/>
              </p:cNvSpPr>
              <p:nvPr/>
            </p:nvSpPr>
            <p:spPr>
              <a:xfrm>
                <a:off x="964022" y="4879080"/>
                <a:ext cx="9332916" cy="678199"/>
              </a:xfrm>
              <a:prstGeom prst="rect">
                <a:avLst/>
              </a:prstGeom>
              <a:blipFill>
                <a:blip r:embed="rId6"/>
                <a:stretch>
                  <a:fillRect l="-457" t="-1754" r="-522" b="-11404"/>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EDC30-1621-284B-90FD-02F571D33AC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C49831-C033-1C2F-0C82-3420ABD4637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 Método Gráfico</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6BCD819A-C220-78F4-1B05-5ACEA438B175}"/>
                  </a:ext>
                </a:extLst>
              </p:cNvPr>
              <p:cNvSpPr txBox="1"/>
              <p:nvPr/>
            </p:nvSpPr>
            <p:spPr>
              <a:xfrm>
                <a:off x="964022" y="2353304"/>
                <a:ext cx="4699799" cy="216290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Criterio: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tiene una distribución significativamente normal sí y solo sí la forma del histograma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aproximadamente a la curva de densidad de una variable aleatoria </a:t>
                </a:r>
              </a:p>
              <a:p>
                <a:pPr algn="just">
                  <a:lnSpc>
                    <a:spcPct val="107000"/>
                  </a:lnSpc>
                  <a:spcAft>
                    <a:spcPts val="800"/>
                  </a:spcAft>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𝑁</m:t>
                      </m:r>
                      <m:d>
                        <m:dPr>
                          <m:ctrlPr>
                            <a:rPr lang="es-MX" b="0" i="1" smtClean="0">
                              <a:solidFill>
                                <a:schemeClr val="bg1"/>
                              </a:solidFill>
                              <a:latin typeface="Cambria Math" panose="02040503050406030204" pitchFamily="18" charset="0"/>
                              <a:cs typeface="Times New Roman" panose="02020603050405020304" pitchFamily="18" charset="0"/>
                            </a:rPr>
                          </m:ctrlPr>
                        </m:dPr>
                        <m:e>
                          <m:acc>
                            <m:accPr>
                              <m:chr m:val="̂"/>
                              <m:ctrlP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e>
                          </m:acc>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𝑋</m:t>
                                  </m:r>
                                </m:e>
                              </m:acc>
                            </m:e>
                            <m:sub>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𝑛</m:t>
                              </m:r>
                            </m:sub>
                          </m:sSub>
                          <m:r>
                            <m:rPr>
                              <m:nor/>
                            </m:rPr>
                            <a:rPr lang="es-MX" dirty="0">
                              <a:solidFill>
                                <a:schemeClr val="bg1"/>
                              </a:solidFill>
                              <a:latin typeface="Times New Roman" panose="02020603050405020304" pitchFamily="18" charset="0"/>
                              <a:cs typeface="Times New Roman" panose="02020603050405020304" pitchFamily="18" charset="0"/>
                            </a:rPr>
                            <m:t> </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s-MX" i="1">
                                  <a:solidFill>
                                    <a:schemeClr val="bg1"/>
                                  </a:solidFill>
                                  <a:latin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𝜎</m:t>
                              </m:r>
                            </m:e>
                          </m:acc>
                          <m:r>
                            <a:rPr lang="es-MX" i="1">
                              <a:solidFill>
                                <a:schemeClr val="bg1"/>
                              </a:solidFill>
                              <a:latin typeface="Cambria Math" panose="02040503050406030204" pitchFamily="18" charset="0"/>
                              <a:cs typeface="Times New Roman" panose="02020603050405020304" pitchFamily="18" charset="0"/>
                            </a:rPr>
                            <m:t>=</m:t>
                          </m:r>
                          <m:sSup>
                            <m:sSupPr>
                              <m:ctrlPr>
                                <a:rPr lang="es-MX" i="1">
                                  <a:solidFill>
                                    <a:schemeClr val="bg1"/>
                                  </a:solidFill>
                                  <a:latin typeface="Cambria Math" panose="02040503050406030204" pitchFamily="18" charset="0"/>
                                  <a:cs typeface="Times New Roman" panose="02020603050405020304" pitchFamily="18" charset="0"/>
                                </a:rPr>
                              </m:ctrlPr>
                            </m:sSupPr>
                            <m:e>
                              <m:d>
                                <m:dPr>
                                  <m:begChr m:val="["/>
                                  <m:endChr m:val="]"/>
                                  <m:ctrlPr>
                                    <a:rPr lang="es-MX" i="1">
                                      <a:solidFill>
                                        <a:schemeClr val="bg1"/>
                                      </a:solidFill>
                                      <a:latin typeface="Cambria Math" panose="02040503050406030204" pitchFamily="18" charset="0"/>
                                      <a:cs typeface="Times New Roman" panose="02020603050405020304" pitchFamily="18" charset="0"/>
                                    </a:rPr>
                                  </m:ctrlPr>
                                </m:dPr>
                                <m:e>
                                  <m:f>
                                    <m:fPr>
                                      <m:ctrlPr>
                                        <a:rPr lang="es-MX" i="1">
                                          <a:solidFill>
                                            <a:schemeClr val="bg1"/>
                                          </a:solidFill>
                                          <a:latin typeface="Cambria Math" panose="02040503050406030204" pitchFamily="18" charset="0"/>
                                          <a:cs typeface="Times New Roman" panose="02020603050405020304" pitchFamily="18" charset="0"/>
                                        </a:rPr>
                                      </m:ctrlPr>
                                    </m:fPr>
                                    <m:num>
                                      <m:r>
                                        <a:rPr lang="es-MX" i="1">
                                          <a:solidFill>
                                            <a:schemeClr val="bg1"/>
                                          </a:solidFill>
                                          <a:latin typeface="Cambria Math" panose="02040503050406030204" pitchFamily="18" charset="0"/>
                                          <a:cs typeface="Times New Roman" panose="02020603050405020304" pitchFamily="18" charset="0"/>
                                        </a:rPr>
                                        <m:t>𝑛</m:t>
                                      </m:r>
                                      <m:r>
                                        <a:rPr lang="es-MX" i="1">
                                          <a:solidFill>
                                            <a:schemeClr val="bg1"/>
                                          </a:solidFill>
                                          <a:latin typeface="Cambria Math" panose="02040503050406030204" pitchFamily="18" charset="0"/>
                                          <a:cs typeface="Times New Roman" panose="02020603050405020304" pitchFamily="18" charset="0"/>
                                        </a:rPr>
                                        <m:t>−1</m:t>
                                      </m:r>
                                    </m:num>
                                    <m:den>
                                      <m:r>
                                        <a:rPr lang="es-MX" i="1">
                                          <a:solidFill>
                                            <a:schemeClr val="bg1"/>
                                          </a:solidFill>
                                          <a:latin typeface="Cambria Math" panose="02040503050406030204" pitchFamily="18" charset="0"/>
                                          <a:cs typeface="Times New Roman" panose="02020603050405020304" pitchFamily="18" charset="0"/>
                                        </a:rPr>
                                        <m:t>𝑛</m:t>
                                      </m:r>
                                    </m:den>
                                  </m:f>
                                  <m:sSubSup>
                                    <m:sSubSupPr>
                                      <m:ctrlPr>
                                        <a:rPr lang="es-MX" i="1">
                                          <a:solidFill>
                                            <a:schemeClr val="bg1"/>
                                          </a:solidFill>
                                          <a:latin typeface="Cambria Math" panose="02040503050406030204" pitchFamily="18" charset="0"/>
                                          <a:cs typeface="Times New Roman" panose="02020603050405020304" pitchFamily="18" charset="0"/>
                                        </a:rPr>
                                      </m:ctrlPr>
                                    </m:sSubSupPr>
                                    <m:e>
                                      <m:r>
                                        <a:rPr lang="es-MX" i="1">
                                          <a:solidFill>
                                            <a:schemeClr val="bg1"/>
                                          </a:solidFill>
                                          <a:latin typeface="Cambria Math" panose="02040503050406030204" pitchFamily="18" charset="0"/>
                                          <a:cs typeface="Times New Roman" panose="02020603050405020304" pitchFamily="18" charset="0"/>
                                        </a:rPr>
                                        <m:t>𝑆</m:t>
                                      </m:r>
                                    </m:e>
                                    <m:sub>
                                      <m:r>
                                        <a:rPr lang="es-MX" i="1">
                                          <a:solidFill>
                                            <a:schemeClr val="bg1"/>
                                          </a:solidFill>
                                          <a:latin typeface="Cambria Math" panose="02040503050406030204" pitchFamily="18" charset="0"/>
                                          <a:cs typeface="Times New Roman" panose="02020603050405020304" pitchFamily="18" charset="0"/>
                                        </a:rPr>
                                        <m:t>𝑛</m:t>
                                      </m:r>
                                    </m:sub>
                                    <m:sup>
                                      <m:r>
                                        <a:rPr lang="es-MX" i="1">
                                          <a:solidFill>
                                            <a:schemeClr val="bg1"/>
                                          </a:solidFill>
                                          <a:latin typeface="Cambria Math" panose="02040503050406030204" pitchFamily="18" charset="0"/>
                                          <a:cs typeface="Times New Roman" panose="02020603050405020304" pitchFamily="18" charset="0"/>
                                        </a:rPr>
                                        <m:t>2</m:t>
                                      </m:r>
                                    </m:sup>
                                  </m:sSubSup>
                                </m:e>
                              </m:d>
                            </m:e>
                            <m:sup>
                              <m:f>
                                <m:fPr>
                                  <m:type m:val="skw"/>
                                  <m:ctrlPr>
                                    <a:rPr lang="es-MX" i="1">
                                      <a:solidFill>
                                        <a:schemeClr val="bg1"/>
                                      </a:solidFill>
                                      <a:latin typeface="Cambria Math" panose="02040503050406030204" pitchFamily="18" charset="0"/>
                                      <a:cs typeface="Times New Roman" panose="02020603050405020304" pitchFamily="18" charset="0"/>
                                    </a:rPr>
                                  </m:ctrlPr>
                                </m:fPr>
                                <m:num>
                                  <m:r>
                                    <a:rPr lang="es-MX" i="1">
                                      <a:solidFill>
                                        <a:schemeClr val="bg1"/>
                                      </a:solidFill>
                                      <a:latin typeface="Cambria Math" panose="02040503050406030204" pitchFamily="18" charset="0"/>
                                      <a:cs typeface="Times New Roman" panose="02020603050405020304" pitchFamily="18" charset="0"/>
                                    </a:rPr>
                                    <m:t>1</m:t>
                                  </m:r>
                                </m:num>
                                <m:den>
                                  <m:r>
                                    <a:rPr lang="es-MX" i="1">
                                      <a:solidFill>
                                        <a:schemeClr val="bg1"/>
                                      </a:solidFill>
                                      <a:latin typeface="Cambria Math" panose="02040503050406030204" pitchFamily="18" charset="0"/>
                                      <a:cs typeface="Times New Roman" panose="02020603050405020304" pitchFamily="18" charset="0"/>
                                    </a:rPr>
                                    <m:t>2</m:t>
                                  </m:r>
                                </m:den>
                              </m:f>
                            </m:sup>
                          </m:sSup>
                          <m:r>
                            <m:rPr>
                              <m:nor/>
                            </m:rPr>
                            <a:rPr lang="es-MX" dirty="0">
                              <a:solidFill>
                                <a:schemeClr val="bg1"/>
                              </a:solidFill>
                              <a:latin typeface="Times New Roman" panose="02020603050405020304" pitchFamily="18" charset="0"/>
                              <a:cs typeface="Times New Roman" panose="02020603050405020304" pitchFamily="18" charset="0"/>
                            </a:rPr>
                            <m:t> </m:t>
                          </m:r>
                        </m:e>
                      </m:d>
                    </m:oMath>
                  </m:oMathPara>
                </a14:m>
                <a:endParaRPr lang="es-MX"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5" name="CuadroTexto 4">
                <a:extLst>
                  <a:ext uri="{FF2B5EF4-FFF2-40B4-BE49-F238E27FC236}">
                    <a16:creationId xmlns:a16="http://schemas.microsoft.com/office/drawing/2014/main" id="{6BCD819A-C220-78F4-1B05-5ACEA438B175}"/>
                  </a:ext>
                </a:extLst>
              </p:cNvPr>
              <p:cNvSpPr txBox="1">
                <a:spLocks noRot="1" noChangeAspect="1" noMove="1" noResize="1" noEditPoints="1" noAdjustHandles="1" noChangeArrowheads="1" noChangeShapeType="1" noTextEdit="1"/>
              </p:cNvSpPr>
              <p:nvPr/>
            </p:nvSpPr>
            <p:spPr>
              <a:xfrm>
                <a:off x="964022" y="2353304"/>
                <a:ext cx="4699799" cy="2162900"/>
              </a:xfrm>
              <a:prstGeom prst="rect">
                <a:avLst/>
              </a:prstGeom>
              <a:blipFill>
                <a:blip r:embed="rId3"/>
                <a:stretch>
                  <a:fillRect l="-906" t="-1120" r="-1035"/>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graphicFrame>
            <p:nvGraphicFramePr>
              <p:cNvPr id="7" name="Diagrama 6">
                <a:extLst>
                  <a:ext uri="{FF2B5EF4-FFF2-40B4-BE49-F238E27FC236}">
                    <a16:creationId xmlns:a16="http://schemas.microsoft.com/office/drawing/2014/main" id="{4566C21B-D804-BFFE-4C78-640874C2736E}"/>
                  </a:ext>
                </a:extLst>
              </p:cNvPr>
              <p:cNvGraphicFramePr/>
              <p:nvPr>
                <p:extLst>
                  <p:ext uri="{D42A27DB-BD31-4B8C-83A1-F6EECF244321}">
                    <p14:modId xmlns:p14="http://schemas.microsoft.com/office/powerpoint/2010/main" val="1906565095"/>
                  </p:ext>
                </p:extLst>
              </p:nvPr>
            </p:nvGraphicFramePr>
            <p:xfrm>
              <a:off x="964022" y="4751565"/>
              <a:ext cx="4699799" cy="1709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Choice>
        <mc:Fallback xmlns="">
          <p:graphicFrame>
            <p:nvGraphicFramePr>
              <p:cNvPr id="7" name="Diagrama 6">
                <a:extLst>
                  <a:ext uri="{FF2B5EF4-FFF2-40B4-BE49-F238E27FC236}">
                    <a16:creationId xmlns:a16="http://schemas.microsoft.com/office/drawing/2014/main" id="{4566C21B-D804-BFFE-4C78-640874C2736E}"/>
                  </a:ext>
                </a:extLst>
              </p:cNvPr>
              <p:cNvGraphicFramePr/>
              <p:nvPr>
                <p:extLst>
                  <p:ext uri="{D42A27DB-BD31-4B8C-83A1-F6EECF244321}">
                    <p14:modId xmlns:p14="http://schemas.microsoft.com/office/powerpoint/2010/main" val="1906565095"/>
                  </p:ext>
                </p:extLst>
              </p:nvPr>
            </p:nvGraphicFramePr>
            <p:xfrm>
              <a:off x="964022" y="4751565"/>
              <a:ext cx="4699799" cy="170945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Fallback>
      </mc:AlternateContent>
      <p:pic>
        <p:nvPicPr>
          <p:cNvPr id="9" name="Imagen 8">
            <a:extLst>
              <a:ext uri="{FF2B5EF4-FFF2-40B4-BE49-F238E27FC236}">
                <a16:creationId xmlns:a16="http://schemas.microsoft.com/office/drawing/2014/main" id="{EBA5242C-5FEE-C9FD-0200-046BDAFD91BF}"/>
              </a:ext>
            </a:extLst>
          </p:cNvPr>
          <p:cNvPicPr>
            <a:picLocks noChangeAspect="1"/>
          </p:cNvPicPr>
          <p:nvPr/>
        </p:nvPicPr>
        <p:blipFill>
          <a:blip r:embed="rId13"/>
          <a:stretch>
            <a:fillRect/>
          </a:stretch>
        </p:blipFill>
        <p:spPr>
          <a:xfrm>
            <a:off x="6096000" y="2479189"/>
            <a:ext cx="5381767" cy="3319921"/>
          </a:xfrm>
          <a:prstGeom prst="rect">
            <a:avLst/>
          </a:prstGeom>
        </p:spPr>
      </p:pic>
      <p:pic>
        <p:nvPicPr>
          <p:cNvPr id="3" name="Imagen 2">
            <a:extLst>
              <a:ext uri="{FF2B5EF4-FFF2-40B4-BE49-F238E27FC236}">
                <a16:creationId xmlns:a16="http://schemas.microsoft.com/office/drawing/2014/main" id="{B524B83D-8532-17CE-FC0C-F991C9C50F5D}"/>
              </a:ext>
            </a:extLst>
          </p:cNvPr>
          <p:cNvPicPr>
            <a:picLocks noChangeAspect="1"/>
          </p:cNvPicPr>
          <p:nvPr/>
        </p:nvPicPr>
        <p:blipFill>
          <a:blip r:embed="rId14"/>
          <a:stretch>
            <a:fillRect/>
          </a:stretch>
        </p:blipFill>
        <p:spPr>
          <a:xfrm>
            <a:off x="8947660" y="5874479"/>
            <a:ext cx="586539" cy="586539"/>
          </a:xfrm>
          <a:prstGeom prst="rect">
            <a:avLst/>
          </a:prstGeom>
        </p:spPr>
      </p:pic>
    </p:spTree>
    <p:extLst>
      <p:ext uri="{BB962C8B-B14F-4D97-AF65-F5344CB8AC3E}">
        <p14:creationId xmlns:p14="http://schemas.microsoft.com/office/powerpoint/2010/main" val="249245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7"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9C3DD-2FE0-FF79-D5F4-8213F52635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E63200C-D5DD-A6E9-59E0-88641898F74B}"/>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 Gráfico Q-Q-</a:t>
            </a:r>
            <a:r>
              <a:rPr lang="es-ES" sz="2600" dirty="0" err="1">
                <a:latin typeface="Times New Roman" panose="02020603050405020304" pitchFamily="18" charset="0"/>
                <a:cs typeface="Times New Roman" panose="02020603050405020304" pitchFamily="18" charset="0"/>
              </a:rPr>
              <a:t>Norm</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B9D7A263-2809-4D34-BBA4-B5207D99AB23}"/>
                  </a:ext>
                </a:extLst>
              </p:cNvPr>
              <p:cNvSpPr txBox="1"/>
              <p:nvPr/>
            </p:nvSpPr>
            <p:spPr>
              <a:xfrm>
                <a:off x="964022" y="2353304"/>
                <a:ext cx="4918163" cy="1235979"/>
              </a:xfrm>
              <a:prstGeom prst="rect">
                <a:avLst/>
              </a:prstGeom>
              <a:noFill/>
              <a:ln>
                <a:solidFill>
                  <a:schemeClr val="tx1">
                    <a:lumMod val="85000"/>
                  </a:schemeClr>
                </a:solidFill>
              </a:ln>
            </p:spPr>
            <p:txBody>
              <a:bodyPr wrap="square" rtlCol="0">
                <a:spAutoFit/>
              </a:bodyPr>
              <a:lstStyle/>
              <a:p>
                <a:pPr algn="just"/>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Criterio: </a:t>
                </a:r>
                <a14:m>
                  <m:oMath xmlns:m="http://schemas.openxmlformats.org/officeDocument/2006/math">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sub>
                    </m:sSub>
                  </m:oMath>
                </a14:m>
                <a:r>
                  <a:rPr lang="es-MX" dirty="0">
                    <a:solidFill>
                      <a:schemeClr val="bg1"/>
                    </a:solidFill>
                    <a:latin typeface="Times New Roman" panose="02020603050405020304" pitchFamily="18" charset="0"/>
                    <a:cs typeface="Times New Roman" panose="02020603050405020304" pitchFamily="18" charset="0"/>
                  </a:rPr>
                  <a:t> tiene una distribución significativamente Normal </a:t>
                </a:r>
                <a14:m>
                  <m:oMath xmlns:m="http://schemas.openxmlformats.org/officeDocument/2006/math">
                    <m:r>
                      <a:rPr lang="es-MX" i="1">
                        <a:solidFill>
                          <a:schemeClr val="bg1"/>
                        </a:solidFill>
                        <a:latin typeface="Cambria Math" panose="02040503050406030204" pitchFamily="18" charset="0"/>
                      </a:rPr>
                      <m:t>↔</m:t>
                    </m:r>
                  </m:oMath>
                </a14:m>
                <a:r>
                  <a:rPr lang="es-MX" dirty="0">
                    <a:solidFill>
                      <a:schemeClr val="bg1"/>
                    </a:solidFill>
                    <a:latin typeface="Times New Roman" panose="02020603050405020304" pitchFamily="18" charset="0"/>
                    <a:cs typeface="Times New Roman" panose="02020603050405020304" pitchFamily="18" charset="0"/>
                  </a:rPr>
                  <a:t> Los cuantiles de la variable </a:t>
                </a:r>
                <a14:m>
                  <m:oMath xmlns:m="http://schemas.openxmlformats.org/officeDocument/2006/math">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sub>
                    </m:sSub>
                  </m:oMath>
                </a14:m>
                <a:r>
                  <a:rPr lang="es-MX" dirty="0">
                    <a:solidFill>
                      <a:schemeClr val="bg1"/>
                    </a:solidFill>
                    <a:latin typeface="Times New Roman" panose="02020603050405020304" pitchFamily="18" charset="0"/>
                    <a:cs typeface="Times New Roman" panose="02020603050405020304" pitchFamily="18" charset="0"/>
                  </a:rPr>
                  <a:t> son aproximadamente iguales a los cuantiles de una variable aleatoria </a:t>
                </a:r>
                <a14:m>
                  <m:oMath xmlns:m="http://schemas.openxmlformats.org/officeDocument/2006/math">
                    <m:r>
                      <a:rPr lang="es-MX" i="1">
                        <a:solidFill>
                          <a:schemeClr val="bg1"/>
                        </a:solidFill>
                        <a:latin typeface="Cambria Math" panose="02040503050406030204" pitchFamily="18" charset="0"/>
                      </a:rPr>
                      <m:t>𝑁</m:t>
                    </m:r>
                    <m:d>
                      <m:dPr>
                        <m:ctrlPr>
                          <a:rPr lang="es-MX" i="1">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acc>
                              <m:accPr>
                                <m:chr m:val="̅"/>
                                <m:ctrlPr>
                                  <a:rPr lang="es-MX" i="1">
                                    <a:solidFill>
                                      <a:schemeClr val="bg1"/>
                                    </a:solidFill>
                                    <a:latin typeface="Cambria Math" panose="02040503050406030204" pitchFamily="18" charset="0"/>
                                  </a:rPr>
                                </m:ctrlPr>
                              </m:accPr>
                              <m:e>
                                <m:r>
                                  <a:rPr lang="es-MX" i="1">
                                    <a:solidFill>
                                      <a:schemeClr val="bg1"/>
                                    </a:solidFill>
                                    <a:latin typeface="Cambria Math" panose="02040503050406030204" pitchFamily="18" charset="0"/>
                                  </a:rPr>
                                  <m:t>𝑋</m:t>
                                </m:r>
                              </m:e>
                            </m:acc>
                          </m:e>
                          <m:sub>
                            <m:r>
                              <a:rPr lang="es-MX" i="1">
                                <a:solidFill>
                                  <a:schemeClr val="bg1"/>
                                </a:solidFill>
                                <a:latin typeface="Cambria Math" panose="02040503050406030204" pitchFamily="18" charset="0"/>
                              </a:rPr>
                              <m:t>𝑘</m:t>
                            </m:r>
                          </m:sub>
                        </m:sSub>
                        <m:r>
                          <a:rPr lang="es-MX" i="1">
                            <a:solidFill>
                              <a:schemeClr val="bg1"/>
                            </a:solidFill>
                            <a:latin typeface="Cambria Math" panose="02040503050406030204" pitchFamily="18" charset="0"/>
                          </a:rPr>
                          <m:t>,</m:t>
                        </m:r>
                        <m:r>
                          <a:rPr lang="es-MX" i="1">
                            <a:solidFill>
                              <a:schemeClr val="bg1"/>
                            </a:solidFill>
                            <a:latin typeface="Cambria Math" panose="02040503050406030204" pitchFamily="18" charset="0"/>
                          </a:rPr>
                          <m:t>𝜎</m:t>
                        </m:r>
                        <m:d>
                          <m:dPr>
                            <m:ctrlPr>
                              <a:rPr lang="es-MX" i="1">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sub>
                            </m:sSub>
                            <m:r>
                              <a:rPr lang="es-MX">
                                <a:solidFill>
                                  <a:schemeClr val="bg1"/>
                                </a:solidFill>
                                <a:latin typeface="Cambria Math" panose="02040503050406030204" pitchFamily="18" charset="0"/>
                              </a:rPr>
                              <m:t> </m:t>
                            </m:r>
                          </m:e>
                        </m:d>
                      </m:e>
                    </m:d>
                  </m:oMath>
                </a14:m>
                <a:r>
                  <a:rPr lang="es-MX" dirty="0">
                    <a:solidFill>
                      <a:schemeClr val="bg1"/>
                    </a:solidFill>
                    <a:latin typeface="Times New Roman" panose="02020603050405020304" pitchFamily="18" charset="0"/>
                    <a:cs typeface="Times New Roman" panose="02020603050405020304" pitchFamily="18" charset="0"/>
                  </a:rPr>
                  <a:t>.</a:t>
                </a:r>
              </a:p>
            </p:txBody>
          </p:sp>
        </mc:Choice>
        <mc:Fallback xmlns="">
          <p:sp>
            <p:nvSpPr>
              <p:cNvPr id="3" name="CuadroTexto 2">
                <a:extLst>
                  <a:ext uri="{FF2B5EF4-FFF2-40B4-BE49-F238E27FC236}">
                    <a16:creationId xmlns:a16="http://schemas.microsoft.com/office/drawing/2014/main" id="{B9D7A263-2809-4D34-BBA4-B5207D99AB23}"/>
                  </a:ext>
                </a:extLst>
              </p:cNvPr>
              <p:cNvSpPr txBox="1">
                <a:spLocks noRot="1" noChangeAspect="1" noMove="1" noResize="1" noEditPoints="1" noAdjustHandles="1" noChangeArrowheads="1" noChangeShapeType="1" noTextEdit="1"/>
              </p:cNvSpPr>
              <p:nvPr/>
            </p:nvSpPr>
            <p:spPr>
              <a:xfrm>
                <a:off x="964022" y="2353304"/>
                <a:ext cx="4918163" cy="1235979"/>
              </a:xfrm>
              <a:prstGeom prst="rect">
                <a:avLst/>
              </a:prstGeom>
              <a:blipFill>
                <a:blip r:embed="rId3"/>
                <a:stretch>
                  <a:fillRect l="-865" t="-1951" r="-989" b="-4878"/>
                </a:stretch>
              </a:blipFill>
              <a:ln>
                <a:solidFill>
                  <a:schemeClr val="tx1">
                    <a:lumMod val="85000"/>
                  </a:schemeClr>
                </a:solidFill>
              </a:ln>
            </p:spPr>
            <p:txBody>
              <a:bodyPr/>
              <a:lstStyle/>
              <a:p>
                <a:r>
                  <a:rPr lang="es-MX">
                    <a:noFill/>
                  </a:rPr>
                  <a:t> </a:t>
                </a:r>
              </a:p>
            </p:txBody>
          </p:sp>
        </mc:Fallback>
      </mc:AlternateContent>
      <p:pic>
        <p:nvPicPr>
          <p:cNvPr id="8" name="Imagen 7">
            <a:extLst>
              <a:ext uri="{FF2B5EF4-FFF2-40B4-BE49-F238E27FC236}">
                <a16:creationId xmlns:a16="http://schemas.microsoft.com/office/drawing/2014/main" id="{4812664C-DDB5-77C6-89AB-2FE24E9C376C}"/>
              </a:ext>
            </a:extLst>
          </p:cNvPr>
          <p:cNvPicPr>
            <a:picLocks noChangeAspect="1"/>
          </p:cNvPicPr>
          <p:nvPr/>
        </p:nvPicPr>
        <p:blipFill>
          <a:blip r:embed="rId4"/>
          <a:stretch>
            <a:fillRect/>
          </a:stretch>
        </p:blipFill>
        <p:spPr>
          <a:xfrm>
            <a:off x="5919804" y="2228052"/>
            <a:ext cx="6272196" cy="3869212"/>
          </a:xfrm>
          <a:prstGeom prst="rect">
            <a:avLst/>
          </a:prstGeom>
        </p:spPr>
      </p:pic>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A72A9B2B-A398-2A90-61DB-DEC88524E273}"/>
                  </a:ext>
                </a:extLst>
              </p:cNvPr>
              <p:cNvSpPr txBox="1"/>
              <p:nvPr/>
            </p:nvSpPr>
            <p:spPr>
              <a:xfrm>
                <a:off x="964021" y="3834671"/>
                <a:ext cx="4918163" cy="2356158"/>
              </a:xfrm>
              <a:prstGeom prst="rect">
                <a:avLst/>
              </a:prstGeom>
              <a:noFill/>
              <a:ln>
                <a:solidFill>
                  <a:schemeClr val="tx1">
                    <a:lumMod val="85000"/>
                  </a:schemeClr>
                </a:solidFill>
              </a:ln>
            </p:spPr>
            <p:txBody>
              <a:bodyPr wrap="square" rtlCol="0">
                <a:spAutoFit/>
              </a:bodyPr>
              <a:lstStyle/>
              <a:p>
                <a:pPr algn="just"/>
                <a:r>
                  <a:rPr lang="es-MX" dirty="0">
                    <a:solidFill>
                      <a:schemeClr val="bg1"/>
                    </a:solidFill>
                    <a:latin typeface="Times New Roman" panose="02020603050405020304" pitchFamily="18" charset="0"/>
                    <a:cs typeface="Times New Roman" panose="02020603050405020304" pitchFamily="18" charset="0"/>
                  </a:rPr>
                  <a:t>Si los puntos están próximos a la recta </a:t>
                </a:r>
                <a14:m>
                  <m:oMath xmlns:m="http://schemas.openxmlformats.org/officeDocument/2006/math">
                    <m:r>
                      <a:rPr lang="es-MX" i="1">
                        <a:solidFill>
                          <a:schemeClr val="bg1"/>
                        </a:solidFill>
                        <a:latin typeface="Cambria Math" panose="02040503050406030204" pitchFamily="18" charset="0"/>
                      </a:rPr>
                      <m:t>→</m:t>
                    </m:r>
                  </m:oMath>
                </a14:m>
                <a:r>
                  <a:rPr lang="es-MX" dirty="0">
                    <a:solidFill>
                      <a:schemeClr val="bg1"/>
                    </a:solidFill>
                    <a:latin typeface="Times New Roman" panose="02020603050405020304" pitchFamily="18" charset="0"/>
                    <a:cs typeface="Times New Roman" panose="02020603050405020304" pitchFamily="18" charset="0"/>
                  </a:rPr>
                  <a:t> Los cuantiles de la variable </a:t>
                </a:r>
                <a14:m>
                  <m:oMath xmlns:m="http://schemas.openxmlformats.org/officeDocument/2006/math">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sub>
                    </m:sSub>
                  </m:oMath>
                </a14:m>
                <a:r>
                  <a:rPr lang="es-MX" dirty="0">
                    <a:solidFill>
                      <a:schemeClr val="bg1"/>
                    </a:solidFill>
                    <a:latin typeface="Times New Roman" panose="02020603050405020304" pitchFamily="18" charset="0"/>
                    <a:cs typeface="Times New Roman" panose="02020603050405020304" pitchFamily="18" charset="0"/>
                  </a:rPr>
                  <a:t> son aproximadamente iguales a los cuantiles de una variable aleatoria </a:t>
                </a:r>
                <a14:m>
                  <m:oMath xmlns:m="http://schemas.openxmlformats.org/officeDocument/2006/math">
                    <m:r>
                      <a:rPr lang="es-MX" i="1">
                        <a:solidFill>
                          <a:schemeClr val="bg1"/>
                        </a:solidFill>
                        <a:latin typeface="Cambria Math" panose="02040503050406030204" pitchFamily="18" charset="0"/>
                      </a:rPr>
                      <m:t>𝑁</m:t>
                    </m:r>
                    <m:d>
                      <m:dPr>
                        <m:ctrlPr>
                          <a:rPr lang="es-MX" i="1">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acc>
                              <m:accPr>
                                <m:chr m:val="̅"/>
                                <m:ctrlPr>
                                  <a:rPr lang="es-MX" i="1">
                                    <a:solidFill>
                                      <a:schemeClr val="bg1"/>
                                    </a:solidFill>
                                    <a:latin typeface="Cambria Math" panose="02040503050406030204" pitchFamily="18" charset="0"/>
                                  </a:rPr>
                                </m:ctrlPr>
                              </m:accPr>
                              <m:e>
                                <m:r>
                                  <a:rPr lang="es-MX" i="1">
                                    <a:solidFill>
                                      <a:schemeClr val="bg1"/>
                                    </a:solidFill>
                                    <a:latin typeface="Cambria Math" panose="02040503050406030204" pitchFamily="18" charset="0"/>
                                  </a:rPr>
                                  <m:t>𝑋</m:t>
                                </m:r>
                              </m:e>
                            </m:acc>
                          </m:e>
                          <m:sub>
                            <m:r>
                              <a:rPr lang="es-MX" i="1">
                                <a:solidFill>
                                  <a:schemeClr val="bg1"/>
                                </a:solidFill>
                                <a:latin typeface="Cambria Math" panose="02040503050406030204" pitchFamily="18" charset="0"/>
                              </a:rPr>
                              <m:t>𝑘</m:t>
                            </m:r>
                          </m:sub>
                        </m:sSub>
                        <m:r>
                          <a:rPr lang="es-MX" i="1">
                            <a:solidFill>
                              <a:schemeClr val="bg1"/>
                            </a:solidFill>
                            <a:latin typeface="Cambria Math" panose="02040503050406030204" pitchFamily="18" charset="0"/>
                          </a:rPr>
                          <m:t>,</m:t>
                        </m:r>
                        <m:r>
                          <a:rPr lang="es-MX" i="1">
                            <a:solidFill>
                              <a:schemeClr val="bg1"/>
                            </a:solidFill>
                            <a:latin typeface="Cambria Math" panose="02040503050406030204" pitchFamily="18" charset="0"/>
                          </a:rPr>
                          <m:t>𝜎</m:t>
                        </m:r>
                        <m:d>
                          <m:dPr>
                            <m:ctrlPr>
                              <a:rPr lang="es-MX" i="1">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sub>
                            </m:sSub>
                            <m:r>
                              <a:rPr lang="es-MX">
                                <a:solidFill>
                                  <a:schemeClr val="bg1"/>
                                </a:solidFill>
                                <a:latin typeface="Cambria Math" panose="02040503050406030204" pitchFamily="18" charset="0"/>
                              </a:rPr>
                              <m:t> </m:t>
                            </m:r>
                          </m:e>
                        </m:d>
                      </m:e>
                    </m:d>
                  </m:oMath>
                </a14:m>
                <a:r>
                  <a:rPr lang="es-MX"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r>
                      <a:rPr lang="es-MX" i="1">
                        <a:solidFill>
                          <a:schemeClr val="bg1"/>
                        </a:solidFill>
                        <a:latin typeface="Cambria Math" panose="02040503050406030204" pitchFamily="18" charset="0"/>
                      </a:rPr>
                      <m:t>→</m:t>
                    </m:r>
                  </m:oMath>
                </a14:m>
                <a:r>
                  <a:rPr lang="es-MX"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sub>
                    </m:sSub>
                  </m:oMath>
                </a14:m>
                <a:r>
                  <a:rPr lang="es-MX" dirty="0">
                    <a:solidFill>
                      <a:schemeClr val="bg1"/>
                    </a:solidFill>
                    <a:latin typeface="Times New Roman" panose="02020603050405020304" pitchFamily="18" charset="0"/>
                    <a:cs typeface="Times New Roman" panose="02020603050405020304" pitchFamily="18" charset="0"/>
                  </a:rPr>
                  <a:t> tiene una distribución aproximadamente normal </a:t>
                </a:r>
                <a14:m>
                  <m:oMath xmlns:m="http://schemas.openxmlformats.org/officeDocument/2006/math">
                    <m:r>
                      <a:rPr lang="es-MX" i="1">
                        <a:solidFill>
                          <a:schemeClr val="bg1"/>
                        </a:solidFill>
                        <a:latin typeface="Cambria Math" panose="02040503050406030204" pitchFamily="18" charset="0"/>
                      </a:rPr>
                      <m:t>→</m:t>
                    </m:r>
                  </m:oMath>
                </a14:m>
                <a:r>
                  <a:rPr lang="es-MX" dirty="0">
                    <a:solidFill>
                      <a:schemeClr val="bg1"/>
                    </a:solidFill>
                    <a:latin typeface="Times New Roman" panose="02020603050405020304" pitchFamily="18" charset="0"/>
                    <a:cs typeface="Times New Roman" panose="02020603050405020304" pitchFamily="18" charset="0"/>
                  </a:rPr>
                  <a:t> Existe suficiente evidencia estadística para sustentar la aseveración de que la distribución </a:t>
                </a:r>
                <a14:m>
                  <m:oMath xmlns:m="http://schemas.openxmlformats.org/officeDocument/2006/math">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r>
                          <a:rPr lang="es-MX" i="1">
                            <a:solidFill>
                              <a:schemeClr val="bg1"/>
                            </a:solidFill>
                            <a:latin typeface="Cambria Math" panose="02040503050406030204" pitchFamily="18" charset="0"/>
                          </a:rPr>
                          <m:t>,</m:t>
                        </m:r>
                        <m:r>
                          <a:rPr lang="es-MX" i="1">
                            <a:solidFill>
                              <a:schemeClr val="bg1"/>
                            </a:solidFill>
                            <a:latin typeface="Cambria Math" panose="02040503050406030204" pitchFamily="18" charset="0"/>
                          </a:rPr>
                          <m:t>𝑃</m:t>
                        </m:r>
                      </m:sub>
                    </m:sSub>
                  </m:oMath>
                </a14:m>
                <a:r>
                  <a:rPr lang="es-MX" dirty="0">
                    <a:solidFill>
                      <a:schemeClr val="bg1"/>
                    </a:solidFill>
                    <a:latin typeface="Times New Roman" panose="02020603050405020304" pitchFamily="18" charset="0"/>
                    <a:cs typeface="Times New Roman" panose="02020603050405020304" pitchFamily="18" charset="0"/>
                  </a:rPr>
                  <a:t> sigue una distribución aproximadamente normal.</a:t>
                </a:r>
              </a:p>
            </p:txBody>
          </p:sp>
        </mc:Choice>
        <mc:Fallback xmlns="">
          <p:sp>
            <p:nvSpPr>
              <p:cNvPr id="9" name="CuadroTexto 8">
                <a:extLst>
                  <a:ext uri="{FF2B5EF4-FFF2-40B4-BE49-F238E27FC236}">
                    <a16:creationId xmlns:a16="http://schemas.microsoft.com/office/drawing/2014/main" id="{A72A9B2B-A398-2A90-61DB-DEC88524E273}"/>
                  </a:ext>
                </a:extLst>
              </p:cNvPr>
              <p:cNvSpPr txBox="1">
                <a:spLocks noRot="1" noChangeAspect="1" noMove="1" noResize="1" noEditPoints="1" noAdjustHandles="1" noChangeArrowheads="1" noChangeShapeType="1" noTextEdit="1"/>
              </p:cNvSpPr>
              <p:nvPr/>
            </p:nvSpPr>
            <p:spPr>
              <a:xfrm>
                <a:off x="964021" y="3834671"/>
                <a:ext cx="4918163" cy="2356158"/>
              </a:xfrm>
              <a:prstGeom prst="rect">
                <a:avLst/>
              </a:prstGeom>
              <a:blipFill>
                <a:blip r:embed="rId5"/>
                <a:stretch>
                  <a:fillRect l="-865" t="-1028" r="-989" b="-2828"/>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15623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4FE16-A3F9-CA22-56FC-0B0E3767D2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56F8ED-570F-D05F-CC57-D3019B4B3775}"/>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 Gráfico Q-Q-</a:t>
            </a:r>
            <a:r>
              <a:rPr lang="es-ES" sz="2600" dirty="0" err="1">
                <a:latin typeface="Times New Roman" panose="02020603050405020304" pitchFamily="18" charset="0"/>
                <a:cs typeface="Times New Roman" panose="02020603050405020304" pitchFamily="18" charset="0"/>
              </a:rPr>
              <a:t>Norm</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5009A90A-970E-9499-59E3-435C0002CC9E}"/>
                  </a:ext>
                </a:extLst>
              </p:cNvPr>
              <p:cNvSpPr txBox="1"/>
              <p:nvPr/>
            </p:nvSpPr>
            <p:spPr>
              <a:xfrm>
                <a:off x="964022" y="2120821"/>
                <a:ext cx="4918163" cy="2616357"/>
              </a:xfrm>
              <a:prstGeom prst="rect">
                <a:avLst/>
              </a:prstGeom>
              <a:noFill/>
              <a:ln>
                <a:solidFill>
                  <a:schemeClr val="tx1">
                    <a:lumMod val="85000"/>
                  </a:schemeClr>
                </a:solidFill>
              </a:ln>
            </p:spPr>
            <p:txBody>
              <a:bodyPr wrap="square" rtlCol="0">
                <a:spAutoFit/>
              </a:bodyPr>
              <a:lstStyle/>
              <a:p>
                <a:pPr algn="ctr"/>
                <a:r>
                  <a:rPr lang="es-MX" sz="1600" b="1" dirty="0">
                    <a:solidFill>
                      <a:schemeClr val="bg1"/>
                    </a:solidFill>
                    <a:latin typeface="Times New Roman" panose="02020603050405020304" pitchFamily="18" charset="0"/>
                    <a:cs typeface="Times New Roman" panose="02020603050405020304" pitchFamily="18" charset="0"/>
                  </a:rPr>
                  <a:t>La recta </a:t>
                </a:r>
                <a:r>
                  <a:rPr lang="es-MX" sz="1600" dirty="0">
                    <a:solidFill>
                      <a:schemeClr val="bg1"/>
                    </a:solidFill>
                    <a:latin typeface="Times New Roman" panose="02020603050405020304" pitchFamily="18" charset="0"/>
                    <a:cs typeface="Times New Roman" panose="02020603050405020304" pitchFamily="18" charset="0"/>
                  </a:rPr>
                  <a:t>representa los valores teóricos esperados si los datos realmente siguen una distribución </a:t>
                </a:r>
                <a14:m>
                  <m:oMath xmlns:m="http://schemas.openxmlformats.org/officeDocument/2006/math">
                    <m:r>
                      <a:rPr lang="es-MX" sz="1600" i="1">
                        <a:solidFill>
                          <a:schemeClr val="bg1"/>
                        </a:solidFill>
                        <a:latin typeface="Cambria Math" panose="02040503050406030204" pitchFamily="18" charset="0"/>
                      </a:rPr>
                      <m:t>𝑁</m:t>
                    </m:r>
                    <m:d>
                      <m:dPr>
                        <m:ctrlPr>
                          <a:rPr lang="es-MX" sz="1600" i="1">
                            <a:solidFill>
                              <a:schemeClr val="bg1"/>
                            </a:solidFill>
                            <a:latin typeface="Cambria Math" panose="02040503050406030204" pitchFamily="18" charset="0"/>
                          </a:rPr>
                        </m:ctrlPr>
                      </m:dPr>
                      <m:e>
                        <m:sSub>
                          <m:sSubPr>
                            <m:ctrlPr>
                              <a:rPr lang="es-MX" sz="1600" i="1">
                                <a:solidFill>
                                  <a:schemeClr val="bg1"/>
                                </a:solidFill>
                                <a:latin typeface="Cambria Math" panose="02040503050406030204" pitchFamily="18" charset="0"/>
                              </a:rPr>
                            </m:ctrlPr>
                          </m:sSubPr>
                          <m:e>
                            <m:acc>
                              <m:accPr>
                                <m:chr m:val="̅"/>
                                <m:ctrlPr>
                                  <a:rPr lang="es-MX" sz="1600" i="1">
                                    <a:solidFill>
                                      <a:schemeClr val="bg1"/>
                                    </a:solidFill>
                                    <a:latin typeface="Cambria Math" panose="02040503050406030204" pitchFamily="18" charset="0"/>
                                  </a:rPr>
                                </m:ctrlPr>
                              </m:accPr>
                              <m:e>
                                <m:r>
                                  <a:rPr lang="es-MX" sz="1600" i="1">
                                    <a:solidFill>
                                      <a:schemeClr val="bg1"/>
                                    </a:solidFill>
                                    <a:latin typeface="Cambria Math" panose="02040503050406030204" pitchFamily="18" charset="0"/>
                                  </a:rPr>
                                  <m:t>𝑋</m:t>
                                </m:r>
                              </m:e>
                            </m:acc>
                          </m:e>
                          <m:sub>
                            <m:r>
                              <a:rPr lang="es-MX" sz="1600" i="1">
                                <a:solidFill>
                                  <a:schemeClr val="bg1"/>
                                </a:solidFill>
                                <a:latin typeface="Cambria Math" panose="02040503050406030204" pitchFamily="18" charset="0"/>
                              </a:rPr>
                              <m:t>𝑘</m:t>
                            </m:r>
                          </m:sub>
                        </m:sSub>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𝜎</m:t>
                        </m:r>
                        <m:d>
                          <m:dPr>
                            <m:ctrlPr>
                              <a:rPr lang="es-MX" sz="1600" i="1">
                                <a:solidFill>
                                  <a:schemeClr val="bg1"/>
                                </a:solidFill>
                                <a:latin typeface="Cambria Math" panose="02040503050406030204" pitchFamily="18" charset="0"/>
                              </a:rPr>
                            </m:ctrlPr>
                          </m:dPr>
                          <m:e>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𝑋</m:t>
                                </m:r>
                              </m:e>
                              <m:sub>
                                <m:r>
                                  <a:rPr lang="es-MX" sz="1600" i="1">
                                    <a:solidFill>
                                      <a:schemeClr val="bg1"/>
                                    </a:solidFill>
                                    <a:latin typeface="Cambria Math" panose="02040503050406030204" pitchFamily="18" charset="0"/>
                                  </a:rPr>
                                  <m:t>𝑘</m:t>
                                </m:r>
                              </m:sub>
                            </m:sSub>
                            <m:r>
                              <a:rPr lang="es-MX" sz="1600">
                                <a:solidFill>
                                  <a:schemeClr val="bg1"/>
                                </a:solidFill>
                                <a:latin typeface="Cambria Math" panose="02040503050406030204" pitchFamily="18" charset="0"/>
                              </a:rPr>
                              <m:t> </m:t>
                            </m:r>
                          </m:e>
                        </m:d>
                      </m:e>
                    </m:d>
                  </m:oMath>
                </a14:m>
                <a:r>
                  <a:rPr lang="es-MX" sz="1600" dirty="0">
                    <a:solidFill>
                      <a:schemeClr val="bg1"/>
                    </a:solidFill>
                    <a:latin typeface="Times New Roman" panose="02020603050405020304" pitchFamily="18" charset="0"/>
                    <a:cs typeface="Times New Roman" panose="02020603050405020304" pitchFamily="18" charset="0"/>
                  </a:rPr>
                  <a:t>.</a:t>
                </a:r>
              </a:p>
              <a:p>
                <a:pPr algn="ctr"/>
                <a:r>
                  <a:rPr lang="es-MX" sz="1600" dirty="0">
                    <a:solidFill>
                      <a:schemeClr val="bg1"/>
                    </a:solidFill>
                    <a:latin typeface="Times New Roman" panose="02020603050405020304" pitchFamily="18" charset="0"/>
                    <a:cs typeface="Times New Roman" panose="02020603050405020304" pitchFamily="18" charset="0"/>
                  </a:rPr>
                  <a:t>Cada punto en la recta tiene coordenadas</a:t>
                </a:r>
              </a:p>
              <a:p>
                <a:pPr algn="ctr"/>
                <a14:m>
                  <m:oMathPara xmlns:m="http://schemas.openxmlformats.org/officeDocument/2006/math">
                    <m:oMathParaPr>
                      <m:jc m:val="centerGroup"/>
                    </m:oMathParaPr>
                    <m:oMath xmlns:m="http://schemas.openxmlformats.org/officeDocument/2006/math">
                      <m:r>
                        <a:rPr lang="es-MX" sz="1600" i="1">
                          <a:solidFill>
                            <a:schemeClr val="bg1"/>
                          </a:solidFill>
                          <a:latin typeface="Cambria Math" panose="02040503050406030204" pitchFamily="18" charset="0"/>
                        </a:rPr>
                        <m:t>𝑥</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𝑄</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𝑝</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𝑁</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0,1</m:t>
                              </m:r>
                            </m:e>
                          </m:d>
                        </m:e>
                      </m:d>
                      <m:r>
                        <a:rPr lang="es-MX" sz="1600" i="1">
                          <a:solidFill>
                            <a:schemeClr val="bg1"/>
                          </a:solidFill>
                          <a:latin typeface="Cambria Math" panose="02040503050406030204" pitchFamily="18" charset="0"/>
                        </a:rPr>
                        <m:t>          </m:t>
                      </m:r>
                      <m:r>
                        <a:rPr lang="es-MX" sz="1600" i="1">
                          <a:solidFill>
                            <a:schemeClr val="bg1"/>
                          </a:solidFill>
                          <a:latin typeface="Cambria Math" panose="02040503050406030204" pitchFamily="18" charset="0"/>
                        </a:rPr>
                        <m:t>𝑦</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𝑄</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𝑝</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𝑁</m:t>
                          </m:r>
                          <m:d>
                            <m:dPr>
                              <m:ctrlPr>
                                <a:rPr lang="es-MX" sz="1600" i="1">
                                  <a:solidFill>
                                    <a:schemeClr val="bg1"/>
                                  </a:solidFill>
                                  <a:latin typeface="Cambria Math" panose="02040503050406030204" pitchFamily="18" charset="0"/>
                                </a:rPr>
                              </m:ctrlPr>
                            </m:dPr>
                            <m:e>
                              <m:sSub>
                                <m:sSubPr>
                                  <m:ctrlPr>
                                    <a:rPr lang="es-MX" sz="1600" i="1">
                                      <a:solidFill>
                                        <a:schemeClr val="bg1"/>
                                      </a:solidFill>
                                      <a:latin typeface="Cambria Math" panose="02040503050406030204" pitchFamily="18" charset="0"/>
                                    </a:rPr>
                                  </m:ctrlPr>
                                </m:sSubPr>
                                <m:e>
                                  <m:acc>
                                    <m:accPr>
                                      <m:chr m:val="̅"/>
                                      <m:ctrlPr>
                                        <a:rPr lang="es-MX" sz="1600" i="1">
                                          <a:solidFill>
                                            <a:schemeClr val="bg1"/>
                                          </a:solidFill>
                                          <a:latin typeface="Cambria Math" panose="02040503050406030204" pitchFamily="18" charset="0"/>
                                        </a:rPr>
                                      </m:ctrlPr>
                                    </m:accPr>
                                    <m:e>
                                      <m:r>
                                        <a:rPr lang="es-MX" sz="1600" i="1">
                                          <a:solidFill>
                                            <a:schemeClr val="bg1"/>
                                          </a:solidFill>
                                          <a:latin typeface="Cambria Math" panose="02040503050406030204" pitchFamily="18" charset="0"/>
                                        </a:rPr>
                                        <m:t>𝑋</m:t>
                                      </m:r>
                                    </m:e>
                                  </m:acc>
                                </m:e>
                                <m:sub>
                                  <m:r>
                                    <a:rPr lang="es-MX" sz="1600" i="1">
                                      <a:solidFill>
                                        <a:schemeClr val="bg1"/>
                                      </a:solidFill>
                                      <a:latin typeface="Cambria Math" panose="02040503050406030204" pitchFamily="18" charset="0"/>
                                    </a:rPr>
                                    <m:t>𝑘</m:t>
                                  </m:r>
                                </m:sub>
                              </m:sSub>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𝜎</m:t>
                              </m:r>
                              <m:d>
                                <m:dPr>
                                  <m:ctrlPr>
                                    <a:rPr lang="es-MX" sz="1600" i="1">
                                      <a:solidFill>
                                        <a:schemeClr val="bg1"/>
                                      </a:solidFill>
                                      <a:latin typeface="Cambria Math" panose="02040503050406030204" pitchFamily="18" charset="0"/>
                                    </a:rPr>
                                  </m:ctrlPr>
                                </m:dPr>
                                <m:e>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𝑋</m:t>
                                      </m:r>
                                    </m:e>
                                    <m:sub>
                                      <m:r>
                                        <a:rPr lang="es-MX" sz="1600" i="1">
                                          <a:solidFill>
                                            <a:schemeClr val="bg1"/>
                                          </a:solidFill>
                                          <a:latin typeface="Cambria Math" panose="02040503050406030204" pitchFamily="18" charset="0"/>
                                        </a:rPr>
                                        <m:t>𝑘</m:t>
                                      </m:r>
                                    </m:sub>
                                  </m:sSub>
                                  <m:r>
                                    <a:rPr lang="es-MX" sz="1600">
                                      <a:solidFill>
                                        <a:schemeClr val="bg1"/>
                                      </a:solidFill>
                                      <a:latin typeface="Cambria Math" panose="02040503050406030204" pitchFamily="18" charset="0"/>
                                    </a:rPr>
                                    <m:t> </m:t>
                                  </m:r>
                                </m:e>
                              </m:d>
                            </m:e>
                          </m:d>
                        </m:e>
                      </m:d>
                    </m:oMath>
                  </m:oMathPara>
                </a14:m>
                <a:endParaRPr lang="es-MX" sz="1600" dirty="0">
                  <a:solidFill>
                    <a:schemeClr val="bg1"/>
                  </a:solidFill>
                  <a:latin typeface="Times New Roman" panose="02020603050405020304" pitchFamily="18" charset="0"/>
                  <a:cs typeface="Times New Roman" panose="02020603050405020304" pitchFamily="18" charset="0"/>
                </a:endParaRPr>
              </a:p>
              <a:p>
                <a:pPr algn="ctr"/>
                <a:endParaRPr lang="es-MX" sz="1600" dirty="0">
                  <a:solidFill>
                    <a:schemeClr val="bg1"/>
                  </a:solidFill>
                  <a:latin typeface="Times New Roman" panose="02020603050405020304" pitchFamily="18" charset="0"/>
                  <a:cs typeface="Times New Roman" panose="02020603050405020304" pitchFamily="18" charset="0"/>
                </a:endParaRPr>
              </a:p>
              <a:p>
                <a:pPr algn="ctr"/>
                <a:r>
                  <a:rPr lang="es-MX" sz="1600" b="1" dirty="0">
                    <a:solidFill>
                      <a:schemeClr val="bg1"/>
                    </a:solidFill>
                    <a:latin typeface="Times New Roman" panose="02020603050405020304" pitchFamily="18" charset="0"/>
                    <a:cs typeface="Times New Roman" panose="02020603050405020304" pitchFamily="18" charset="0"/>
                  </a:rPr>
                  <a:t>Ejemplo:</a:t>
                </a:r>
                <a:r>
                  <a:rPr lang="es-MX" sz="1600" dirty="0">
                    <a:solidFill>
                      <a:schemeClr val="bg1"/>
                    </a:solidFill>
                    <a:latin typeface="Times New Roman" panose="02020603050405020304" pitchFamily="18" charset="0"/>
                    <a:cs typeface="Times New Roman" panose="02020603050405020304" pitchFamily="18" charset="0"/>
                  </a:rPr>
                  <a:t> Si </a:t>
                </a:r>
                <a14:m>
                  <m:oMath xmlns:m="http://schemas.openxmlformats.org/officeDocument/2006/math">
                    <m:r>
                      <a:rPr lang="es-MX" sz="1600" i="1">
                        <a:solidFill>
                          <a:schemeClr val="bg1"/>
                        </a:solidFill>
                        <a:latin typeface="Cambria Math" panose="02040503050406030204" pitchFamily="18" charset="0"/>
                      </a:rPr>
                      <m:t>𝑝</m:t>
                    </m:r>
                    <m:r>
                      <a:rPr lang="es-MX" sz="1600" i="1">
                        <a:solidFill>
                          <a:schemeClr val="bg1"/>
                        </a:solidFill>
                        <a:latin typeface="Cambria Math" panose="02040503050406030204" pitchFamily="18" charset="0"/>
                      </a:rPr>
                      <m:t>=0.5</m:t>
                    </m:r>
                  </m:oMath>
                </a14:m>
                <a:r>
                  <a:rPr lang="es-MX" sz="1600" dirty="0">
                    <a:solidFill>
                      <a:schemeClr val="bg1"/>
                    </a:solidFill>
                    <a:latin typeface="Times New Roman" panose="02020603050405020304" pitchFamily="18" charset="0"/>
                    <a:cs typeface="Times New Roman" panose="02020603050405020304" pitchFamily="18" charset="0"/>
                  </a:rPr>
                  <a:t>, entonces </a:t>
                </a:r>
                <a14:m>
                  <m:oMath xmlns:m="http://schemas.openxmlformats.org/officeDocument/2006/math">
                    <m:r>
                      <a:rPr lang="es-MX" sz="1600" i="1">
                        <a:solidFill>
                          <a:schemeClr val="bg1"/>
                        </a:solidFill>
                        <a:latin typeface="Cambria Math" panose="02040503050406030204" pitchFamily="18" charset="0"/>
                      </a:rPr>
                      <m:t>𝑥</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𝑄</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0.5,</m:t>
                        </m:r>
                        <m:r>
                          <a:rPr lang="es-MX" sz="1600" i="1">
                            <a:solidFill>
                              <a:schemeClr val="bg1"/>
                            </a:solidFill>
                            <a:latin typeface="Cambria Math" panose="02040503050406030204" pitchFamily="18" charset="0"/>
                          </a:rPr>
                          <m:t>𝑁</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0,1</m:t>
                            </m:r>
                          </m:e>
                        </m:d>
                      </m:e>
                    </m:d>
                    <m:r>
                      <a:rPr lang="es-MX" sz="1600" i="1">
                        <a:solidFill>
                          <a:schemeClr val="bg1"/>
                        </a:solidFill>
                        <a:latin typeface="Cambria Math" panose="02040503050406030204" pitchFamily="18" charset="0"/>
                      </a:rPr>
                      <m:t>=0</m:t>
                    </m:r>
                  </m:oMath>
                </a14:m>
                <a:r>
                  <a:rPr lang="es-MX" sz="1600" dirty="0">
                    <a:solidFill>
                      <a:schemeClr val="bg1"/>
                    </a:solidFill>
                    <a:latin typeface="Times New Roman" panose="02020603050405020304" pitchFamily="18" charset="0"/>
                    <a:cs typeface="Times New Roman" panose="02020603050405020304" pitchFamily="18" charset="0"/>
                  </a:rPr>
                  <a:t> y </a:t>
                </a:r>
                <a14:m>
                  <m:oMath xmlns:m="http://schemas.openxmlformats.org/officeDocument/2006/math">
                    <m:r>
                      <a:rPr lang="es-MX" sz="1600" i="1">
                        <a:solidFill>
                          <a:schemeClr val="bg1"/>
                        </a:solidFill>
                        <a:latin typeface="Cambria Math" panose="02040503050406030204" pitchFamily="18" charset="0"/>
                      </a:rPr>
                      <m:t>𝑦</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𝑄</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0.5,</m:t>
                        </m:r>
                        <m:r>
                          <a:rPr lang="es-MX" sz="1600" i="1">
                            <a:solidFill>
                              <a:schemeClr val="bg1"/>
                            </a:solidFill>
                            <a:latin typeface="Cambria Math" panose="02040503050406030204" pitchFamily="18" charset="0"/>
                          </a:rPr>
                          <m:t>𝑁</m:t>
                        </m:r>
                        <m:d>
                          <m:dPr>
                            <m:ctrlPr>
                              <a:rPr lang="es-MX" sz="1600" i="1">
                                <a:solidFill>
                                  <a:schemeClr val="bg1"/>
                                </a:solidFill>
                                <a:latin typeface="Cambria Math" panose="02040503050406030204" pitchFamily="18" charset="0"/>
                              </a:rPr>
                            </m:ctrlPr>
                          </m:dPr>
                          <m:e>
                            <m:sSub>
                              <m:sSubPr>
                                <m:ctrlPr>
                                  <a:rPr lang="es-MX" sz="1600" i="1">
                                    <a:solidFill>
                                      <a:schemeClr val="bg1"/>
                                    </a:solidFill>
                                    <a:latin typeface="Cambria Math" panose="02040503050406030204" pitchFamily="18" charset="0"/>
                                  </a:rPr>
                                </m:ctrlPr>
                              </m:sSubPr>
                              <m:e>
                                <m:acc>
                                  <m:accPr>
                                    <m:chr m:val="̅"/>
                                    <m:ctrlPr>
                                      <a:rPr lang="es-MX" sz="1600" i="1">
                                        <a:solidFill>
                                          <a:schemeClr val="bg1"/>
                                        </a:solidFill>
                                        <a:latin typeface="Cambria Math" panose="02040503050406030204" pitchFamily="18" charset="0"/>
                                      </a:rPr>
                                    </m:ctrlPr>
                                  </m:accPr>
                                  <m:e>
                                    <m:r>
                                      <a:rPr lang="es-MX" sz="1600" i="1">
                                        <a:solidFill>
                                          <a:schemeClr val="bg1"/>
                                        </a:solidFill>
                                        <a:latin typeface="Cambria Math" panose="02040503050406030204" pitchFamily="18" charset="0"/>
                                      </a:rPr>
                                      <m:t>𝑋</m:t>
                                    </m:r>
                                  </m:e>
                                </m:acc>
                              </m:e>
                              <m:sub>
                                <m:r>
                                  <a:rPr lang="es-MX" sz="1600" i="1">
                                    <a:solidFill>
                                      <a:schemeClr val="bg1"/>
                                    </a:solidFill>
                                    <a:latin typeface="Cambria Math" panose="02040503050406030204" pitchFamily="18" charset="0"/>
                                  </a:rPr>
                                  <m:t>𝑘</m:t>
                                </m:r>
                              </m:sub>
                            </m:sSub>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𝜎</m:t>
                            </m:r>
                            <m:d>
                              <m:dPr>
                                <m:ctrlPr>
                                  <a:rPr lang="es-MX" sz="1600" i="1">
                                    <a:solidFill>
                                      <a:schemeClr val="bg1"/>
                                    </a:solidFill>
                                    <a:latin typeface="Cambria Math" panose="02040503050406030204" pitchFamily="18" charset="0"/>
                                  </a:rPr>
                                </m:ctrlPr>
                              </m:dPr>
                              <m:e>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𝑋</m:t>
                                    </m:r>
                                  </m:e>
                                  <m:sub>
                                    <m:r>
                                      <a:rPr lang="es-MX" sz="1600" i="1">
                                        <a:solidFill>
                                          <a:schemeClr val="bg1"/>
                                        </a:solidFill>
                                        <a:latin typeface="Cambria Math" panose="02040503050406030204" pitchFamily="18" charset="0"/>
                                      </a:rPr>
                                      <m:t>𝑘</m:t>
                                    </m:r>
                                  </m:sub>
                                </m:sSub>
                                <m:r>
                                  <a:rPr lang="es-MX" sz="1600">
                                    <a:solidFill>
                                      <a:schemeClr val="bg1"/>
                                    </a:solidFill>
                                    <a:latin typeface="Cambria Math" panose="02040503050406030204" pitchFamily="18" charset="0"/>
                                  </a:rPr>
                                  <m:t> </m:t>
                                </m:r>
                              </m:e>
                            </m:d>
                          </m:e>
                        </m:d>
                      </m:e>
                    </m:d>
                    <m:r>
                      <a:rPr lang="es-MX" sz="1600" i="1">
                        <a:solidFill>
                          <a:schemeClr val="bg1"/>
                        </a:solidFill>
                        <a:latin typeface="Cambria Math" panose="02040503050406030204" pitchFamily="18" charset="0"/>
                      </a:rPr>
                      <m:t>=</m:t>
                    </m:r>
                    <m:sSub>
                      <m:sSubPr>
                        <m:ctrlPr>
                          <a:rPr lang="es-MX" sz="1600" i="1">
                            <a:solidFill>
                              <a:schemeClr val="bg1"/>
                            </a:solidFill>
                            <a:latin typeface="Cambria Math" panose="02040503050406030204" pitchFamily="18" charset="0"/>
                          </a:rPr>
                        </m:ctrlPr>
                      </m:sSubPr>
                      <m:e>
                        <m:acc>
                          <m:accPr>
                            <m:chr m:val="̅"/>
                            <m:ctrlPr>
                              <a:rPr lang="es-MX" sz="1600" i="1">
                                <a:solidFill>
                                  <a:schemeClr val="bg1"/>
                                </a:solidFill>
                                <a:latin typeface="Cambria Math" panose="02040503050406030204" pitchFamily="18" charset="0"/>
                              </a:rPr>
                            </m:ctrlPr>
                          </m:accPr>
                          <m:e>
                            <m:r>
                              <a:rPr lang="es-MX" sz="1600" i="1">
                                <a:solidFill>
                                  <a:schemeClr val="bg1"/>
                                </a:solidFill>
                                <a:latin typeface="Cambria Math" panose="02040503050406030204" pitchFamily="18" charset="0"/>
                              </a:rPr>
                              <m:t>𝑋</m:t>
                            </m:r>
                          </m:e>
                        </m:acc>
                      </m:e>
                      <m:sub>
                        <m:r>
                          <a:rPr lang="es-MX" sz="1600" i="1">
                            <a:solidFill>
                              <a:schemeClr val="bg1"/>
                            </a:solidFill>
                            <a:latin typeface="Cambria Math" panose="02040503050406030204" pitchFamily="18" charset="0"/>
                          </a:rPr>
                          <m:t>𝑘</m:t>
                        </m:r>
                      </m:sub>
                    </m:sSub>
                    <m:r>
                      <a:rPr lang="es-MX" sz="1600" i="1">
                        <a:solidFill>
                          <a:schemeClr val="bg1"/>
                        </a:solidFill>
                        <a:latin typeface="Cambria Math" panose="02040503050406030204" pitchFamily="18" charset="0"/>
                      </a:rPr>
                      <m:t> </m:t>
                    </m:r>
                  </m:oMath>
                </a14:m>
                <a:r>
                  <a:rPr lang="es-MX" sz="1600" dirty="0">
                    <a:solidFill>
                      <a:schemeClr val="bg1"/>
                    </a:solidFill>
                    <a:latin typeface="Times New Roman" panose="02020603050405020304" pitchFamily="18" charset="0"/>
                    <a:cs typeface="Times New Roman" panose="02020603050405020304" pitchFamily="18" charset="0"/>
                  </a:rPr>
                  <a:t>por lo que el punto en la recta es:</a:t>
                </a:r>
              </a:p>
              <a:p>
                <a:pPr algn="ctr"/>
                <a14:m>
                  <m:oMathPara xmlns:m="http://schemas.openxmlformats.org/officeDocument/2006/math">
                    <m:oMathParaPr>
                      <m:jc m:val="centerGroup"/>
                    </m:oMathParaPr>
                    <m:oMath xmlns:m="http://schemas.openxmlformats.org/officeDocument/2006/math">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𝑥</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𝑦</m:t>
                          </m:r>
                        </m:e>
                      </m:d>
                      <m:r>
                        <a:rPr lang="es-MX" sz="1600" i="1">
                          <a:solidFill>
                            <a:schemeClr val="bg1"/>
                          </a:solidFill>
                          <a:latin typeface="Cambria Math" panose="02040503050406030204" pitchFamily="18" charset="0"/>
                        </a:rPr>
                        <m:t>=</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0,</m:t>
                          </m:r>
                          <m:sSub>
                            <m:sSubPr>
                              <m:ctrlPr>
                                <a:rPr lang="es-MX" sz="1600" i="1">
                                  <a:solidFill>
                                    <a:schemeClr val="bg1"/>
                                  </a:solidFill>
                                  <a:latin typeface="Cambria Math" panose="02040503050406030204" pitchFamily="18" charset="0"/>
                                </a:rPr>
                              </m:ctrlPr>
                            </m:sSubPr>
                            <m:e>
                              <m:acc>
                                <m:accPr>
                                  <m:chr m:val="̅"/>
                                  <m:ctrlPr>
                                    <a:rPr lang="es-MX" sz="1600" i="1">
                                      <a:solidFill>
                                        <a:schemeClr val="bg1"/>
                                      </a:solidFill>
                                      <a:latin typeface="Cambria Math" panose="02040503050406030204" pitchFamily="18" charset="0"/>
                                    </a:rPr>
                                  </m:ctrlPr>
                                </m:accPr>
                                <m:e>
                                  <m:r>
                                    <a:rPr lang="es-MX" sz="1600" i="1">
                                      <a:solidFill>
                                        <a:schemeClr val="bg1"/>
                                      </a:solidFill>
                                      <a:latin typeface="Cambria Math" panose="02040503050406030204" pitchFamily="18" charset="0"/>
                                    </a:rPr>
                                    <m:t>𝑋</m:t>
                                  </m:r>
                                </m:e>
                              </m:acc>
                            </m:e>
                            <m:sub>
                              <m:r>
                                <a:rPr lang="es-MX" sz="1600" i="1">
                                  <a:solidFill>
                                    <a:schemeClr val="bg1"/>
                                  </a:solidFill>
                                  <a:latin typeface="Cambria Math" panose="02040503050406030204" pitchFamily="18" charset="0"/>
                                </a:rPr>
                                <m:t>𝑘</m:t>
                              </m:r>
                            </m:sub>
                          </m:sSub>
                        </m:e>
                      </m:d>
                    </m:oMath>
                  </m:oMathPara>
                </a14:m>
                <a:endParaRPr lang="es-MX" sz="16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3" name="CuadroTexto 2">
                <a:extLst>
                  <a:ext uri="{FF2B5EF4-FFF2-40B4-BE49-F238E27FC236}">
                    <a16:creationId xmlns:a16="http://schemas.microsoft.com/office/drawing/2014/main" id="{5009A90A-970E-9499-59E3-435C0002CC9E}"/>
                  </a:ext>
                </a:extLst>
              </p:cNvPr>
              <p:cNvSpPr txBox="1">
                <a:spLocks noRot="1" noChangeAspect="1" noMove="1" noResize="1" noEditPoints="1" noAdjustHandles="1" noChangeArrowheads="1" noChangeShapeType="1" noTextEdit="1"/>
              </p:cNvSpPr>
              <p:nvPr/>
            </p:nvSpPr>
            <p:spPr>
              <a:xfrm>
                <a:off x="964022" y="2120821"/>
                <a:ext cx="4918163" cy="2616357"/>
              </a:xfrm>
              <a:prstGeom prst="rect">
                <a:avLst/>
              </a:prstGeom>
              <a:blipFill>
                <a:blip r:embed="rId3"/>
                <a:stretch>
                  <a:fillRect t="-464"/>
                </a:stretch>
              </a:blipFill>
              <a:ln>
                <a:solidFill>
                  <a:schemeClr val="tx1">
                    <a:lumMod val="85000"/>
                  </a:schemeClr>
                </a:solidFill>
              </a:ln>
            </p:spPr>
            <p:txBody>
              <a:bodyPr/>
              <a:lstStyle/>
              <a:p>
                <a:r>
                  <a:rPr lang="es-MX">
                    <a:noFill/>
                  </a:rPr>
                  <a:t> </a:t>
                </a:r>
              </a:p>
            </p:txBody>
          </p:sp>
        </mc:Fallback>
      </mc:AlternateContent>
      <p:pic>
        <p:nvPicPr>
          <p:cNvPr id="8" name="Imagen 7">
            <a:extLst>
              <a:ext uri="{FF2B5EF4-FFF2-40B4-BE49-F238E27FC236}">
                <a16:creationId xmlns:a16="http://schemas.microsoft.com/office/drawing/2014/main" id="{092CA842-1F25-D216-7D88-4A7B5AAFBBF3}"/>
              </a:ext>
            </a:extLst>
          </p:cNvPr>
          <p:cNvPicPr>
            <a:picLocks noChangeAspect="1"/>
          </p:cNvPicPr>
          <p:nvPr/>
        </p:nvPicPr>
        <p:blipFill>
          <a:blip r:embed="rId4"/>
          <a:srcRect t="13608"/>
          <a:stretch/>
        </p:blipFill>
        <p:spPr>
          <a:xfrm>
            <a:off x="5919804" y="1953893"/>
            <a:ext cx="6272196" cy="3342681"/>
          </a:xfrm>
          <a:prstGeom prst="rect">
            <a:avLst/>
          </a:prstGeom>
        </p:spPr>
      </p:pic>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FA58AA46-1614-0171-E984-E38B4C6218C4}"/>
                  </a:ext>
                </a:extLst>
              </p:cNvPr>
              <p:cNvSpPr txBox="1"/>
              <p:nvPr/>
            </p:nvSpPr>
            <p:spPr>
              <a:xfrm>
                <a:off x="964022" y="5296574"/>
                <a:ext cx="10431859" cy="1386918"/>
              </a:xfrm>
              <a:prstGeom prst="rect">
                <a:avLst/>
              </a:prstGeom>
              <a:noFill/>
              <a:ln>
                <a:solidFill>
                  <a:schemeClr val="tx1">
                    <a:lumMod val="85000"/>
                  </a:schemeClr>
                </a:solidFill>
              </a:ln>
            </p:spPr>
            <p:txBody>
              <a:bodyPr wrap="square" rtlCol="0">
                <a:spAutoFit/>
              </a:bodyPr>
              <a:lstStyle/>
              <a:p>
                <a:r>
                  <a:rPr lang="es-MX" sz="1600" dirty="0">
                    <a:solidFill>
                      <a:schemeClr val="bg1"/>
                    </a:solidFill>
                    <a:latin typeface="Times New Roman" panose="02020603050405020304" pitchFamily="18" charset="0"/>
                    <a:cs typeface="Times New Roman" panose="02020603050405020304" pitchFamily="18" charset="0"/>
                  </a:rPr>
                  <a:t>Los puntos representan los cuantiles de la muestra de datos </a:t>
                </a:r>
                <a14:m>
                  <m:oMath xmlns:m="http://schemas.openxmlformats.org/officeDocument/2006/math">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𝑋</m:t>
                        </m:r>
                      </m:e>
                      <m:sub>
                        <m:r>
                          <a:rPr lang="es-MX" sz="1600" i="1">
                            <a:solidFill>
                              <a:schemeClr val="bg1"/>
                            </a:solidFill>
                            <a:latin typeface="Cambria Math" panose="02040503050406030204" pitchFamily="18" charset="0"/>
                          </a:rPr>
                          <m:t>𝑘</m:t>
                        </m:r>
                      </m:sub>
                    </m:sSub>
                  </m:oMath>
                </a14:m>
                <a:r>
                  <a:rPr lang="es-MX" sz="1600" dirty="0">
                    <a:solidFill>
                      <a:schemeClr val="bg1"/>
                    </a:solidFill>
                    <a:latin typeface="Times New Roman" panose="02020603050405020304" pitchFamily="18" charset="0"/>
                    <a:cs typeface="Times New Roman" panose="02020603050405020304" pitchFamily="18" charset="0"/>
                  </a:rPr>
                  <a:t> en vez de los cuantiles teóricos de la normal estimada. </a:t>
                </a:r>
              </a:p>
              <a:p>
                <a:r>
                  <a:rPr lang="es-MX" sz="1600" dirty="0">
                    <a:solidFill>
                      <a:schemeClr val="bg1"/>
                    </a:solidFill>
                    <a:latin typeface="Times New Roman" panose="02020603050405020304" pitchFamily="18" charset="0"/>
                    <a:cs typeface="Times New Roman" panose="02020603050405020304" pitchFamily="18" charset="0"/>
                  </a:rPr>
                  <a:t>Cada punto en el gráfico tiene coordenadas:</a:t>
                </a:r>
              </a:p>
              <a:p>
                <a:pPr/>
                <a14:m>
                  <m:oMathPara xmlns:m="http://schemas.openxmlformats.org/officeDocument/2006/math">
                    <m:oMathParaPr>
                      <m:jc m:val="centerGroup"/>
                    </m:oMathParaPr>
                    <m:oMath xmlns:m="http://schemas.openxmlformats.org/officeDocument/2006/math">
                      <m:r>
                        <a:rPr lang="es-MX" sz="1600" i="1">
                          <a:solidFill>
                            <a:schemeClr val="bg1"/>
                          </a:solidFill>
                          <a:latin typeface="Cambria Math" panose="02040503050406030204" pitchFamily="18" charset="0"/>
                        </a:rPr>
                        <m:t>𝑥</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𝑄</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𝑝</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𝑁</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0,1</m:t>
                              </m:r>
                            </m:e>
                          </m:d>
                        </m:e>
                      </m:d>
                      <m:r>
                        <a:rPr lang="es-MX" sz="1600" i="1">
                          <a:solidFill>
                            <a:schemeClr val="bg1"/>
                          </a:solidFill>
                          <a:latin typeface="Cambria Math" panose="02040503050406030204" pitchFamily="18" charset="0"/>
                        </a:rPr>
                        <m:t>          </m:t>
                      </m:r>
                      <m:r>
                        <a:rPr lang="es-MX" sz="1600" i="1">
                          <a:solidFill>
                            <a:schemeClr val="bg1"/>
                          </a:solidFill>
                          <a:latin typeface="Cambria Math" panose="02040503050406030204" pitchFamily="18" charset="0"/>
                        </a:rPr>
                        <m:t>𝑦</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𝑄</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𝑝</m:t>
                          </m:r>
                          <m:r>
                            <a:rPr lang="es-MX" sz="1600" i="1">
                              <a:solidFill>
                                <a:schemeClr val="bg1"/>
                              </a:solidFill>
                              <a:latin typeface="Cambria Math" panose="02040503050406030204" pitchFamily="18" charset="0"/>
                            </a:rPr>
                            <m:t>,</m:t>
                          </m:r>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𝑋</m:t>
                              </m:r>
                            </m:e>
                            <m:sub>
                              <m:r>
                                <a:rPr lang="es-MX" sz="1600" i="1">
                                  <a:solidFill>
                                    <a:schemeClr val="bg1"/>
                                  </a:solidFill>
                                  <a:latin typeface="Cambria Math" panose="02040503050406030204" pitchFamily="18" charset="0"/>
                                </a:rPr>
                                <m:t>𝑘</m:t>
                              </m:r>
                            </m:sub>
                          </m:sSub>
                        </m:e>
                      </m:d>
                    </m:oMath>
                  </m:oMathPara>
                </a14:m>
                <a:endParaRPr lang="es-MX" sz="1600" dirty="0">
                  <a:solidFill>
                    <a:schemeClr val="bg1"/>
                  </a:solidFill>
                  <a:latin typeface="Times New Roman" panose="02020603050405020304" pitchFamily="18" charset="0"/>
                  <a:cs typeface="Times New Roman" panose="02020603050405020304" pitchFamily="18" charset="0"/>
                </a:endParaRPr>
              </a:p>
              <a:p>
                <a:r>
                  <a:rPr lang="es-MX" sz="1600" dirty="0">
                    <a:solidFill>
                      <a:schemeClr val="bg1"/>
                    </a:solidFill>
                    <a:latin typeface="Times New Roman" panose="02020603050405020304" pitchFamily="18" charset="0"/>
                    <a:cs typeface="Times New Roman" panose="02020603050405020304" pitchFamily="18" charset="0"/>
                  </a:rPr>
                  <a:t>Ejemplo: Si </a:t>
                </a:r>
                <a14:m>
                  <m:oMath xmlns:m="http://schemas.openxmlformats.org/officeDocument/2006/math">
                    <m:r>
                      <a:rPr lang="es-MX" sz="1600" i="1">
                        <a:solidFill>
                          <a:schemeClr val="bg1"/>
                        </a:solidFill>
                        <a:latin typeface="Cambria Math" panose="02040503050406030204" pitchFamily="18" charset="0"/>
                      </a:rPr>
                      <m:t>𝑝</m:t>
                    </m:r>
                    <m:r>
                      <a:rPr lang="es-MX" sz="1600" i="1">
                        <a:solidFill>
                          <a:schemeClr val="bg1"/>
                        </a:solidFill>
                        <a:latin typeface="Cambria Math" panose="02040503050406030204" pitchFamily="18" charset="0"/>
                      </a:rPr>
                      <m:t>=0.5</m:t>
                    </m:r>
                  </m:oMath>
                </a14:m>
                <a:r>
                  <a:rPr lang="es-MX" sz="1600" dirty="0">
                    <a:solidFill>
                      <a:schemeClr val="bg1"/>
                    </a:solidFill>
                    <a:latin typeface="Times New Roman" panose="02020603050405020304" pitchFamily="18" charset="0"/>
                    <a:cs typeface="Times New Roman" panose="02020603050405020304" pitchFamily="18" charset="0"/>
                  </a:rPr>
                  <a:t>, entonces </a:t>
                </a:r>
                <a14:m>
                  <m:oMath xmlns:m="http://schemas.openxmlformats.org/officeDocument/2006/math">
                    <m:r>
                      <a:rPr lang="es-MX" sz="1600" i="1">
                        <a:solidFill>
                          <a:schemeClr val="bg1"/>
                        </a:solidFill>
                        <a:latin typeface="Cambria Math" panose="02040503050406030204" pitchFamily="18" charset="0"/>
                      </a:rPr>
                      <m:t>𝑥</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𝑄</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0.5,</m:t>
                        </m:r>
                        <m:r>
                          <a:rPr lang="es-MX" sz="1600" i="1">
                            <a:solidFill>
                              <a:schemeClr val="bg1"/>
                            </a:solidFill>
                            <a:latin typeface="Cambria Math" panose="02040503050406030204" pitchFamily="18" charset="0"/>
                          </a:rPr>
                          <m:t>𝑁</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0,1</m:t>
                            </m:r>
                          </m:e>
                        </m:d>
                      </m:e>
                    </m:d>
                    <m:r>
                      <a:rPr lang="es-MX" sz="1600" i="1">
                        <a:solidFill>
                          <a:schemeClr val="bg1"/>
                        </a:solidFill>
                        <a:latin typeface="Cambria Math" panose="02040503050406030204" pitchFamily="18" charset="0"/>
                      </a:rPr>
                      <m:t>=0</m:t>
                    </m:r>
                  </m:oMath>
                </a14:m>
                <a:r>
                  <a:rPr lang="es-MX" sz="1600" dirty="0">
                    <a:solidFill>
                      <a:schemeClr val="bg1"/>
                    </a:solidFill>
                    <a:latin typeface="Times New Roman" panose="02020603050405020304" pitchFamily="18" charset="0"/>
                    <a:cs typeface="Times New Roman" panose="02020603050405020304" pitchFamily="18" charset="0"/>
                  </a:rPr>
                  <a:t> y </a:t>
                </a:r>
                <a14:m>
                  <m:oMath xmlns:m="http://schemas.openxmlformats.org/officeDocument/2006/math">
                    <m:r>
                      <a:rPr lang="es-MX" sz="1600" i="1">
                        <a:solidFill>
                          <a:schemeClr val="bg1"/>
                        </a:solidFill>
                        <a:latin typeface="Cambria Math" panose="02040503050406030204" pitchFamily="18" charset="0"/>
                      </a:rPr>
                      <m:t>𝑦</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𝑄</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0.5,</m:t>
                        </m:r>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𝑋</m:t>
                            </m:r>
                          </m:e>
                          <m:sub>
                            <m:r>
                              <a:rPr lang="es-MX" sz="1600" i="1">
                                <a:solidFill>
                                  <a:schemeClr val="bg1"/>
                                </a:solidFill>
                                <a:latin typeface="Cambria Math" panose="02040503050406030204" pitchFamily="18" charset="0"/>
                              </a:rPr>
                              <m:t>𝑘</m:t>
                            </m:r>
                          </m:sub>
                        </m:sSub>
                      </m:e>
                    </m:d>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𝑀𝑒𝑑𝑖𝑎𝑛𝑎</m:t>
                    </m:r>
                    <m:d>
                      <m:dPr>
                        <m:ctrlPr>
                          <a:rPr lang="es-MX" sz="1600" i="1">
                            <a:solidFill>
                              <a:schemeClr val="bg1"/>
                            </a:solidFill>
                            <a:latin typeface="Cambria Math" panose="02040503050406030204" pitchFamily="18" charset="0"/>
                          </a:rPr>
                        </m:ctrlPr>
                      </m:dPr>
                      <m:e>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𝑋</m:t>
                            </m:r>
                          </m:e>
                          <m:sub>
                            <m:r>
                              <a:rPr lang="es-MX" sz="1600" i="1">
                                <a:solidFill>
                                  <a:schemeClr val="bg1"/>
                                </a:solidFill>
                                <a:latin typeface="Cambria Math" panose="02040503050406030204" pitchFamily="18" charset="0"/>
                              </a:rPr>
                              <m:t>𝑘</m:t>
                            </m:r>
                          </m:sub>
                        </m:sSub>
                      </m:e>
                    </m:d>
                    <m:r>
                      <a:rPr lang="es-MX" sz="1600" i="1">
                        <a:solidFill>
                          <a:schemeClr val="bg1"/>
                        </a:solidFill>
                        <a:latin typeface="Cambria Math" panose="02040503050406030204" pitchFamily="18" charset="0"/>
                      </a:rPr>
                      <m:t> </m:t>
                    </m:r>
                  </m:oMath>
                </a14:m>
                <a:r>
                  <a:rPr lang="es-MX" sz="1600" dirty="0">
                    <a:solidFill>
                      <a:schemeClr val="bg1"/>
                    </a:solidFill>
                    <a:latin typeface="Times New Roman" panose="02020603050405020304" pitchFamily="18" charset="0"/>
                    <a:cs typeface="Times New Roman" panose="02020603050405020304" pitchFamily="18" charset="0"/>
                  </a:rPr>
                  <a:t>por lo que el punto en la recta es:</a:t>
                </a:r>
              </a:p>
              <a:p>
                <a:pPr/>
                <a14:m>
                  <m:oMathPara xmlns:m="http://schemas.openxmlformats.org/officeDocument/2006/math">
                    <m:oMathParaPr>
                      <m:jc m:val="centerGroup"/>
                    </m:oMathParaPr>
                    <m:oMath xmlns:m="http://schemas.openxmlformats.org/officeDocument/2006/math">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𝑥</m:t>
                          </m:r>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𝑦</m:t>
                          </m:r>
                        </m:e>
                      </m:d>
                      <m:r>
                        <a:rPr lang="es-MX" sz="1600" i="1">
                          <a:solidFill>
                            <a:schemeClr val="bg1"/>
                          </a:solidFill>
                          <a:latin typeface="Cambria Math" panose="02040503050406030204" pitchFamily="18" charset="0"/>
                        </a:rPr>
                        <m:t>=</m:t>
                      </m:r>
                      <m:d>
                        <m:dPr>
                          <m:ctrlPr>
                            <a:rPr lang="es-MX" sz="1600" i="1">
                              <a:solidFill>
                                <a:schemeClr val="bg1"/>
                              </a:solidFill>
                              <a:latin typeface="Cambria Math" panose="02040503050406030204" pitchFamily="18" charset="0"/>
                            </a:rPr>
                          </m:ctrlPr>
                        </m:dPr>
                        <m:e>
                          <m:r>
                            <a:rPr lang="es-MX" sz="1600" i="1">
                              <a:solidFill>
                                <a:schemeClr val="bg1"/>
                              </a:solidFill>
                              <a:latin typeface="Cambria Math" panose="02040503050406030204" pitchFamily="18" charset="0"/>
                            </a:rPr>
                            <m:t>0,</m:t>
                          </m:r>
                          <m:r>
                            <a:rPr lang="es-MX" sz="1600" i="1">
                              <a:solidFill>
                                <a:schemeClr val="bg1"/>
                              </a:solidFill>
                              <a:latin typeface="Cambria Math" panose="02040503050406030204" pitchFamily="18" charset="0"/>
                            </a:rPr>
                            <m:t>𝑀𝑒𝑑𝑖𝑎𝑛𝑎</m:t>
                          </m:r>
                          <m:r>
                            <a:rPr lang="es-MX" sz="1600" i="1">
                              <a:solidFill>
                                <a:schemeClr val="bg1"/>
                              </a:solidFill>
                              <a:latin typeface="Cambria Math" panose="02040503050406030204" pitchFamily="18" charset="0"/>
                            </a:rPr>
                            <m:t>(</m:t>
                          </m:r>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𝑋</m:t>
                              </m:r>
                            </m:e>
                            <m:sub>
                              <m:r>
                                <a:rPr lang="es-MX" sz="1600" i="1">
                                  <a:solidFill>
                                    <a:schemeClr val="bg1"/>
                                  </a:solidFill>
                                  <a:latin typeface="Cambria Math" panose="02040503050406030204" pitchFamily="18" charset="0"/>
                                </a:rPr>
                                <m:t>𝑘</m:t>
                              </m:r>
                            </m:sub>
                          </m:sSub>
                          <m:r>
                            <a:rPr lang="es-MX" sz="1600" i="1">
                              <a:solidFill>
                                <a:schemeClr val="bg1"/>
                              </a:solidFill>
                              <a:latin typeface="Cambria Math" panose="02040503050406030204" pitchFamily="18" charset="0"/>
                            </a:rPr>
                            <m:t>)</m:t>
                          </m:r>
                        </m:e>
                      </m:d>
                    </m:oMath>
                  </m:oMathPara>
                </a14:m>
                <a:endParaRPr lang="es-MX" sz="16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4" name="CuadroTexto 3">
                <a:extLst>
                  <a:ext uri="{FF2B5EF4-FFF2-40B4-BE49-F238E27FC236}">
                    <a16:creationId xmlns:a16="http://schemas.microsoft.com/office/drawing/2014/main" id="{FA58AA46-1614-0171-E984-E38B4C6218C4}"/>
                  </a:ext>
                </a:extLst>
              </p:cNvPr>
              <p:cNvSpPr txBox="1">
                <a:spLocks noRot="1" noChangeAspect="1" noMove="1" noResize="1" noEditPoints="1" noAdjustHandles="1" noChangeArrowheads="1" noChangeShapeType="1" noTextEdit="1"/>
              </p:cNvSpPr>
              <p:nvPr/>
            </p:nvSpPr>
            <p:spPr>
              <a:xfrm>
                <a:off x="964022" y="5296574"/>
                <a:ext cx="10431859" cy="1386918"/>
              </a:xfrm>
              <a:prstGeom prst="rect">
                <a:avLst/>
              </a:prstGeom>
              <a:blipFill>
                <a:blip r:embed="rId5"/>
                <a:stretch>
                  <a:fillRect l="-234" t="-873" b="-2183"/>
                </a:stretch>
              </a:blipFill>
              <a:ln>
                <a:solidFill>
                  <a:schemeClr val="tx1">
                    <a:lumMod val="85000"/>
                  </a:schemeClr>
                </a:solidFill>
              </a:ln>
            </p:spPr>
            <p:txBody>
              <a:bodyPr/>
              <a:lstStyle/>
              <a:p>
                <a:r>
                  <a:rPr lang="es-MX">
                    <a:noFill/>
                  </a:rPr>
                  <a:t> </a:t>
                </a:r>
              </a:p>
            </p:txBody>
          </p:sp>
        </mc:Fallback>
      </mc:AlternateContent>
      <p:pic>
        <p:nvPicPr>
          <p:cNvPr id="5" name="Imagen 4">
            <a:extLst>
              <a:ext uri="{FF2B5EF4-FFF2-40B4-BE49-F238E27FC236}">
                <a16:creationId xmlns:a16="http://schemas.microsoft.com/office/drawing/2014/main" id="{088AFD98-D962-CD65-43F3-395DCD98CF0E}"/>
              </a:ext>
            </a:extLst>
          </p:cNvPr>
          <p:cNvPicPr>
            <a:picLocks noChangeAspect="1"/>
          </p:cNvPicPr>
          <p:nvPr/>
        </p:nvPicPr>
        <p:blipFill>
          <a:blip r:embed="rId6"/>
          <a:stretch>
            <a:fillRect/>
          </a:stretch>
        </p:blipFill>
        <p:spPr>
          <a:xfrm>
            <a:off x="8762632" y="1380926"/>
            <a:ext cx="586539" cy="586539"/>
          </a:xfrm>
          <a:prstGeom prst="rect">
            <a:avLst/>
          </a:prstGeom>
        </p:spPr>
      </p:pic>
    </p:spTree>
    <p:extLst>
      <p:ext uri="{BB962C8B-B14F-4D97-AF65-F5344CB8AC3E}">
        <p14:creationId xmlns:p14="http://schemas.microsoft.com/office/powerpoint/2010/main" val="1306225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3074E-79D9-1963-E823-7144EBB14D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2597DA-1DF5-90DC-932D-DD686429F866}"/>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 Contraste de Hipótesis</a:t>
            </a:r>
          </a:p>
        </p:txBody>
      </p:sp>
      <p:sp>
        <p:nvSpPr>
          <p:cNvPr id="3" name="CuadroTexto 2">
            <a:extLst>
              <a:ext uri="{FF2B5EF4-FFF2-40B4-BE49-F238E27FC236}">
                <a16:creationId xmlns:a16="http://schemas.microsoft.com/office/drawing/2014/main" id="{FB94CDB5-FB13-FA73-029F-C6FBE007109B}"/>
              </a:ext>
            </a:extLst>
          </p:cNvPr>
          <p:cNvSpPr txBox="1"/>
          <p:nvPr/>
        </p:nvSpPr>
        <p:spPr>
          <a:xfrm>
            <a:off x="913220" y="3215617"/>
            <a:ext cx="3198545" cy="2062103"/>
          </a:xfrm>
          <a:prstGeom prst="rect">
            <a:avLst/>
          </a:prstGeom>
          <a:noFill/>
          <a:ln>
            <a:solidFill>
              <a:schemeClr val="tx1">
                <a:lumMod val="85000"/>
              </a:schemeClr>
            </a:solidFill>
          </a:ln>
        </p:spPr>
        <p:txBody>
          <a:bodyPr wrap="square" rtlCol="0">
            <a:spAutoFit/>
          </a:bodyPr>
          <a:lstStyle/>
          <a:p>
            <a:pPr algn="just"/>
            <a:r>
              <a:rPr lang="es-MX" sz="1600" dirty="0">
                <a:solidFill>
                  <a:schemeClr val="bg1"/>
                </a:solidFill>
                <a:latin typeface="Times New Roman" panose="02020603050405020304" pitchFamily="18" charset="0"/>
                <a:cs typeface="Times New Roman" panose="02020603050405020304" pitchFamily="18" charset="0"/>
              </a:rPr>
              <a:t>El estadístico de </a:t>
            </a:r>
            <a:r>
              <a:rPr lang="es-MX" sz="1600" dirty="0" err="1">
                <a:solidFill>
                  <a:schemeClr val="bg1"/>
                </a:solidFill>
                <a:latin typeface="Times New Roman" panose="02020603050405020304" pitchFamily="18" charset="0"/>
                <a:cs typeface="Times New Roman" panose="02020603050405020304" pitchFamily="18" charset="0"/>
              </a:rPr>
              <a:t>Kolmogorov-Smirnov</a:t>
            </a:r>
            <a:r>
              <a:rPr lang="es-MX" sz="1600" dirty="0">
                <a:solidFill>
                  <a:schemeClr val="bg1"/>
                </a:solidFill>
                <a:latin typeface="Times New Roman" panose="02020603050405020304" pitchFamily="18" charset="0"/>
                <a:cs typeface="Times New Roman" panose="02020603050405020304" pitchFamily="18" charset="0"/>
              </a:rPr>
              <a:t>, también conocido como </a:t>
            </a:r>
            <a:r>
              <a:rPr lang="es-MX" sz="1600" b="1" dirty="0">
                <a:solidFill>
                  <a:schemeClr val="bg1"/>
                </a:solidFill>
                <a:latin typeface="Times New Roman" panose="02020603050405020304" pitchFamily="18" charset="0"/>
                <a:cs typeface="Times New Roman" panose="02020603050405020304" pitchFamily="18" charset="0"/>
              </a:rPr>
              <a:t>distancia de </a:t>
            </a:r>
            <a:r>
              <a:rPr lang="es-MX" sz="1600" b="1" dirty="0" err="1">
                <a:solidFill>
                  <a:schemeClr val="bg1"/>
                </a:solidFill>
                <a:latin typeface="Times New Roman" panose="02020603050405020304" pitchFamily="18" charset="0"/>
                <a:cs typeface="Times New Roman" panose="02020603050405020304" pitchFamily="18" charset="0"/>
              </a:rPr>
              <a:t>Kolmogorov-Smirnov</a:t>
            </a:r>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se define como la distancia vertical máxima entre una función de distribución empírica y una función de distribución acumulada teórica de referencia.</a:t>
            </a:r>
          </a:p>
        </p:txBody>
      </p:sp>
      <p:pic>
        <p:nvPicPr>
          <p:cNvPr id="6" name="Imagen 5" descr="Gráfico, Gráfico de líneas&#10;&#10;El contenido generado por IA puede ser incorrecto.">
            <a:extLst>
              <a:ext uri="{FF2B5EF4-FFF2-40B4-BE49-F238E27FC236}">
                <a16:creationId xmlns:a16="http://schemas.microsoft.com/office/drawing/2014/main" id="{9D3134A0-D3CC-A69F-7816-7D37B4A8D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1763" y="3215617"/>
            <a:ext cx="7167015" cy="2907071"/>
          </a:xfrm>
          <a:prstGeom prst="rect">
            <a:avLst/>
          </a:prstGeom>
        </p:spPr>
      </p:pic>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AB571312-2B7A-68F5-6E4B-C0E89A56C00F}"/>
                  </a:ext>
                </a:extLst>
              </p:cNvPr>
              <p:cNvSpPr txBox="1"/>
              <p:nvPr/>
            </p:nvSpPr>
            <p:spPr>
              <a:xfrm>
                <a:off x="434023" y="5439071"/>
                <a:ext cx="4156938" cy="5048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i="1" smtClean="0">
                          <a:solidFill>
                            <a:schemeClr val="bg1"/>
                          </a:solidFill>
                          <a:latin typeface="Cambria Math" panose="02040503050406030204" pitchFamily="18" charset="0"/>
                        </a:rPr>
                        <m:t>𝐾𝑆𝐿</m:t>
                      </m:r>
                      <m:r>
                        <a:rPr lang="es-MX" i="0">
                          <a:solidFill>
                            <a:schemeClr val="bg1"/>
                          </a:solidFill>
                          <a:latin typeface="Cambria Math" panose="02040503050406030204" pitchFamily="18" charset="0"/>
                        </a:rPr>
                        <m:t>=</m:t>
                      </m:r>
                      <m:r>
                        <a:rPr lang="es-MX" i="1">
                          <a:solidFill>
                            <a:schemeClr val="bg1"/>
                          </a:solidFill>
                          <a:latin typeface="Cambria Math" panose="02040503050406030204" pitchFamily="18" charset="0"/>
                        </a:rPr>
                        <m:t>𝑚𝑎𝑥</m:t>
                      </m:r>
                      <m:d>
                        <m:dPr>
                          <m:begChr m:val="|"/>
                          <m:endChr m:val="|"/>
                          <m:ctrlPr>
                            <a:rPr lang="es-MX" i="1">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𝐹</m:t>
                              </m:r>
                            </m:e>
                            <m:sub>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sub>
                              </m:sSub>
                            </m:sub>
                          </m:sSub>
                          <m:d>
                            <m:dPr>
                              <m:ctrlPr>
                                <a:rPr lang="es-MX" i="1">
                                  <a:solidFill>
                                    <a:schemeClr val="bg1"/>
                                  </a:solidFill>
                                  <a:latin typeface="Cambria Math" panose="02040503050406030204" pitchFamily="18" charset="0"/>
                                </a:rPr>
                              </m:ctrlPr>
                            </m:dPr>
                            <m:e>
                              <m:r>
                                <a:rPr lang="es-MX" i="1">
                                  <a:solidFill>
                                    <a:schemeClr val="bg1"/>
                                  </a:solidFill>
                                  <a:latin typeface="Cambria Math" panose="02040503050406030204" pitchFamily="18" charset="0"/>
                                </a:rPr>
                                <m:t>𝑥</m:t>
                              </m:r>
                            </m:e>
                          </m:d>
                          <m:r>
                            <a:rPr lang="es-MX" i="0">
                              <a:solidFill>
                                <a:schemeClr val="bg1"/>
                              </a:solidFill>
                              <a:latin typeface="Cambria Math" panose="02040503050406030204" pitchFamily="18" charset="0"/>
                            </a:rPr>
                            <m:t>−</m:t>
                          </m:r>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𝐹</m:t>
                              </m:r>
                            </m:e>
                            <m:sub>
                              <m:r>
                                <a:rPr lang="es-MX" i="1">
                                  <a:solidFill>
                                    <a:schemeClr val="bg1"/>
                                  </a:solidFill>
                                  <a:latin typeface="Cambria Math" panose="02040503050406030204" pitchFamily="18" charset="0"/>
                                </a:rPr>
                                <m:t>𝑁</m:t>
                              </m:r>
                              <m:d>
                                <m:dPr>
                                  <m:ctrlPr>
                                    <a:rPr lang="es-MX" i="1">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acc>
                                        <m:accPr>
                                          <m:chr m:val="̅"/>
                                          <m:ctrlPr>
                                            <a:rPr lang="es-MX" i="1">
                                              <a:solidFill>
                                                <a:schemeClr val="bg1"/>
                                              </a:solidFill>
                                              <a:latin typeface="Cambria Math" panose="02040503050406030204" pitchFamily="18" charset="0"/>
                                            </a:rPr>
                                          </m:ctrlPr>
                                        </m:accPr>
                                        <m:e>
                                          <m:r>
                                            <a:rPr lang="es-MX" i="1">
                                              <a:solidFill>
                                                <a:schemeClr val="bg1"/>
                                              </a:solidFill>
                                              <a:latin typeface="Cambria Math" panose="02040503050406030204" pitchFamily="18" charset="0"/>
                                            </a:rPr>
                                            <m:t>𝑋</m:t>
                                          </m:r>
                                        </m:e>
                                      </m:acc>
                                    </m:e>
                                    <m:sub>
                                      <m:r>
                                        <a:rPr lang="es-MX" i="1">
                                          <a:solidFill>
                                            <a:schemeClr val="bg1"/>
                                          </a:solidFill>
                                          <a:latin typeface="Cambria Math" panose="02040503050406030204" pitchFamily="18" charset="0"/>
                                        </a:rPr>
                                        <m:t>𝑘</m:t>
                                      </m:r>
                                    </m:sub>
                                  </m:sSub>
                                  <m:r>
                                    <a:rPr lang="es-MX" i="0">
                                      <a:solidFill>
                                        <a:schemeClr val="bg1"/>
                                      </a:solidFill>
                                      <a:latin typeface="Cambria Math" panose="02040503050406030204" pitchFamily="18" charset="0"/>
                                    </a:rPr>
                                    <m:t>,</m:t>
                                  </m:r>
                                  <m:r>
                                    <a:rPr lang="es-MX" i="1">
                                      <a:solidFill>
                                        <a:schemeClr val="bg1"/>
                                      </a:solidFill>
                                      <a:latin typeface="Cambria Math" panose="02040503050406030204" pitchFamily="18" charset="0"/>
                                    </a:rPr>
                                    <m:t>𝜎</m:t>
                                  </m:r>
                                  <m:d>
                                    <m:dPr>
                                      <m:ctrlPr>
                                        <a:rPr lang="es-MX" i="1">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sub>
                                      </m:sSub>
                                      <m:r>
                                        <a:rPr lang="es-MX" i="0">
                                          <a:solidFill>
                                            <a:schemeClr val="bg1"/>
                                          </a:solidFill>
                                          <a:latin typeface="Cambria Math" panose="02040503050406030204" pitchFamily="18" charset="0"/>
                                        </a:rPr>
                                        <m:t> </m:t>
                                      </m:r>
                                    </m:e>
                                  </m:d>
                                </m:e>
                              </m:d>
                            </m:sub>
                          </m:sSub>
                          <m:d>
                            <m:dPr>
                              <m:ctrlPr>
                                <a:rPr lang="es-MX" i="1">
                                  <a:solidFill>
                                    <a:schemeClr val="bg1"/>
                                  </a:solidFill>
                                  <a:latin typeface="Cambria Math" panose="02040503050406030204" pitchFamily="18" charset="0"/>
                                </a:rPr>
                              </m:ctrlPr>
                            </m:dPr>
                            <m:e>
                              <m:r>
                                <a:rPr lang="es-MX" i="1">
                                  <a:solidFill>
                                    <a:schemeClr val="bg1"/>
                                  </a:solidFill>
                                  <a:latin typeface="Cambria Math" panose="02040503050406030204" pitchFamily="18" charset="0"/>
                                </a:rPr>
                                <m:t>𝑥</m:t>
                              </m:r>
                            </m:e>
                          </m:d>
                        </m:e>
                      </m:d>
                    </m:oMath>
                  </m:oMathPara>
                </a14:m>
                <a:endParaRPr lang="es-MX" dirty="0">
                  <a:solidFill>
                    <a:schemeClr val="bg1"/>
                  </a:solidFill>
                </a:endParaRPr>
              </a:p>
            </p:txBody>
          </p:sp>
        </mc:Choice>
        <mc:Fallback xmlns="">
          <p:sp>
            <p:nvSpPr>
              <p:cNvPr id="9" name="CuadroTexto 8">
                <a:extLst>
                  <a:ext uri="{FF2B5EF4-FFF2-40B4-BE49-F238E27FC236}">
                    <a16:creationId xmlns:a16="http://schemas.microsoft.com/office/drawing/2014/main" id="{AB571312-2B7A-68F5-6E4B-C0E89A56C00F}"/>
                  </a:ext>
                </a:extLst>
              </p:cNvPr>
              <p:cNvSpPr txBox="1">
                <a:spLocks noRot="1" noChangeAspect="1" noMove="1" noResize="1" noEditPoints="1" noAdjustHandles="1" noChangeArrowheads="1" noChangeShapeType="1" noTextEdit="1"/>
              </p:cNvSpPr>
              <p:nvPr/>
            </p:nvSpPr>
            <p:spPr>
              <a:xfrm>
                <a:off x="434023" y="5439071"/>
                <a:ext cx="4156938" cy="504818"/>
              </a:xfrm>
              <a:prstGeom prst="rect">
                <a:avLst/>
              </a:prstGeom>
              <a:blipFill>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C31B482-28CD-E568-AE7D-C056EE9E5892}"/>
                  </a:ext>
                </a:extLst>
              </p:cNvPr>
              <p:cNvSpPr txBox="1"/>
              <p:nvPr/>
            </p:nvSpPr>
            <p:spPr>
              <a:xfrm>
                <a:off x="913220" y="2445229"/>
                <a:ext cx="6006195" cy="584775"/>
              </a:xfrm>
              <a:prstGeom prst="rect">
                <a:avLst/>
              </a:prstGeom>
              <a:noFill/>
              <a:ln>
                <a:solidFill>
                  <a:schemeClr val="tx1">
                    <a:lumMod val="85000"/>
                  </a:schemeClr>
                </a:solidFill>
              </a:ln>
            </p:spPr>
            <p:txBody>
              <a:bodyPr wrap="square" rtlCol="0">
                <a:spAutoFit/>
              </a:bodyPr>
              <a:lstStyle/>
              <a:p>
                <a:pPr algn="just"/>
                <a14:m>
                  <m:oMath xmlns:m="http://schemas.openxmlformats.org/officeDocument/2006/math">
                    <m:sSub>
                      <m:sSubPr>
                        <m:ctrlPr>
                          <a:rPr lang="es-MX" sz="1600" i="1" smtClean="0">
                            <a:solidFill>
                              <a:schemeClr val="bg1"/>
                            </a:solidFill>
                            <a:latin typeface="Cambria Math" panose="02040503050406030204" pitchFamily="18" charset="0"/>
                            <a:cs typeface="Times New Roman" panose="02020603050405020304" pitchFamily="18" charset="0"/>
                          </a:rPr>
                        </m:ctrlPr>
                      </m:sSubPr>
                      <m:e>
                        <m:r>
                          <a:rPr lang="es-MX" sz="1600" b="0" i="1" smtClean="0">
                            <a:solidFill>
                              <a:schemeClr val="bg1"/>
                            </a:solidFill>
                            <a:latin typeface="Cambria Math" panose="02040503050406030204" pitchFamily="18" charset="0"/>
                            <a:cs typeface="Times New Roman" panose="02020603050405020304" pitchFamily="18" charset="0"/>
                          </a:rPr>
                          <m:t>𝐻</m:t>
                        </m:r>
                      </m:e>
                      <m:sub>
                        <m:r>
                          <a:rPr lang="es-MX" sz="1600" b="0" i="1" smtClean="0">
                            <a:solidFill>
                              <a:schemeClr val="bg1"/>
                            </a:solidFill>
                            <a:latin typeface="Cambria Math" panose="02040503050406030204" pitchFamily="18" charset="0"/>
                            <a:cs typeface="Times New Roman" panose="02020603050405020304" pitchFamily="18" charset="0"/>
                          </a:rPr>
                          <m:t>0</m:t>
                        </m:r>
                      </m:sub>
                    </m:sSub>
                    <m:r>
                      <a:rPr lang="es-MX" sz="1600" b="0" i="1" smtClean="0">
                        <a:solidFill>
                          <a:schemeClr val="bg1"/>
                        </a:solidFill>
                        <a:latin typeface="Cambria Math" panose="02040503050406030204" pitchFamily="18" charset="0"/>
                        <a:cs typeface="Times New Roman" panose="02020603050405020304" pitchFamily="18" charset="0"/>
                      </a:rPr>
                      <m:t>:</m:t>
                    </m:r>
                  </m:oMath>
                </a14:m>
                <a:r>
                  <a:rPr lang="es-MX" sz="1600" dirty="0">
                    <a:solidFill>
                      <a:schemeClr val="bg1"/>
                    </a:solidFill>
                    <a:latin typeface="Times New Roman" panose="02020603050405020304" pitchFamily="18" charset="0"/>
                    <a:cs typeface="Times New Roman" panose="02020603050405020304" pitchFamily="18" charset="0"/>
                  </a:rPr>
                  <a:t> Los datos siguen una distribución significativamente normal.</a:t>
                </a:r>
              </a:p>
              <a:p>
                <a:pPr algn="just"/>
                <a14:m>
                  <m:oMath xmlns:m="http://schemas.openxmlformats.org/officeDocument/2006/math">
                    <m:sSub>
                      <m:sSubPr>
                        <m:ctrlPr>
                          <a:rPr lang="es-MX" sz="1600" i="1">
                            <a:solidFill>
                              <a:schemeClr val="bg1"/>
                            </a:solidFill>
                            <a:latin typeface="Cambria Math" panose="02040503050406030204" pitchFamily="18" charset="0"/>
                            <a:cs typeface="Times New Roman" panose="02020603050405020304" pitchFamily="18" charset="0"/>
                          </a:rPr>
                        </m:ctrlPr>
                      </m:sSubPr>
                      <m:e>
                        <m:r>
                          <a:rPr lang="es-MX" sz="1600" i="1">
                            <a:solidFill>
                              <a:schemeClr val="bg1"/>
                            </a:solidFill>
                            <a:latin typeface="Cambria Math" panose="02040503050406030204" pitchFamily="18" charset="0"/>
                            <a:cs typeface="Times New Roman" panose="02020603050405020304" pitchFamily="18" charset="0"/>
                          </a:rPr>
                          <m:t>𝐻</m:t>
                        </m:r>
                      </m:e>
                      <m:sub>
                        <m:r>
                          <a:rPr lang="es-MX" sz="1600" b="0" i="1" smtClean="0">
                            <a:solidFill>
                              <a:schemeClr val="bg1"/>
                            </a:solidFill>
                            <a:latin typeface="Cambria Math" panose="02040503050406030204" pitchFamily="18" charset="0"/>
                            <a:cs typeface="Times New Roman" panose="02020603050405020304" pitchFamily="18" charset="0"/>
                          </a:rPr>
                          <m:t>1</m:t>
                        </m:r>
                      </m:sub>
                    </m:sSub>
                    <m:r>
                      <a:rPr lang="es-MX" sz="1600" i="1">
                        <a:solidFill>
                          <a:schemeClr val="bg1"/>
                        </a:solidFill>
                        <a:latin typeface="Cambria Math" panose="02040503050406030204" pitchFamily="18" charset="0"/>
                        <a:cs typeface="Times New Roman" panose="02020603050405020304" pitchFamily="18" charset="0"/>
                      </a:rPr>
                      <m:t>:</m:t>
                    </m:r>
                  </m:oMath>
                </a14:m>
                <a:r>
                  <a:rPr lang="es-MX" sz="1600" dirty="0">
                    <a:solidFill>
                      <a:schemeClr val="bg1"/>
                    </a:solidFill>
                    <a:latin typeface="Times New Roman" panose="02020603050405020304" pitchFamily="18" charset="0"/>
                    <a:cs typeface="Times New Roman" panose="02020603050405020304" pitchFamily="18" charset="0"/>
                  </a:rPr>
                  <a:t> Los datos NO siguen una distribución significativamente normal.</a:t>
                </a:r>
              </a:p>
            </p:txBody>
          </p:sp>
        </mc:Choice>
        <mc:Fallback xmlns="">
          <p:sp>
            <p:nvSpPr>
              <p:cNvPr id="10" name="CuadroTexto 9">
                <a:extLst>
                  <a:ext uri="{FF2B5EF4-FFF2-40B4-BE49-F238E27FC236}">
                    <a16:creationId xmlns:a16="http://schemas.microsoft.com/office/drawing/2014/main" id="{4C31B482-28CD-E568-AE7D-C056EE9E5892}"/>
                  </a:ext>
                </a:extLst>
              </p:cNvPr>
              <p:cNvSpPr txBox="1">
                <a:spLocks noRot="1" noChangeAspect="1" noMove="1" noResize="1" noEditPoints="1" noAdjustHandles="1" noChangeArrowheads="1" noChangeShapeType="1" noTextEdit="1"/>
              </p:cNvSpPr>
              <p:nvPr/>
            </p:nvSpPr>
            <p:spPr>
              <a:xfrm>
                <a:off x="913220" y="2445229"/>
                <a:ext cx="6006195" cy="584775"/>
              </a:xfrm>
              <a:prstGeom prst="rect">
                <a:avLst/>
              </a:prstGeom>
              <a:blipFill>
                <a:blip r:embed="rId5"/>
                <a:stretch>
                  <a:fillRect t="-2041" b="-11224"/>
                </a:stretch>
              </a:blipFill>
              <a:ln>
                <a:solidFill>
                  <a:schemeClr val="tx1">
                    <a:lumMod val="85000"/>
                  </a:schemeClr>
                </a:solidFill>
              </a:ln>
            </p:spPr>
            <p:txBody>
              <a:bodyPr/>
              <a:lstStyle/>
              <a:p>
                <a:r>
                  <a:rPr lang="es-MX">
                    <a:noFill/>
                  </a:rPr>
                  <a:t> </a:t>
                </a:r>
              </a:p>
            </p:txBody>
          </p:sp>
        </mc:Fallback>
      </mc:AlternateContent>
      <p:pic>
        <p:nvPicPr>
          <p:cNvPr id="4" name="Imagen 3">
            <a:extLst>
              <a:ext uri="{FF2B5EF4-FFF2-40B4-BE49-F238E27FC236}">
                <a16:creationId xmlns:a16="http://schemas.microsoft.com/office/drawing/2014/main" id="{ACEB400C-AC04-D2E5-3B3F-B31E87C27521}"/>
              </a:ext>
            </a:extLst>
          </p:cNvPr>
          <p:cNvPicPr>
            <a:picLocks noChangeAspect="1"/>
          </p:cNvPicPr>
          <p:nvPr/>
        </p:nvPicPr>
        <p:blipFill>
          <a:blip r:embed="rId6"/>
          <a:stretch>
            <a:fillRect/>
          </a:stretch>
        </p:blipFill>
        <p:spPr>
          <a:xfrm>
            <a:off x="7932000" y="2443465"/>
            <a:ext cx="586539" cy="586539"/>
          </a:xfrm>
          <a:prstGeom prst="rect">
            <a:avLst/>
          </a:prstGeom>
        </p:spPr>
      </p:pic>
    </p:spTree>
    <p:extLst>
      <p:ext uri="{BB962C8B-B14F-4D97-AF65-F5344CB8AC3E}">
        <p14:creationId xmlns:p14="http://schemas.microsoft.com/office/powerpoint/2010/main" val="282491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63C52-1B4F-68B7-8B80-3A970C3825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D86808-1946-938E-B29E-ACD84E2778A6}"/>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 Contraste de Hipótesis</a:t>
            </a:r>
          </a:p>
        </p:txBody>
      </p:sp>
      <mc:AlternateContent xmlns:mc="http://schemas.openxmlformats.org/markup-compatibility/2006" xmlns:a14="http://schemas.microsoft.com/office/drawing/2010/main">
        <mc:Choice Requires="a14">
          <p:graphicFrame>
            <p:nvGraphicFramePr>
              <p:cNvPr id="4" name="Tabla 3">
                <a:extLst>
                  <a:ext uri="{FF2B5EF4-FFF2-40B4-BE49-F238E27FC236}">
                    <a16:creationId xmlns:a16="http://schemas.microsoft.com/office/drawing/2014/main" id="{82223498-F6E0-1FFA-8657-E57AF564B8E6}"/>
                  </a:ext>
                </a:extLst>
              </p:cNvPr>
              <p:cNvGraphicFramePr>
                <a:graphicFrameLocks noGrp="1"/>
              </p:cNvGraphicFramePr>
              <p:nvPr>
                <p:extLst>
                  <p:ext uri="{D42A27DB-BD31-4B8C-83A1-F6EECF244321}">
                    <p14:modId xmlns:p14="http://schemas.microsoft.com/office/powerpoint/2010/main" val="482927990"/>
                  </p:ext>
                </p:extLst>
              </p:nvPr>
            </p:nvGraphicFramePr>
            <p:xfrm>
              <a:off x="376997" y="2216628"/>
              <a:ext cx="11438005" cy="4394200"/>
            </p:xfrm>
            <a:graphic>
              <a:graphicData uri="http://schemas.openxmlformats.org/drawingml/2006/table">
                <a:tbl>
                  <a:tblPr firstRow="1" bandRow="1">
                    <a:tableStyleId>{93296810-A885-4BE3-A3E7-6D5BEEA58F35}</a:tableStyleId>
                  </a:tblPr>
                  <a:tblGrid>
                    <a:gridCol w="1502435">
                      <a:extLst>
                        <a:ext uri="{9D8B030D-6E8A-4147-A177-3AD203B41FA5}">
                          <a16:colId xmlns:a16="http://schemas.microsoft.com/office/drawing/2014/main" val="705992986"/>
                        </a:ext>
                      </a:extLst>
                    </a:gridCol>
                    <a:gridCol w="2770495">
                      <a:extLst>
                        <a:ext uri="{9D8B030D-6E8A-4147-A177-3AD203B41FA5}">
                          <a16:colId xmlns:a16="http://schemas.microsoft.com/office/drawing/2014/main" val="2667474380"/>
                        </a:ext>
                      </a:extLst>
                    </a:gridCol>
                    <a:gridCol w="3562066">
                      <a:extLst>
                        <a:ext uri="{9D8B030D-6E8A-4147-A177-3AD203B41FA5}">
                          <a16:colId xmlns:a16="http://schemas.microsoft.com/office/drawing/2014/main" val="3764385224"/>
                        </a:ext>
                      </a:extLst>
                    </a:gridCol>
                    <a:gridCol w="3603009">
                      <a:extLst>
                        <a:ext uri="{9D8B030D-6E8A-4147-A177-3AD203B41FA5}">
                          <a16:colId xmlns:a16="http://schemas.microsoft.com/office/drawing/2014/main" val="1741181811"/>
                        </a:ext>
                      </a:extLst>
                    </a:gridCol>
                  </a:tblGrid>
                  <a:tr h="370840">
                    <a:tc>
                      <a:txBody>
                        <a:bodyPr/>
                        <a:lstStyle/>
                        <a:p>
                          <a:pPr algn="ctr"/>
                          <a:r>
                            <a:rPr lang="es-MX" sz="1600" b="1" dirty="0">
                              <a:latin typeface="Times New Roman" panose="02020603050405020304" pitchFamily="18" charset="0"/>
                              <a:cs typeface="Times New Roman" panose="02020603050405020304" pitchFamily="18" charset="0"/>
                            </a:rPr>
                            <a:t>Test</a:t>
                          </a:r>
                        </a:p>
                      </a:txBody>
                      <a:tcPr/>
                    </a:tc>
                    <a:tc>
                      <a:txBody>
                        <a:bodyPr/>
                        <a:lstStyle/>
                        <a:p>
                          <a:pPr algn="ctr"/>
                          <a:r>
                            <a:rPr lang="es-MX" sz="1600" b="1" dirty="0">
                              <a:latin typeface="Times New Roman" panose="02020603050405020304" pitchFamily="18" charset="0"/>
                              <a:cs typeface="Times New Roman" panose="02020603050405020304" pitchFamily="18" charset="0"/>
                            </a:rPr>
                            <a:t>Hipótesis</a:t>
                          </a:r>
                        </a:p>
                      </a:txBody>
                      <a:tcPr/>
                    </a:tc>
                    <a:tc>
                      <a:txBody>
                        <a:bodyPr/>
                        <a:lstStyle/>
                        <a:p>
                          <a:pPr algn="ctr"/>
                          <a:r>
                            <a:rPr lang="es-MX" sz="1600" b="1" dirty="0">
                              <a:latin typeface="Times New Roman" panose="02020603050405020304" pitchFamily="18" charset="0"/>
                              <a:cs typeface="Times New Roman" panose="02020603050405020304" pitchFamily="18" charset="0"/>
                            </a:rPr>
                            <a:t>Funcionamiento</a:t>
                          </a:r>
                        </a:p>
                      </a:txBody>
                      <a:tcPr/>
                    </a:tc>
                    <a:tc>
                      <a:txBody>
                        <a:bodyPr/>
                        <a:lstStyle/>
                        <a:p>
                          <a:pPr algn="ctr"/>
                          <a:r>
                            <a:rPr lang="es-MX" sz="1600" b="1" dirty="0">
                              <a:latin typeface="Times New Roman" panose="02020603050405020304" pitchFamily="18" charset="0"/>
                              <a:cs typeface="Times New Roman" panose="02020603050405020304" pitchFamily="18" charset="0"/>
                            </a:rPr>
                            <a:t>Observaciones</a:t>
                          </a:r>
                        </a:p>
                      </a:txBody>
                      <a:tcPr/>
                    </a:tc>
                    <a:extLst>
                      <a:ext uri="{0D108BD9-81ED-4DB2-BD59-A6C34878D82A}">
                        <a16:rowId xmlns:a16="http://schemas.microsoft.com/office/drawing/2014/main" val="1800963751"/>
                      </a:ext>
                    </a:extLst>
                  </a:tr>
                  <a:tr h="370840">
                    <a:tc>
                      <a:txBody>
                        <a:bodyPr/>
                        <a:lstStyle/>
                        <a:p>
                          <a:pPr algn="ctr"/>
                          <a:r>
                            <a:rPr lang="es-MX" sz="1600" b="1" dirty="0">
                              <a:latin typeface="Times New Roman" panose="02020603050405020304" pitchFamily="18" charset="0"/>
                              <a:cs typeface="Times New Roman" panose="02020603050405020304" pitchFamily="18" charset="0"/>
                            </a:rPr>
                            <a:t>Shapiro – </a:t>
                          </a:r>
                          <a:r>
                            <a:rPr lang="es-MX" sz="1600" b="1" dirty="0" err="1">
                              <a:latin typeface="Times New Roman" panose="02020603050405020304" pitchFamily="18" charset="0"/>
                              <a:cs typeface="Times New Roman" panose="02020603050405020304" pitchFamily="18" charset="0"/>
                            </a:rPr>
                            <a:t>Wilk</a:t>
                          </a:r>
                          <a:endParaRPr lang="es-MX" sz="1600" b="1" dirty="0">
                            <a:latin typeface="Times New Roman" panose="02020603050405020304" pitchFamily="18" charset="0"/>
                            <a:cs typeface="Times New Roman" panose="02020603050405020304" pitchFamily="18" charset="0"/>
                          </a:endParaRPr>
                        </a:p>
                      </a:txBody>
                      <a:tcPr/>
                    </a:tc>
                    <a:tc rowSpan="3">
                      <a:txBody>
                        <a:bodyPr/>
                        <a:lstStyle/>
                        <a:p>
                          <a:pPr algn="ctr"/>
                          <a:endParaRPr lang="es-MX" sz="1600" b="1" i="1" dirty="0">
                            <a:solidFill>
                              <a:schemeClr val="bg1"/>
                            </a:solidFill>
                            <a:latin typeface="Cambria Math" panose="02040503050406030204" pitchFamily="18" charset="0"/>
                            <a:cs typeface="Times New Roman" panose="02020603050405020304" pitchFamily="18" charset="0"/>
                          </a:endParaRPr>
                        </a:p>
                        <a:p>
                          <a:pPr algn="ctr"/>
                          <a:endParaRPr lang="es-MX" sz="1600" b="1" i="1" dirty="0">
                            <a:solidFill>
                              <a:schemeClr val="bg1"/>
                            </a:solidFill>
                            <a:latin typeface="Cambria Math" panose="02040503050406030204" pitchFamily="18" charset="0"/>
                            <a:cs typeface="Times New Roman" panose="02020603050405020304" pitchFamily="18" charset="0"/>
                          </a:endParaRPr>
                        </a:p>
                        <a:p>
                          <a:pPr algn="ctr"/>
                          <a:endParaRPr lang="es-MX" sz="1600" b="1" i="1" dirty="0">
                            <a:solidFill>
                              <a:schemeClr val="bg1"/>
                            </a:solidFill>
                            <a:latin typeface="Cambria Math" panose="02040503050406030204" pitchFamily="18" charset="0"/>
                            <a:cs typeface="Times New Roman" panose="02020603050405020304" pitchFamily="18" charset="0"/>
                          </a:endParaRPr>
                        </a:p>
                        <a:p>
                          <a:pPr algn="ctr"/>
                          <a14:m>
                            <m:oMath xmlns:m="http://schemas.openxmlformats.org/officeDocument/2006/math">
                              <m:sSub>
                                <m:sSubPr>
                                  <m:ctrlPr>
                                    <a:rPr lang="es-MX" sz="1600" b="1" i="1" smtClean="0">
                                      <a:solidFill>
                                        <a:schemeClr val="bg1"/>
                                      </a:solidFill>
                                      <a:latin typeface="Cambria Math" panose="02040503050406030204" pitchFamily="18" charset="0"/>
                                      <a:cs typeface="Times New Roman" panose="02020603050405020304" pitchFamily="18" charset="0"/>
                                    </a:rPr>
                                  </m:ctrlPr>
                                </m:sSubPr>
                                <m:e>
                                  <m:r>
                                    <a:rPr lang="es-MX" sz="1600" b="1" i="1" smtClean="0">
                                      <a:solidFill>
                                        <a:schemeClr val="bg1"/>
                                      </a:solidFill>
                                      <a:latin typeface="Cambria Math" panose="02040503050406030204" pitchFamily="18" charset="0"/>
                                      <a:cs typeface="Times New Roman" panose="02020603050405020304" pitchFamily="18" charset="0"/>
                                    </a:rPr>
                                    <m:t>𝑯</m:t>
                                  </m:r>
                                </m:e>
                                <m:sub>
                                  <m:r>
                                    <a:rPr lang="es-MX" sz="1600" b="1" i="1" smtClean="0">
                                      <a:solidFill>
                                        <a:schemeClr val="bg1"/>
                                      </a:solidFill>
                                      <a:latin typeface="Cambria Math" panose="02040503050406030204" pitchFamily="18" charset="0"/>
                                      <a:cs typeface="Times New Roman" panose="02020603050405020304" pitchFamily="18" charset="0"/>
                                    </a:rPr>
                                    <m:t>𝟎</m:t>
                                  </m:r>
                                </m:sub>
                              </m:sSub>
                              <m:r>
                                <a:rPr lang="es-MX" sz="1600" b="1" i="1" smtClean="0">
                                  <a:solidFill>
                                    <a:schemeClr val="bg1"/>
                                  </a:solidFill>
                                  <a:latin typeface="Cambria Math" panose="02040503050406030204" pitchFamily="18" charset="0"/>
                                  <a:cs typeface="Times New Roman" panose="02020603050405020304" pitchFamily="18" charset="0"/>
                                </a:rPr>
                                <m:t>:</m:t>
                              </m:r>
                            </m:oMath>
                          </a14:m>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Los datos siguen una distribución significativamente normal.</a:t>
                          </a:r>
                        </a:p>
                        <a:p>
                          <a:pPr algn="ctr"/>
                          <a14:m>
                            <m:oMath xmlns:m="http://schemas.openxmlformats.org/officeDocument/2006/math">
                              <m:sSub>
                                <m:sSubPr>
                                  <m:ctrlPr>
                                    <a:rPr lang="es-MX" sz="1600" b="1" i="1">
                                      <a:solidFill>
                                        <a:schemeClr val="bg1"/>
                                      </a:solidFill>
                                      <a:latin typeface="Cambria Math" panose="02040503050406030204" pitchFamily="18" charset="0"/>
                                      <a:cs typeface="Times New Roman" panose="02020603050405020304" pitchFamily="18" charset="0"/>
                                    </a:rPr>
                                  </m:ctrlPr>
                                </m:sSubPr>
                                <m:e>
                                  <m:r>
                                    <a:rPr lang="es-MX" sz="1600" b="1" i="1">
                                      <a:solidFill>
                                        <a:schemeClr val="bg1"/>
                                      </a:solidFill>
                                      <a:latin typeface="Cambria Math" panose="02040503050406030204" pitchFamily="18" charset="0"/>
                                      <a:cs typeface="Times New Roman" panose="02020603050405020304" pitchFamily="18" charset="0"/>
                                    </a:rPr>
                                    <m:t>𝑯</m:t>
                                  </m:r>
                                </m:e>
                                <m:sub>
                                  <m:r>
                                    <a:rPr lang="es-MX" sz="1600" b="1" i="1" smtClean="0">
                                      <a:solidFill>
                                        <a:schemeClr val="bg1"/>
                                      </a:solidFill>
                                      <a:latin typeface="Cambria Math" panose="02040503050406030204" pitchFamily="18" charset="0"/>
                                      <a:cs typeface="Times New Roman" panose="02020603050405020304" pitchFamily="18" charset="0"/>
                                    </a:rPr>
                                    <m:t>𝟏</m:t>
                                  </m:r>
                                </m:sub>
                              </m:sSub>
                              <m:r>
                                <a:rPr lang="es-MX" sz="1600" b="1" i="1">
                                  <a:solidFill>
                                    <a:schemeClr val="bg1"/>
                                  </a:solidFill>
                                  <a:latin typeface="Cambria Math" panose="02040503050406030204" pitchFamily="18" charset="0"/>
                                  <a:cs typeface="Times New Roman" panose="02020603050405020304" pitchFamily="18" charset="0"/>
                                </a:rPr>
                                <m:t>:</m:t>
                              </m:r>
                            </m:oMath>
                          </a14:m>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Los datos NO siguen una distribución significativamente normal.</a:t>
                          </a:r>
                        </a:p>
                        <a:p>
                          <a:pPr algn="ctr"/>
                          <a:endParaRPr lang="es-MX" sz="1600" dirty="0">
                            <a:latin typeface="Times New Roman" panose="02020603050405020304" pitchFamily="18" charset="0"/>
                            <a:cs typeface="Times New Roman" panose="02020603050405020304" pitchFamily="18" charset="0"/>
                          </a:endParaRPr>
                        </a:p>
                      </a:txBody>
                      <a:tcPr/>
                    </a:tc>
                    <a:tc>
                      <a:txBody>
                        <a:bodyPr/>
                        <a:lstStyle/>
                        <a:p>
                          <a:pPr algn="ctr"/>
                          <a:r>
                            <a:rPr lang="es-MX" sz="1600" dirty="0">
                              <a:latin typeface="Times New Roman" panose="02020603050405020304" pitchFamily="18" charset="0"/>
                              <a:cs typeface="Times New Roman" panose="02020603050405020304" pitchFamily="18" charset="0"/>
                            </a:rPr>
                            <a:t>Calcula una estadística basada en la correlación entre los datos ordenados y los valores esperados en una distribución normal.</a:t>
                          </a:r>
                        </a:p>
                      </a:txBody>
                      <a:tcPr/>
                    </a:tc>
                    <a:tc>
                      <a:txBody>
                        <a:bodyPr/>
                        <a:lstStyle/>
                        <a:p>
                          <a:pPr algn="ctr"/>
                          <a:r>
                            <a:rPr lang="es-MX" sz="1600" dirty="0">
                              <a:latin typeface="Times New Roman" panose="02020603050405020304" pitchFamily="18" charset="0"/>
                              <a:cs typeface="Times New Roman" panose="02020603050405020304" pitchFamily="18" charset="0"/>
                            </a:rPr>
                            <a:t>Alta potencia en muestras pequeñas (n &lt; 50)</a:t>
                          </a:r>
                        </a:p>
                        <a:p>
                          <a:pPr algn="ctr"/>
                          <a:r>
                            <a:rPr lang="es-MX" sz="1600" dirty="0">
                              <a:latin typeface="Times New Roman" panose="02020603050405020304" pitchFamily="18" charset="0"/>
                              <a:cs typeface="Times New Roman" panose="02020603050405020304" pitchFamily="18" charset="0"/>
                            </a:rPr>
                            <a:t>No recomendable para muestras grandes.</a:t>
                          </a:r>
                        </a:p>
                      </a:txBody>
                      <a:tcPr/>
                    </a:tc>
                    <a:extLst>
                      <a:ext uri="{0D108BD9-81ED-4DB2-BD59-A6C34878D82A}">
                        <a16:rowId xmlns:a16="http://schemas.microsoft.com/office/drawing/2014/main" val="4080951371"/>
                      </a:ext>
                    </a:extLst>
                  </a:tr>
                  <a:tr h="370840">
                    <a:tc>
                      <a:txBody>
                        <a:bodyPr/>
                        <a:lstStyle/>
                        <a:p>
                          <a:pPr algn="ctr"/>
                          <a:r>
                            <a:rPr lang="es-MX" sz="1600" b="1" dirty="0" err="1">
                              <a:latin typeface="Times New Roman" panose="02020603050405020304" pitchFamily="18" charset="0"/>
                              <a:cs typeface="Times New Roman" panose="02020603050405020304" pitchFamily="18" charset="0"/>
                            </a:rPr>
                            <a:t>Kolmogorov</a:t>
                          </a:r>
                          <a:r>
                            <a:rPr lang="es-MX" sz="1600" b="1" dirty="0">
                              <a:latin typeface="Times New Roman" panose="02020603050405020304" pitchFamily="18" charset="0"/>
                              <a:cs typeface="Times New Roman" panose="02020603050405020304" pitchFamily="18" charset="0"/>
                            </a:rPr>
                            <a:t> – </a:t>
                          </a:r>
                          <a:r>
                            <a:rPr lang="es-MX" sz="1600" b="1" dirty="0" err="1">
                              <a:latin typeface="Times New Roman" panose="02020603050405020304" pitchFamily="18" charset="0"/>
                              <a:cs typeface="Times New Roman" panose="02020603050405020304" pitchFamily="18" charset="0"/>
                            </a:rPr>
                            <a:t>Smirnov</a:t>
                          </a:r>
                          <a:r>
                            <a:rPr lang="es-MX" sz="1600" b="1" dirty="0">
                              <a:latin typeface="Times New Roman" panose="02020603050405020304" pitchFamily="18" charset="0"/>
                              <a:cs typeface="Times New Roman" panose="02020603050405020304" pitchFamily="18" charset="0"/>
                            </a:rPr>
                            <a:t> </a:t>
                          </a:r>
                        </a:p>
                      </a:txBody>
                      <a:tcPr/>
                    </a:tc>
                    <a:tc vMerge="1">
                      <a:txBody>
                        <a:bodyPr/>
                        <a:lstStyle/>
                        <a:p>
                          <a:endParaRPr lang="es-MX" dirty="0"/>
                        </a:p>
                      </a:txBody>
                      <a:tcPr/>
                    </a:tc>
                    <a:tc>
                      <a:txBody>
                        <a:bodyPr/>
                        <a:lstStyle/>
                        <a:p>
                          <a:pPr algn="ctr"/>
                          <a:r>
                            <a:rPr lang="es-MX" sz="1600" dirty="0">
                              <a:latin typeface="Times New Roman" panose="02020603050405020304" pitchFamily="18" charset="0"/>
                              <a:cs typeface="Times New Roman" panose="02020603050405020304" pitchFamily="18" charset="0"/>
                            </a:rPr>
                            <a:t>Compara la función de distribución empírica con la teórica (normal).</a:t>
                          </a:r>
                        </a:p>
                      </a:txBody>
                      <a:tcPr/>
                    </a:tc>
                    <a:tc>
                      <a:txBody>
                        <a:bodyPr/>
                        <a:lstStyle/>
                        <a:p>
                          <a:pPr algn="ctr"/>
                          <a:r>
                            <a:rPr lang="es-MX" sz="1600" dirty="0">
                              <a:latin typeface="Times New Roman" panose="02020603050405020304" pitchFamily="18" charset="0"/>
                              <a:cs typeface="Times New Roman" panose="02020603050405020304" pitchFamily="18" charset="0"/>
                            </a:rPr>
                            <a:t>Aplicable a cualquier distribución, no solo normal</a:t>
                          </a:r>
                        </a:p>
                        <a:p>
                          <a:pPr algn="ctr"/>
                          <a:r>
                            <a:rPr lang="es-MX" sz="1600" dirty="0">
                              <a:latin typeface="Times New Roman" panose="02020603050405020304" pitchFamily="18" charset="0"/>
                              <a:cs typeface="Times New Roman" panose="02020603050405020304" pitchFamily="18" charset="0"/>
                            </a:rPr>
                            <a:t>Sensible a variaciones en la media y varianza</a:t>
                          </a:r>
                        </a:p>
                      </a:txBody>
                      <a:tcPr/>
                    </a:tc>
                    <a:extLst>
                      <a:ext uri="{0D108BD9-81ED-4DB2-BD59-A6C34878D82A}">
                        <a16:rowId xmlns:a16="http://schemas.microsoft.com/office/drawing/2014/main" val="420401052"/>
                      </a:ext>
                    </a:extLst>
                  </a:tr>
                  <a:tr h="370840">
                    <a:tc>
                      <a:txBody>
                        <a:bodyPr/>
                        <a:lstStyle/>
                        <a:p>
                          <a:pPr algn="ctr"/>
                          <a:r>
                            <a:rPr lang="es-MX" sz="1600" b="1" dirty="0">
                              <a:latin typeface="Times New Roman" panose="02020603050405020304" pitchFamily="18" charset="0"/>
                              <a:cs typeface="Times New Roman" panose="02020603050405020304" pitchFamily="18" charset="0"/>
                            </a:rPr>
                            <a:t>Anderson – Darling</a:t>
                          </a:r>
                        </a:p>
                      </a:txBody>
                      <a:tcPr/>
                    </a:tc>
                    <a:tc vMerge="1">
                      <a:txBody>
                        <a:bodyPr/>
                        <a:lstStyle/>
                        <a:p>
                          <a:endParaRPr lang="es-MX" dirty="0"/>
                        </a:p>
                      </a:txBody>
                      <a:tcPr/>
                    </a:tc>
                    <a:tc>
                      <a:txBody>
                        <a:bodyPr/>
                        <a:lstStyle/>
                        <a:p>
                          <a:pPr algn="ctr"/>
                          <a:r>
                            <a:rPr lang="es-MX" sz="1600" dirty="0">
                              <a:latin typeface="Times New Roman" panose="02020603050405020304" pitchFamily="18" charset="0"/>
                              <a:cs typeface="Times New Roman" panose="02020603050405020304" pitchFamily="18" charset="0"/>
                            </a:rPr>
                            <a:t>Modifica KS dando más peso a los extremos de la distribución.</a:t>
                          </a:r>
                        </a:p>
                      </a:txBody>
                      <a:tcPr/>
                    </a:tc>
                    <a:tc>
                      <a:txBody>
                        <a:bodyPr/>
                        <a:lstStyle/>
                        <a:p>
                          <a:pPr algn="ctr"/>
                          <a:r>
                            <a:rPr lang="es-MX" sz="1600" dirty="0">
                              <a:latin typeface="Times New Roman" panose="02020603050405020304" pitchFamily="18" charset="0"/>
                              <a:cs typeface="Times New Roman" panose="02020603050405020304" pitchFamily="18" charset="0"/>
                            </a:rPr>
                            <a:t>Más sensible en colas que KS. Requiere tablas críticas específicas para cada distribución</a:t>
                          </a:r>
                        </a:p>
                      </a:txBody>
                      <a:tcPr/>
                    </a:tc>
                    <a:extLst>
                      <a:ext uri="{0D108BD9-81ED-4DB2-BD59-A6C34878D82A}">
                        <a16:rowId xmlns:a16="http://schemas.microsoft.com/office/drawing/2014/main" val="793023700"/>
                      </a:ext>
                    </a:extLst>
                  </a:tr>
                  <a:tr h="370840">
                    <a:tc>
                      <a:txBody>
                        <a:bodyPr/>
                        <a:lstStyle/>
                        <a:p>
                          <a:pPr algn="ctr"/>
                          <a:r>
                            <a:rPr lang="es-MX" sz="1600" b="1" dirty="0">
                              <a:latin typeface="Times New Roman" panose="02020603050405020304" pitchFamily="18" charset="0"/>
                              <a:cs typeface="Times New Roman" panose="02020603050405020304" pitchFamily="18" charset="0"/>
                            </a:rPr>
                            <a:t>Jarque - </a:t>
                          </a:r>
                          <a:r>
                            <a:rPr lang="es-MX" sz="1600" b="1" dirty="0" err="1">
                              <a:latin typeface="Times New Roman" panose="02020603050405020304" pitchFamily="18" charset="0"/>
                              <a:cs typeface="Times New Roman" panose="02020603050405020304" pitchFamily="18" charset="0"/>
                            </a:rPr>
                            <a:t>Bera</a:t>
                          </a:r>
                          <a:endParaRPr lang="es-MX" sz="1600" b="1" dirty="0">
                            <a:latin typeface="Times New Roman" panose="02020603050405020304" pitchFamily="18" charset="0"/>
                            <a:cs typeface="Times New Roman" panose="02020603050405020304" pitchFamily="18" charset="0"/>
                          </a:endParaRPr>
                        </a:p>
                      </a:txBody>
                      <a:tcPr/>
                    </a:tc>
                    <a:tc>
                      <a:txBody>
                        <a:bodyPr/>
                        <a:lstStyle/>
                        <a:p>
                          <a:pPr algn="ctr"/>
                          <a14:m>
                            <m:oMath xmlns:m="http://schemas.openxmlformats.org/officeDocument/2006/math">
                              <m:sSub>
                                <m:sSubPr>
                                  <m:ctrlPr>
                                    <a:rPr lang="es-MX" sz="1600" b="1" i="1" smtClean="0">
                                      <a:solidFill>
                                        <a:schemeClr val="bg1"/>
                                      </a:solidFill>
                                      <a:latin typeface="Cambria Math" panose="02040503050406030204" pitchFamily="18" charset="0"/>
                                      <a:cs typeface="Times New Roman" panose="02020603050405020304" pitchFamily="18" charset="0"/>
                                    </a:rPr>
                                  </m:ctrlPr>
                                </m:sSubPr>
                                <m:e>
                                  <m:r>
                                    <a:rPr lang="es-MX" sz="1600" b="1" i="1" smtClean="0">
                                      <a:solidFill>
                                        <a:schemeClr val="bg1"/>
                                      </a:solidFill>
                                      <a:latin typeface="Cambria Math" panose="02040503050406030204" pitchFamily="18" charset="0"/>
                                      <a:cs typeface="Times New Roman" panose="02020603050405020304" pitchFamily="18" charset="0"/>
                                    </a:rPr>
                                    <m:t>𝑯</m:t>
                                  </m:r>
                                </m:e>
                                <m:sub>
                                  <m:r>
                                    <a:rPr lang="es-MX" sz="1600" b="1" i="1" smtClean="0">
                                      <a:solidFill>
                                        <a:schemeClr val="bg1"/>
                                      </a:solidFill>
                                      <a:latin typeface="Cambria Math" panose="02040503050406030204" pitchFamily="18" charset="0"/>
                                      <a:cs typeface="Times New Roman" panose="02020603050405020304" pitchFamily="18" charset="0"/>
                                    </a:rPr>
                                    <m:t>𝟎</m:t>
                                  </m:r>
                                </m:sub>
                              </m:sSub>
                              <m:r>
                                <a:rPr lang="es-MX" sz="1600" b="1" i="1" smtClean="0">
                                  <a:solidFill>
                                    <a:schemeClr val="bg1"/>
                                  </a:solidFill>
                                  <a:latin typeface="Cambria Math" panose="02040503050406030204" pitchFamily="18" charset="0"/>
                                  <a:cs typeface="Times New Roman" panose="02020603050405020304" pitchFamily="18" charset="0"/>
                                </a:rPr>
                                <m:t>:</m:t>
                              </m:r>
                            </m:oMath>
                          </a14:m>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Los datos tienen curtosis y asimetría de una normal</a:t>
                          </a:r>
                          <a:endParaRPr lang="es-MX" sz="1600" i="1" dirty="0">
                            <a:solidFill>
                              <a:schemeClr val="bg1"/>
                            </a:solidFill>
                            <a:latin typeface="Times New Roman" panose="02020603050405020304" pitchFamily="18" charset="0"/>
                            <a:cs typeface="Times New Roman" panose="02020603050405020304" pitchFamily="18" charset="0"/>
                          </a:endParaRPr>
                        </a:p>
                        <a:p>
                          <a:pPr algn="ctr"/>
                          <a14:m>
                            <m:oMath xmlns:m="http://schemas.openxmlformats.org/officeDocument/2006/math">
                              <m:sSub>
                                <m:sSubPr>
                                  <m:ctrlPr>
                                    <a:rPr lang="es-MX" sz="1600" b="1" i="1">
                                      <a:solidFill>
                                        <a:schemeClr val="bg1"/>
                                      </a:solidFill>
                                      <a:latin typeface="Cambria Math" panose="02040503050406030204" pitchFamily="18" charset="0"/>
                                      <a:cs typeface="Times New Roman" panose="02020603050405020304" pitchFamily="18" charset="0"/>
                                    </a:rPr>
                                  </m:ctrlPr>
                                </m:sSubPr>
                                <m:e>
                                  <m:r>
                                    <a:rPr lang="es-MX" sz="1600" b="1" i="1">
                                      <a:solidFill>
                                        <a:schemeClr val="bg1"/>
                                      </a:solidFill>
                                      <a:latin typeface="Cambria Math" panose="02040503050406030204" pitchFamily="18" charset="0"/>
                                      <a:cs typeface="Times New Roman" panose="02020603050405020304" pitchFamily="18" charset="0"/>
                                    </a:rPr>
                                    <m:t>𝑯</m:t>
                                  </m:r>
                                </m:e>
                                <m:sub>
                                  <m:r>
                                    <a:rPr lang="es-MX" sz="1600" b="1" i="1" smtClean="0">
                                      <a:solidFill>
                                        <a:schemeClr val="bg1"/>
                                      </a:solidFill>
                                      <a:latin typeface="Cambria Math" panose="02040503050406030204" pitchFamily="18" charset="0"/>
                                      <a:cs typeface="Times New Roman" panose="02020603050405020304" pitchFamily="18" charset="0"/>
                                    </a:rPr>
                                    <m:t>𝟏</m:t>
                                  </m:r>
                                </m:sub>
                              </m:sSub>
                              <m:r>
                                <a:rPr lang="es-MX" sz="1600" b="1" i="1">
                                  <a:solidFill>
                                    <a:schemeClr val="bg1"/>
                                  </a:solidFill>
                                  <a:latin typeface="Cambria Math" panose="02040503050406030204" pitchFamily="18" charset="0"/>
                                  <a:cs typeface="Times New Roman" panose="02020603050405020304" pitchFamily="18" charset="0"/>
                                </a:rPr>
                                <m:t>:</m:t>
                              </m:r>
                            </m:oMath>
                          </a14:m>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Los datos no tienen curtosis y/o asimetría normal</a:t>
                          </a:r>
                          <a:endParaRPr lang="es-MX" sz="1600" dirty="0">
                            <a:latin typeface="Times New Roman" panose="02020603050405020304" pitchFamily="18" charset="0"/>
                            <a:cs typeface="Times New Roman" panose="02020603050405020304" pitchFamily="18" charset="0"/>
                          </a:endParaRPr>
                        </a:p>
                      </a:txBody>
                      <a:tcPr/>
                    </a:tc>
                    <a:tc>
                      <a:txBody>
                        <a:bodyPr/>
                        <a:lstStyle/>
                        <a:p>
                          <a:pPr algn="ctr"/>
                          <a:r>
                            <a:rPr lang="es-MX" sz="1600" dirty="0">
                              <a:latin typeface="Times New Roman" panose="02020603050405020304" pitchFamily="18" charset="0"/>
                              <a:cs typeface="Times New Roman" panose="02020603050405020304" pitchFamily="18" charset="0"/>
                            </a:rPr>
                            <a:t>Se basa en la asimetría y curtosis de los datos.</a:t>
                          </a:r>
                        </a:p>
                      </a:txBody>
                      <a:tcPr/>
                    </a:tc>
                    <a:tc>
                      <a:txBody>
                        <a:bodyPr/>
                        <a:lstStyle/>
                        <a:p>
                          <a:pPr algn="ctr"/>
                          <a:r>
                            <a:rPr lang="es-MX" sz="1600" dirty="0">
                              <a:latin typeface="Times New Roman" panose="02020603050405020304" pitchFamily="18" charset="0"/>
                              <a:cs typeface="Times New Roman" panose="02020603050405020304" pitchFamily="18" charset="0"/>
                            </a:rPr>
                            <a:t>Sencillo de interpretar y computar.</a:t>
                          </a:r>
                        </a:p>
                        <a:p>
                          <a:pPr algn="ctr"/>
                          <a:r>
                            <a:rPr lang="es-MX" sz="1600" dirty="0">
                              <a:latin typeface="Times New Roman" panose="02020603050405020304" pitchFamily="18" charset="0"/>
                              <a:cs typeface="Times New Roman" panose="02020603050405020304" pitchFamily="18" charset="0"/>
                            </a:rPr>
                            <a:t>Menos potente en muestras pequeñas</a:t>
                          </a:r>
                        </a:p>
                      </a:txBody>
                      <a:tcPr/>
                    </a:tc>
                    <a:extLst>
                      <a:ext uri="{0D108BD9-81ED-4DB2-BD59-A6C34878D82A}">
                        <a16:rowId xmlns:a16="http://schemas.microsoft.com/office/drawing/2014/main" val="4262125487"/>
                      </a:ext>
                    </a:extLst>
                  </a:tr>
                </a:tbl>
              </a:graphicData>
            </a:graphic>
          </p:graphicFrame>
        </mc:Choice>
        <mc:Fallback xmlns="">
          <p:graphicFrame>
            <p:nvGraphicFramePr>
              <p:cNvPr id="4" name="Tabla 3">
                <a:extLst>
                  <a:ext uri="{FF2B5EF4-FFF2-40B4-BE49-F238E27FC236}">
                    <a16:creationId xmlns:a16="http://schemas.microsoft.com/office/drawing/2014/main" id="{82223498-F6E0-1FFA-8657-E57AF564B8E6}"/>
                  </a:ext>
                </a:extLst>
              </p:cNvPr>
              <p:cNvGraphicFramePr>
                <a:graphicFrameLocks noGrp="1"/>
              </p:cNvGraphicFramePr>
              <p:nvPr>
                <p:extLst>
                  <p:ext uri="{D42A27DB-BD31-4B8C-83A1-F6EECF244321}">
                    <p14:modId xmlns:p14="http://schemas.microsoft.com/office/powerpoint/2010/main" val="482927990"/>
                  </p:ext>
                </p:extLst>
              </p:nvPr>
            </p:nvGraphicFramePr>
            <p:xfrm>
              <a:off x="376997" y="2216628"/>
              <a:ext cx="11438005" cy="4394200"/>
            </p:xfrm>
            <a:graphic>
              <a:graphicData uri="http://schemas.openxmlformats.org/drawingml/2006/table">
                <a:tbl>
                  <a:tblPr firstRow="1" bandRow="1">
                    <a:tableStyleId>{93296810-A885-4BE3-A3E7-6D5BEEA58F35}</a:tableStyleId>
                  </a:tblPr>
                  <a:tblGrid>
                    <a:gridCol w="1502435">
                      <a:extLst>
                        <a:ext uri="{9D8B030D-6E8A-4147-A177-3AD203B41FA5}">
                          <a16:colId xmlns:a16="http://schemas.microsoft.com/office/drawing/2014/main" val="705992986"/>
                        </a:ext>
                      </a:extLst>
                    </a:gridCol>
                    <a:gridCol w="2770495">
                      <a:extLst>
                        <a:ext uri="{9D8B030D-6E8A-4147-A177-3AD203B41FA5}">
                          <a16:colId xmlns:a16="http://schemas.microsoft.com/office/drawing/2014/main" val="2667474380"/>
                        </a:ext>
                      </a:extLst>
                    </a:gridCol>
                    <a:gridCol w="3562066">
                      <a:extLst>
                        <a:ext uri="{9D8B030D-6E8A-4147-A177-3AD203B41FA5}">
                          <a16:colId xmlns:a16="http://schemas.microsoft.com/office/drawing/2014/main" val="3764385224"/>
                        </a:ext>
                      </a:extLst>
                    </a:gridCol>
                    <a:gridCol w="3603009">
                      <a:extLst>
                        <a:ext uri="{9D8B030D-6E8A-4147-A177-3AD203B41FA5}">
                          <a16:colId xmlns:a16="http://schemas.microsoft.com/office/drawing/2014/main" val="1741181811"/>
                        </a:ext>
                      </a:extLst>
                    </a:gridCol>
                  </a:tblGrid>
                  <a:tr h="370840">
                    <a:tc>
                      <a:txBody>
                        <a:bodyPr/>
                        <a:lstStyle/>
                        <a:p>
                          <a:pPr algn="ctr"/>
                          <a:r>
                            <a:rPr lang="es-MX" sz="1600" b="1" dirty="0">
                              <a:latin typeface="Times New Roman" panose="02020603050405020304" pitchFamily="18" charset="0"/>
                              <a:cs typeface="Times New Roman" panose="02020603050405020304" pitchFamily="18" charset="0"/>
                            </a:rPr>
                            <a:t>Test</a:t>
                          </a:r>
                        </a:p>
                      </a:txBody>
                      <a:tcPr/>
                    </a:tc>
                    <a:tc>
                      <a:txBody>
                        <a:bodyPr/>
                        <a:lstStyle/>
                        <a:p>
                          <a:pPr algn="ctr"/>
                          <a:r>
                            <a:rPr lang="es-MX" sz="1600" b="1" dirty="0">
                              <a:latin typeface="Times New Roman" panose="02020603050405020304" pitchFamily="18" charset="0"/>
                              <a:cs typeface="Times New Roman" panose="02020603050405020304" pitchFamily="18" charset="0"/>
                            </a:rPr>
                            <a:t>Hipótesis</a:t>
                          </a:r>
                        </a:p>
                      </a:txBody>
                      <a:tcPr/>
                    </a:tc>
                    <a:tc>
                      <a:txBody>
                        <a:bodyPr/>
                        <a:lstStyle/>
                        <a:p>
                          <a:pPr algn="ctr"/>
                          <a:r>
                            <a:rPr lang="es-MX" sz="1600" b="1" dirty="0">
                              <a:latin typeface="Times New Roman" panose="02020603050405020304" pitchFamily="18" charset="0"/>
                              <a:cs typeface="Times New Roman" panose="02020603050405020304" pitchFamily="18" charset="0"/>
                            </a:rPr>
                            <a:t>Funcionamiento</a:t>
                          </a:r>
                        </a:p>
                      </a:txBody>
                      <a:tcPr/>
                    </a:tc>
                    <a:tc>
                      <a:txBody>
                        <a:bodyPr/>
                        <a:lstStyle/>
                        <a:p>
                          <a:pPr algn="ctr"/>
                          <a:r>
                            <a:rPr lang="es-MX" sz="1600" b="1" dirty="0">
                              <a:latin typeface="Times New Roman" panose="02020603050405020304" pitchFamily="18" charset="0"/>
                              <a:cs typeface="Times New Roman" panose="02020603050405020304" pitchFamily="18" charset="0"/>
                            </a:rPr>
                            <a:t>Observaciones</a:t>
                          </a:r>
                        </a:p>
                      </a:txBody>
                      <a:tcPr/>
                    </a:tc>
                    <a:extLst>
                      <a:ext uri="{0D108BD9-81ED-4DB2-BD59-A6C34878D82A}">
                        <a16:rowId xmlns:a16="http://schemas.microsoft.com/office/drawing/2014/main" val="1800963751"/>
                      </a:ext>
                    </a:extLst>
                  </a:tr>
                  <a:tr h="1066800">
                    <a:tc>
                      <a:txBody>
                        <a:bodyPr/>
                        <a:lstStyle/>
                        <a:p>
                          <a:pPr algn="ctr"/>
                          <a:r>
                            <a:rPr lang="es-MX" sz="1600" b="1" dirty="0">
                              <a:latin typeface="Times New Roman" panose="02020603050405020304" pitchFamily="18" charset="0"/>
                              <a:cs typeface="Times New Roman" panose="02020603050405020304" pitchFamily="18" charset="0"/>
                            </a:rPr>
                            <a:t>Shapiro – </a:t>
                          </a:r>
                          <a:r>
                            <a:rPr lang="es-MX" sz="1600" b="1" dirty="0" err="1">
                              <a:latin typeface="Times New Roman" panose="02020603050405020304" pitchFamily="18" charset="0"/>
                              <a:cs typeface="Times New Roman" panose="02020603050405020304" pitchFamily="18" charset="0"/>
                            </a:rPr>
                            <a:t>Wilk</a:t>
                          </a:r>
                          <a:endParaRPr lang="es-MX" sz="1600" b="1" dirty="0">
                            <a:latin typeface="Times New Roman" panose="02020603050405020304" pitchFamily="18" charset="0"/>
                            <a:cs typeface="Times New Roman" panose="02020603050405020304" pitchFamily="18" charset="0"/>
                          </a:endParaRPr>
                        </a:p>
                      </a:txBody>
                      <a:tcPr/>
                    </a:tc>
                    <a:tc rowSpan="3">
                      <a:txBody>
                        <a:bodyPr/>
                        <a:lstStyle/>
                        <a:p>
                          <a:endParaRPr lang="es-MX"/>
                        </a:p>
                      </a:txBody>
                      <a:tcPr>
                        <a:blipFill>
                          <a:blip r:embed="rId3"/>
                          <a:stretch>
                            <a:fillRect l="-54505" t="-12963" r="-259341" b="-38477"/>
                          </a:stretch>
                        </a:blipFill>
                      </a:tcPr>
                    </a:tc>
                    <a:tc>
                      <a:txBody>
                        <a:bodyPr/>
                        <a:lstStyle/>
                        <a:p>
                          <a:pPr algn="ctr"/>
                          <a:r>
                            <a:rPr lang="es-MX" sz="1600" dirty="0">
                              <a:latin typeface="Times New Roman" panose="02020603050405020304" pitchFamily="18" charset="0"/>
                              <a:cs typeface="Times New Roman" panose="02020603050405020304" pitchFamily="18" charset="0"/>
                            </a:rPr>
                            <a:t>Calcula una estadística basada en la correlación entre los datos ordenados y los valores esperados en una distribución normal.</a:t>
                          </a:r>
                        </a:p>
                      </a:txBody>
                      <a:tcPr/>
                    </a:tc>
                    <a:tc>
                      <a:txBody>
                        <a:bodyPr/>
                        <a:lstStyle/>
                        <a:p>
                          <a:pPr algn="ctr"/>
                          <a:r>
                            <a:rPr lang="es-MX" sz="1600" dirty="0">
                              <a:latin typeface="Times New Roman" panose="02020603050405020304" pitchFamily="18" charset="0"/>
                              <a:cs typeface="Times New Roman" panose="02020603050405020304" pitchFamily="18" charset="0"/>
                            </a:rPr>
                            <a:t>Alta potencia en muestras pequeñas (n &lt; 50)</a:t>
                          </a:r>
                        </a:p>
                        <a:p>
                          <a:pPr algn="ctr"/>
                          <a:r>
                            <a:rPr lang="es-MX" sz="1600" dirty="0">
                              <a:latin typeface="Times New Roman" panose="02020603050405020304" pitchFamily="18" charset="0"/>
                              <a:cs typeface="Times New Roman" panose="02020603050405020304" pitchFamily="18" charset="0"/>
                            </a:rPr>
                            <a:t>No recomendable para muestras grandes.</a:t>
                          </a:r>
                        </a:p>
                      </a:txBody>
                      <a:tcPr/>
                    </a:tc>
                    <a:extLst>
                      <a:ext uri="{0D108BD9-81ED-4DB2-BD59-A6C34878D82A}">
                        <a16:rowId xmlns:a16="http://schemas.microsoft.com/office/drawing/2014/main" val="4080951371"/>
                      </a:ext>
                    </a:extLst>
                  </a:tr>
                  <a:tr h="1066800">
                    <a:tc>
                      <a:txBody>
                        <a:bodyPr/>
                        <a:lstStyle/>
                        <a:p>
                          <a:pPr algn="ctr"/>
                          <a:r>
                            <a:rPr lang="es-MX" sz="1600" b="1" dirty="0" err="1">
                              <a:latin typeface="Times New Roman" panose="02020603050405020304" pitchFamily="18" charset="0"/>
                              <a:cs typeface="Times New Roman" panose="02020603050405020304" pitchFamily="18" charset="0"/>
                            </a:rPr>
                            <a:t>Kolmogorov</a:t>
                          </a:r>
                          <a:r>
                            <a:rPr lang="es-MX" sz="1600" b="1" dirty="0">
                              <a:latin typeface="Times New Roman" panose="02020603050405020304" pitchFamily="18" charset="0"/>
                              <a:cs typeface="Times New Roman" panose="02020603050405020304" pitchFamily="18" charset="0"/>
                            </a:rPr>
                            <a:t> – </a:t>
                          </a:r>
                          <a:r>
                            <a:rPr lang="es-MX" sz="1600" b="1" dirty="0" err="1">
                              <a:latin typeface="Times New Roman" panose="02020603050405020304" pitchFamily="18" charset="0"/>
                              <a:cs typeface="Times New Roman" panose="02020603050405020304" pitchFamily="18" charset="0"/>
                            </a:rPr>
                            <a:t>Smirnov</a:t>
                          </a:r>
                          <a:r>
                            <a:rPr lang="es-MX" sz="1600" b="1" dirty="0">
                              <a:latin typeface="Times New Roman" panose="02020603050405020304" pitchFamily="18" charset="0"/>
                              <a:cs typeface="Times New Roman" panose="02020603050405020304" pitchFamily="18" charset="0"/>
                            </a:rPr>
                            <a:t> </a:t>
                          </a:r>
                        </a:p>
                      </a:txBody>
                      <a:tcPr/>
                    </a:tc>
                    <a:tc vMerge="1">
                      <a:txBody>
                        <a:bodyPr/>
                        <a:lstStyle/>
                        <a:p>
                          <a:endParaRPr lang="es-MX" dirty="0"/>
                        </a:p>
                      </a:txBody>
                      <a:tcPr/>
                    </a:tc>
                    <a:tc>
                      <a:txBody>
                        <a:bodyPr/>
                        <a:lstStyle/>
                        <a:p>
                          <a:pPr algn="ctr"/>
                          <a:r>
                            <a:rPr lang="es-MX" sz="1600" dirty="0">
                              <a:latin typeface="Times New Roman" panose="02020603050405020304" pitchFamily="18" charset="0"/>
                              <a:cs typeface="Times New Roman" panose="02020603050405020304" pitchFamily="18" charset="0"/>
                            </a:rPr>
                            <a:t>Compara la función de distribución empírica con la teórica (normal).</a:t>
                          </a:r>
                        </a:p>
                      </a:txBody>
                      <a:tcPr/>
                    </a:tc>
                    <a:tc>
                      <a:txBody>
                        <a:bodyPr/>
                        <a:lstStyle/>
                        <a:p>
                          <a:pPr algn="ctr"/>
                          <a:r>
                            <a:rPr lang="es-MX" sz="1600" dirty="0">
                              <a:latin typeface="Times New Roman" panose="02020603050405020304" pitchFamily="18" charset="0"/>
                              <a:cs typeface="Times New Roman" panose="02020603050405020304" pitchFamily="18" charset="0"/>
                            </a:rPr>
                            <a:t>Aplicable a cualquier distribución, no solo normal</a:t>
                          </a:r>
                        </a:p>
                        <a:p>
                          <a:pPr algn="ctr"/>
                          <a:r>
                            <a:rPr lang="es-MX" sz="1600" dirty="0">
                              <a:latin typeface="Times New Roman" panose="02020603050405020304" pitchFamily="18" charset="0"/>
                              <a:cs typeface="Times New Roman" panose="02020603050405020304" pitchFamily="18" charset="0"/>
                            </a:rPr>
                            <a:t>Sensible a variaciones en la media y varianza</a:t>
                          </a:r>
                        </a:p>
                      </a:txBody>
                      <a:tcPr/>
                    </a:tc>
                    <a:extLst>
                      <a:ext uri="{0D108BD9-81ED-4DB2-BD59-A6C34878D82A}">
                        <a16:rowId xmlns:a16="http://schemas.microsoft.com/office/drawing/2014/main" val="420401052"/>
                      </a:ext>
                    </a:extLst>
                  </a:tr>
                  <a:tr h="822960">
                    <a:tc>
                      <a:txBody>
                        <a:bodyPr/>
                        <a:lstStyle/>
                        <a:p>
                          <a:pPr algn="ctr"/>
                          <a:r>
                            <a:rPr lang="es-MX" sz="1600" b="1" dirty="0">
                              <a:latin typeface="Times New Roman" panose="02020603050405020304" pitchFamily="18" charset="0"/>
                              <a:cs typeface="Times New Roman" panose="02020603050405020304" pitchFamily="18" charset="0"/>
                            </a:rPr>
                            <a:t>Anderson – Darling</a:t>
                          </a:r>
                        </a:p>
                      </a:txBody>
                      <a:tcPr/>
                    </a:tc>
                    <a:tc vMerge="1">
                      <a:txBody>
                        <a:bodyPr/>
                        <a:lstStyle/>
                        <a:p>
                          <a:endParaRPr lang="es-MX" dirty="0"/>
                        </a:p>
                      </a:txBody>
                      <a:tcPr/>
                    </a:tc>
                    <a:tc>
                      <a:txBody>
                        <a:bodyPr/>
                        <a:lstStyle/>
                        <a:p>
                          <a:pPr algn="ctr"/>
                          <a:r>
                            <a:rPr lang="es-MX" sz="1600" dirty="0">
                              <a:latin typeface="Times New Roman" panose="02020603050405020304" pitchFamily="18" charset="0"/>
                              <a:cs typeface="Times New Roman" panose="02020603050405020304" pitchFamily="18" charset="0"/>
                            </a:rPr>
                            <a:t>Modifica KS dando más peso a los extremos de la distribución.</a:t>
                          </a:r>
                        </a:p>
                      </a:txBody>
                      <a:tcPr/>
                    </a:tc>
                    <a:tc>
                      <a:txBody>
                        <a:bodyPr/>
                        <a:lstStyle/>
                        <a:p>
                          <a:pPr algn="ctr"/>
                          <a:r>
                            <a:rPr lang="es-MX" sz="1600" dirty="0">
                              <a:latin typeface="Times New Roman" panose="02020603050405020304" pitchFamily="18" charset="0"/>
                              <a:cs typeface="Times New Roman" panose="02020603050405020304" pitchFamily="18" charset="0"/>
                            </a:rPr>
                            <a:t>Más sensible en colas que KS. Requiere tablas críticas específicas para cada distribución</a:t>
                          </a:r>
                        </a:p>
                      </a:txBody>
                      <a:tcPr/>
                    </a:tc>
                    <a:extLst>
                      <a:ext uri="{0D108BD9-81ED-4DB2-BD59-A6C34878D82A}">
                        <a16:rowId xmlns:a16="http://schemas.microsoft.com/office/drawing/2014/main" val="793023700"/>
                      </a:ext>
                    </a:extLst>
                  </a:tr>
                  <a:tr h="1066800">
                    <a:tc>
                      <a:txBody>
                        <a:bodyPr/>
                        <a:lstStyle/>
                        <a:p>
                          <a:pPr algn="ctr"/>
                          <a:r>
                            <a:rPr lang="es-MX" sz="1600" b="1" dirty="0">
                              <a:latin typeface="Times New Roman" panose="02020603050405020304" pitchFamily="18" charset="0"/>
                              <a:cs typeface="Times New Roman" panose="02020603050405020304" pitchFamily="18" charset="0"/>
                            </a:rPr>
                            <a:t>Jarque - </a:t>
                          </a:r>
                          <a:r>
                            <a:rPr lang="es-MX" sz="1600" b="1" dirty="0" err="1">
                              <a:latin typeface="Times New Roman" panose="02020603050405020304" pitchFamily="18" charset="0"/>
                              <a:cs typeface="Times New Roman" panose="02020603050405020304" pitchFamily="18" charset="0"/>
                            </a:rPr>
                            <a:t>Bera</a:t>
                          </a:r>
                          <a:endParaRPr lang="es-MX" sz="1600" b="1" dirty="0">
                            <a:latin typeface="Times New Roman" panose="02020603050405020304" pitchFamily="18" charset="0"/>
                            <a:cs typeface="Times New Roman" panose="02020603050405020304" pitchFamily="18" charset="0"/>
                          </a:endParaRPr>
                        </a:p>
                      </a:txBody>
                      <a:tcPr/>
                    </a:tc>
                    <a:tc>
                      <a:txBody>
                        <a:bodyPr/>
                        <a:lstStyle/>
                        <a:p>
                          <a:endParaRPr lang="es-MX"/>
                        </a:p>
                      </a:txBody>
                      <a:tcPr>
                        <a:blipFill>
                          <a:blip r:embed="rId3"/>
                          <a:stretch>
                            <a:fillRect l="-54505" t="-313714" r="-259341" b="-6857"/>
                          </a:stretch>
                        </a:blipFill>
                      </a:tcPr>
                    </a:tc>
                    <a:tc>
                      <a:txBody>
                        <a:bodyPr/>
                        <a:lstStyle/>
                        <a:p>
                          <a:pPr algn="ctr"/>
                          <a:r>
                            <a:rPr lang="es-MX" sz="1600" dirty="0">
                              <a:latin typeface="Times New Roman" panose="02020603050405020304" pitchFamily="18" charset="0"/>
                              <a:cs typeface="Times New Roman" panose="02020603050405020304" pitchFamily="18" charset="0"/>
                            </a:rPr>
                            <a:t>Se basa en la asimetría y curtosis de los datos.</a:t>
                          </a:r>
                        </a:p>
                      </a:txBody>
                      <a:tcPr/>
                    </a:tc>
                    <a:tc>
                      <a:txBody>
                        <a:bodyPr/>
                        <a:lstStyle/>
                        <a:p>
                          <a:pPr algn="ctr"/>
                          <a:r>
                            <a:rPr lang="es-MX" sz="1600" dirty="0">
                              <a:latin typeface="Times New Roman" panose="02020603050405020304" pitchFamily="18" charset="0"/>
                              <a:cs typeface="Times New Roman" panose="02020603050405020304" pitchFamily="18" charset="0"/>
                            </a:rPr>
                            <a:t>Sencillo de interpretar y computar.</a:t>
                          </a:r>
                        </a:p>
                        <a:p>
                          <a:pPr algn="ctr"/>
                          <a:r>
                            <a:rPr lang="es-MX" sz="1600" dirty="0">
                              <a:latin typeface="Times New Roman" panose="02020603050405020304" pitchFamily="18" charset="0"/>
                              <a:cs typeface="Times New Roman" panose="02020603050405020304" pitchFamily="18" charset="0"/>
                            </a:rPr>
                            <a:t>Menos potente en muestras pequeñas</a:t>
                          </a:r>
                        </a:p>
                      </a:txBody>
                      <a:tcPr/>
                    </a:tc>
                    <a:extLst>
                      <a:ext uri="{0D108BD9-81ED-4DB2-BD59-A6C34878D82A}">
                        <a16:rowId xmlns:a16="http://schemas.microsoft.com/office/drawing/2014/main" val="4262125487"/>
                      </a:ext>
                    </a:extLst>
                  </a:tr>
                </a:tbl>
              </a:graphicData>
            </a:graphic>
          </p:graphicFrame>
        </mc:Fallback>
      </mc:AlternateContent>
      <p:pic>
        <p:nvPicPr>
          <p:cNvPr id="3" name="Imagen 2">
            <a:extLst>
              <a:ext uri="{FF2B5EF4-FFF2-40B4-BE49-F238E27FC236}">
                <a16:creationId xmlns:a16="http://schemas.microsoft.com/office/drawing/2014/main" id="{F60E7E10-33C4-CC1A-51F7-6C30FA11469B}"/>
              </a:ext>
            </a:extLst>
          </p:cNvPr>
          <p:cNvPicPr>
            <a:picLocks noChangeAspect="1"/>
          </p:cNvPicPr>
          <p:nvPr/>
        </p:nvPicPr>
        <p:blipFill>
          <a:blip r:embed="rId4"/>
          <a:stretch>
            <a:fillRect/>
          </a:stretch>
        </p:blipFill>
        <p:spPr>
          <a:xfrm>
            <a:off x="0" y="5033210"/>
            <a:ext cx="586539" cy="586539"/>
          </a:xfrm>
          <a:prstGeom prst="rect">
            <a:avLst/>
          </a:prstGeom>
        </p:spPr>
      </p:pic>
    </p:spTree>
    <p:extLst>
      <p:ext uri="{BB962C8B-B14F-4D97-AF65-F5344CB8AC3E}">
        <p14:creationId xmlns:p14="http://schemas.microsoft.com/office/powerpoint/2010/main" val="3991391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Pruebas de Hipótesis para una Media</a:t>
            </a:r>
          </a:p>
        </p:txBody>
      </p:sp>
      <p:sp>
        <p:nvSpPr>
          <p:cNvPr id="5" name="CuadroTexto 4">
            <a:extLst>
              <a:ext uri="{FF2B5EF4-FFF2-40B4-BE49-F238E27FC236}">
                <a16:creationId xmlns:a16="http://schemas.microsoft.com/office/drawing/2014/main" id="{4B77887F-BB86-8BB4-8E75-761FE414B5F2}"/>
              </a:ext>
            </a:extLst>
          </p:cNvPr>
          <p:cNvSpPr txBox="1"/>
          <p:nvPr/>
        </p:nvSpPr>
        <p:spPr>
          <a:xfrm>
            <a:off x="964022" y="2353304"/>
            <a:ext cx="9332916" cy="236353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Para realizar una prueba de hipótesis para una media, necesitamos los siguientes requisitos:</a:t>
            </a: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Las observaciones muestrales son una muestra aleatoria simple.</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Se conoce el valor de la desviación estándar poblacional.</a:t>
            </a: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Se satisface una o ambas de las siguientes condiciones:</a:t>
            </a:r>
          </a:p>
          <a:p>
            <a:pPr marL="1200150" lvl="2"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población de distribuye normalmente</a:t>
            </a:r>
          </a:p>
          <a:p>
            <a:pPr marL="1200150" lvl="2"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El tamaño de muestra es mayor a 30.</a:t>
            </a:r>
          </a:p>
        </p:txBody>
      </p:sp>
    </p:spTree>
    <p:extLst>
      <p:ext uri="{BB962C8B-B14F-4D97-AF65-F5344CB8AC3E}">
        <p14:creationId xmlns:p14="http://schemas.microsoft.com/office/powerpoint/2010/main" val="332474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1: Pesos de los M&amp;M</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954186" cy="2357440"/>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Se presentan los pesos de 13 dulces M&amp;M elegidos al azar de una bolsa que contiene 465 dulces cuyo contenido neto marcado en la etiqueta es de 396.9g. La desviación estándar de todos los dulces M&amp;M que están en la bolsa es 𝜎=0.0565 g.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los datos muestrales con un nivel de significancia de 0.05 para probar la aseveración de un gerente de producción de que los dulces M&amp;M en realidad tienen una media mayor que 0.8535 g, por lo que los consumidores están recibiendo una cantidad mayor de la indicada en la etiqueta. </a:t>
            </a:r>
          </a:p>
          <a:p>
            <a:pPr marL="285750" indent="-285750" algn="just">
              <a:lnSpc>
                <a:spcPct val="107000"/>
              </a:lnSpc>
              <a:spcAft>
                <a:spcPts val="800"/>
              </a:spcAft>
              <a:buFont typeface="Arial" panose="020B0604020202020204" pitchFamily="34" charset="0"/>
              <a:buChar char="•"/>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Pesos</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0.751, 0.841, 0.856, 0.966, 0.859, 0.857, 0.942, 0.873, 0.809, 0.890, 0.878, 0.905, 0.8689</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771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C29F7-7D72-96C9-9C29-9094CDD574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10985B-821E-C84B-4A28-07206915983B}"/>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2: Adivina Tiempos</a:t>
            </a:r>
          </a:p>
        </p:txBody>
      </p:sp>
      <p:sp>
        <p:nvSpPr>
          <p:cNvPr id="28" name="CuadroTexto 27">
            <a:extLst>
              <a:ext uri="{FF2B5EF4-FFF2-40B4-BE49-F238E27FC236}">
                <a16:creationId xmlns:a16="http://schemas.microsoft.com/office/drawing/2014/main" id="{465B91BA-35E1-C4AC-80D7-0C98C771C050}"/>
              </a:ext>
            </a:extLst>
          </p:cNvPr>
          <p:cNvSpPr txBox="1"/>
          <p:nvPr/>
        </p:nvSpPr>
        <p:spPr>
          <a:xfrm>
            <a:off x="964023" y="2186609"/>
            <a:ext cx="9954186" cy="2061077"/>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Los estudiantes del curso de Software Actuarial III seleccionados al azar, participaron en un experimento que ponía a prueba su habilidad para determinar el transcurso de 1 minuto.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 la base de datos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Adivina_Tiempo</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se muestran los resultados de cincuenta estudiantes. A través de pruebas pilotos que realizaron el mismo experimento se ha concluido que 𝜎 = 9.5 segundos.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un nivel de significancia de 0.05 para probar la aseveración de que la media poblacional es igual a 60 segundos.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cono de medalla de oro de recompensa, estilo de dibujos animados 14364083  Vector en Vecteezy">
            <a:extLst>
              <a:ext uri="{FF2B5EF4-FFF2-40B4-BE49-F238E27FC236}">
                <a16:creationId xmlns:a16="http://schemas.microsoft.com/office/drawing/2014/main" id="{3E581169-0D33-9C2D-B91D-54AD08B8121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8617" y="879063"/>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60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239AF-A751-37A6-2CAC-0A7A4E22D0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7B8E1E-A176-47FE-DAD2-D0E3135995D6}"/>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3: Agencia de Autos</a:t>
            </a:r>
          </a:p>
        </p:txBody>
      </p:sp>
      <p:sp>
        <p:nvSpPr>
          <p:cNvPr id="28" name="CuadroTexto 27">
            <a:extLst>
              <a:ext uri="{FF2B5EF4-FFF2-40B4-BE49-F238E27FC236}">
                <a16:creationId xmlns:a16="http://schemas.microsoft.com/office/drawing/2014/main" id="{6148261F-3CE3-0215-1A87-6B08A15081A9}"/>
              </a:ext>
            </a:extLst>
          </p:cNvPr>
          <p:cNvSpPr txBox="1"/>
          <p:nvPr/>
        </p:nvSpPr>
        <p:spPr>
          <a:xfrm>
            <a:off x="964023" y="2186609"/>
            <a:ext cx="9954186" cy="3645485"/>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Una aseguradora cuenta con una base de datos que contiene información sobre 1338 asegurados. La gerencia de la aseguradora está interesada en determinar el índice de masa corporal (IMC) medio de sus asegurados para evaluar su relevancia en relación con las primas de seguro.</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Para lograr este objetivo, se decide realizar un estudio muestral. Se requiere determinar el tamaño de la muestra necesario para estimar el IMC medio de los asegurados con un nivel de confianza del 95% y un margen de error de 0.5 unidades de IMC.</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Una vez determinado el tamaño de la muestra, se selecciona aleatoriamente una muestra de asegurados de la base de datos y se obtienen los datos del IMC.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 los datos de esta muestra, se construye un juego de hipótesis para determinar si el IMC medio de los asegurados se encuentra en el rango de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obsesidad</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para analizar la relevancia que tiene este índice para la aseguradora en términos de tarifas de seguro y riesgo de salud.</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cono de medalla de oro de recompensa, estilo de dibujos animados 14364083  Vector en Vecteezy">
            <a:extLst>
              <a:ext uri="{FF2B5EF4-FFF2-40B4-BE49-F238E27FC236}">
                <a16:creationId xmlns:a16="http://schemas.microsoft.com/office/drawing/2014/main" id="{A707553E-21E1-FAEC-7B3A-9AA175FFE8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8617" y="879063"/>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37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61152-81B8-07CE-AC73-B09BF1AC0C2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0502FE44-672D-2D11-979F-4A5CC6F4D728}"/>
                  </a:ext>
                </a:extLst>
              </p:cNvPr>
              <p:cNvSpPr>
                <a:spLocks noGrp="1"/>
              </p:cNvSpPr>
              <p:nvPr>
                <p:ph type="title"/>
              </p:nvPr>
            </p:nvSpPr>
            <p:spPr>
              <a:xfrm>
                <a:off x="964021" y="879063"/>
                <a:ext cx="8693325"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Pruebas de Hipótesis para una Media con </a:t>
                </a:r>
                <a14:m>
                  <m:oMath xmlns:m="http://schemas.openxmlformats.org/officeDocument/2006/math">
                    <m:r>
                      <a:rPr lang="es-ES" sz="2600" i="1" smtClean="0">
                        <a:latin typeface="Cambria Math" panose="02040503050406030204" pitchFamily="18" charset="0"/>
                        <a:ea typeface="Cambria Math" panose="02040503050406030204" pitchFamily="18" charset="0"/>
                        <a:cs typeface="Times New Roman" panose="02020603050405020304" pitchFamily="18" charset="0"/>
                      </a:rPr>
                      <m:t>𝝈</m:t>
                    </m:r>
                  </m:oMath>
                </a14:m>
                <a:r>
                  <a:rPr lang="es-ES" sz="2600" dirty="0">
                    <a:latin typeface="Times New Roman" panose="02020603050405020304" pitchFamily="18" charset="0"/>
                    <a:cs typeface="Times New Roman" panose="02020603050405020304" pitchFamily="18" charset="0"/>
                  </a:rPr>
                  <a:t> desconocida</a:t>
                </a:r>
              </a:p>
            </p:txBody>
          </p:sp>
        </mc:Choice>
        <mc:Fallback xmlns="">
          <p:sp>
            <p:nvSpPr>
              <p:cNvPr id="2" name="Título 1">
                <a:extLst>
                  <a:ext uri="{FF2B5EF4-FFF2-40B4-BE49-F238E27FC236}">
                    <a16:creationId xmlns:a16="http://schemas.microsoft.com/office/drawing/2014/main" id="{0502FE44-672D-2D11-979F-4A5CC6F4D728}"/>
                  </a:ext>
                </a:extLst>
              </p:cNvPr>
              <p:cNvSpPr>
                <a:spLocks noGrp="1" noRot="1" noChangeAspect="1" noMove="1" noResize="1" noEditPoints="1" noAdjustHandles="1" noChangeArrowheads="1" noChangeShapeType="1" noTextEdit="1"/>
              </p:cNvSpPr>
              <p:nvPr>
                <p:ph type="title"/>
              </p:nvPr>
            </p:nvSpPr>
            <p:spPr>
              <a:xfrm>
                <a:off x="964021" y="879063"/>
                <a:ext cx="8693325" cy="610863"/>
              </a:xfrm>
              <a:blipFill>
                <a:blip r:embed="rId3"/>
                <a:stretch>
                  <a:fillRect l="-2314" r="-1192" b="-34000"/>
                </a:stretch>
              </a:blipFill>
            </p:spPr>
            <p:txBody>
              <a:bodyPr/>
              <a:lstStyle/>
              <a:p>
                <a:r>
                  <a:rPr lang="es-MX">
                    <a:noFill/>
                  </a:rPr>
                  <a:t> </a:t>
                </a:r>
              </a:p>
            </p:txBody>
          </p:sp>
        </mc:Fallback>
      </mc:AlternateContent>
      <p:sp>
        <p:nvSpPr>
          <p:cNvPr id="5" name="CuadroTexto 4">
            <a:extLst>
              <a:ext uri="{FF2B5EF4-FFF2-40B4-BE49-F238E27FC236}">
                <a16:creationId xmlns:a16="http://schemas.microsoft.com/office/drawing/2014/main" id="{72A7DD7E-B6C1-A87C-35BB-565102FAF757}"/>
              </a:ext>
            </a:extLst>
          </p:cNvPr>
          <p:cNvSpPr txBox="1"/>
          <p:nvPr/>
        </p:nvSpPr>
        <p:spPr>
          <a:xfrm>
            <a:off x="964022" y="2353304"/>
            <a:ext cx="9332916" cy="236353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Para realizar una prueba de hipótesis para una media, necesitamos los siguientes requisitos:</a:t>
            </a: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Las observaciones muestrales son una muestra aleatoria simple.</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No se conoce el valor de la desviación estándar poblacional.</a:t>
            </a: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Se satisface una o ambas de las siguientes condiciones:</a:t>
            </a:r>
          </a:p>
          <a:p>
            <a:pPr marL="1200150" lvl="2"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población de distribuye normalmente</a:t>
            </a:r>
          </a:p>
          <a:p>
            <a:pPr marL="1200150" lvl="2"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El tamaño de muestra es mayor a 30.</a:t>
            </a:r>
          </a:p>
        </p:txBody>
      </p:sp>
    </p:spTree>
    <p:extLst>
      <p:ext uri="{BB962C8B-B14F-4D97-AF65-F5344CB8AC3E}">
        <p14:creationId xmlns:p14="http://schemas.microsoft.com/office/powerpoint/2010/main" val="324841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B20D0-01B1-F58E-1462-C69D045FFF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728975-E147-B491-5FDE-46A5F16B08E5}"/>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4: Cereales</a:t>
            </a:r>
          </a:p>
        </p:txBody>
      </p:sp>
      <p:sp>
        <p:nvSpPr>
          <p:cNvPr id="28" name="CuadroTexto 27">
            <a:extLst>
              <a:ext uri="{FF2B5EF4-FFF2-40B4-BE49-F238E27FC236}">
                <a16:creationId xmlns:a16="http://schemas.microsoft.com/office/drawing/2014/main" id="{5AB6149F-43FC-4C7F-7BF6-FDAEFC523DA9}"/>
              </a:ext>
            </a:extLst>
          </p:cNvPr>
          <p:cNvSpPr txBox="1"/>
          <p:nvPr/>
        </p:nvSpPr>
        <p:spPr>
          <a:xfrm>
            <a:off x="964023" y="2186609"/>
            <a:ext cx="9954186" cy="1662122"/>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Se realizó un estudio acerca del contenido de azúcar en gramos (por gramo de cereal) que tienen algunos cereales. Se seleccionaron al azar diferentes cereales con los resultados mostrados en la base de datos.</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un nivel de significancia de 0.05 para probar la aseveración de un gerente de que la media de todos los cereales es igual que 0.3 g.</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77477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C38FC-3304-3AE6-F651-4A6985FCE4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6B69BF-DE51-D301-5BB1-D07B3105EEA6}"/>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5: Jubilación</a:t>
            </a:r>
          </a:p>
        </p:txBody>
      </p:sp>
      <p:sp>
        <p:nvSpPr>
          <p:cNvPr id="28" name="CuadroTexto 27">
            <a:extLst>
              <a:ext uri="{FF2B5EF4-FFF2-40B4-BE49-F238E27FC236}">
                <a16:creationId xmlns:a16="http://schemas.microsoft.com/office/drawing/2014/main" id="{C25EBB8D-02AE-326B-B940-F3F5327E7095}"/>
              </a:ext>
            </a:extLst>
          </p:cNvPr>
          <p:cNvSpPr txBox="1"/>
          <p:nvPr/>
        </p:nvSpPr>
        <p:spPr>
          <a:xfrm>
            <a:off x="964023" y="2186609"/>
            <a:ext cx="9954186" cy="2357440"/>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Eres un actuario en una empresa de gestión de fondos de pensiones y deseas realizar una prueba de hipótesis para determinar si la edad promedio de jubilación de los clientes en tu fondo de pensiones es diferente de la edad estándar de jubilación en tu país, que es de 65 años.</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Tienes una muestra aleatoria de 50 clientes del fondo de pensiones y sus edades de jubilación: 61, 63, 64, 65, 66, 62, 63, 64, 67, 68, 63, 64, 66, 66, 67, 65, 64, 63, 64, 65, 66, 66, 64, 63, 65, 66, 67, 65, 64, 63, 66, 68, 69, 65, 64, 63, 67, 68, 64, 63, 64, 65, 66, 62, 63, 64, 65, 66, 67,62</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Establece un nivel de significancia de 0.05 para la prueba.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cono de medalla de oro de recompensa, estilo de dibujos animados 14364083  Vector en Vecteezy">
            <a:extLst>
              <a:ext uri="{FF2B5EF4-FFF2-40B4-BE49-F238E27FC236}">
                <a16:creationId xmlns:a16="http://schemas.microsoft.com/office/drawing/2014/main" id="{4A08E3D2-C9A6-7C06-0053-C2B7347809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40930" y="879063"/>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973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4C782-DAF8-F4F5-E110-0ECA6D6189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7A33A6-A813-6085-3CFB-5303D1895646}"/>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6: Consumo de alcohol en películas infantiles</a:t>
            </a:r>
          </a:p>
        </p:txBody>
      </p:sp>
      <p:sp>
        <p:nvSpPr>
          <p:cNvPr id="28" name="CuadroTexto 27">
            <a:extLst>
              <a:ext uri="{FF2B5EF4-FFF2-40B4-BE49-F238E27FC236}">
                <a16:creationId xmlns:a16="http://schemas.microsoft.com/office/drawing/2014/main" id="{710E3373-8218-6D95-3198-AEF25DA69121}"/>
              </a:ext>
            </a:extLst>
          </p:cNvPr>
          <p:cNvSpPr txBox="1"/>
          <p:nvPr/>
        </p:nvSpPr>
        <p:spPr>
          <a:xfrm>
            <a:off x="964023" y="2186609"/>
            <a:ext cx="9954186" cy="1662122"/>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crítico de cine tomó una muestra aleatoria de películas infantiles con el propósito de medir el tiempo en el cual se presentan escenas del consumo de alcohol por parte de los personajes.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los datos de la base “Películas Infantiles” y ponga a prueba la aseveración de un crítico de cine de que “en las películas infantiles que muestran el consumo de alcohol, el tiempo de exposición promedio es de al menos 50 segundos” con un nivel de significancia del 0.01.</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cono de medalla de oro de recompensa, estilo de dibujos animados 14364083  Vector en Vecteezy">
            <a:extLst>
              <a:ext uri="{FF2B5EF4-FFF2-40B4-BE49-F238E27FC236}">
                <a16:creationId xmlns:a16="http://schemas.microsoft.com/office/drawing/2014/main" id="{0D9E0E9D-0E2D-5E5C-92DC-738242A32A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40930" y="879063"/>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59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2748</TotalTime>
  <Words>1613</Words>
  <Application>Microsoft Office PowerPoint</Application>
  <PresentationFormat>Panorámica</PresentationFormat>
  <Paragraphs>113</Paragraphs>
  <Slides>15</Slides>
  <Notes>15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vt:i4>
      </vt:variant>
    </vt:vector>
  </HeadingPairs>
  <TitlesOfParts>
    <vt:vector size="23" baseType="lpstr">
      <vt:lpstr>Arial</vt:lpstr>
      <vt:lpstr>Calibri</vt:lpstr>
      <vt:lpstr>Cambria Math</vt:lpstr>
      <vt:lpstr>Franklin Gothic Book</vt:lpstr>
      <vt:lpstr>Franklin Gothic Demi</vt:lpstr>
      <vt:lpstr>Times New Roman</vt:lpstr>
      <vt:lpstr>Wingdings</vt:lpstr>
      <vt:lpstr>Tema1</vt:lpstr>
      <vt:lpstr>Sesión 24: Prueba de Hipótesis de una media</vt:lpstr>
      <vt:lpstr>Análisis de Normalidad</vt:lpstr>
      <vt:lpstr>Análisis de Normalidad: Método Gráfico</vt:lpstr>
      <vt:lpstr>Análisis de Normalidad: Gráfico Q-Q-Norm</vt:lpstr>
      <vt:lpstr>Análisis de Normalidad: Gráfico Q-Q-Norm</vt:lpstr>
      <vt:lpstr>Análisis de Normalidad: Contraste de Hipótesis</vt:lpstr>
      <vt:lpstr>Análisis de Normalidad: Contraste de Hipótesis</vt:lpstr>
      <vt:lpstr>Pruebas de Hipótesis para una Media</vt:lpstr>
      <vt:lpstr>Ejemplo 1: Pesos de los M&amp;M</vt:lpstr>
      <vt:lpstr>Ejemplo 2: Adivina Tiempos</vt:lpstr>
      <vt:lpstr>Ejemplo 3: Agencia de Autos</vt:lpstr>
      <vt:lpstr>Pruebas de Hipótesis para una Media con σ desconocida</vt:lpstr>
      <vt:lpstr>Ejemplo 4: Cereales</vt:lpstr>
      <vt:lpstr>Ejemplo 5: Jubilación</vt:lpstr>
      <vt:lpstr>Ejemplo 6: Consumo de alcohol en películas infantiles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 CORTES</cp:lastModifiedBy>
  <cp:revision>85</cp:revision>
  <dcterms:created xsi:type="dcterms:W3CDTF">2023-09-16T20:42:33Z</dcterms:created>
  <dcterms:modified xsi:type="dcterms:W3CDTF">2025-04-21T15:56:36Z</dcterms:modified>
</cp:coreProperties>
</file>