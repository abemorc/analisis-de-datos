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8" r:id="rId2"/>
    <p:sldId id="269" r:id="rId3"/>
    <p:sldId id="308" r:id="rId4"/>
    <p:sldId id="309" r:id="rId5"/>
    <p:sldId id="310" r:id="rId6"/>
    <p:sldId id="311" r:id="rId7"/>
    <p:sldId id="312" r:id="rId8"/>
    <p:sldId id="313" r:id="rId9"/>
    <p:sldId id="31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09/03/2025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9C07-6025-4BAC-B61C-CFC6E194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38416E-238C-8CA2-38D2-AA0A7634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890E8F-7C86-8616-5E65-81F96AF91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3DF47D-580A-1B42-397D-AA939FC6C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4610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9248-9A3E-94AD-9649-3D45AAC5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E38296-BB05-6BAA-B9F7-5E54CC629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6D7947-718E-B49C-5C87-A1A1247F2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D9DE7E-B319-4A7D-ABEE-7BCB7A9DE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470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C372-E6EC-DF5B-8E79-2F91FE1C1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FB5BE5-DC4C-ADDE-BF22-3499ADFDA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E6B3F6-7868-C436-4A4B-EDAF1FA8E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DD92BB-C442-6088-6BFA-CDB890438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187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E76F-802B-C047-36F2-E3C7FAF2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564202-E123-2F56-722B-3E1E9B436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27D72D-EAD8-C3CD-F542-97464B696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F72689-4348-422C-EE76-699A6E7F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6362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53061-B93D-C851-5463-FE6A3F7F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6AC2420-7C18-E767-FDD1-6820FBF0C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945772-0760-5D4D-8F26-1A08E4545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A4E228-2D52-02E2-A5E8-6D30C3A9B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591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0202-4180-F4EA-B7ED-04FD291A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DE915A-E00F-2F94-AB76-1F8D6F28E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A28693-4BC8-75AA-6F54-B4D6408E9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AB53BC-9250-54C4-09EC-C34AD2E45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8314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AC22B-BDE4-A4E1-8401-941DCF2E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275441-FAC5-A90F-2479-3D74DF320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DFF3C0-4E29-15C0-6287-F205A565B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2759E3-835A-E226-0B52-F79A8ADCA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4585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de marzo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microsoft.com/office/2007/relationships/hdphoto" Target="../media/hdphoto3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 Múltiple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226094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supervisado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basado en modelos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corresponde con un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lineal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 predicciones computando una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 ponderada de las características de entrada 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sumándole una constante.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Intenta predecir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continuos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022C-1C98-C8F7-09E7-CB9E2ACA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1B781-3D0E-BFB3-F34E-1ADCA535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E8CF3D1-0733-F6D9-D6EB-18A44FCA4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855" y="285817"/>
            <a:ext cx="6437083" cy="170761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39D76C2-068D-4AE4-B39E-78F2A6212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22" y="2436562"/>
            <a:ext cx="2093077" cy="3196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F829AA4-796A-A35E-6509-87A6D64CD3CE}"/>
                  </a:ext>
                </a:extLst>
              </p:cNvPr>
              <p:cNvSpPr txBox="1"/>
              <p:nvPr/>
            </p:nvSpPr>
            <p:spPr>
              <a:xfrm>
                <a:off x="3327359" y="2445615"/>
                <a:ext cx="3632999" cy="3687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variables de entrada o predictoras.</a:t>
                </a: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F829AA4-796A-A35E-6509-87A6D64CD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359" y="2445615"/>
                <a:ext cx="3632999" cy="368755"/>
              </a:xfrm>
              <a:prstGeom prst="rect">
                <a:avLst/>
              </a:prstGeom>
              <a:blipFill>
                <a:blip r:embed="rId5"/>
                <a:stretch>
                  <a:fillRect t="-6349" b="-2222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6A7E0AB-2605-3A84-7550-DEAEDD977F0E}"/>
                  </a:ext>
                </a:extLst>
              </p:cNvPr>
              <p:cNvSpPr txBox="1"/>
              <p:nvPr/>
            </p:nvSpPr>
            <p:spPr>
              <a:xfrm>
                <a:off x="3327359" y="2894607"/>
                <a:ext cx="3632999" cy="3687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variable de salida o respuesta.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6A7E0AB-2605-3A84-7550-DEAEDD977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359" y="2894607"/>
                <a:ext cx="3632999" cy="368755"/>
              </a:xfrm>
              <a:prstGeom prst="rect">
                <a:avLst/>
              </a:prstGeom>
              <a:blipFill>
                <a:blip r:embed="rId6"/>
                <a:stretch>
                  <a:fillRect t="-8065" b="-2419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2E28286-E823-7FD9-FCB4-1F231120717C}"/>
                  </a:ext>
                </a:extLst>
              </p:cNvPr>
              <p:cNvSpPr txBox="1"/>
              <p:nvPr/>
            </p:nvSpPr>
            <p:spPr>
              <a:xfrm>
                <a:off x="7078396" y="2436562"/>
                <a:ext cx="3880756" cy="3687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conjunto de características 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2E28286-E823-7FD9-FCB4-1F2311207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396" y="2436562"/>
                <a:ext cx="3880756" cy="368755"/>
              </a:xfrm>
              <a:prstGeom prst="rect">
                <a:avLst/>
              </a:prstGeom>
              <a:blipFill>
                <a:blip r:embed="rId7"/>
                <a:stretch>
                  <a:fillRect t="-8065" b="-2419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3331209-FD03-F2ED-A294-616D4F7F62AB}"/>
                  </a:ext>
                </a:extLst>
              </p:cNvPr>
              <p:cNvSpPr txBox="1"/>
              <p:nvPr/>
            </p:nvSpPr>
            <p:spPr>
              <a:xfrm>
                <a:off x="7078396" y="2930803"/>
                <a:ext cx="3880756" cy="6651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número de características o variables de entrada. 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3331209-FD03-F2ED-A294-616D4F7F6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396" y="2930803"/>
                <a:ext cx="3880756" cy="665118"/>
              </a:xfrm>
              <a:prstGeom prst="rect">
                <a:avLst/>
              </a:prstGeom>
              <a:blipFill>
                <a:blip r:embed="rId8"/>
                <a:stretch>
                  <a:fillRect l="-1095" t="-4505" r="-1252" b="-1261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2763330-C6D6-474D-826A-6CF65C04D678}"/>
                  </a:ext>
                </a:extLst>
              </p:cNvPr>
              <p:cNvSpPr txBox="1"/>
              <p:nvPr/>
            </p:nvSpPr>
            <p:spPr>
              <a:xfrm>
                <a:off x="435215" y="5713759"/>
                <a:ext cx="3150690" cy="6651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número de observaciones en el conjunto de entrenamiento.</a:t>
                </a: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2763330-C6D6-474D-826A-6CF65C04D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15" y="5713759"/>
                <a:ext cx="3150690" cy="665118"/>
              </a:xfrm>
              <a:prstGeom prst="rect">
                <a:avLst/>
              </a:prstGeom>
              <a:blipFill>
                <a:blip r:embed="rId9"/>
                <a:stretch>
                  <a:fillRect l="-1349" t="-3604" r="-1541" b="-1261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agen 20">
            <a:extLst>
              <a:ext uri="{FF2B5EF4-FFF2-40B4-BE49-F238E27FC236}">
                <a16:creationId xmlns:a16="http://schemas.microsoft.com/office/drawing/2014/main" id="{BF60F9F6-A053-889B-88D0-CE5F4CC29D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9855" y="4052684"/>
            <a:ext cx="3880756" cy="23480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691011E-4AA7-12F3-2124-08F81601EC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7098" y="4052684"/>
            <a:ext cx="3880756" cy="23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6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D474-F191-7ADE-80AF-90B9F4BC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B0925-FE8B-2171-B0FD-39646842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E33B310-578B-D7E8-E7D2-7FFC16C174CA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usa comúnmente para ponderar la relación entre dos o más variables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 modo que, dado un valor específico de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(es decir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se pueda predecir un valor de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E33B310-578B-D7E8-E7D2-7FFC16C17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646331"/>
              </a:xfrm>
              <a:prstGeom prst="rect">
                <a:avLst/>
              </a:prstGeom>
              <a:blipFill>
                <a:blip r:embed="rId3"/>
                <a:stretch>
                  <a:fillRect l="-457" t="-3704" b="-1296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35FD52-CED8-E37A-B4EB-C5F0A03B56D2}"/>
                  </a:ext>
                </a:extLst>
              </p:cNvPr>
              <p:cNvSpPr txBox="1"/>
              <p:nvPr/>
            </p:nvSpPr>
            <p:spPr>
              <a:xfrm>
                <a:off x="964022" y="3212035"/>
                <a:ext cx="9332916" cy="92333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Matemáticamente, la regresión de una variable aleatoria Y sobre una variable aleatoria X se expresa como: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MX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35FD52-CED8-E37A-B4EB-C5F0A03B5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212035"/>
                <a:ext cx="9332916" cy="923330"/>
              </a:xfrm>
              <a:prstGeom prst="rect">
                <a:avLst/>
              </a:prstGeom>
              <a:blipFill>
                <a:blip r:embed="rId4"/>
                <a:stretch>
                  <a:fillRect l="-457" t="-3268" r="-1109" b="-4575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A2962E-4E63-4AF0-AE5B-6C31007F2AB7}"/>
                  </a:ext>
                </a:extLst>
              </p:cNvPr>
              <p:cNvSpPr txBox="1"/>
              <p:nvPr/>
            </p:nvSpPr>
            <p:spPr>
              <a:xfrm>
                <a:off x="964022" y="4341894"/>
                <a:ext cx="9332916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regresión de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sobre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</a:t>
                </a:r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lineal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 se expresa como:</a:t>
                </a:r>
              </a:p>
              <a:p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MX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 los parámetros desconocidos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representan el </a:t>
                </a:r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intercepto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la </a:t>
                </a:r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pendiente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una recta específica, respectivamente.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A2962E-4E63-4AF0-AE5B-6C31007F2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4341894"/>
                <a:ext cx="9332916" cy="1754326"/>
              </a:xfrm>
              <a:prstGeom prst="rect">
                <a:avLst/>
              </a:prstGeom>
              <a:blipFill>
                <a:blip r:embed="rId5"/>
                <a:stretch>
                  <a:fillRect l="-457" t="-1379" r="-522" b="-4138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60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4326-BA97-2DFB-F646-A14CEA40F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A34EA-0E0C-82A0-E86D-36AE8E553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6D141D9-78F7-DFB8-9C9D-5A81F9666119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286232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modelo de regresión lineal múltiple es el modelo de probabilidad más general, el cual se representa de la siguiente manera: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Donde: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la variable de salida, dependiente o de respuesta.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la variable de entrada, independiente o predictora.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el componente de error aleatorio.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el intercepto.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los coeficientes de las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6D141D9-78F7-DFB8-9C9D-5A81F9666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2862322"/>
              </a:xfrm>
              <a:prstGeom prst="rect">
                <a:avLst/>
              </a:prstGeom>
              <a:blipFill>
                <a:blip r:embed="rId3"/>
                <a:stretch>
                  <a:fillRect l="-457" t="-847" r="-522" b="-2119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36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85DE0-1032-FEF4-C9B1-0F8ED46DE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1B6B6-D2A1-6BA2-48D4-481EA14E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AF3C7CA-8BF4-BF64-EB20-241E59F0241C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92333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Supongamos, por ejemplo, que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la edad de una persona y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 salario anual del trabajador. En un modelo de regresión lineal, el salario promedio de los trabajadores con una determinada edad sería una función lineal de dicha edad.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AF3C7CA-8BF4-BF64-EB20-241E59F02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923330"/>
              </a:xfrm>
              <a:prstGeom prst="rect">
                <a:avLst/>
              </a:prstGeom>
              <a:blipFill>
                <a:blip r:embed="rId3"/>
                <a:stretch>
                  <a:fillRect l="-457" t="-2597" r="-522" b="-844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">
            <a:extLst>
              <a:ext uri="{FF2B5EF4-FFF2-40B4-BE49-F238E27FC236}">
                <a16:creationId xmlns:a16="http://schemas.microsoft.com/office/drawing/2014/main" id="{5527C958-FF6C-5A33-AB55-D1336A81BFB1}"/>
              </a:ext>
            </a:extLst>
          </p:cNvPr>
          <p:cNvPicPr/>
          <p:nvPr/>
        </p:nvPicPr>
        <p:blipFill>
          <a:blip r:embed="rId4"/>
          <a:srcRect l="-3751" t="13255" r="3751" b="2567"/>
          <a:stretch/>
        </p:blipFill>
        <p:spPr bwMode="auto">
          <a:xfrm>
            <a:off x="964022" y="3581367"/>
            <a:ext cx="4002433" cy="283873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26ABF9A-24F3-2F03-CF34-0D8713DDB538}"/>
              </a:ext>
            </a:extLst>
          </p:cNvPr>
          <p:cNvSpPr txBox="1"/>
          <p:nvPr/>
        </p:nvSpPr>
        <p:spPr>
          <a:xfrm>
            <a:off x="5213444" y="3821373"/>
            <a:ext cx="5595583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utilizan los datos disponibles para estimar la pendiente y el intercepto.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715433-99B6-9065-715A-82615ADB0078}"/>
                  </a:ext>
                </a:extLst>
              </p:cNvPr>
              <p:cNvSpPr txBox="1"/>
              <p:nvPr/>
            </p:nvSpPr>
            <p:spPr>
              <a:xfrm>
                <a:off x="5213444" y="4596187"/>
                <a:ext cx="5595583" cy="106182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Esto se logra encontrando la ecuación de la recta que mejor se ajuste a nuestros datos, es decir, elegir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tal manera que:</a:t>
                </a: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s-MX" sz="16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715433-99B6-9065-715A-82615ADB0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444" y="4596187"/>
                <a:ext cx="5595583" cy="1061829"/>
              </a:xfrm>
              <a:prstGeom prst="rect">
                <a:avLst/>
              </a:prstGeom>
              <a:blipFill>
                <a:blip r:embed="rId5"/>
                <a:stretch>
                  <a:fillRect l="-544" t="-1714" r="-54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11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C4F7-913E-C0EE-630A-8AB2EE6D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979A0-DFA4-4B7A-0A78-1267F694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7B56FBB-931E-78FD-D965-1521A9076F10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1200329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Error: Se le llama error o también residuo a la diferencia entre el valor observado y el valor pronosticado por el modelo de línea recta, denotado como: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pPr algn="just"/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7B56FBB-931E-78FD-D965-1521A9076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1200329"/>
              </a:xfrm>
              <a:prstGeom prst="rect">
                <a:avLst/>
              </a:prstGeom>
              <a:blipFill>
                <a:blip r:embed="rId3"/>
                <a:stretch>
                  <a:fillRect l="-457" t="-2010" r="-52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B02B6B2-33E5-6564-AFE6-AD24F2B68E0E}"/>
                  </a:ext>
                </a:extLst>
              </p:cNvPr>
              <p:cNvSpPr txBox="1"/>
              <p:nvPr/>
            </p:nvSpPr>
            <p:spPr>
              <a:xfrm>
                <a:off x="6101686" y="3794091"/>
                <a:ext cx="5595583" cy="1106713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recta que minimiza la suma de cuadrados de los errores, se le llama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recta de mejor ajuste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recta de mínimos cuadrados 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recta de regresión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s-MX" sz="16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B02B6B2-33E5-6564-AFE6-AD24F2B68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686" y="3794091"/>
                <a:ext cx="5595583" cy="1106713"/>
              </a:xfrm>
              <a:prstGeom prst="rect">
                <a:avLst/>
              </a:prstGeom>
              <a:blipFill>
                <a:blip r:embed="rId4"/>
                <a:stretch>
                  <a:fillRect l="-653" t="-1639" r="-435" b="-54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4223012-A22A-7101-7904-80ACE99F631E}"/>
                  </a:ext>
                </a:extLst>
              </p:cNvPr>
              <p:cNvSpPr txBox="1"/>
              <p:nvPr/>
            </p:nvSpPr>
            <p:spPr>
              <a:xfrm>
                <a:off x="6101686" y="5018432"/>
                <a:ext cx="5595583" cy="59804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sz="1600" i="1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sz="1600" i="1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son las estimaciones de los parámetros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respectivamente. 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4223012-A22A-7101-7904-80ACE99F6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686" y="5018432"/>
                <a:ext cx="5595583" cy="598049"/>
              </a:xfrm>
              <a:prstGeom prst="rect">
                <a:avLst/>
              </a:prstGeom>
              <a:blipFill>
                <a:blip r:embed="rId5"/>
                <a:stretch>
                  <a:fillRect l="-653" t="-1010" b="-1111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">
            <a:extLst>
              <a:ext uri="{FF2B5EF4-FFF2-40B4-BE49-F238E27FC236}">
                <a16:creationId xmlns:a16="http://schemas.microsoft.com/office/drawing/2014/main" id="{3CC582CA-164F-8E68-49F9-68E2A29154B9}"/>
              </a:ext>
            </a:extLst>
          </p:cNvPr>
          <p:cNvPicPr/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 bwMode="auto">
          <a:xfrm>
            <a:off x="296480" y="3794091"/>
            <a:ext cx="5334000" cy="269748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9D69BA4-65DD-8BBC-C92E-222AEC03AB38}"/>
              </a:ext>
            </a:extLst>
          </p:cNvPr>
          <p:cNvSpPr txBox="1"/>
          <p:nvPr/>
        </p:nvSpPr>
        <p:spPr>
          <a:xfrm>
            <a:off x="6101686" y="5775023"/>
            <a:ext cx="5595583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  <a:buNone/>
            </a:pPr>
            <a:r>
              <a:rPr lang="es-MX" sz="16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 reducir al mínimo las distancias desde los puntos a la recta ajustada, se utiliza el </a:t>
            </a:r>
            <a:r>
              <a:rPr lang="es-MX" sz="16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principio de mínimos cuadrados</a:t>
            </a:r>
            <a:r>
              <a:rPr lang="es-MX" sz="16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70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67D66-3DF0-1BBD-4B15-36FD1FB5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AB24E-602C-9902-4639-49ED9C306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E2FBD37-A53D-2999-0F25-5ADCC021D7D7}"/>
                  </a:ext>
                </a:extLst>
              </p:cNvPr>
              <p:cNvSpPr txBox="1"/>
              <p:nvPr/>
            </p:nvSpPr>
            <p:spPr>
              <a:xfrm>
                <a:off x="964022" y="2321972"/>
                <a:ext cx="4931811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Considera el modelo lineal de primer orden: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E2FBD37-A53D-2999-0F25-5ADCC021D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21972"/>
                <a:ext cx="4931811" cy="646331"/>
              </a:xfrm>
              <a:prstGeom prst="rect">
                <a:avLst/>
              </a:prstGeom>
              <a:blipFill>
                <a:blip r:embed="rId3"/>
                <a:stretch>
                  <a:fillRect l="-863" t="-4630" b="-6481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583409A-0439-6B5B-A07A-53340D10919C}"/>
                  </a:ext>
                </a:extLst>
              </p:cNvPr>
              <p:cNvSpPr txBox="1"/>
              <p:nvPr/>
            </p:nvSpPr>
            <p:spPr>
              <a:xfrm>
                <a:off x="964021" y="3252753"/>
                <a:ext cx="4931811" cy="938334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Denotamos a la recta que minimiza la suma de cuadrados de los errores como: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583409A-0439-6B5B-A07A-53340D109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3252753"/>
                <a:ext cx="4931811" cy="938334"/>
              </a:xfrm>
              <a:prstGeom prst="rect">
                <a:avLst/>
              </a:prstGeom>
              <a:blipFill>
                <a:blip r:embed="rId4"/>
                <a:stretch>
                  <a:fillRect l="-863" t="-3205" r="-986" b="-4487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946DD19-8BB0-545C-8016-143E17465ABC}"/>
                  </a:ext>
                </a:extLst>
              </p:cNvPr>
              <p:cNvSpPr txBox="1"/>
              <p:nvPr/>
            </p:nvSpPr>
            <p:spPr>
              <a:xfrm>
                <a:off x="964021" y="4500440"/>
                <a:ext cx="4931811" cy="103028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 los estimadores que minimizan a la suma de cuadrados dada por:</a:t>
                </a:r>
              </a:p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MX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MX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946DD19-8BB0-545C-8016-143E17465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4500440"/>
                <a:ext cx="4931811" cy="1030282"/>
              </a:xfrm>
              <a:prstGeom prst="rect">
                <a:avLst/>
              </a:prstGeom>
              <a:blipFill>
                <a:blip r:embed="rId5"/>
                <a:stretch>
                  <a:fillRect l="-5549" t="-1754" r="-986" b="-63158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E025EB3-1B10-3D60-DFA0-990A78739085}"/>
                  </a:ext>
                </a:extLst>
              </p:cNvPr>
              <p:cNvSpPr txBox="1"/>
              <p:nvPr/>
            </p:nvSpPr>
            <p:spPr>
              <a:xfrm>
                <a:off x="7608625" y="2974773"/>
                <a:ext cx="2108974" cy="454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E025EB3-1B10-3D60-DFA0-990A78739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625" y="2974773"/>
                <a:ext cx="2108974" cy="4542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067610D-A629-FF90-2028-D5F479028153}"/>
                  </a:ext>
                </a:extLst>
              </p:cNvPr>
              <p:cNvSpPr txBox="1"/>
              <p:nvPr/>
            </p:nvSpPr>
            <p:spPr>
              <a:xfrm>
                <a:off x="7001054" y="3921984"/>
                <a:ext cx="3324115" cy="971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acc>
                                <m:accPr>
                                  <m:chr m:val="̅"/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es-MX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MX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MX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067610D-A629-FF90-2028-D5F479028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054" y="3921984"/>
                <a:ext cx="3324115" cy="9714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92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A1C0-FC20-98DC-BD32-5F547120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8AADD-C580-3B0F-CFBD-B113EF73E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Supuestos de la distribución de 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19276E-D2C9-8587-6C92-950462DBF8DB}"/>
                  </a:ext>
                </a:extLst>
              </p:cNvPr>
              <p:cNvSpPr txBox="1"/>
              <p:nvPr/>
            </p:nvSpPr>
            <p:spPr>
              <a:xfrm>
                <a:off x="964022" y="2321972"/>
                <a:ext cx="4508730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decir, la media de la distribución de probabilidad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cero.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19276E-D2C9-8587-6C92-950462DB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21972"/>
                <a:ext cx="4508730" cy="646331"/>
              </a:xfrm>
              <a:prstGeom prst="rect">
                <a:avLst/>
              </a:prstGeom>
              <a:blipFill>
                <a:blip r:embed="rId3"/>
                <a:stretch>
                  <a:fillRect l="-943" t="-4630" r="-943" b="-1296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93D7751-6365-DC90-42ED-3E8A2861BCA3}"/>
                  </a:ext>
                </a:extLst>
              </p:cNvPr>
              <p:cNvSpPr txBox="1"/>
              <p:nvPr/>
            </p:nvSpPr>
            <p:spPr>
              <a:xfrm>
                <a:off x="964022" y="3370314"/>
                <a:ext cx="4508730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Var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decir, la varianza de la distribución de probabilidad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constante.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93D7751-6365-DC90-42ED-3E8A2861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370314"/>
                <a:ext cx="4508730" cy="646331"/>
              </a:xfrm>
              <a:prstGeom prst="rect">
                <a:avLst/>
              </a:prstGeom>
              <a:blipFill>
                <a:blip r:embed="rId4"/>
                <a:stretch>
                  <a:fillRect l="-943" t="-4630" r="-943" b="-1296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42921F4-1272-8D9B-9865-750E5266A72C}"/>
                  </a:ext>
                </a:extLst>
              </p:cNvPr>
              <p:cNvSpPr txBox="1"/>
              <p:nvPr/>
            </p:nvSpPr>
            <p:spPr>
              <a:xfrm>
                <a:off x="964022" y="4485090"/>
                <a:ext cx="4520103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decir, la distribución de probabilidad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normal. 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42921F4-1272-8D9B-9865-750E5266A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4485090"/>
                <a:ext cx="4520103" cy="646331"/>
              </a:xfrm>
              <a:prstGeom prst="rect">
                <a:avLst/>
              </a:prstGeom>
              <a:blipFill>
                <a:blip r:embed="rId5"/>
                <a:stretch>
                  <a:fillRect l="-941" t="-4630" r="-941" b="-1296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E4CBE6A5-BA08-39E5-651F-561752EF4E05}"/>
              </a:ext>
            </a:extLst>
          </p:cNvPr>
          <p:cNvSpPr txBox="1"/>
          <p:nvPr/>
        </p:nvSpPr>
        <p:spPr>
          <a:xfrm>
            <a:off x="964022" y="5530757"/>
            <a:ext cx="4508730" cy="64633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Los errores asociados con dos observaciones diferentes son independentes.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E43E40-2C9A-3185-9472-B85AEF8B4DD4}"/>
              </a:ext>
            </a:extLst>
          </p:cNvPr>
          <p:cNvSpPr/>
          <p:nvPr/>
        </p:nvSpPr>
        <p:spPr>
          <a:xfrm>
            <a:off x="7083188" y="2321972"/>
            <a:ext cx="3821373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asegura que el modelo no tiene sesgo sistemático.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E4BEE46-48D6-0E9D-48CE-918496178C48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5472752" y="2645138"/>
            <a:ext cx="16104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EBC6E99-73CD-422A-FCEE-C4BDDE747D09}"/>
              </a:ext>
            </a:extLst>
          </p:cNvPr>
          <p:cNvSpPr/>
          <p:nvPr/>
        </p:nvSpPr>
        <p:spPr>
          <a:xfrm>
            <a:off x="7083187" y="3243224"/>
            <a:ext cx="3821373" cy="8350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asegura que los errores tienen la misma dispersión en todas las observaciones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EBC5B17-652D-5479-8E75-5E0F4F69F8A6}"/>
              </a:ext>
            </a:extLst>
          </p:cNvPr>
          <p:cNvCxnSpPr/>
          <p:nvPr/>
        </p:nvCxnSpPr>
        <p:spPr>
          <a:xfrm>
            <a:off x="5484125" y="3688844"/>
            <a:ext cx="16104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20B12A4-777C-F63B-21ED-C0B928AEE7B0}"/>
              </a:ext>
            </a:extLst>
          </p:cNvPr>
          <p:cNvSpPr/>
          <p:nvPr/>
        </p:nvSpPr>
        <p:spPr>
          <a:xfrm>
            <a:off x="7094561" y="4390729"/>
            <a:ext cx="3821373" cy="8350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estimadores sean óptimos en términos de máxima verosimilitud y para la validez de pruebas estadísticas.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D7BA1A2-6BDB-581B-FF6A-2B36663FA45D}"/>
              </a:ext>
            </a:extLst>
          </p:cNvPr>
          <p:cNvCxnSpPr/>
          <p:nvPr/>
        </p:nvCxnSpPr>
        <p:spPr>
          <a:xfrm>
            <a:off x="5484125" y="4808255"/>
            <a:ext cx="16104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C8A599-C26D-0A8C-069D-AFDE0C4678C5}"/>
              </a:ext>
            </a:extLst>
          </p:cNvPr>
          <p:cNvSpPr/>
          <p:nvPr/>
        </p:nvSpPr>
        <p:spPr>
          <a:xfrm>
            <a:off x="7083186" y="5436396"/>
            <a:ext cx="3821373" cy="8350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los errores están correlacionados, las estimaciones de los coeficientes siguen siendo insesgados.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837EF9D-83A2-D253-F2C9-CB5D063153FF}"/>
              </a:ext>
            </a:extLst>
          </p:cNvPr>
          <p:cNvCxnSpPr/>
          <p:nvPr/>
        </p:nvCxnSpPr>
        <p:spPr>
          <a:xfrm>
            <a:off x="5472752" y="5853922"/>
            <a:ext cx="16104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76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2056</TotalTime>
  <Words>706</Words>
  <Application>Microsoft Office PowerPoint</Application>
  <PresentationFormat>Panorámica</PresentationFormat>
  <Paragraphs>72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Regresión Lineal Múltiple</vt:lpstr>
      <vt:lpstr>Regresión Lineal</vt:lpstr>
      <vt:lpstr>Regresión Lineal</vt:lpstr>
      <vt:lpstr>Regresión Lineal</vt:lpstr>
      <vt:lpstr>Regresión Lineal</vt:lpstr>
      <vt:lpstr>Ejemplo</vt:lpstr>
      <vt:lpstr>Ejemplo</vt:lpstr>
      <vt:lpstr>Ejemplo</vt:lpstr>
      <vt:lpstr>Supuestos de la distribución de 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CORTES</cp:lastModifiedBy>
  <cp:revision>79</cp:revision>
  <dcterms:created xsi:type="dcterms:W3CDTF">2023-09-16T20:42:33Z</dcterms:created>
  <dcterms:modified xsi:type="dcterms:W3CDTF">2025-03-09T17:26:07Z</dcterms:modified>
</cp:coreProperties>
</file>